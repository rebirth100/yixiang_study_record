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666" r:id="rId3"/>
    <p:sldId id="802" r:id="rId4"/>
    <p:sldId id="344" r:id="rId5"/>
    <p:sldId id="345" r:id="rId6"/>
    <p:sldId id="346" r:id="rId7"/>
    <p:sldId id="479" r:id="rId8"/>
    <p:sldId id="347" r:id="rId9"/>
    <p:sldId id="348" r:id="rId10"/>
    <p:sldId id="349" r:id="rId11"/>
    <p:sldId id="473" r:id="rId12"/>
    <p:sldId id="476" r:id="rId13"/>
    <p:sldId id="475" r:id="rId14"/>
    <p:sldId id="474" r:id="rId15"/>
    <p:sldId id="351" r:id="rId16"/>
    <p:sldId id="352" r:id="rId17"/>
    <p:sldId id="477" r:id="rId18"/>
    <p:sldId id="478" r:id="rId19"/>
    <p:sldId id="353" r:id="rId20"/>
    <p:sldId id="354" r:id="rId21"/>
    <p:sldId id="355" r:id="rId22"/>
    <p:sldId id="356" r:id="rId23"/>
    <p:sldId id="357" r:id="rId24"/>
    <p:sldId id="480" r:id="rId25"/>
    <p:sldId id="358" r:id="rId26"/>
    <p:sldId id="359" r:id="rId27"/>
    <p:sldId id="361" r:id="rId28"/>
    <p:sldId id="360" r:id="rId29"/>
    <p:sldId id="362" r:id="rId30"/>
    <p:sldId id="363" r:id="rId31"/>
    <p:sldId id="364" r:id="rId32"/>
    <p:sldId id="367" r:id="rId33"/>
    <p:sldId id="365" r:id="rId34"/>
    <p:sldId id="366" r:id="rId36"/>
    <p:sldId id="368" r:id="rId37"/>
    <p:sldId id="482" r:id="rId38"/>
    <p:sldId id="483" r:id="rId39"/>
    <p:sldId id="484" r:id="rId40"/>
    <p:sldId id="485" r:id="rId41"/>
    <p:sldId id="486" r:id="rId42"/>
    <p:sldId id="487" r:id="rId43"/>
    <p:sldId id="488" r:id="rId44"/>
    <p:sldId id="489" r:id="rId45"/>
    <p:sldId id="490" r:id="rId46"/>
    <p:sldId id="491" r:id="rId47"/>
    <p:sldId id="492" r:id="rId48"/>
    <p:sldId id="493" r:id="rId49"/>
    <p:sldId id="494" r:id="rId50"/>
    <p:sldId id="495" r:id="rId51"/>
    <p:sldId id="496" r:id="rId52"/>
    <p:sldId id="497" r:id="rId53"/>
    <p:sldId id="498" r:id="rId54"/>
    <p:sldId id="372" r:id="rId55"/>
    <p:sldId id="379" r:id="rId56"/>
    <p:sldId id="380" r:id="rId57"/>
    <p:sldId id="499" r:id="rId58"/>
    <p:sldId id="500" r:id="rId59"/>
    <p:sldId id="501" r:id="rId60"/>
    <p:sldId id="502" r:id="rId61"/>
    <p:sldId id="381" r:id="rId62"/>
    <p:sldId id="503" r:id="rId63"/>
    <p:sldId id="504" r:id="rId64"/>
    <p:sldId id="505" r:id="rId65"/>
    <p:sldId id="506" r:id="rId66"/>
    <p:sldId id="382" r:id="rId67"/>
    <p:sldId id="383" r:id="rId68"/>
    <p:sldId id="507" r:id="rId69"/>
    <p:sldId id="384" r:id="rId70"/>
    <p:sldId id="385" r:id="rId71"/>
    <p:sldId id="508" r:id="rId72"/>
    <p:sldId id="386" r:id="rId73"/>
    <p:sldId id="387" r:id="rId74"/>
    <p:sldId id="388" r:id="rId75"/>
    <p:sldId id="390" r:id="rId76"/>
    <p:sldId id="391" r:id="rId77"/>
    <p:sldId id="392" r:id="rId78"/>
    <p:sldId id="396" r:id="rId79"/>
    <p:sldId id="393" r:id="rId80"/>
    <p:sldId id="395" r:id="rId81"/>
    <p:sldId id="509" r:id="rId82"/>
    <p:sldId id="397" r:id="rId83"/>
    <p:sldId id="398" r:id="rId84"/>
    <p:sldId id="404" r:id="rId85"/>
    <p:sldId id="510" r:id="rId86"/>
    <p:sldId id="519" r:id="rId87"/>
    <p:sldId id="614" r:id="rId88"/>
    <p:sldId id="615" r:id="rId89"/>
    <p:sldId id="616" r:id="rId90"/>
    <p:sldId id="511" r:id="rId91"/>
    <p:sldId id="512" r:id="rId92"/>
    <p:sldId id="513" r:id="rId93"/>
    <p:sldId id="514" r:id="rId94"/>
    <p:sldId id="617" r:id="rId95"/>
    <p:sldId id="618" r:id="rId96"/>
    <p:sldId id="619" r:id="rId97"/>
    <p:sldId id="515" r:id="rId98"/>
    <p:sldId id="516" r:id="rId99"/>
    <p:sldId id="517" r:id="rId100"/>
    <p:sldId id="518" r:id="rId101"/>
    <p:sldId id="620" r:id="rId102"/>
    <p:sldId id="399" r:id="rId103"/>
    <p:sldId id="621" r:id="rId104"/>
    <p:sldId id="622" r:id="rId105"/>
    <p:sldId id="623" r:id="rId106"/>
    <p:sldId id="400" r:id="rId107"/>
    <p:sldId id="401" r:id="rId108"/>
    <p:sldId id="624" r:id="rId109"/>
    <p:sldId id="402" r:id="rId110"/>
    <p:sldId id="625" r:id="rId111"/>
    <p:sldId id="626" r:id="rId112"/>
    <p:sldId id="403" r:id="rId113"/>
    <p:sldId id="411" r:id="rId114"/>
    <p:sldId id="627" r:id="rId115"/>
    <p:sldId id="412" r:id="rId116"/>
    <p:sldId id="628" r:id="rId117"/>
    <p:sldId id="414" r:id="rId118"/>
    <p:sldId id="629" r:id="rId119"/>
    <p:sldId id="630" r:id="rId120"/>
    <p:sldId id="415" r:id="rId121"/>
    <p:sldId id="417" r:id="rId122"/>
    <p:sldId id="416" r:id="rId123"/>
    <p:sldId id="418" r:id="rId124"/>
    <p:sldId id="419" r:id="rId125"/>
    <p:sldId id="420" r:id="rId126"/>
    <p:sldId id="422" r:id="rId127"/>
    <p:sldId id="423" r:id="rId128"/>
    <p:sldId id="424" r:id="rId129"/>
    <p:sldId id="425" r:id="rId130"/>
    <p:sldId id="426" r:id="rId131"/>
    <p:sldId id="427" r:id="rId132"/>
    <p:sldId id="428" r:id="rId133"/>
    <p:sldId id="429" r:id="rId134"/>
    <p:sldId id="434" r:id="rId135"/>
    <p:sldId id="432" r:id="rId136"/>
    <p:sldId id="433" r:id="rId137"/>
    <p:sldId id="435" r:id="rId138"/>
    <p:sldId id="667" r:id="rId139"/>
  </p:sldIdLst>
  <p:sldSz cx="9144000" cy="5143500"/>
  <p:notesSz cx="6858000" cy="9144000"/>
  <p:custDataLst>
    <p:tags r:id="rId144"/>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kern="1200" baseline="0">
        <a:solidFill>
          <a:schemeClr val="tx1"/>
        </a:solidFill>
        <a:latin typeface="Arial" panose="020B0604020202020204" pitchFamily="34" charset="0"/>
        <a:ea typeface="Arial" panose="020B0604020202020204" pitchFamily="34" charset="0"/>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77"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闫 玉刚" initials="闫"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1577"/>
        <p:guide pos="2880"/>
      </p:guideLst>
    </p:cSldViewPr>
  </p:slideViewPr>
  <p:gridSpacing cx="72005" cy="72005"/>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notesMaster" Target="notesMasters/notesMaster1.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4" Type="http://schemas.openxmlformats.org/officeDocument/2006/relationships/tags" Target="tags/tag14.xml"/><Relationship Id="rId143" Type="http://schemas.openxmlformats.org/officeDocument/2006/relationships/commentAuthors" Target="commentAuthors.xml"/><Relationship Id="rId142" Type="http://schemas.openxmlformats.org/officeDocument/2006/relationships/tableStyles" Target="tableStyles.xml"/><Relationship Id="rId141" Type="http://schemas.openxmlformats.org/officeDocument/2006/relationships/viewProps" Target="viewProps.xml"/><Relationship Id="rId140" Type="http://schemas.openxmlformats.org/officeDocument/2006/relationships/presProps" Target="presProps.xml"/><Relationship Id="rId14" Type="http://schemas.openxmlformats.org/officeDocument/2006/relationships/slide" Target="slides/slide12.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页眉占位符 1"/>
          <p:cNvSpPr>
            <a:spLocks noGrp="1"/>
          </p:cNvSpPr>
          <p:nvPr>
            <p:ph type="hdr" sz="quarter"/>
          </p:nvPr>
        </p:nvSpPr>
        <p:spPr>
          <a:xfrm>
            <a:off x="0" y="0"/>
            <a:ext cx="2971800" cy="457200"/>
          </a:xfrm>
          <a:prstGeom prst="rect">
            <a:avLst/>
          </a:prstGeom>
          <a:noFill/>
          <a:ln w="9525">
            <a:noFill/>
          </a:ln>
        </p:spPr>
        <p:txBody>
          <a:bodyPr vert="horz"/>
          <a:p>
            <a:pPr lvl="0" algn="l" fontAlgn="base"/>
            <a:endParaRPr sz="1200" strike="noStrike" noProof="1">
              <a:ea typeface="宋体" panose="02010600030101010101" pitchFamily="2" charset="-122"/>
            </a:endParaRPr>
          </a:p>
        </p:txBody>
      </p:sp>
      <p:sp>
        <p:nvSpPr>
          <p:cNvPr id="2051" name="日期占位符 2"/>
          <p:cNvSpPr>
            <a:spLocks noGrp="1"/>
          </p:cNvSpPr>
          <p:nvPr>
            <p:ph type="dt" idx="1"/>
          </p:nvPr>
        </p:nvSpPr>
        <p:spPr>
          <a:xfrm>
            <a:off x="3884613" y="0"/>
            <a:ext cx="2971800" cy="457200"/>
          </a:xfrm>
          <a:prstGeom prst="rect">
            <a:avLst/>
          </a:prstGeom>
          <a:noFill/>
          <a:ln w="9525">
            <a:noFill/>
          </a:ln>
        </p:spPr>
        <p:txBody>
          <a:bodyPr vert="horz"/>
          <a:p>
            <a:pPr lvl="0" algn="r"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z="1200" strike="noStrike" noProof="1" dirty="0">
              <a:ea typeface="宋体" panose="02010600030101010101" pitchFamily="2" charset="-122"/>
            </a:endParaRPr>
          </a:p>
        </p:txBody>
      </p:sp>
      <p:sp>
        <p:nvSpPr>
          <p:cNvPr id="2052" name="幻灯片图像占位符 3"/>
          <p:cNvSpPr>
            <a:spLocks noGrp="1" noRot="1" noChangeAspect="1"/>
          </p:cNvSpPr>
          <p:nvPr>
            <p:ph type="sldImg"/>
          </p:nvPr>
        </p:nvSpPr>
        <p:spPr>
          <a:xfrm>
            <a:off x="381000" y="685800"/>
            <a:ext cx="6096000" cy="3429000"/>
          </a:xfrm>
          <a:prstGeom prst="rect">
            <a:avLst/>
          </a:prstGeom>
          <a:noFill/>
          <a:ln w="9525">
            <a:noFill/>
          </a:ln>
        </p:spPr>
      </p:sp>
      <p:sp>
        <p:nvSpPr>
          <p:cNvPr id="2053" name="备注占位符 4"/>
          <p:cNvSpPr>
            <a:spLocks noGrp="1" noRot="1" noChangeAspect="1"/>
          </p:cNvSpPr>
          <p:nvPr/>
        </p:nvSpPr>
        <p:spPr>
          <a:xfrm>
            <a:off x="685800" y="4343400"/>
            <a:ext cx="5486400" cy="4114800"/>
          </a:xfrm>
          <a:prstGeom prst="rect">
            <a:avLst/>
          </a:prstGeom>
          <a:noFill/>
          <a:ln w="9525">
            <a:noFill/>
          </a:ln>
        </p:spPr>
        <p:txBody>
          <a:bodyPr anchor="ctr" anchorCtr="0"/>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2054" name="页脚占位符 5"/>
          <p:cNvSpPr>
            <a:spLocks noGrp="1"/>
          </p:cNvSpPr>
          <p:nvPr>
            <p:ph type="ftr" sz="quarter" idx="4"/>
          </p:nvPr>
        </p:nvSpPr>
        <p:spPr>
          <a:xfrm>
            <a:off x="0" y="8685213"/>
            <a:ext cx="2971800" cy="457200"/>
          </a:xfrm>
          <a:prstGeom prst="rect">
            <a:avLst/>
          </a:prstGeom>
          <a:noFill/>
          <a:ln w="9525">
            <a:noFill/>
          </a:ln>
        </p:spPr>
        <p:txBody>
          <a:bodyPr vert="horz" anchor="b"/>
          <a:p>
            <a:pPr lvl="0" algn="l" fontAlgn="base"/>
            <a:endParaRPr sz="1200" strike="noStrike" noProof="1">
              <a:ea typeface="宋体" panose="02010600030101010101" pitchFamily="2" charset="-122"/>
            </a:endParaRPr>
          </a:p>
        </p:txBody>
      </p:sp>
      <p:sp>
        <p:nvSpPr>
          <p:cNvPr id="2055" name="灯片编号占位符 6"/>
          <p:cNvSpPr>
            <a:spLocks noGrp="1"/>
          </p:cNvSpPr>
          <p:nvPr>
            <p:ph type="sldNum" sz="quarter" idx="5"/>
          </p:nvPr>
        </p:nvSpPr>
        <p:spPr>
          <a:xfrm>
            <a:off x="3884613" y="8685213"/>
            <a:ext cx="2971800" cy="457200"/>
          </a:xfrm>
          <a:prstGeom prst="rect">
            <a:avLst/>
          </a:prstGeom>
          <a:noFill/>
          <a:ln w="9525">
            <a:noFill/>
          </a:ln>
        </p:spPr>
        <p:txBody>
          <a:bodyPr vert="horz" anchor="b"/>
          <a:p>
            <a:pPr lvl="0" algn="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z="1200" strike="noStrike" noProof="1"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lvl="0" defTabSz="0" fontAlgn="base">
      <a:defRPr sz="1200" kern="1200"/>
    </a:lvl1pPr>
    <a:lvl2pPr marL="0" lvl="1" indent="0" defTabSz="0" fontAlgn="base">
      <a:defRPr sz="1200" kern="1200"/>
    </a:lvl2pPr>
    <a:lvl3pPr marL="0" lvl="2" indent="0" defTabSz="0" fontAlgn="base">
      <a:defRPr sz="1200" kern="1200"/>
    </a:lvl3pPr>
    <a:lvl4pPr marL="0" lvl="3" indent="0" defTabSz="0" fontAlgn="base">
      <a:defRPr sz="1200" kern="1200"/>
    </a:lvl4pPr>
    <a:lvl5pPr marL="0" lvl="4" indent="0" defTabSz="0" fontAlgn="base">
      <a:defRPr sz="1200" kern="1200"/>
    </a:lvl5pPr>
    <a:lvl6pPr marL="2286000" lvl="5" indent="0" defTabSz="0" fontAlgn="base">
      <a:defRPr sz="1200" kern="1200"/>
    </a:lvl6pPr>
    <a:lvl7pPr marL="2743200" lvl="6" indent="0" defTabSz="0" fontAlgn="base">
      <a:defRPr sz="1200" kern="1200"/>
    </a:lvl7pPr>
    <a:lvl8pPr marL="3200400" lvl="7" indent="0" defTabSz="0" fontAlgn="base">
      <a:defRPr sz="1200" kern="1200"/>
    </a:lvl8pPr>
    <a:lvl9pPr marL="3657600" lvl="8" indent="0" defTabSz="0" fontAlgn="base">
      <a:defRPr sz="1200" kern="1200"/>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幻灯片图像占位符 1"/>
          <p:cNvSpPr>
            <a:spLocks noGrp="1" noRot="1"/>
          </p:cNvSpPr>
          <p:nvPr>
            <p:ph type="sldImg"/>
          </p:nvPr>
        </p:nvSpPr>
        <p:spPr/>
      </p:sp>
      <p:sp>
        <p:nvSpPr>
          <p:cNvPr id="35842" name="文本占位符 2"/>
          <p:cNvSpPr>
            <a:spLocks noGrp="1"/>
          </p:cNvSpPr>
          <p:nvPr>
            <p:ph type="body" sz="quarter"/>
          </p:nvPr>
        </p:nvSpPr>
        <p:spPr>
          <a:xfrm>
            <a:off x="661988" y="3932238"/>
            <a:ext cx="5295900" cy="3216275"/>
          </a:xfrm>
          <a:prstGeom prst="rect">
            <a:avLst/>
          </a:prstGeom>
          <a:noFill/>
          <a:ln w="9525">
            <a:noFill/>
          </a:ln>
        </p:spPr>
        <p:txBody>
          <a:bodyPr anchor="t" anchorCtr="0"/>
          <a:p>
            <a:pPr lvl="0"/>
            <a:endParaRPr lang="zh-CN" altLang="en-US">
              <a:ea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幻灯片图像占位符 1"/>
          <p:cNvSpPr>
            <a:spLocks noGrp="1" noRot="1"/>
          </p:cNvSpPr>
          <p:nvPr>
            <p:ph type="sldImg"/>
          </p:nvPr>
        </p:nvSpPr>
        <p:spPr/>
      </p:sp>
      <p:sp>
        <p:nvSpPr>
          <p:cNvPr id="39938" name="文本占位符 2"/>
          <p:cNvSpPr>
            <a:spLocks noGrp="1"/>
          </p:cNvSpPr>
          <p:nvPr>
            <p:ph type="body" sz="quarter"/>
          </p:nvPr>
        </p:nvSpPr>
        <p:spPr>
          <a:xfrm>
            <a:off x="661988" y="3932238"/>
            <a:ext cx="5295900" cy="3216275"/>
          </a:xfrm>
          <a:prstGeom prst="rect">
            <a:avLst/>
          </a:prstGeom>
          <a:noFill/>
          <a:ln w="9525">
            <a:noFill/>
          </a:ln>
        </p:spPr>
        <p:txBody>
          <a:bodyPr anchor="t" anchorCtr="0"/>
          <a:p>
            <a:pPr lvl="0"/>
            <a:endParaRPr lang="zh-CN" altLang="en-US">
              <a:ea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幻灯片图像占位符 1"/>
          <p:cNvSpPr>
            <a:spLocks noGrp="1" noRot="1"/>
          </p:cNvSpPr>
          <p:nvPr>
            <p:ph type="sldImg"/>
          </p:nvPr>
        </p:nvSpPr>
        <p:spPr/>
      </p:sp>
      <p:sp>
        <p:nvSpPr>
          <p:cNvPr id="60418" name="文本占位符 2"/>
          <p:cNvSpPr>
            <a:spLocks noGrp="1"/>
          </p:cNvSpPr>
          <p:nvPr>
            <p:ph type="body" sz="quarter"/>
          </p:nvPr>
        </p:nvSpPr>
        <p:spPr>
          <a:xfrm>
            <a:off x="661988" y="3932238"/>
            <a:ext cx="5295900" cy="3216275"/>
          </a:xfrm>
          <a:prstGeom prst="rect">
            <a:avLst/>
          </a:prstGeom>
          <a:noFill/>
          <a:ln w="9525">
            <a:noFill/>
          </a:ln>
        </p:spPr>
        <p:txBody>
          <a:bodyPr anchor="t" anchorCtr="0"/>
          <a:p>
            <a:pPr lvl="0"/>
            <a:endParaRPr lang="zh-CN" altLang="en-US">
              <a:ea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幻灯片图像占位符 1"/>
          <p:cNvSpPr>
            <a:spLocks noGrp="1" noRot="1"/>
          </p:cNvSpPr>
          <p:nvPr>
            <p:ph type="sldImg"/>
          </p:nvPr>
        </p:nvSpPr>
        <p:spPr/>
      </p:sp>
      <p:sp>
        <p:nvSpPr>
          <p:cNvPr id="62466" name="文本占位符 2"/>
          <p:cNvSpPr>
            <a:spLocks noGrp="1"/>
          </p:cNvSpPr>
          <p:nvPr>
            <p:ph type="body" sz="quarter"/>
          </p:nvPr>
        </p:nvSpPr>
        <p:spPr>
          <a:xfrm>
            <a:off x="661988" y="3932238"/>
            <a:ext cx="5295900" cy="3216275"/>
          </a:xfrm>
          <a:prstGeom prst="rect">
            <a:avLst/>
          </a:prstGeom>
          <a:noFill/>
          <a:ln w="9525">
            <a:noFill/>
          </a:ln>
        </p:spPr>
        <p:txBody>
          <a:bodyPr anchor="t" anchorCtr="0"/>
          <a:p>
            <a:pPr lvl="0"/>
            <a:endParaRPr lang="zh-CN" altLang="en-US">
              <a:ea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幻灯片图像占位符 1"/>
          <p:cNvSpPr>
            <a:spLocks noGrp="1" noRot="1"/>
          </p:cNvSpPr>
          <p:nvPr>
            <p:ph type="sldImg"/>
          </p:nvPr>
        </p:nvSpPr>
        <p:spPr/>
      </p:sp>
      <p:sp>
        <p:nvSpPr>
          <p:cNvPr id="64514" name="文本占位符 2"/>
          <p:cNvSpPr>
            <a:spLocks noGrp="1"/>
          </p:cNvSpPr>
          <p:nvPr>
            <p:ph type="body" sz="quarter"/>
          </p:nvPr>
        </p:nvSpPr>
        <p:spPr>
          <a:xfrm>
            <a:off x="661988" y="3932238"/>
            <a:ext cx="5295900" cy="3216275"/>
          </a:xfrm>
          <a:prstGeom prst="rect">
            <a:avLst/>
          </a:prstGeom>
          <a:noFill/>
          <a:ln w="9525">
            <a:noFill/>
          </a:ln>
        </p:spPr>
        <p:txBody>
          <a:bodyPr anchor="t" anchorCtr="0"/>
          <a:p>
            <a:pPr lvl="0"/>
            <a:endParaRPr lang="zh-CN" altLang="en-US">
              <a:ea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幻灯片图像占位符 1"/>
          <p:cNvSpPr>
            <a:spLocks noGrp="1" noRot="1"/>
          </p:cNvSpPr>
          <p:nvPr>
            <p:ph type="sldImg"/>
          </p:nvPr>
        </p:nvSpPr>
        <p:spPr/>
      </p:sp>
      <p:sp>
        <p:nvSpPr>
          <p:cNvPr id="66562" name="文本占位符 2"/>
          <p:cNvSpPr>
            <a:spLocks noGrp="1"/>
          </p:cNvSpPr>
          <p:nvPr>
            <p:ph type="body" sz="quarter"/>
          </p:nvPr>
        </p:nvSpPr>
        <p:spPr>
          <a:xfrm>
            <a:off x="661988" y="3932238"/>
            <a:ext cx="5295900" cy="3216275"/>
          </a:xfrm>
          <a:prstGeom prst="rect">
            <a:avLst/>
          </a:prstGeom>
          <a:noFill/>
          <a:ln w="9525">
            <a:noFill/>
          </a:ln>
        </p:spPr>
        <p:txBody>
          <a:bodyPr anchor="t" anchorCtr="0"/>
          <a:p>
            <a:pPr lvl="0"/>
            <a:endParaRPr lang="zh-CN" altLang="en-US">
              <a:ea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幻灯片图像占位符 1"/>
          <p:cNvSpPr>
            <a:spLocks noGrp="1" noRot="1"/>
          </p:cNvSpPr>
          <p:nvPr>
            <p:ph type="sldImg"/>
          </p:nvPr>
        </p:nvSpPr>
        <p:spPr/>
      </p:sp>
      <p:sp>
        <p:nvSpPr>
          <p:cNvPr id="68610" name="文本占位符 2"/>
          <p:cNvSpPr>
            <a:spLocks noGrp="1"/>
          </p:cNvSpPr>
          <p:nvPr>
            <p:ph type="body" sz="quarter"/>
          </p:nvPr>
        </p:nvSpPr>
        <p:spPr>
          <a:xfrm>
            <a:off x="661988" y="3932238"/>
            <a:ext cx="5295900" cy="3216275"/>
          </a:xfrm>
          <a:prstGeom prst="rect">
            <a:avLst/>
          </a:prstGeom>
          <a:noFill/>
          <a:ln w="9525">
            <a:noFill/>
          </a:ln>
        </p:spPr>
        <p:txBody>
          <a:bodyPr anchor="t" anchorCtr="0"/>
          <a:p>
            <a:pPr lvl="0"/>
            <a:endParaRPr lang="zh-CN" altLang="en-US">
              <a:ea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幻灯片图像占位符 1"/>
          <p:cNvSpPr>
            <a:spLocks noGrp="1" noRot="1"/>
          </p:cNvSpPr>
          <p:nvPr>
            <p:ph type="sldImg"/>
          </p:nvPr>
        </p:nvSpPr>
        <p:spPr/>
      </p:sp>
      <p:sp>
        <p:nvSpPr>
          <p:cNvPr id="71682" name="文本占位符 2"/>
          <p:cNvSpPr>
            <a:spLocks noGrp="1"/>
          </p:cNvSpPr>
          <p:nvPr>
            <p:ph type="body" sz="quarter"/>
          </p:nvPr>
        </p:nvSpPr>
        <p:spPr>
          <a:xfrm>
            <a:off x="661988" y="3932238"/>
            <a:ext cx="5295900" cy="3216275"/>
          </a:xfrm>
          <a:prstGeom prst="rect">
            <a:avLst/>
          </a:prstGeom>
          <a:noFill/>
          <a:ln w="9525">
            <a:noFill/>
          </a:ln>
        </p:spPr>
        <p:txBody>
          <a:bodyPr anchor="t" anchorCtr="0"/>
          <a:p>
            <a:pPr lvl="0"/>
            <a:endParaRPr lang="zh-CN" altLang="en-US">
              <a:ea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幻灯片图像占位符 1"/>
          <p:cNvSpPr>
            <a:spLocks noGrp="1" noRot="1"/>
          </p:cNvSpPr>
          <p:nvPr>
            <p:ph type="sldImg"/>
          </p:nvPr>
        </p:nvSpPr>
        <p:spPr/>
      </p:sp>
      <p:sp>
        <p:nvSpPr>
          <p:cNvPr id="73730" name="文本占位符 2"/>
          <p:cNvSpPr>
            <a:spLocks noGrp="1"/>
          </p:cNvSpPr>
          <p:nvPr>
            <p:ph type="body" sz="quarter"/>
          </p:nvPr>
        </p:nvSpPr>
        <p:spPr>
          <a:xfrm>
            <a:off x="661988" y="3932238"/>
            <a:ext cx="5295900" cy="3216275"/>
          </a:xfrm>
          <a:prstGeom prst="rect">
            <a:avLst/>
          </a:prstGeom>
          <a:noFill/>
          <a:ln w="9525">
            <a:noFill/>
          </a:ln>
        </p:spPr>
        <p:txBody>
          <a:bodyPr anchor="t" anchorCtr="0"/>
          <a:p>
            <a:pPr lvl="0"/>
            <a:endParaRPr lang="zh-CN" altLang="en-US">
              <a:ea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幻灯片图像占位符 1"/>
          <p:cNvSpPr>
            <a:spLocks noGrp="1" noRot="1"/>
          </p:cNvSpPr>
          <p:nvPr>
            <p:ph type="sldImg"/>
          </p:nvPr>
        </p:nvSpPr>
        <p:spPr/>
      </p:sp>
      <p:sp>
        <p:nvSpPr>
          <p:cNvPr id="75778" name="文本占位符 2"/>
          <p:cNvSpPr>
            <a:spLocks noGrp="1"/>
          </p:cNvSpPr>
          <p:nvPr>
            <p:ph type="body" sz="quarter"/>
          </p:nvPr>
        </p:nvSpPr>
        <p:spPr>
          <a:xfrm>
            <a:off x="661988" y="3932238"/>
            <a:ext cx="5295900" cy="3216275"/>
          </a:xfrm>
          <a:prstGeom prst="rect">
            <a:avLst/>
          </a:prstGeom>
          <a:noFill/>
          <a:ln w="9525">
            <a:noFill/>
          </a:ln>
        </p:spPr>
        <p:txBody>
          <a:bodyPr anchor="t" anchorCtr="0"/>
          <a:p>
            <a:pPr lvl="0"/>
            <a:endParaRPr lang="zh-CN" altLang="en-US">
              <a:ea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幻灯片图像占位符 1"/>
          <p:cNvSpPr>
            <a:spLocks noGrp="1" noRot="1"/>
          </p:cNvSpPr>
          <p:nvPr>
            <p:ph type="sldImg"/>
          </p:nvPr>
        </p:nvSpPr>
        <p:spPr/>
      </p:sp>
      <p:sp>
        <p:nvSpPr>
          <p:cNvPr id="77826" name="文本占位符 2"/>
          <p:cNvSpPr>
            <a:spLocks noGrp="1"/>
          </p:cNvSpPr>
          <p:nvPr>
            <p:ph type="body" sz="quarter"/>
          </p:nvPr>
        </p:nvSpPr>
        <p:spPr>
          <a:xfrm>
            <a:off x="661988" y="3932238"/>
            <a:ext cx="5295900" cy="3216275"/>
          </a:xfrm>
          <a:prstGeom prst="rect">
            <a:avLst/>
          </a:prstGeom>
          <a:noFill/>
          <a:ln w="9525">
            <a:noFill/>
          </a:ln>
        </p:spPr>
        <p:txBody>
          <a:bodyPr anchor="t" anchorCtr="0"/>
          <a:p>
            <a:pPr lvl="0"/>
            <a:endParaRPr lang="zh-CN" altLang="en-US">
              <a:ea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a:prstGeom prst="rect">
            <a:avLst/>
          </a:prstGeom>
        </p:spPr>
        <p:txBody>
          <a:bodyPr anchor="b"/>
          <a:lstStyle>
            <a:lvl1pPr algn="ctr">
              <a:defRPr sz="4500"/>
            </a:lvl1pPr>
          </a:lstStyle>
          <a:p>
            <a:pPr fontAlgn="auto"/>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12959"/>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6280"/>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a:prstGeom prst="rect">
            <a:avLst/>
          </a:prstGeom>
        </p:spPr>
        <p:txBody>
          <a:bodyPr anchor="b"/>
          <a:lstStyle>
            <a:lvl1pPr>
              <a:defRPr sz="4500"/>
            </a:lvl1p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097"/>
            <a:ext cx="7886700" cy="1125140"/>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369219"/>
            <a:ext cx="3886200" cy="3263504"/>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369219"/>
            <a:ext cx="3886200" cy="3263504"/>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a:prstGeom prst="rect">
            <a:avLst/>
          </a:prstGeom>
        </p:spPr>
        <p:txBody>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3829"/>
            <a:ext cx="3655181" cy="617934"/>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034"/>
            <a:ext cx="3655181" cy="264321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3829"/>
            <a:ext cx="3673182" cy="617934"/>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034"/>
            <a:ext cx="3673182" cy="264321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auto"/>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a:prstGeom prst="rect">
            <a:avLst/>
          </a:prstGeom>
        </p:spPr>
        <p:txBody>
          <a:bodyPr anchor="b"/>
          <a:lstStyle>
            <a:lvl1pPr>
              <a:defRPr sz="2400"/>
            </a:lvl1p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3124012" cy="1200150"/>
          </a:xfrm>
          <a:prstGeom prst="rect">
            <a:avLst/>
          </a:prstGeom>
        </p:spPr>
        <p:txBody>
          <a:bodyPr anchor="b"/>
          <a:lstStyle>
            <a:lvl1pPr>
              <a:defRPr sz="2400"/>
            </a:lvl1pPr>
          </a:lstStyle>
          <a:p>
            <a:pPr fontAlgn="auto"/>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01"/>
            <a:ext cx="4629150" cy="4052888"/>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1543050"/>
            <a:ext cx="3124012" cy="2858691"/>
          </a:xfrm>
          <a:prstGeom prst="rect">
            <a:avLst/>
          </a:prstGeo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auto"/>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6280"/>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a:prstGeom prst="rect">
            <a:avLst/>
          </a:prstGeom>
        </p:spPr>
        <p:txBody>
          <a:bodyPr vert="eaVert"/>
          <a:lstStyle/>
          <a:p>
            <a:pPr fontAlgn="auto"/>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28650" y="273844"/>
            <a:ext cx="5800725" cy="4358879"/>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914400" lvl="0" indent="-914400" algn="ctr" eaLnBrk="1" latinLnBrk="0" hangingPunct="1">
        <a:lnSpc>
          <a:spcPct val="100000"/>
        </a:lnSpc>
        <a:spcBef>
          <a:spcPct val="0"/>
        </a:spcBef>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slideLayout" Target="../slideLayouts/slideLayout1.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jpeg"/><Relationship Id="rId1" Type="http://schemas.openxmlformats.org/officeDocument/2006/relationships/image" Target="../media/image9.jpe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11.emf"/><Relationship Id="rId1" Type="http://schemas.openxmlformats.org/officeDocument/2006/relationships/oleObject" Target="../embeddings/oleObject1.bin"/></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jpe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jpe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jpe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jpe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jpe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jpe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jpe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jpe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jpe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9.jpe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0.jpe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1.jpe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2.jpe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3.jpe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4.jpe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5.jpe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6.jpe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7.jpe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jpeg"/></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9.jpeg"/></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0.jpe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1.jpe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2.jpe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3.jpeg"/></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4.jpe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5.jpeg"/></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6.jpe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7.jpe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cstate="email"/>
          <a:stretch>
            <a:fillRect/>
          </a:stretch>
        </p:blipFill>
        <p:spPr>
          <a:xfrm>
            <a:off x="0" y="0"/>
            <a:ext cx="9144000" cy="5143500"/>
          </a:xfrm>
          <a:prstGeom prst="rect">
            <a:avLst/>
          </a:prstGeom>
        </p:spPr>
      </p:pic>
      <p:sp>
        <p:nvSpPr>
          <p:cNvPr id="17" name="任意多边形 20"/>
          <p:cNvSpPr/>
          <p:nvPr/>
        </p:nvSpPr>
        <p:spPr>
          <a:xfrm rot="3073228">
            <a:off x="4062907" y="-1248112"/>
            <a:ext cx="6330838" cy="4300933"/>
          </a:xfrm>
          <a:custGeom>
            <a:avLst/>
            <a:gdLst>
              <a:gd name="connsiteX0" fmla="*/ 0 w 8152386"/>
              <a:gd name="connsiteY0" fmla="*/ 5633681 h 5633681"/>
              <a:gd name="connsiteX1" fmla="*/ 4815891 w 8152386"/>
              <a:gd name="connsiteY1" fmla="*/ 0 h 5633681"/>
              <a:gd name="connsiteX2" fmla="*/ 8152386 w 8152386"/>
              <a:gd name="connsiteY2" fmla="*/ 2852167 h 5633681"/>
              <a:gd name="connsiteX3" fmla="*/ 8152386 w 8152386"/>
              <a:gd name="connsiteY3" fmla="*/ 5633681 h 5633681"/>
            </a:gdLst>
            <a:ahLst/>
            <a:cxnLst>
              <a:cxn ang="0">
                <a:pos x="connsiteX0" y="connsiteY0"/>
              </a:cxn>
              <a:cxn ang="0">
                <a:pos x="connsiteX1" y="connsiteY1"/>
              </a:cxn>
              <a:cxn ang="0">
                <a:pos x="connsiteX2" y="connsiteY2"/>
              </a:cxn>
              <a:cxn ang="0">
                <a:pos x="connsiteX3" y="connsiteY3"/>
              </a:cxn>
            </a:cxnLst>
            <a:rect l="l" t="t" r="r" b="b"/>
            <a:pathLst>
              <a:path w="8152386" h="5633681">
                <a:moveTo>
                  <a:pt x="0" y="5633681"/>
                </a:moveTo>
                <a:lnTo>
                  <a:pt x="4815891" y="0"/>
                </a:lnTo>
                <a:lnTo>
                  <a:pt x="8152386" y="2852167"/>
                </a:lnTo>
                <a:lnTo>
                  <a:pt x="8152386" y="5633681"/>
                </a:lnTo>
                <a:close/>
              </a:path>
            </a:pathLst>
          </a:custGeom>
          <a:solidFill>
            <a:srgbClr val="D76739">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2282" tIns="41142" rIns="82282" bIns="41142" rtlCol="0" anchor="ctr">
            <a:noAutofit/>
          </a:bodyPr>
          <a:lstStyle/>
          <a:p>
            <a:pPr algn="ctr"/>
            <a:endParaRPr lang="zh-CN" altLang="en-US" sz="1235"/>
          </a:p>
        </p:txBody>
      </p:sp>
      <p:sp>
        <p:nvSpPr>
          <p:cNvPr id="18" name="文本框 17"/>
          <p:cNvSpPr txBox="1"/>
          <p:nvPr/>
        </p:nvSpPr>
        <p:spPr>
          <a:xfrm>
            <a:off x="5702935" y="1869440"/>
            <a:ext cx="3441065" cy="635000"/>
          </a:xfrm>
          <a:prstGeom prst="rect">
            <a:avLst/>
          </a:prstGeom>
          <a:noFill/>
        </p:spPr>
        <p:txBody>
          <a:bodyPr wrap="square" lIns="82282" tIns="41142" rIns="82282" bIns="41142" rtlCol="0">
            <a:spAutoFit/>
          </a:bodyPr>
          <a:lstStyle/>
          <a:p>
            <a:pPr algn="ctr"/>
            <a:r>
              <a:rPr lang="en-US" sz="3600" dirty="0">
                <a:solidFill>
                  <a:schemeClr val="bg1"/>
                </a:solidFill>
                <a:effectLst>
                  <a:outerShdw blurRad="50800" dist="38100" dir="2700000" algn="tl" rotWithShape="0">
                    <a:prstClr val="black">
                      <a:alpha val="40000"/>
                    </a:prstClr>
                  </a:outerShdw>
                </a:effectLst>
                <a:sym typeface="+mn-ea"/>
              </a:rPr>
              <a:t>Linux</a:t>
            </a:r>
            <a:r>
              <a:rPr lang="zh-CN" altLang="en-US" sz="3600" dirty="0">
                <a:solidFill>
                  <a:schemeClr val="bg1"/>
                </a:solidFill>
                <a:effectLst>
                  <a:outerShdw blurRad="50800" dist="38100" dir="2700000" algn="tl" rotWithShape="0">
                    <a:prstClr val="black">
                      <a:alpha val="40000"/>
                    </a:prstClr>
                  </a:outerShdw>
                </a:effectLst>
                <a:sym typeface="+mn-ea"/>
              </a:rPr>
              <a:t>系统</a:t>
            </a:r>
            <a:r>
              <a:rPr lang="zh-CN" altLang="en-US" sz="3600" dirty="0">
                <a:solidFill>
                  <a:schemeClr val="bg1"/>
                </a:solidFill>
                <a:effectLst>
                  <a:outerShdw blurRad="50800" dist="38100" dir="2700000" algn="tl" rotWithShape="0">
                    <a:prstClr val="black">
                      <a:alpha val="40000"/>
                    </a:prstClr>
                  </a:outerShdw>
                </a:effectLst>
                <a:sym typeface="+mn-ea"/>
              </a:rPr>
              <a:t>编程</a:t>
            </a:r>
            <a:endParaRPr lang="zh-CN" altLang="en-US" sz="3600" dirty="0">
              <a:solidFill>
                <a:schemeClr val="bg1"/>
              </a:solidFill>
              <a:effectLst>
                <a:outerShdw blurRad="50800" dist="38100" dir="2700000" algn="tl" rotWithShape="0">
                  <a:prstClr val="black">
                    <a:alpha val="40000"/>
                  </a:prstClr>
                </a:outerShdw>
              </a:effectLst>
              <a:sym typeface="+mn-ea"/>
            </a:endParaRPr>
          </a:p>
        </p:txBody>
      </p:sp>
      <p:sp>
        <p:nvSpPr>
          <p:cNvPr id="22" name="等腰三角形 21"/>
          <p:cNvSpPr/>
          <p:nvPr/>
        </p:nvSpPr>
        <p:spPr>
          <a:xfrm rot="10800000">
            <a:off x="7596333" y="3137207"/>
            <a:ext cx="257382" cy="15286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2" rIns="82282" bIns="41142" rtlCol="0" anchor="ctr"/>
          <a:lstStyle/>
          <a:p>
            <a:pPr algn="ctr"/>
            <a:endParaRPr lang="zh-CN" altLang="en-US" sz="1235"/>
          </a:p>
        </p:txBody>
      </p:sp>
      <p:sp>
        <p:nvSpPr>
          <p:cNvPr id="9" name="文本框 8"/>
          <p:cNvSpPr txBox="1"/>
          <p:nvPr/>
        </p:nvSpPr>
        <p:spPr>
          <a:xfrm>
            <a:off x="6583110" y="3062198"/>
            <a:ext cx="1013185" cy="302260"/>
          </a:xfrm>
          <a:prstGeom prst="rect">
            <a:avLst/>
          </a:prstGeom>
          <a:noFill/>
        </p:spPr>
        <p:txBody>
          <a:bodyPr wrap="square" lIns="82288" tIns="41143" rIns="82288" bIns="41143" rtlCol="0">
            <a:spAutoFit/>
          </a:bodyPr>
          <a:lstStyle/>
          <a:p>
            <a:pPr algn="ctr"/>
            <a:r>
              <a:rPr lang="zh-CN" altLang="en-US" sz="1440" dirty="0">
                <a:solidFill>
                  <a:schemeClr val="bg1"/>
                </a:solidFill>
                <a:latin typeface="微软雅黑" panose="020B0503020204020204" pitchFamily="2" charset="-122"/>
                <a:ea typeface="微软雅黑" panose="020B0503020204020204" pitchFamily="2" charset="-122"/>
              </a:rPr>
              <a:t>黄哥哥</a:t>
            </a:r>
            <a:endParaRPr lang="zh-CN" altLang="en-US" sz="1440" dirty="0">
              <a:solidFill>
                <a:schemeClr val="bg1"/>
              </a:solidFill>
              <a:latin typeface="微软雅黑" panose="020B0503020204020204" pitchFamily="2" charset="-122"/>
              <a:ea typeface="微软雅黑" panose="020B0503020204020204"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61"/>
          <p:cNvSpPr txBox="1"/>
          <p:nvPr>
            <p:custDataLst>
              <p:tags r:id="rId1"/>
            </p:custDataLst>
          </p:nvPr>
        </p:nvSpPr>
        <p:spPr>
          <a:xfrm>
            <a:off x="1024230" y="1807817"/>
            <a:ext cx="2097872" cy="1053082"/>
          </a:xfrm>
          <a:prstGeom prst="rect">
            <a:avLst/>
          </a:prstGeom>
          <a:noFill/>
        </p:spPr>
        <p:txBody>
          <a:bodyPr wrap="square" rtlCol="0" anchor="b">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0"/>
              </a:spcBef>
              <a:spcAft>
                <a:spcPts val="0"/>
              </a:spcAft>
              <a:buSzPct val="100000"/>
              <a:buNone/>
            </a:pPr>
            <a:r>
              <a:rPr lang="zh-CN" altLang="en-US" sz="3500" b="1" spc="190" dirty="0">
                <a:solidFill>
                  <a:schemeClr val="dk1">
                    <a:lumMod val="85000"/>
                    <a:lumOff val="15000"/>
                  </a:schemeClr>
                </a:solidFill>
                <a:latin typeface="Arial" panose="020B0604020202020204" pitchFamily="34" charset="0"/>
                <a:ea typeface="微软雅黑" panose="020B0503020204020204" pitchFamily="2" charset="-122"/>
                <a:sym typeface="宋体" panose="02010600030101010101" pitchFamily="2" charset="-122"/>
              </a:rPr>
              <a:t>课程目标</a:t>
            </a:r>
            <a:endParaRPr lang="zh-CN" altLang="en-US" sz="3500" b="1" spc="190" dirty="0">
              <a:solidFill>
                <a:schemeClr val="dk1">
                  <a:lumMod val="85000"/>
                  <a:lumOff val="15000"/>
                </a:schemeClr>
              </a:solidFill>
              <a:latin typeface="Arial" panose="020B0604020202020204" pitchFamily="34" charset="0"/>
              <a:ea typeface="微软雅黑" panose="020B0503020204020204" pitchFamily="2" charset="-122"/>
              <a:sym typeface="宋体" panose="02010600030101010101" pitchFamily="2" charset="-122"/>
            </a:endParaRPr>
          </a:p>
        </p:txBody>
      </p:sp>
      <p:sp>
        <p:nvSpPr>
          <p:cNvPr id="3" name="文本框 60"/>
          <p:cNvSpPr txBox="1"/>
          <p:nvPr>
            <p:custDataLst>
              <p:tags r:id="rId2"/>
            </p:custDataLst>
          </p:nvPr>
        </p:nvSpPr>
        <p:spPr>
          <a:xfrm>
            <a:off x="1024230" y="2860899"/>
            <a:ext cx="2097872" cy="4747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US" altLang="zh-CN" spc="150" dirty="0">
                <a:solidFill>
                  <a:schemeClr val="dk1">
                    <a:lumMod val="85000"/>
                    <a:lumOff val="15000"/>
                  </a:schemeClr>
                </a:solidFill>
                <a:latin typeface="Arial" panose="020B0604020202020204" pitchFamily="34" charset="0"/>
                <a:ea typeface="微软雅黑" panose="020B0503020204020204" pitchFamily="2" charset="-122"/>
                <a:sym typeface="Arial" panose="020B0604020202020204" pitchFamily="34" charset="0"/>
              </a:rPr>
              <a:t>CONTENTS</a:t>
            </a:r>
            <a:endParaRPr lang="en-US" altLang="zh-CN" spc="150" dirty="0">
              <a:solidFill>
                <a:schemeClr val="dk1">
                  <a:lumMod val="85000"/>
                  <a:lumOff val="15000"/>
                </a:schemeClr>
              </a:solidFill>
              <a:latin typeface="Arial" panose="020B0604020202020204" pitchFamily="34" charset="0"/>
              <a:ea typeface="微软雅黑" panose="020B0503020204020204" pitchFamily="2" charset="-122"/>
              <a:sym typeface="Arial" panose="020B0604020202020204" pitchFamily="34" charset="0"/>
            </a:endParaRPr>
          </a:p>
        </p:txBody>
      </p:sp>
      <p:sp>
        <p:nvSpPr>
          <p:cNvPr id="6" name="矩形 5"/>
          <p:cNvSpPr/>
          <p:nvPr>
            <p:custDataLst>
              <p:tags r:id="rId3"/>
            </p:custDataLst>
          </p:nvPr>
        </p:nvSpPr>
        <p:spPr>
          <a:xfrm>
            <a:off x="4514850" y="1856780"/>
            <a:ext cx="4629150" cy="635794"/>
          </a:xfrm>
          <a:prstGeom prst="rect">
            <a:avLst/>
          </a:prstGeom>
          <a:solidFill>
            <a:schemeClr val="accent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p:custDataLst>
              <p:tags r:id="rId4"/>
            </p:custDataLst>
          </p:nvPr>
        </p:nvSpPr>
        <p:spPr>
          <a:xfrm>
            <a:off x="3943349" y="1742480"/>
            <a:ext cx="678656" cy="6357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lt1"/>
                </a:solidFill>
              </a:rPr>
              <a:t> </a:t>
            </a:r>
            <a:endParaRPr lang="en-US" altLang="zh-CN" sz="1350" dirty="0">
              <a:solidFill>
                <a:schemeClr val="lt1"/>
              </a:solidFill>
            </a:endParaRPr>
          </a:p>
        </p:txBody>
      </p:sp>
      <p:sp>
        <p:nvSpPr>
          <p:cNvPr id="8" name="直角三角形 7"/>
          <p:cNvSpPr/>
          <p:nvPr>
            <p:custDataLst>
              <p:tags r:id="rId5"/>
            </p:custDataLst>
          </p:nvPr>
        </p:nvSpPr>
        <p:spPr>
          <a:xfrm flipV="1">
            <a:off x="4514849" y="2378274"/>
            <a:ext cx="114300" cy="114300"/>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文本框 58"/>
          <p:cNvSpPr txBox="1"/>
          <p:nvPr>
            <p:custDataLst>
              <p:tags r:id="rId6"/>
            </p:custDataLst>
          </p:nvPr>
        </p:nvSpPr>
        <p:spPr>
          <a:xfrm>
            <a:off x="3996927" y="1809878"/>
            <a:ext cx="571500" cy="500999"/>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700" b="1" spc="300" dirty="0">
                <a:solidFill>
                  <a:schemeClr val="lt1"/>
                </a:solidFill>
                <a:latin typeface="Arial" panose="020B0604020202020204" pitchFamily="34" charset="0"/>
                <a:ea typeface="微软雅黑" panose="020B0503020204020204" pitchFamily="2" charset="-122"/>
              </a:rPr>
              <a:t>01</a:t>
            </a:r>
            <a:endParaRPr lang="en-US" altLang="zh-CN" sz="2700" b="1" spc="300" dirty="0">
              <a:solidFill>
                <a:schemeClr val="lt1"/>
              </a:solidFill>
              <a:latin typeface="Arial" panose="020B0604020202020204" pitchFamily="34" charset="0"/>
              <a:ea typeface="微软雅黑" panose="020B0503020204020204" pitchFamily="2" charset="-122"/>
            </a:endParaRPr>
          </a:p>
        </p:txBody>
      </p:sp>
      <p:sp>
        <p:nvSpPr>
          <p:cNvPr id="10" name="文本框 61"/>
          <p:cNvSpPr txBox="1"/>
          <p:nvPr>
            <p:custDataLst>
              <p:tags r:id="rId7"/>
            </p:custDataLst>
          </p:nvPr>
        </p:nvSpPr>
        <p:spPr>
          <a:xfrm>
            <a:off x="4675583" y="1902352"/>
            <a:ext cx="3885092" cy="544650"/>
          </a:xfrm>
          <a:prstGeom prst="rect">
            <a:avLst/>
          </a:prstGeom>
          <a:noFill/>
        </p:spPr>
        <p:txBody>
          <a:bodyPr wrap="square" rtlCol="0" anchor="ctr">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a:lnSpc>
                <a:spcPct val="100000"/>
              </a:lnSpc>
              <a:spcBef>
                <a:spcPts val="0"/>
              </a:spcBef>
              <a:spcAft>
                <a:spcPts val="800"/>
              </a:spcAft>
              <a:buSzPct val="100000"/>
            </a:pPr>
            <a:r>
              <a:rPr lang="zh-CN" altLang="en-US" sz="2900" strike="noStrike" spc="209" dirty="0">
                <a:solidFill>
                  <a:schemeClr val="lt1"/>
                </a:solidFill>
                <a:latin typeface="Arial" panose="020B0604020202020204" pitchFamily="34" charset="0"/>
                <a:ea typeface="微软雅黑" panose="020B0503020204020204" pitchFamily="2" charset="-122"/>
              </a:rPr>
              <a:t>标准I/O、文件I/O</a:t>
            </a:r>
            <a:endParaRPr lang="zh-CN" altLang="en-US" sz="2900" strike="noStrike" spc="209" dirty="0">
              <a:solidFill>
                <a:schemeClr val="lt1"/>
              </a:solidFill>
              <a:latin typeface="Arial" panose="020B0604020202020204" pitchFamily="34" charset="0"/>
              <a:ea typeface="微软雅黑" panose="020B0503020204020204" pitchFamily="2" charset="-122"/>
            </a:endParaRPr>
          </a:p>
        </p:txBody>
      </p:sp>
      <p:sp>
        <p:nvSpPr>
          <p:cNvPr id="13" name="矩形 12"/>
          <p:cNvSpPr/>
          <p:nvPr>
            <p:custDataLst>
              <p:tags r:id="rId8"/>
            </p:custDataLst>
          </p:nvPr>
        </p:nvSpPr>
        <p:spPr>
          <a:xfrm>
            <a:off x="4514850" y="2765227"/>
            <a:ext cx="4629150" cy="635794"/>
          </a:xfrm>
          <a:prstGeom prst="rect">
            <a:avLst/>
          </a:prstGeom>
          <a:solidFill>
            <a:schemeClr val="accent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矩形 13"/>
          <p:cNvSpPr/>
          <p:nvPr>
            <p:custDataLst>
              <p:tags r:id="rId9"/>
            </p:custDataLst>
          </p:nvPr>
        </p:nvSpPr>
        <p:spPr>
          <a:xfrm>
            <a:off x="3943349" y="2650927"/>
            <a:ext cx="678656" cy="6357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solidFill>
                  <a:schemeClr val="lt1"/>
                </a:solidFill>
              </a:rPr>
              <a:t> </a:t>
            </a:r>
            <a:endParaRPr lang="en-US" altLang="zh-CN" sz="1350" dirty="0">
              <a:solidFill>
                <a:schemeClr val="lt1"/>
              </a:solidFill>
            </a:endParaRPr>
          </a:p>
        </p:txBody>
      </p:sp>
      <p:sp>
        <p:nvSpPr>
          <p:cNvPr id="15" name="直角三角形 14"/>
          <p:cNvSpPr/>
          <p:nvPr>
            <p:custDataLst>
              <p:tags r:id="rId10"/>
            </p:custDataLst>
          </p:nvPr>
        </p:nvSpPr>
        <p:spPr>
          <a:xfrm flipV="1">
            <a:off x="4514849" y="3286721"/>
            <a:ext cx="114300" cy="114300"/>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文本框 58"/>
          <p:cNvSpPr txBox="1"/>
          <p:nvPr>
            <p:custDataLst>
              <p:tags r:id="rId11"/>
            </p:custDataLst>
          </p:nvPr>
        </p:nvSpPr>
        <p:spPr>
          <a:xfrm>
            <a:off x="3996927" y="2718324"/>
            <a:ext cx="571500" cy="500999"/>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700" b="1" spc="300" dirty="0">
                <a:solidFill>
                  <a:schemeClr val="lt1"/>
                </a:solidFill>
                <a:latin typeface="Arial" panose="020B0604020202020204" pitchFamily="34" charset="0"/>
                <a:ea typeface="微软雅黑" panose="020B0503020204020204" pitchFamily="2" charset="-122"/>
              </a:rPr>
              <a:t>02</a:t>
            </a:r>
            <a:endParaRPr lang="en-US" altLang="zh-CN" sz="2700" b="1" spc="300" dirty="0">
              <a:solidFill>
                <a:schemeClr val="lt1"/>
              </a:solidFill>
              <a:latin typeface="Arial" panose="020B0604020202020204" pitchFamily="34" charset="0"/>
              <a:ea typeface="微软雅黑" panose="020B0503020204020204" pitchFamily="2" charset="-122"/>
            </a:endParaRPr>
          </a:p>
        </p:txBody>
      </p:sp>
      <p:sp>
        <p:nvSpPr>
          <p:cNvPr id="17" name="文本框 61"/>
          <p:cNvSpPr txBox="1"/>
          <p:nvPr>
            <p:custDataLst>
              <p:tags r:id="rId12"/>
            </p:custDataLst>
          </p:nvPr>
        </p:nvSpPr>
        <p:spPr>
          <a:xfrm>
            <a:off x="4675583" y="2810798"/>
            <a:ext cx="3885092" cy="544650"/>
          </a:xfrm>
          <a:prstGeom prst="rect">
            <a:avLst/>
          </a:prstGeom>
          <a:noFill/>
        </p:spPr>
        <p:txBody>
          <a:bodyPr wrap="square" rtlCol="0" anchor="ctr">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a:lnSpc>
                <a:spcPct val="100000"/>
              </a:lnSpc>
              <a:spcBef>
                <a:spcPts val="0"/>
              </a:spcBef>
              <a:spcAft>
                <a:spcPts val="800"/>
              </a:spcAft>
              <a:buSzPct val="100000"/>
            </a:pPr>
            <a:r>
              <a:rPr lang="en-US" altLang="x-none" sz="2900" strike="noStrike" spc="209" dirty="0">
                <a:solidFill>
                  <a:schemeClr val="lt1"/>
                </a:solidFill>
                <a:latin typeface="Arial" panose="020B0604020202020204" pitchFamily="34" charset="0"/>
                <a:ea typeface="微软雅黑" panose="020B0503020204020204" pitchFamily="2" charset="-122"/>
              </a:rPr>
              <a:t>Linux 进程、线程</a:t>
            </a:r>
            <a:endParaRPr lang="en-US" altLang="x-none" sz="2900" strike="noStrike" spc="209" dirty="0">
              <a:solidFill>
                <a:schemeClr val="lt1"/>
              </a:solidFill>
              <a:latin typeface="Arial" panose="020B0604020202020204" pitchFamily="34" charset="0"/>
              <a:ea typeface="微软雅黑" panose="020B0503020204020204" pitchFamily="2" charset="-122"/>
            </a:endParaRPr>
          </a:p>
        </p:txBody>
      </p:sp>
    </p:spTree>
    <p:custDataLst>
      <p:tags r:id="rId1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文本占位符 3"/>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gn="ctr">
              <a:lnSpc>
                <a:spcPct val="300000"/>
              </a:lnSpc>
              <a:spcBef>
                <a:spcPts val="275"/>
              </a:spcBef>
              <a:spcAft>
                <a:spcPts val="275"/>
              </a:spcAft>
              <a:buNone/>
            </a:pPr>
            <a:r>
              <a:rPr lang="zh-CN" altLang="en-US" sz="4400" dirty="0">
                <a:solidFill>
                  <a:srgbClr val="3F3151"/>
                </a:solidFill>
                <a:latin typeface="宋体" panose="02010600030101010101" pitchFamily="2" charset="-122"/>
              </a:rPr>
              <a:t>标准</a:t>
            </a:r>
            <a:r>
              <a:rPr lang="en-US" altLang="zh-CN" sz="4400" dirty="0">
                <a:solidFill>
                  <a:srgbClr val="3F3151"/>
                </a:solidFill>
                <a:latin typeface="宋体" panose="02010600030101010101" pitchFamily="2" charset="-122"/>
              </a:rPr>
              <a:t>I/O</a:t>
            </a:r>
            <a:r>
              <a:rPr lang="zh-CN" altLang="en-US" sz="4400" dirty="0">
                <a:solidFill>
                  <a:srgbClr val="3F3151"/>
                </a:solidFill>
                <a:latin typeface="宋体" panose="02010600030101010101" pitchFamily="2" charset="-122"/>
              </a:rPr>
              <a:t>、文件</a:t>
            </a:r>
            <a:r>
              <a:rPr lang="en-US" altLang="zh-CN" sz="4400" dirty="0">
                <a:solidFill>
                  <a:srgbClr val="3F3151"/>
                </a:solidFill>
                <a:latin typeface="宋体" panose="02010600030101010101" pitchFamily="2" charset="-122"/>
              </a:rPr>
              <a:t>I/O</a:t>
            </a:r>
            <a:endParaRPr lang="zh-CN" altLang="en-US" sz="4400" dirty="0">
              <a:solidFill>
                <a:srgbClr val="3F3151"/>
              </a:solidFill>
              <a:latin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r>
              <a:rPr lang="zh-CN" altLang="en-US" sz="1800" dirty="0">
                <a:solidFill>
                  <a:srgbClr val="FF0000"/>
                </a:solidFill>
                <a:latin typeface="宋体" panose="02010600030101010101" pitchFamily="2" charset="-122"/>
              </a:rPr>
              <a:t>标准</a:t>
            </a:r>
            <a:r>
              <a:rPr lang="en-US" altLang="zh-CN" sz="1800" dirty="0">
                <a:solidFill>
                  <a:srgbClr val="FF0000"/>
                </a:solidFill>
                <a:latin typeface="宋体" panose="02010600030101010101" pitchFamily="2" charset="-122"/>
              </a:rPr>
              <a:t>I/O</a:t>
            </a:r>
            <a:endParaRPr lang="zh-CN" altLang="en-US" sz="1800" dirty="0">
              <a:solidFill>
                <a:srgbClr val="FF0000"/>
              </a:solidFill>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文件</a:t>
            </a:r>
            <a:r>
              <a:rPr lang="en-US" altLang="zh-CN" sz="1800" dirty="0">
                <a:latin typeface="宋体" panose="02010600030101010101" pitchFamily="2" charset="-122"/>
              </a:rPr>
              <a:t>I/O</a:t>
            </a:r>
            <a:endParaRPr lang="zh-CN" altLang="en-US" sz="1800" dirty="0">
              <a:latin typeface="宋体" panose="02010600030101010101" pitchFamily="2" charset="-122"/>
            </a:endParaRPr>
          </a:p>
        </p:txBody>
      </p:sp>
      <p:sp>
        <p:nvSpPr>
          <p:cNvPr id="614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课程目标</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系统调用与库调用</a:t>
            </a:r>
            <a:endParaRPr lang="en-US" altLang="zh-CN" sz="18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系统调用：操作系统负责管理和分配计算机资源，为了更好的服务于应用程序，操作系统提供了一组特殊的接口</a:t>
            </a:r>
            <a:r>
              <a:rPr lang="en-US" altLang="zh-CN" sz="1800" dirty="0">
                <a:latin typeface="宋体" panose="02010600030101010101" pitchFamily="2" charset="-122"/>
              </a:rPr>
              <a:t>—</a:t>
            </a:r>
            <a:r>
              <a:rPr lang="zh-CN" altLang="en-US" sz="1800" dirty="0">
                <a:latin typeface="宋体" panose="02010600030101010101" pitchFamily="2" charset="-122"/>
              </a:rPr>
              <a:t>系统调用。通过系统调用接口用户可以使用内核提供的各种功能，例如，文件</a:t>
            </a:r>
            <a:r>
              <a:rPr lang="en-US" altLang="zh-CN" sz="1800" dirty="0">
                <a:latin typeface="宋体" panose="02010600030101010101" pitchFamily="2" charset="-122"/>
              </a:rPr>
              <a:t>I/O</a:t>
            </a:r>
            <a:endParaRPr lang="zh-CN" altLang="en-US" sz="18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库调用：本质上来说库是一种可执行代码的二进制形式，可以被操作系统载入内存执行。由于windows和linux的本质不同，因此二者库的二进制是不兼容的。例如，标准</a:t>
            </a:r>
            <a:r>
              <a:rPr lang="en-US" altLang="zh-CN" sz="1800" dirty="0">
                <a:latin typeface="宋体" panose="02010600030101010101" pitchFamily="2" charset="-122"/>
              </a:rPr>
              <a:t>I/O</a:t>
            </a:r>
            <a:r>
              <a:rPr lang="zh-CN" altLang="en-US" sz="1800" dirty="0">
                <a:latin typeface="宋体" panose="02010600030101010101" pitchFamily="2" charset="-122"/>
              </a:rPr>
              <a:t>库 </a:t>
            </a:r>
            <a:endParaRPr lang="en-US" altLang="zh-CN" sz="1800" dirty="0">
              <a:latin typeface="宋体" panose="02010600030101010101" pitchFamily="2" charset="-122"/>
            </a:endParaRPr>
          </a:p>
          <a:p>
            <a:pPr lvl="1" indent="-285750">
              <a:spcBef>
                <a:spcPts val="275"/>
              </a:spcBef>
              <a:spcAft>
                <a:spcPts val="275"/>
              </a:spcAft>
            </a:pPr>
            <a:r>
              <a:rPr lang="zh-CN" altLang="en-US" sz="1600" dirty="0">
                <a:latin typeface="宋体" panose="02010600030101010101" pitchFamily="2" charset="-122"/>
              </a:rPr>
              <a:t>不仅在</a:t>
            </a:r>
            <a:r>
              <a:rPr lang="en-US" altLang="zh-CN" sz="1600" dirty="0">
                <a:latin typeface="宋体" panose="02010600030101010101" pitchFamily="2" charset="-122"/>
              </a:rPr>
              <a:t>UNIX</a:t>
            </a:r>
            <a:r>
              <a:rPr lang="zh-CN" altLang="en-US" sz="1600" dirty="0">
                <a:latin typeface="宋体" panose="02010600030101010101" pitchFamily="2" charset="-122"/>
              </a:rPr>
              <a:t>系统，在很多操作系统上都实现了标准</a:t>
            </a:r>
            <a:r>
              <a:rPr lang="en-US" altLang="zh-CN" sz="1600" dirty="0">
                <a:latin typeface="宋体" panose="02010600030101010101" pitchFamily="2" charset="-122"/>
              </a:rPr>
              <a:t>I/O</a:t>
            </a:r>
            <a:r>
              <a:rPr lang="zh-CN" altLang="en-US" sz="1600" dirty="0">
                <a:latin typeface="宋体" panose="02010600030101010101" pitchFamily="2" charset="-122"/>
              </a:rPr>
              <a:t>库</a:t>
            </a:r>
            <a:endParaRPr lang="zh-CN" altLang="en-US" sz="1600" dirty="0">
              <a:latin typeface="宋体" panose="02010600030101010101" pitchFamily="2" charset="-122"/>
            </a:endParaRPr>
          </a:p>
          <a:p>
            <a:pPr lvl="1" indent="-285750">
              <a:spcBef>
                <a:spcPts val="275"/>
              </a:spcBef>
              <a:spcAft>
                <a:spcPts val="275"/>
              </a:spcAft>
            </a:pPr>
            <a:r>
              <a:rPr lang="zh-CN" altLang="en-US" sz="1600" dirty="0">
                <a:latin typeface="宋体" panose="02010600030101010101" pitchFamily="2" charset="-122"/>
              </a:rPr>
              <a:t>标准</a:t>
            </a:r>
            <a:r>
              <a:rPr lang="en-US" altLang="zh-CN" sz="1600" dirty="0">
                <a:latin typeface="宋体" panose="02010600030101010101" pitchFamily="2" charset="-122"/>
              </a:rPr>
              <a:t>I/O</a:t>
            </a:r>
            <a:r>
              <a:rPr lang="zh-CN" altLang="en-US" sz="1600" dirty="0">
                <a:latin typeface="宋体" panose="02010600030101010101" pitchFamily="2" charset="-122"/>
              </a:rPr>
              <a:t>库处理很多细节，如缓存分配、以优化长度执行</a:t>
            </a:r>
            <a:r>
              <a:rPr lang="en-US" altLang="zh-CN" sz="1600" dirty="0">
                <a:latin typeface="宋体" panose="02010600030101010101" pitchFamily="2" charset="-122"/>
              </a:rPr>
              <a:t>I/O</a:t>
            </a:r>
            <a:r>
              <a:rPr lang="zh-CN" altLang="en-US" sz="1600" dirty="0">
                <a:latin typeface="宋体" panose="02010600030101010101" pitchFamily="2" charset="-122"/>
              </a:rPr>
              <a:t>等，这样使用户不必关心如何选择合适的块长度</a:t>
            </a:r>
            <a:endParaRPr lang="zh-CN" altLang="en-US" sz="1600" dirty="0">
              <a:latin typeface="宋体" panose="02010600030101010101" pitchFamily="2" charset="-122"/>
            </a:endParaRPr>
          </a:p>
          <a:p>
            <a:pPr lvl="1" indent="-285750">
              <a:spcBef>
                <a:spcPts val="275"/>
              </a:spcBef>
              <a:spcAft>
                <a:spcPts val="275"/>
              </a:spcAft>
            </a:pPr>
            <a:r>
              <a:rPr lang="zh-CN" altLang="en-US" sz="1600" dirty="0">
                <a:latin typeface="宋体" panose="02010600030101010101" pitchFamily="2" charset="-122"/>
              </a:rPr>
              <a:t>标准</a:t>
            </a:r>
            <a:r>
              <a:rPr lang="en-US" altLang="zh-CN" sz="1600" dirty="0">
                <a:latin typeface="宋体" panose="02010600030101010101" pitchFamily="2" charset="-122"/>
              </a:rPr>
              <a:t>I/O</a:t>
            </a:r>
            <a:r>
              <a:rPr lang="zh-CN" altLang="en-US" sz="1600" dirty="0">
                <a:latin typeface="宋体" panose="02010600030101010101" pitchFamily="2" charset="-122"/>
              </a:rPr>
              <a:t>在系统调用函数基础上构造的，它便于用户使用</a:t>
            </a:r>
            <a:endParaRPr lang="zh-CN" altLang="en-US" sz="16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p:txBody>
      </p:sp>
      <p:sp>
        <p:nvSpPr>
          <p:cNvPr id="717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p:txBody>
      </p:sp>
      <p:sp>
        <p:nvSpPr>
          <p:cNvPr id="819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8196" name="图片 1"/>
          <p:cNvPicPr>
            <a:picLocks noChangeAspect="1"/>
          </p:cNvPicPr>
          <p:nvPr/>
        </p:nvPicPr>
        <p:blipFill>
          <a:blip r:embed="rId1"/>
          <a:stretch>
            <a:fillRect/>
          </a:stretch>
        </p:blipFill>
        <p:spPr>
          <a:xfrm>
            <a:off x="1622425" y="1044575"/>
            <a:ext cx="3390900" cy="350520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了解文件的基本概念</a:t>
            </a:r>
            <a:endParaRPr lang="zh-CN" altLang="en-US" sz="18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掌握文件的常见操作</a:t>
            </a:r>
            <a:endParaRPr lang="zh-CN" altLang="en-US" sz="1800" dirty="0">
              <a:latin typeface="宋体" panose="02010600030101010101" pitchFamily="2" charset="-122"/>
            </a:endParaRPr>
          </a:p>
          <a:p>
            <a:pPr marL="0" lvl="1" indent="0">
              <a:spcBef>
                <a:spcPts val="275"/>
              </a:spcBef>
              <a:spcAft>
                <a:spcPts val="275"/>
              </a:spcAft>
              <a:buNone/>
            </a:pPr>
            <a:r>
              <a:rPr lang="en-US" altLang="zh-CN" sz="1800" dirty="0">
                <a:latin typeface="宋体" panose="02010600030101010101" pitchFamily="2" charset="-122"/>
              </a:rPr>
              <a:t>	</a:t>
            </a:r>
            <a:r>
              <a:rPr lang="en-US" altLang="zh-CN" sz="1800" dirty="0">
                <a:solidFill>
                  <a:srgbClr val="FF0000"/>
                </a:solidFill>
                <a:latin typeface="宋体" panose="02010600030101010101" pitchFamily="2" charset="-122"/>
              </a:rPr>
              <a:t>fopen/fclose</a:t>
            </a:r>
            <a:endParaRPr lang="en-US" altLang="zh-CN" sz="1800" dirty="0">
              <a:solidFill>
                <a:srgbClr val="FF0000"/>
              </a:solidFill>
              <a:latin typeface="宋体" panose="02010600030101010101" pitchFamily="2" charset="-122"/>
            </a:endParaRPr>
          </a:p>
          <a:p>
            <a:pPr marL="0" lvl="1" indent="0">
              <a:spcBef>
                <a:spcPts val="275"/>
              </a:spcBef>
              <a:spcAft>
                <a:spcPts val="275"/>
              </a:spcAft>
              <a:buNone/>
            </a:pPr>
            <a:r>
              <a:rPr lang="en-US" altLang="zh-CN" sz="1800" dirty="0">
                <a:latin typeface="宋体" panose="02010600030101010101" pitchFamily="2" charset="-122"/>
              </a:rPr>
              <a:t>	</a:t>
            </a:r>
            <a:r>
              <a:rPr lang="en-US" altLang="zh-CN" sz="1800" dirty="0">
                <a:solidFill>
                  <a:srgbClr val="FF0000"/>
                </a:solidFill>
                <a:latin typeface="宋体" panose="02010600030101010101" pitchFamily="2" charset="-122"/>
              </a:rPr>
              <a:t>fgets</a:t>
            </a:r>
            <a:r>
              <a:rPr lang="en-US" altLang="zh-CN" sz="1800" dirty="0">
                <a:latin typeface="宋体" panose="02010600030101010101" pitchFamily="2" charset="-122"/>
              </a:rPr>
              <a:t>/fputs</a:t>
            </a:r>
            <a:endParaRPr lang="en-US" altLang="zh-CN" sz="1800" dirty="0">
              <a:latin typeface="宋体" panose="02010600030101010101" pitchFamily="2" charset="-122"/>
            </a:endParaRPr>
          </a:p>
          <a:p>
            <a:pPr marL="0" lvl="1" indent="0">
              <a:spcBef>
                <a:spcPts val="275"/>
              </a:spcBef>
              <a:spcAft>
                <a:spcPts val="275"/>
              </a:spcAft>
              <a:buNone/>
            </a:pPr>
            <a:r>
              <a:rPr lang="en-US" altLang="zh-CN" sz="1800" dirty="0">
                <a:latin typeface="宋体" panose="02010600030101010101" pitchFamily="2" charset="-122"/>
              </a:rPr>
              <a:t>	fgetc/fputc</a:t>
            </a:r>
            <a:endParaRPr lang="en-US" altLang="zh-CN" sz="1800" dirty="0">
              <a:latin typeface="宋体" panose="02010600030101010101" pitchFamily="2" charset="-122"/>
            </a:endParaRPr>
          </a:p>
          <a:p>
            <a:pPr marL="0" lvl="1" indent="0">
              <a:spcBef>
                <a:spcPts val="275"/>
              </a:spcBef>
              <a:spcAft>
                <a:spcPts val="275"/>
              </a:spcAft>
              <a:buNone/>
            </a:pPr>
            <a:r>
              <a:rPr lang="en-US" altLang="zh-CN" sz="1800" dirty="0">
                <a:latin typeface="宋体" panose="02010600030101010101" pitchFamily="2" charset="-122"/>
              </a:rPr>
              <a:t>	</a:t>
            </a:r>
            <a:r>
              <a:rPr lang="en-US" altLang="zh-CN" sz="1800" dirty="0">
                <a:solidFill>
                  <a:srgbClr val="FF0000"/>
                </a:solidFill>
                <a:latin typeface="宋体" panose="02010600030101010101" pitchFamily="2" charset="-122"/>
              </a:rPr>
              <a:t>fwrite/fread</a:t>
            </a:r>
            <a:endParaRPr lang="en-US" altLang="zh-CN" sz="1800" dirty="0">
              <a:solidFill>
                <a:srgbClr val="FF0000"/>
              </a:solidFill>
              <a:latin typeface="宋体" panose="02010600030101010101" pitchFamily="2" charset="-122"/>
            </a:endParaRPr>
          </a:p>
          <a:p>
            <a:pPr marL="0" lvl="1" indent="0">
              <a:spcBef>
                <a:spcPts val="275"/>
              </a:spcBef>
              <a:spcAft>
                <a:spcPts val="275"/>
              </a:spcAft>
              <a:buNone/>
            </a:pPr>
            <a:r>
              <a:rPr lang="zh-CN" altLang="en-US" sz="1800" dirty="0">
                <a:latin typeface="宋体" panose="02010600030101010101" pitchFamily="2" charset="-122"/>
              </a:rPr>
              <a:t>参考资料</a:t>
            </a:r>
            <a:endParaRPr lang="en-US" altLang="zh-CN" sz="1800" dirty="0">
              <a:latin typeface="宋体" panose="02010600030101010101" pitchFamily="2" charset="-122"/>
            </a:endParaRPr>
          </a:p>
          <a:p>
            <a:pPr marL="0" lvl="1" indent="0">
              <a:spcBef>
                <a:spcPts val="275"/>
              </a:spcBef>
              <a:spcAft>
                <a:spcPts val="275"/>
              </a:spcAft>
              <a:buNone/>
            </a:pPr>
            <a:r>
              <a:rPr lang="en-US" altLang="zh-CN" sz="1800" dirty="0">
                <a:latin typeface="宋体" panose="02010600030101010101" pitchFamily="2" charset="-122"/>
              </a:rPr>
              <a:t>	</a:t>
            </a:r>
            <a:r>
              <a:rPr lang="en-US" altLang="zh-CN" sz="1800" b="1" dirty="0">
                <a:latin typeface="宋体" panose="02010600030101010101" pitchFamily="2" charset="-122"/>
              </a:rPr>
              <a:t>Stevens《Unix</a:t>
            </a:r>
            <a:r>
              <a:rPr lang="zh-CN" altLang="en-US" sz="1800" b="1" dirty="0">
                <a:latin typeface="宋体" panose="02010600030101010101" pitchFamily="2" charset="-122"/>
              </a:rPr>
              <a:t>环境高级编程</a:t>
            </a:r>
            <a:r>
              <a:rPr lang="en-US" altLang="zh-CN" sz="1800" b="1" dirty="0">
                <a:latin typeface="宋体" panose="02010600030101010101" pitchFamily="2" charset="-122"/>
              </a:rPr>
              <a:t>》</a:t>
            </a:r>
            <a:endParaRPr lang="zh-CN" altLang="en-US" sz="1800" b="1" dirty="0">
              <a:latin typeface="宋体" panose="02010600030101010101" pitchFamily="2" charset="-122"/>
            </a:endParaRPr>
          </a:p>
          <a:p>
            <a:pPr marL="0" lvl="1" indent="0">
              <a:spcBef>
                <a:spcPts val="275"/>
              </a:spcBef>
              <a:spcAft>
                <a:spcPts val="275"/>
              </a:spcAft>
              <a:buNone/>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p:txBody>
      </p:sp>
      <p:sp>
        <p:nvSpPr>
          <p:cNvPr id="921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文件是一组相关数据的有序集合</a:t>
            </a:r>
            <a:endParaRPr lang="en-US" altLang="zh-CN" sz="18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文件名可以理解为这组数据的名称</a:t>
            </a:r>
            <a:endParaRPr lang="en-US" altLang="zh-CN" sz="1800" dirty="0">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rPr>
              <a:t>Linux</a:t>
            </a:r>
            <a:r>
              <a:rPr lang="zh-CN" altLang="en-US" sz="1800" dirty="0">
                <a:latin typeface="宋体" panose="02010600030101010101" pitchFamily="2" charset="-122"/>
              </a:rPr>
              <a:t>一切皆文件</a:t>
            </a:r>
            <a:endParaRPr lang="en-US" altLang="zh-CN" sz="18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文件类型：</a:t>
            </a:r>
            <a:endParaRPr lang="en-US" altLang="zh-CN" sz="1800" dirty="0">
              <a:latin typeface="宋体" panose="02010600030101010101" pitchFamily="2" charset="-122"/>
            </a:endParaRPr>
          </a:p>
          <a:p>
            <a:pPr lvl="1" indent="-285750">
              <a:spcBef>
                <a:spcPts val="275"/>
              </a:spcBef>
              <a:spcAft>
                <a:spcPts val="275"/>
              </a:spcAft>
            </a:pPr>
            <a:r>
              <a:rPr lang="en-US" altLang="zh-CN" sz="1600" dirty="0">
                <a:latin typeface="宋体" panose="02010600030101010101" pitchFamily="2" charset="-122"/>
              </a:rPr>
              <a:t>c </a:t>
            </a:r>
            <a:r>
              <a:rPr lang="zh-CN" altLang="en-US" sz="1600" dirty="0">
                <a:latin typeface="宋体" panose="02010600030101010101" pitchFamily="2" charset="-122"/>
              </a:rPr>
              <a:t>字符设备</a:t>
            </a:r>
            <a:endParaRPr lang="en-US" altLang="zh-CN" sz="1600" dirty="0">
              <a:latin typeface="宋体" panose="02010600030101010101" pitchFamily="2" charset="-122"/>
            </a:endParaRPr>
          </a:p>
          <a:p>
            <a:pPr lvl="1" indent="-285750">
              <a:spcBef>
                <a:spcPts val="275"/>
              </a:spcBef>
              <a:spcAft>
                <a:spcPts val="275"/>
              </a:spcAft>
            </a:pPr>
            <a:r>
              <a:rPr lang="en-US" altLang="zh-CN" sz="1600" dirty="0">
                <a:latin typeface="宋体" panose="02010600030101010101" pitchFamily="2" charset="-122"/>
              </a:rPr>
              <a:t>b </a:t>
            </a:r>
            <a:r>
              <a:rPr lang="zh-CN" altLang="en-US" sz="1600" dirty="0">
                <a:latin typeface="宋体" panose="02010600030101010101" pitchFamily="2" charset="-122"/>
              </a:rPr>
              <a:t>块设备</a:t>
            </a:r>
            <a:endParaRPr lang="en-US" altLang="zh-CN" sz="1600" dirty="0">
              <a:latin typeface="宋体" panose="02010600030101010101" pitchFamily="2" charset="-122"/>
            </a:endParaRPr>
          </a:p>
          <a:p>
            <a:pPr lvl="1" indent="-285750">
              <a:spcBef>
                <a:spcPts val="275"/>
              </a:spcBef>
              <a:spcAft>
                <a:spcPts val="275"/>
              </a:spcAft>
            </a:pPr>
            <a:r>
              <a:rPr lang="en-US" altLang="zh-CN" sz="1600" dirty="0">
                <a:latin typeface="宋体" panose="02010600030101010101" pitchFamily="2" charset="-122"/>
              </a:rPr>
              <a:t>d </a:t>
            </a:r>
            <a:r>
              <a:rPr lang="zh-CN" altLang="en-US" sz="1600" dirty="0">
                <a:latin typeface="宋体" panose="02010600030101010101" pitchFamily="2" charset="-122"/>
              </a:rPr>
              <a:t>目录文件</a:t>
            </a:r>
            <a:endParaRPr lang="en-US" altLang="zh-CN" sz="1600" dirty="0">
              <a:latin typeface="宋体" panose="02010600030101010101" pitchFamily="2" charset="-122"/>
            </a:endParaRPr>
          </a:p>
          <a:p>
            <a:pPr lvl="1" indent="-285750">
              <a:spcBef>
                <a:spcPts val="275"/>
              </a:spcBef>
              <a:spcAft>
                <a:spcPts val="275"/>
              </a:spcAft>
            </a:pPr>
            <a:r>
              <a:rPr lang="en-US" altLang="zh-CN" sz="1600" dirty="0">
                <a:latin typeface="宋体" panose="02010600030101010101" pitchFamily="2" charset="-122"/>
              </a:rPr>
              <a:t>- </a:t>
            </a:r>
            <a:r>
              <a:rPr lang="zh-CN" altLang="en-US" sz="1600" dirty="0">
                <a:latin typeface="宋体" panose="02010600030101010101" pitchFamily="2" charset="-122"/>
              </a:rPr>
              <a:t>常规文件</a:t>
            </a:r>
            <a:endParaRPr lang="en-US" altLang="zh-CN" sz="1600" dirty="0">
              <a:latin typeface="宋体" panose="02010600030101010101" pitchFamily="2" charset="-122"/>
            </a:endParaRPr>
          </a:p>
          <a:p>
            <a:pPr lvl="1" indent="-285750">
              <a:spcBef>
                <a:spcPts val="275"/>
              </a:spcBef>
              <a:spcAft>
                <a:spcPts val="275"/>
              </a:spcAft>
            </a:pPr>
            <a:r>
              <a:rPr lang="en-US" altLang="zh-CN" sz="1600" dirty="0">
                <a:latin typeface="宋体" panose="02010600030101010101" pitchFamily="2" charset="-122"/>
              </a:rPr>
              <a:t>p </a:t>
            </a:r>
            <a:r>
              <a:rPr lang="zh-CN" altLang="en-US" sz="1600" dirty="0">
                <a:latin typeface="宋体" panose="02010600030101010101" pitchFamily="2" charset="-122"/>
              </a:rPr>
              <a:t>管道文件</a:t>
            </a:r>
            <a:endParaRPr lang="en-US" altLang="zh-CN" sz="1600" dirty="0">
              <a:latin typeface="宋体" panose="02010600030101010101" pitchFamily="2" charset="-122"/>
            </a:endParaRPr>
          </a:p>
          <a:p>
            <a:pPr lvl="1" indent="-285750">
              <a:spcBef>
                <a:spcPts val="275"/>
              </a:spcBef>
              <a:spcAft>
                <a:spcPts val="275"/>
              </a:spcAft>
            </a:pPr>
            <a:r>
              <a:rPr lang="en-US" altLang="zh-CN" sz="1600" dirty="0">
                <a:latin typeface="宋体" panose="02010600030101010101" pitchFamily="2" charset="-122"/>
              </a:rPr>
              <a:t>s </a:t>
            </a:r>
            <a:r>
              <a:rPr lang="zh-CN" altLang="en-US" sz="1600" dirty="0">
                <a:latin typeface="宋体" panose="02010600030101010101" pitchFamily="2" charset="-122"/>
              </a:rPr>
              <a:t>套接字文件</a:t>
            </a:r>
            <a:endParaRPr lang="en-US" altLang="zh-CN" sz="1600" dirty="0">
              <a:latin typeface="宋体" panose="02010600030101010101" pitchFamily="2" charset="-122"/>
            </a:endParaRPr>
          </a:p>
          <a:p>
            <a:pPr lvl="1" indent="-285750">
              <a:spcBef>
                <a:spcPts val="275"/>
              </a:spcBef>
              <a:spcAft>
                <a:spcPts val="275"/>
              </a:spcAft>
            </a:pPr>
            <a:r>
              <a:rPr lang="en-US" altLang="zh-CN" sz="1600" dirty="0">
                <a:latin typeface="宋体" panose="02010600030101010101" pitchFamily="2" charset="-122"/>
              </a:rPr>
              <a:t>l </a:t>
            </a:r>
            <a:r>
              <a:rPr lang="zh-CN" altLang="en-US" sz="1600" dirty="0">
                <a:latin typeface="宋体" panose="02010600030101010101" pitchFamily="2" charset="-122"/>
              </a:rPr>
              <a:t>链接文件</a:t>
            </a:r>
            <a:endParaRPr lang="zh-CN" altLang="en-US" sz="1600" dirty="0">
              <a:latin typeface="宋体" panose="02010600030101010101" pitchFamily="2" charset="-122"/>
            </a:endParaRPr>
          </a:p>
        </p:txBody>
      </p:sp>
      <p:sp>
        <p:nvSpPr>
          <p:cNvPr id="1024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 –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文本占位符 1"/>
          <p:cNvSpPr>
            <a:spLocks noGrp="1"/>
          </p:cNvSpPr>
          <p:nvPr>
            <p:ph sz="quarter"/>
          </p:nvPr>
        </p:nvSpPr>
        <p:spPr>
          <a:xfrm>
            <a:off x="612775" y="933450"/>
            <a:ext cx="7991475" cy="3725863"/>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lvl="0" indent="-342900" fontAlgn="base">
              <a:spcBef>
                <a:spcPts val="275"/>
              </a:spcBef>
              <a:spcAft>
                <a:spcPts val="275"/>
              </a:spcAft>
            </a:pPr>
            <a:r>
              <a:rPr lang="zh-CN" altLang="en-US" sz="1800" strike="noStrike" noProof="1" dirty="0">
                <a:latin typeface="宋体" panose="02010600030101010101" pitchFamily="2" charset="-122"/>
              </a:rPr>
              <a:t>文件指针</a:t>
            </a:r>
            <a:endParaRPr lang="en-US" altLang="zh-CN" sz="1800" strike="noStrike" noProof="1" dirty="0">
              <a:latin typeface="宋体" panose="02010600030101010101" pitchFamily="2" charset="-122"/>
            </a:endParaRPr>
          </a:p>
          <a:p>
            <a:pPr lvl="0" indent="-342900" fontAlgn="base">
              <a:spcBef>
                <a:spcPts val="275"/>
              </a:spcBef>
              <a:spcAft>
                <a:spcPts val="275"/>
              </a:spcAft>
            </a:pPr>
            <a:r>
              <a:rPr lang="zh-CN" altLang="en-US" sz="1800" strike="noStrike" noProof="1" dirty="0">
                <a:latin typeface="宋体" panose="02010600030101010101" pitchFamily="2" charset="-122"/>
              </a:rPr>
              <a:t>当用标准</a:t>
            </a:r>
            <a:r>
              <a:rPr lang="en-US" altLang="zh-CN" sz="1800" strike="noStrike" noProof="1" dirty="0">
                <a:latin typeface="宋体" panose="02010600030101010101" pitchFamily="2" charset="-122"/>
              </a:rPr>
              <a:t>I/O</a:t>
            </a:r>
            <a:r>
              <a:rPr lang="zh-CN" altLang="en-US" sz="1800" strike="noStrike" noProof="1" dirty="0">
                <a:latin typeface="宋体" panose="02010600030101010101" pitchFamily="2" charset="-122"/>
              </a:rPr>
              <a:t>打开一个文件时，就会创建一个</a:t>
            </a:r>
            <a:r>
              <a:rPr lang="en-US" altLang="zh-CN" sz="1800" strike="noStrike" noProof="1" dirty="0">
                <a:latin typeface="宋体" panose="02010600030101010101" pitchFamily="2" charset="-122"/>
              </a:rPr>
              <a:t>FILE</a:t>
            </a:r>
            <a:r>
              <a:rPr lang="zh-CN" altLang="en-US" sz="1800" strike="noStrike" noProof="1" dirty="0">
                <a:latin typeface="宋体" panose="02010600030101010101" pitchFamily="2" charset="-122"/>
              </a:rPr>
              <a:t>结构体来描述所打开的文件，用户通过</a:t>
            </a:r>
            <a:r>
              <a:rPr lang="en-US" altLang="zh-CN" sz="1800" strike="noStrike" noProof="1" dirty="0">
                <a:latin typeface="宋体" panose="02010600030101010101" pitchFamily="2" charset="-122"/>
              </a:rPr>
              <a:t>FILE</a:t>
            </a:r>
            <a:r>
              <a:rPr lang="zh-CN" altLang="en-US" sz="1800" strike="noStrike" noProof="1" dirty="0">
                <a:latin typeface="宋体" panose="02010600030101010101" pitchFamily="2" charset="-122"/>
              </a:rPr>
              <a:t>结构体类型的指针来操作所打开的文件。</a:t>
            </a:r>
            <a:endParaRPr lang="en-US" altLang="zh-CN" sz="1800" strike="noStrike" noProof="1" dirty="0">
              <a:latin typeface="宋体" panose="02010600030101010101" pitchFamily="2" charset="-122"/>
            </a:endParaRPr>
          </a:p>
          <a:p>
            <a:pPr lvl="0" indent="-342900" fontAlgn="base">
              <a:spcBef>
                <a:spcPts val="275"/>
              </a:spcBef>
              <a:spcAft>
                <a:spcPts val="275"/>
              </a:spcAft>
            </a:pPr>
            <a:r>
              <a:rPr lang="zh-CN" altLang="en-US" sz="1800" strike="noStrike" noProof="1" dirty="0">
                <a:latin typeface="宋体" panose="02010600030101010101" pitchFamily="2" charset="-122"/>
              </a:rPr>
              <a:t>标准</a:t>
            </a:r>
            <a:r>
              <a:rPr lang="en-US" altLang="zh-CN" sz="1800" strike="noStrike" noProof="1" dirty="0">
                <a:latin typeface="宋体" panose="02010600030101010101" pitchFamily="2" charset="-122"/>
              </a:rPr>
              <a:t>I/O</a:t>
            </a:r>
            <a:r>
              <a:rPr lang="zh-CN" altLang="en-US" sz="1800" strike="noStrike" noProof="1" dirty="0">
                <a:latin typeface="宋体" panose="02010600030101010101" pitchFamily="2" charset="-122"/>
              </a:rPr>
              <a:t>库的所有操作都是围绕流</a:t>
            </a:r>
            <a:r>
              <a:rPr lang="en-US" altLang="zh-CN" sz="1800" strike="noStrike" noProof="1" dirty="0">
                <a:latin typeface="宋体" panose="02010600030101010101" pitchFamily="2" charset="-122"/>
              </a:rPr>
              <a:t>(stream)</a:t>
            </a:r>
            <a:r>
              <a:rPr lang="zh-CN" altLang="en-US" sz="1800" strike="noStrike" noProof="1" dirty="0">
                <a:latin typeface="宋体" panose="02010600030101010101" pitchFamily="2" charset="-122"/>
              </a:rPr>
              <a:t>来进行的，在标准</a:t>
            </a:r>
            <a:r>
              <a:rPr lang="en-US" altLang="zh-CN" sz="1800" strike="noStrike" noProof="1" dirty="0">
                <a:latin typeface="宋体" panose="02010600030101010101" pitchFamily="2" charset="-122"/>
              </a:rPr>
              <a:t>I/O</a:t>
            </a:r>
            <a:r>
              <a:rPr lang="zh-CN" altLang="en-US" sz="1800" strike="noStrike" noProof="1" dirty="0">
                <a:latin typeface="宋体" panose="02010600030101010101" pitchFamily="2" charset="-122"/>
              </a:rPr>
              <a:t>中，流用</a:t>
            </a:r>
            <a:r>
              <a:rPr lang="en-US" altLang="zh-CN" sz="1800" strike="noStrike" noProof="1" dirty="0">
                <a:latin typeface="宋体" panose="02010600030101010101" pitchFamily="2" charset="-122"/>
              </a:rPr>
              <a:t>FILE *</a:t>
            </a:r>
            <a:r>
              <a:rPr lang="zh-CN" altLang="en-US" sz="1800" strike="noStrike" noProof="1" dirty="0">
                <a:latin typeface="宋体" panose="02010600030101010101" pitchFamily="2" charset="-122"/>
              </a:rPr>
              <a:t>来描述。</a:t>
            </a:r>
            <a:endParaRPr lang="zh-CN" altLang="en-US" sz="1800" strike="noStrike" noProof="1" dirty="0">
              <a:latin typeface="宋体" panose="02010600030101010101" pitchFamily="2" charset="-122"/>
            </a:endParaRPr>
          </a:p>
          <a:p>
            <a:pPr fontAlgn="base">
              <a:lnSpc>
                <a:spcPct val="80000"/>
              </a:lnSpc>
            </a:pPr>
            <a:r>
              <a:rPr lang="zh-CN" altLang="en-US" sz="1800" strike="noStrike" noProof="1" dirty="0">
                <a:sym typeface="+mn-ea"/>
              </a:rPr>
              <a:t>流（</a:t>
            </a:r>
            <a:r>
              <a:rPr lang="en-US" altLang="zh-CN" sz="1800" strike="noStrike" noProof="1" dirty="0">
                <a:sym typeface="+mn-ea"/>
              </a:rPr>
              <a:t>stream</a:t>
            </a:r>
            <a:r>
              <a:rPr lang="zh-CN" altLang="en-US" sz="1800" strike="noStrike" noProof="1" dirty="0">
                <a:sym typeface="+mn-ea"/>
              </a:rPr>
              <a:t>）</a:t>
            </a:r>
            <a:endParaRPr lang="zh-CN" altLang="en-US" sz="1800" strike="noStrike" noProof="1" dirty="0"/>
          </a:p>
          <a:p>
            <a:pPr lvl="1" fontAlgn="base">
              <a:lnSpc>
                <a:spcPct val="80000"/>
              </a:lnSpc>
            </a:pPr>
            <a:r>
              <a:rPr lang="zh-CN" altLang="en-US" sz="1800" strike="noStrike" noProof="1" dirty="0">
                <a:sym typeface="+mn-ea"/>
              </a:rPr>
              <a:t>定义：所有的</a:t>
            </a:r>
            <a:r>
              <a:rPr lang="en-US" altLang="zh-CN" sz="1800" strike="noStrike" noProof="1" dirty="0">
                <a:sym typeface="+mn-ea"/>
              </a:rPr>
              <a:t>I/O</a:t>
            </a:r>
            <a:r>
              <a:rPr lang="zh-CN" altLang="en-US" sz="1800" strike="noStrike" noProof="1" dirty="0">
                <a:sym typeface="+mn-ea"/>
              </a:rPr>
              <a:t>操作仅是简单的从程序移进或者移出，这种字节流，就称为流。</a:t>
            </a:r>
            <a:endParaRPr lang="zh-CN" altLang="en-US" sz="1800" strike="noStrike" noProof="1" dirty="0"/>
          </a:p>
          <a:p>
            <a:pPr lvl="1" fontAlgn="base">
              <a:lnSpc>
                <a:spcPct val="80000"/>
              </a:lnSpc>
            </a:pPr>
            <a:r>
              <a:rPr lang="zh-CN" altLang="en-US" sz="1800" strike="noStrike" noProof="1" dirty="0">
                <a:sym typeface="+mn-ea"/>
              </a:rPr>
              <a:t>分类：文本流</a:t>
            </a:r>
            <a:r>
              <a:rPr lang="en-US" altLang="zh-CN" sz="1800" strike="noStrike" noProof="1" dirty="0">
                <a:sym typeface="+mn-ea"/>
              </a:rPr>
              <a:t>/</a:t>
            </a:r>
            <a:r>
              <a:rPr lang="zh-CN" altLang="en-US" sz="1800" strike="noStrike" noProof="1" dirty="0">
                <a:sym typeface="+mn-ea"/>
              </a:rPr>
              <a:t>二进制流</a:t>
            </a:r>
            <a:endParaRPr lang="zh-CN" altLang="en-US" sz="1800" strike="noStrike" noProof="1" dirty="0">
              <a:latin typeface="宋体" panose="02010600030101010101" pitchFamily="2" charset="-122"/>
            </a:endParaRPr>
          </a:p>
          <a:p>
            <a:pPr marL="457200" lvl="1" indent="0" fontAlgn="base">
              <a:spcBef>
                <a:spcPts val="275"/>
              </a:spcBef>
              <a:spcAft>
                <a:spcPts val="275"/>
              </a:spcAft>
              <a:buNone/>
            </a:pPr>
            <a:endParaRPr lang="zh-CN" altLang="en-US" sz="1600" strike="noStrike" noProof="1" dirty="0">
              <a:latin typeface="宋体" panose="02010600030101010101" pitchFamily="2" charset="-122"/>
            </a:endParaRPr>
          </a:p>
          <a:p>
            <a:pPr marL="457200" lvl="1" indent="0" fontAlgn="base">
              <a:spcBef>
                <a:spcPts val="275"/>
              </a:spcBef>
              <a:spcAft>
                <a:spcPts val="275"/>
              </a:spcAft>
            </a:pPr>
            <a:endParaRPr lang="zh-CN" altLang="en-US" sz="1600" strike="noStrike" noProof="1" dirty="0">
              <a:latin typeface="宋体" panose="02010600030101010101" pitchFamily="2" charset="-122"/>
            </a:endParaRPr>
          </a:p>
        </p:txBody>
      </p:sp>
      <p:sp>
        <p:nvSpPr>
          <p:cNvPr id="1126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文件指针与流</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文本占位符 1"/>
          <p:cNvSpPr>
            <a:spLocks noGrp="1"/>
          </p:cNvSpPr>
          <p:nvPr>
            <p:ph sz="quarter"/>
          </p:nvPr>
        </p:nvSpPr>
        <p:spPr>
          <a:xfrm>
            <a:off x="612775" y="933450"/>
            <a:ext cx="7991475" cy="3725863"/>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fontAlgn="base">
              <a:lnSpc>
                <a:spcPct val="80000"/>
              </a:lnSpc>
            </a:pPr>
            <a:endParaRPr lang="zh-CN" altLang="en-US" sz="1800" strike="noStrike" noProof="1" dirty="0">
              <a:latin typeface="宋体" panose="02010600030101010101" pitchFamily="2" charset="-122"/>
            </a:endParaRPr>
          </a:p>
          <a:p>
            <a:pPr fontAlgn="base">
              <a:lnSpc>
                <a:spcPct val="80000"/>
              </a:lnSpc>
            </a:pPr>
            <a:r>
              <a:rPr lang="zh-CN" altLang="en-US" sz="1800" strike="noStrike" noProof="1">
                <a:sym typeface="+mn-ea"/>
              </a:rPr>
              <a:t>文本流</a:t>
            </a:r>
            <a:endParaRPr lang="zh-CN" altLang="en-US" sz="1800" strike="noStrike" noProof="1"/>
          </a:p>
          <a:p>
            <a:pPr lvl="1" fontAlgn="base">
              <a:lnSpc>
                <a:spcPct val="80000"/>
              </a:lnSpc>
            </a:pPr>
            <a:r>
              <a:rPr lang="zh-CN" altLang="en-US" sz="1800" strike="noStrike" noProof="1">
                <a:sym typeface="+mn-ea"/>
              </a:rPr>
              <a:t>定义：在流中处理的数据是以字符出现。在文本流中，</a:t>
            </a:r>
            <a:r>
              <a:rPr lang="zh-CN" altLang="en-US" sz="1800" strike="noStrike" noProof="1">
                <a:latin typeface="Arial" panose="020B0604020202020204"/>
                <a:sym typeface="+mn-ea"/>
              </a:rPr>
              <a:t>’</a:t>
            </a:r>
            <a:r>
              <a:rPr lang="en-US" altLang="zh-CN" sz="1800" strike="noStrike" noProof="1">
                <a:sym typeface="+mn-ea"/>
              </a:rPr>
              <a:t>\n</a:t>
            </a:r>
            <a:r>
              <a:rPr lang="en-US" altLang="zh-CN" sz="1800" strike="noStrike" noProof="1">
                <a:latin typeface="Arial" panose="020B0604020202020204"/>
                <a:sym typeface="+mn-ea"/>
              </a:rPr>
              <a:t>’</a:t>
            </a:r>
            <a:r>
              <a:rPr lang="zh-CN" altLang="en-US" sz="1800" strike="noStrike" noProof="1">
                <a:sym typeface="+mn-ea"/>
              </a:rPr>
              <a:t>被转换成回车符</a:t>
            </a:r>
            <a:r>
              <a:rPr lang="en-US" altLang="zh-CN" sz="1800" strike="noStrike" noProof="1">
                <a:sym typeface="+mn-ea"/>
              </a:rPr>
              <a:t>CR</a:t>
            </a:r>
            <a:r>
              <a:rPr lang="zh-CN" altLang="en-US" sz="1800" strike="noStrike" noProof="1">
                <a:sym typeface="+mn-ea"/>
              </a:rPr>
              <a:t>和换行符</a:t>
            </a:r>
            <a:r>
              <a:rPr lang="en-US" altLang="zh-CN" sz="1800" strike="noStrike" noProof="1">
                <a:sym typeface="+mn-ea"/>
              </a:rPr>
              <a:t>LF</a:t>
            </a:r>
            <a:r>
              <a:rPr lang="zh-CN" altLang="en-US" sz="1800" strike="noStrike" noProof="1">
                <a:sym typeface="+mn-ea"/>
              </a:rPr>
              <a:t>的</a:t>
            </a:r>
            <a:r>
              <a:rPr lang="en-US" altLang="zh-CN" sz="1800" strike="noStrike" noProof="1">
                <a:sym typeface="+mn-ea"/>
              </a:rPr>
              <a:t>ASCII</a:t>
            </a:r>
            <a:r>
              <a:rPr lang="zh-CN" altLang="en-US" sz="1800" strike="noStrike" noProof="1">
                <a:sym typeface="+mn-ea"/>
              </a:rPr>
              <a:t>码</a:t>
            </a:r>
            <a:r>
              <a:rPr lang="en-US" altLang="zh-CN" sz="1800" strike="noStrike" noProof="1">
                <a:sym typeface="+mn-ea"/>
              </a:rPr>
              <a:t>0DH</a:t>
            </a:r>
            <a:r>
              <a:rPr lang="zh-CN" altLang="en-US" sz="1800" strike="noStrike" noProof="1">
                <a:sym typeface="+mn-ea"/>
              </a:rPr>
              <a:t>和</a:t>
            </a:r>
            <a:r>
              <a:rPr lang="en-US" altLang="zh-CN" sz="1800" strike="noStrike" noProof="1">
                <a:sym typeface="+mn-ea"/>
              </a:rPr>
              <a:t>0AH</a:t>
            </a:r>
            <a:r>
              <a:rPr lang="zh-CN" altLang="en-US" sz="1800" strike="noStrike" noProof="1">
                <a:sym typeface="+mn-ea"/>
              </a:rPr>
              <a:t>。而当输出时，</a:t>
            </a:r>
            <a:r>
              <a:rPr lang="en-US" altLang="zh-CN" sz="1800" strike="noStrike" noProof="1">
                <a:sym typeface="+mn-ea"/>
              </a:rPr>
              <a:t>0DH</a:t>
            </a:r>
            <a:r>
              <a:rPr lang="zh-CN" altLang="en-US" sz="1800" strike="noStrike" noProof="1">
                <a:sym typeface="+mn-ea"/>
              </a:rPr>
              <a:t>和</a:t>
            </a:r>
            <a:r>
              <a:rPr lang="en-US" altLang="zh-CN" sz="1800" strike="noStrike" noProof="1">
                <a:sym typeface="+mn-ea"/>
              </a:rPr>
              <a:t>0AH</a:t>
            </a:r>
            <a:r>
              <a:rPr lang="zh-CN" altLang="en-US" sz="1800" strike="noStrike" noProof="1">
                <a:sym typeface="+mn-ea"/>
              </a:rPr>
              <a:t>被转换成</a:t>
            </a:r>
            <a:r>
              <a:rPr lang="zh-CN" altLang="en-US" sz="1800" strike="noStrike" noProof="1">
                <a:latin typeface="Arial" panose="020B0604020202020204"/>
                <a:sym typeface="+mn-ea"/>
              </a:rPr>
              <a:t>’</a:t>
            </a:r>
            <a:r>
              <a:rPr lang="en-US" altLang="zh-CN" sz="1800" strike="noStrike" noProof="1">
                <a:sym typeface="+mn-ea"/>
              </a:rPr>
              <a:t>\n</a:t>
            </a:r>
            <a:r>
              <a:rPr lang="en-US" altLang="zh-CN" sz="1800" strike="noStrike" noProof="1">
                <a:latin typeface="Arial" panose="020B0604020202020204"/>
                <a:sym typeface="+mn-ea"/>
              </a:rPr>
              <a:t>’   ‘\r’</a:t>
            </a:r>
            <a:endParaRPr lang="en-US" altLang="zh-CN" sz="1800" strike="noStrike" noProof="1"/>
          </a:p>
          <a:p>
            <a:pPr lvl="1" fontAlgn="base">
              <a:lnSpc>
                <a:spcPct val="80000"/>
              </a:lnSpc>
            </a:pPr>
            <a:r>
              <a:rPr lang="zh-CN" altLang="en-US" sz="1800" strike="noStrike" noProof="1">
                <a:sym typeface="+mn-ea"/>
              </a:rPr>
              <a:t>数字</a:t>
            </a:r>
            <a:r>
              <a:rPr lang="en-US" altLang="zh-CN" sz="1800" strike="noStrike" noProof="1">
                <a:sym typeface="+mn-ea"/>
              </a:rPr>
              <a:t>2001</a:t>
            </a:r>
            <a:r>
              <a:rPr lang="zh-CN" altLang="en-US" sz="1800" strike="noStrike" noProof="1">
                <a:sym typeface="+mn-ea"/>
              </a:rPr>
              <a:t>在文本流中的表示方法为  </a:t>
            </a:r>
            <a:r>
              <a:rPr lang="zh-CN" altLang="en-US" sz="1800" strike="noStrike" noProof="1">
                <a:latin typeface="Arial" panose="020B0604020202020204"/>
                <a:sym typeface="+mn-ea"/>
              </a:rPr>
              <a:t>‘</a:t>
            </a:r>
            <a:r>
              <a:rPr lang="en-US" altLang="zh-CN" sz="1800" strike="noStrike" noProof="1">
                <a:sym typeface="+mn-ea"/>
              </a:rPr>
              <a:t>2</a:t>
            </a:r>
            <a:r>
              <a:rPr lang="en-US" altLang="zh-CN" sz="1800" strike="noStrike" noProof="1">
                <a:latin typeface="Arial" panose="020B0604020202020204"/>
                <a:sym typeface="+mn-ea"/>
              </a:rPr>
              <a:t>’</a:t>
            </a:r>
            <a:r>
              <a:rPr lang="en-US" altLang="zh-CN" sz="1800" strike="noStrike" noProof="1">
                <a:sym typeface="+mn-ea"/>
              </a:rPr>
              <a:t>  </a:t>
            </a:r>
            <a:r>
              <a:rPr lang="en-US" altLang="zh-CN" sz="1800" strike="noStrike" noProof="1">
                <a:latin typeface="Arial" panose="020B0604020202020204"/>
                <a:sym typeface="+mn-ea"/>
              </a:rPr>
              <a:t>‘</a:t>
            </a:r>
            <a:r>
              <a:rPr lang="en-US" altLang="zh-CN" sz="1800" strike="noStrike" noProof="1">
                <a:sym typeface="+mn-ea"/>
              </a:rPr>
              <a:t>0</a:t>
            </a:r>
            <a:r>
              <a:rPr lang="en-US" altLang="zh-CN" sz="1800" strike="noStrike" noProof="1">
                <a:latin typeface="Arial" panose="020B0604020202020204"/>
                <a:sym typeface="+mn-ea"/>
              </a:rPr>
              <a:t>’</a:t>
            </a:r>
            <a:r>
              <a:rPr lang="en-US" altLang="zh-CN" sz="1800" strike="noStrike" noProof="1">
                <a:sym typeface="+mn-ea"/>
              </a:rPr>
              <a:t>  </a:t>
            </a:r>
            <a:r>
              <a:rPr lang="en-US" altLang="zh-CN" sz="1800" strike="noStrike" noProof="1">
                <a:latin typeface="Arial" panose="020B0604020202020204"/>
                <a:sym typeface="+mn-ea"/>
              </a:rPr>
              <a:t>‘</a:t>
            </a:r>
            <a:r>
              <a:rPr lang="en-US" altLang="zh-CN" sz="1800" strike="noStrike" noProof="1">
                <a:sym typeface="+mn-ea"/>
              </a:rPr>
              <a:t>0</a:t>
            </a:r>
            <a:r>
              <a:rPr lang="en-US" altLang="zh-CN" sz="1800" strike="noStrike" noProof="1">
                <a:latin typeface="Arial" panose="020B0604020202020204"/>
                <a:sym typeface="+mn-ea"/>
              </a:rPr>
              <a:t>’</a:t>
            </a:r>
            <a:r>
              <a:rPr lang="en-US" altLang="zh-CN" sz="1800" strike="noStrike" noProof="1">
                <a:sym typeface="+mn-ea"/>
              </a:rPr>
              <a:t>  </a:t>
            </a:r>
            <a:r>
              <a:rPr lang="en-US" altLang="zh-CN" sz="1800" strike="noStrike" noProof="1">
                <a:latin typeface="Arial" panose="020B0604020202020204"/>
                <a:sym typeface="+mn-ea"/>
              </a:rPr>
              <a:t>‘</a:t>
            </a:r>
            <a:r>
              <a:rPr lang="en-US" altLang="zh-CN" sz="1800" strike="noStrike" noProof="1">
                <a:sym typeface="+mn-ea"/>
              </a:rPr>
              <a:t>1</a:t>
            </a:r>
            <a:r>
              <a:rPr lang="en-US" altLang="zh-CN" sz="1800" strike="noStrike" noProof="1">
                <a:latin typeface="Arial" panose="020B0604020202020204"/>
                <a:sym typeface="+mn-ea"/>
              </a:rPr>
              <a:t>’</a:t>
            </a:r>
            <a:endParaRPr lang="en-US" altLang="zh-CN" sz="1800" strike="noStrike" noProof="1"/>
          </a:p>
          <a:p>
            <a:pPr lvl="1" fontAlgn="base">
              <a:lnSpc>
                <a:spcPct val="80000"/>
              </a:lnSpc>
              <a:buFont typeface="Wingdings 3" panose="05040102010807070707" pitchFamily="2" charset="2"/>
              <a:buNone/>
            </a:pPr>
            <a:r>
              <a:rPr lang="en-US" altLang="zh-CN" sz="1800" strike="noStrike" noProof="1">
                <a:sym typeface="+mn-ea"/>
              </a:rPr>
              <a:t>                                                   ASCII:    50  48  48  49</a:t>
            </a:r>
            <a:endParaRPr lang="en-US" altLang="zh-CN" sz="1800" strike="noStrike" noProof="1"/>
          </a:p>
          <a:p>
            <a:pPr fontAlgn="base">
              <a:lnSpc>
                <a:spcPct val="80000"/>
              </a:lnSpc>
            </a:pPr>
            <a:r>
              <a:rPr lang="zh-CN" altLang="en-US" sz="1800" strike="noStrike" noProof="1">
                <a:sym typeface="+mn-ea"/>
              </a:rPr>
              <a:t>二进制流</a:t>
            </a:r>
            <a:endParaRPr lang="zh-CN" altLang="en-US" sz="1800" strike="noStrike" noProof="1"/>
          </a:p>
          <a:p>
            <a:pPr lvl="1" fontAlgn="base">
              <a:lnSpc>
                <a:spcPct val="80000"/>
              </a:lnSpc>
            </a:pPr>
            <a:r>
              <a:rPr lang="zh-CN" altLang="en-US" sz="1800" strike="noStrike" noProof="1">
                <a:sym typeface="+mn-ea"/>
              </a:rPr>
              <a:t>定义：流中处理的是二进制序列。若流中有字符，则用一个字节的二进制</a:t>
            </a:r>
            <a:r>
              <a:rPr lang="en-US" altLang="zh-CN" sz="1800" strike="noStrike" noProof="1">
                <a:sym typeface="+mn-ea"/>
              </a:rPr>
              <a:t>ASCII</a:t>
            </a:r>
            <a:r>
              <a:rPr lang="zh-CN" altLang="en-US" sz="1800" strike="noStrike" noProof="1">
                <a:sym typeface="+mn-ea"/>
              </a:rPr>
              <a:t>码表示；若是数字，则用对应的二进制数表示。对</a:t>
            </a:r>
            <a:r>
              <a:rPr lang="zh-CN" altLang="en-US" sz="1800" strike="noStrike" noProof="1">
                <a:latin typeface="Arial" panose="020B0604020202020204"/>
                <a:sym typeface="+mn-ea"/>
              </a:rPr>
              <a:t>’</a:t>
            </a:r>
            <a:r>
              <a:rPr lang="en-US" altLang="zh-CN" sz="1800" strike="noStrike" noProof="1">
                <a:sym typeface="+mn-ea"/>
              </a:rPr>
              <a:t>\n</a:t>
            </a:r>
            <a:r>
              <a:rPr lang="en-US" altLang="zh-CN" sz="1800" strike="noStrike" noProof="1">
                <a:latin typeface="Arial" panose="020B0604020202020204"/>
                <a:sym typeface="+mn-ea"/>
              </a:rPr>
              <a:t>’</a:t>
            </a:r>
            <a:r>
              <a:rPr lang="zh-CN" altLang="en-US" sz="1800" strike="noStrike" noProof="1">
                <a:sym typeface="+mn-ea"/>
              </a:rPr>
              <a:t>不进行变换</a:t>
            </a:r>
            <a:endParaRPr lang="zh-CN" altLang="en-US" sz="1800" strike="noStrike" noProof="1"/>
          </a:p>
          <a:p>
            <a:pPr lvl="1" fontAlgn="base">
              <a:lnSpc>
                <a:spcPct val="80000"/>
              </a:lnSpc>
            </a:pPr>
            <a:r>
              <a:rPr lang="zh-CN" altLang="en-US" sz="1800" strike="noStrike" noProof="1">
                <a:sym typeface="+mn-ea"/>
              </a:rPr>
              <a:t>数字</a:t>
            </a:r>
            <a:r>
              <a:rPr lang="en-US" altLang="zh-CN" sz="1800" strike="noStrike" noProof="1">
                <a:sym typeface="+mn-ea"/>
              </a:rPr>
              <a:t>2001</a:t>
            </a:r>
            <a:r>
              <a:rPr lang="zh-CN" altLang="en-US" sz="1800" strike="noStrike" noProof="1">
                <a:sym typeface="+mn-ea"/>
              </a:rPr>
              <a:t>在二进制流中的表示方法为 </a:t>
            </a:r>
            <a:r>
              <a:rPr lang="en-US" altLang="zh-CN" sz="1800" strike="noStrike" noProof="1">
                <a:sym typeface="+mn-ea"/>
              </a:rPr>
              <a:t>00000111  11010001</a:t>
            </a:r>
            <a:r>
              <a:rPr lang="zh-CN" altLang="en-US" sz="1800" strike="noStrike" noProof="1">
                <a:sym typeface="+mn-ea"/>
              </a:rPr>
              <a:t>。</a:t>
            </a:r>
            <a:endParaRPr lang="zh-CN" altLang="en-US" sz="1800" strike="noStrike" noProof="1"/>
          </a:p>
          <a:p>
            <a:pPr marL="457200" lvl="1" indent="0" fontAlgn="base">
              <a:spcBef>
                <a:spcPts val="275"/>
              </a:spcBef>
              <a:spcAft>
                <a:spcPts val="275"/>
              </a:spcAft>
              <a:buNone/>
            </a:pPr>
            <a:endParaRPr lang="zh-CN" altLang="en-US" sz="1600" strike="noStrike" noProof="1" dirty="0">
              <a:latin typeface="宋体" panose="02010600030101010101" pitchFamily="2" charset="-122"/>
            </a:endParaRPr>
          </a:p>
          <a:p>
            <a:pPr marL="457200" lvl="1" indent="0" fontAlgn="base">
              <a:spcBef>
                <a:spcPts val="275"/>
              </a:spcBef>
              <a:spcAft>
                <a:spcPts val="275"/>
              </a:spcAft>
            </a:pPr>
            <a:endParaRPr lang="zh-CN" altLang="en-US" sz="1600" strike="noStrike" noProof="1" dirty="0">
              <a:latin typeface="宋体" panose="02010600030101010101" pitchFamily="2" charset="-122"/>
            </a:endParaRPr>
          </a:p>
        </p:txBody>
      </p:sp>
      <p:sp>
        <p:nvSpPr>
          <p:cNvPr id="1229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文件指针与流</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标准</a:t>
            </a:r>
            <a:r>
              <a:rPr lang="en-US" altLang="zh-CN" sz="1800" dirty="0">
                <a:latin typeface="宋体" panose="02010600030101010101" pitchFamily="2" charset="-122"/>
              </a:rPr>
              <a:t>I/O</a:t>
            </a:r>
            <a:r>
              <a:rPr lang="zh-CN" altLang="en-US" sz="1800" dirty="0">
                <a:latin typeface="宋体" panose="02010600030101010101" pitchFamily="2" charset="-122"/>
              </a:rPr>
              <a:t>预定义三个流，他们可以自动地为进程所使用，当用户程序运行时，系统自动打开三个流。</a:t>
            </a: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p:txBody>
      </p:sp>
      <p:sp>
        <p:nvSpPr>
          <p:cNvPr id="1331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标准输入输出以及标准错误</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78854" name="表格 78853"/>
          <p:cNvGraphicFramePr/>
          <p:nvPr/>
        </p:nvGraphicFramePr>
        <p:xfrm>
          <a:off x="871538" y="1635125"/>
          <a:ext cx="5672138" cy="1295400"/>
        </p:xfrm>
        <a:graphic>
          <a:graphicData uri="http://schemas.openxmlformats.org/drawingml/2006/table">
            <a:tbl>
              <a:tblPr/>
              <a:tblGrid>
                <a:gridCol w="1890713"/>
                <a:gridCol w="1800225"/>
                <a:gridCol w="1981200"/>
              </a:tblGrid>
              <a:tr h="431800">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nSpc>
                          <a:spcPct val="100000"/>
                        </a:lnSpc>
                        <a:spcBef>
                          <a:spcPct val="0"/>
                        </a:spcBef>
                        <a:buFont typeface="Arial" panose="020B0604020202020204" pitchFamily="34" charset="0"/>
                        <a:buNone/>
                      </a:pPr>
                      <a:r>
                        <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rPr>
                        <a:t>标准输入</a:t>
                      </a:r>
                      <a:endPar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endParaRPr>
                    </a:p>
                  </a:txBody>
                  <a:tcPr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nSpc>
                          <a:spcPct val="100000"/>
                        </a:lnSpc>
                        <a:spcBef>
                          <a:spcPct val="0"/>
                        </a:spcBef>
                        <a:buFont typeface="Arial" panose="020B0604020202020204" pitchFamily="34" charset="0"/>
                        <a:buNone/>
                      </a:pPr>
                      <a:r>
                        <a:rPr lang="en-US" altLang="x-none" sz="1800" dirty="0">
                          <a:solidFill>
                            <a:srgbClr val="000000"/>
                          </a:solidFill>
                          <a:latin typeface="Calibri" panose="020F0502020204030204" charset="0"/>
                          <a:ea typeface="Calibri" panose="020F0502020204030204" charset="0"/>
                          <a:sym typeface="Calibri" panose="020F0502020204030204" charset="0"/>
                        </a:rPr>
                        <a:t>0</a:t>
                      </a:r>
                      <a:endPar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endParaRPr>
                    </a:p>
                  </a:txBody>
                  <a:tcPr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nSpc>
                          <a:spcPct val="100000"/>
                        </a:lnSpc>
                        <a:spcBef>
                          <a:spcPct val="0"/>
                        </a:spcBef>
                        <a:buFont typeface="Arial" panose="020B0604020202020204" pitchFamily="34" charset="0"/>
                        <a:buNone/>
                      </a:pPr>
                      <a:r>
                        <a:rPr lang="en-US" altLang="x-none" sz="1800" dirty="0">
                          <a:solidFill>
                            <a:srgbClr val="000000"/>
                          </a:solidFill>
                          <a:latin typeface="Calibri" panose="020F0502020204030204" charset="0"/>
                          <a:ea typeface="Calibri" panose="020F0502020204030204" charset="0"/>
                          <a:sym typeface="Calibri" panose="020F0502020204030204" charset="0"/>
                        </a:rPr>
                        <a:t>stdin</a:t>
                      </a:r>
                      <a:endPar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endParaRPr>
                    </a:p>
                  </a:txBody>
                  <a:tcPr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nSpc>
                          <a:spcPct val="100000"/>
                        </a:lnSpc>
                        <a:spcBef>
                          <a:spcPct val="0"/>
                        </a:spcBef>
                        <a:buFont typeface="Arial" panose="020B0604020202020204" pitchFamily="34" charset="0"/>
                        <a:buNone/>
                      </a:pPr>
                      <a:r>
                        <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rPr>
                        <a:t>标准输出</a:t>
                      </a:r>
                      <a:endPar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endParaRPr>
                    </a:p>
                  </a:txBody>
                  <a:tcPr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nSpc>
                          <a:spcPct val="100000"/>
                        </a:lnSpc>
                        <a:spcBef>
                          <a:spcPct val="0"/>
                        </a:spcBef>
                        <a:buFont typeface="Arial" panose="020B0604020202020204" pitchFamily="34" charset="0"/>
                        <a:buNone/>
                      </a:pPr>
                      <a:r>
                        <a:rPr lang="en-US" altLang="x-none" sz="1800" dirty="0">
                          <a:solidFill>
                            <a:srgbClr val="000000"/>
                          </a:solidFill>
                          <a:latin typeface="Calibri" panose="020F0502020204030204" charset="0"/>
                          <a:ea typeface="Calibri" panose="020F0502020204030204" charset="0"/>
                          <a:sym typeface="Calibri" panose="020F0502020204030204" charset="0"/>
                        </a:rPr>
                        <a:t>1</a:t>
                      </a:r>
                      <a:endPar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endParaRPr>
                    </a:p>
                  </a:txBody>
                  <a:tcPr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nSpc>
                          <a:spcPct val="100000"/>
                        </a:lnSpc>
                        <a:spcBef>
                          <a:spcPct val="0"/>
                        </a:spcBef>
                        <a:buFont typeface="Arial" panose="020B0604020202020204" pitchFamily="34" charset="0"/>
                        <a:buNone/>
                      </a:pPr>
                      <a:r>
                        <a:rPr lang="en-US" altLang="x-none" sz="1800" dirty="0">
                          <a:solidFill>
                            <a:srgbClr val="000000"/>
                          </a:solidFill>
                          <a:latin typeface="Calibri" panose="020F0502020204030204" charset="0"/>
                          <a:ea typeface="Calibri" panose="020F0502020204030204" charset="0"/>
                          <a:sym typeface="Calibri" panose="020F0502020204030204" charset="0"/>
                        </a:rPr>
                        <a:t>stdout</a:t>
                      </a:r>
                      <a:endPar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endParaRPr>
                    </a:p>
                  </a:txBody>
                  <a:tcPr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1800">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nSpc>
                          <a:spcPct val="100000"/>
                        </a:lnSpc>
                        <a:spcBef>
                          <a:spcPct val="0"/>
                        </a:spcBef>
                        <a:buFont typeface="Arial" panose="020B0604020202020204" pitchFamily="34" charset="0"/>
                        <a:buNone/>
                      </a:pPr>
                      <a:r>
                        <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rPr>
                        <a:t>标准错误</a:t>
                      </a:r>
                      <a:endPar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endParaRPr>
                    </a:p>
                  </a:txBody>
                  <a:tcPr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nSpc>
                          <a:spcPct val="100000"/>
                        </a:lnSpc>
                        <a:spcBef>
                          <a:spcPct val="0"/>
                        </a:spcBef>
                        <a:buFont typeface="Arial" panose="020B0604020202020204" pitchFamily="34" charset="0"/>
                        <a:buNone/>
                      </a:pPr>
                      <a:r>
                        <a:rPr lang="en-US" altLang="x-none" sz="1800" dirty="0">
                          <a:solidFill>
                            <a:srgbClr val="000000"/>
                          </a:solidFill>
                          <a:latin typeface="Calibri" panose="020F0502020204030204" charset="0"/>
                          <a:ea typeface="Calibri" panose="020F0502020204030204" charset="0"/>
                          <a:sym typeface="Calibri" panose="020F0502020204030204" charset="0"/>
                        </a:rPr>
                        <a:t>2</a:t>
                      </a:r>
                      <a:endPar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endParaRPr>
                    </a:p>
                  </a:txBody>
                  <a:tcPr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nSpc>
                          <a:spcPct val="100000"/>
                        </a:lnSpc>
                        <a:spcBef>
                          <a:spcPct val="0"/>
                        </a:spcBef>
                        <a:buFont typeface="Arial" panose="020B0604020202020204" pitchFamily="34" charset="0"/>
                        <a:buNone/>
                      </a:pPr>
                      <a:r>
                        <a:rPr lang="en-US" altLang="x-none" sz="1800" dirty="0">
                          <a:solidFill>
                            <a:srgbClr val="000000"/>
                          </a:solidFill>
                          <a:latin typeface="Calibri" panose="020F0502020204030204" charset="0"/>
                          <a:ea typeface="Calibri" panose="020F0502020204030204" charset="0"/>
                          <a:sym typeface="Calibri" panose="020F0502020204030204" charset="0"/>
                        </a:rPr>
                        <a:t>stderr</a:t>
                      </a:r>
                      <a:endParaRPr lang="zh-CN" altLang="en-US" sz="1800" dirty="0">
                        <a:solidFill>
                          <a:srgbClr val="000000"/>
                        </a:solidFill>
                        <a:latin typeface="Calibri" panose="020F0502020204030204" charset="0"/>
                        <a:ea typeface="宋体" panose="02010600030101010101" pitchFamily="2" charset="-122"/>
                        <a:sym typeface="宋体" panose="02010600030101010101" pitchFamily="2" charset="-122"/>
                      </a:endParaRPr>
                    </a:p>
                  </a:txBody>
                  <a:tcPr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80000"/>
              </a:lnSpc>
            </a:pPr>
            <a:endParaRPr lang="zh-CN" altLang="en-US" sz="1800" dirty="0">
              <a:latin typeface="宋体" panose="02010600030101010101" pitchFamily="2" charset="-122"/>
            </a:endParaRPr>
          </a:p>
          <a:p>
            <a:pPr lvl="0" indent="-342900">
              <a:lnSpc>
                <a:spcPct val="80000"/>
              </a:lnSpc>
            </a:pPr>
            <a:r>
              <a:rPr lang="zh-CN" altLang="en-US" sz="1800" b="1"/>
              <a:t>缓冲文件系统</a:t>
            </a:r>
            <a:endParaRPr lang="zh-CN" altLang="en-US" sz="1800"/>
          </a:p>
          <a:p>
            <a:pPr marL="457200" lvl="1" indent="0">
              <a:buNone/>
            </a:pPr>
            <a:r>
              <a:rPr lang="zh-CN" altLang="en-US" sz="1800"/>
              <a:t>目的：尽量减少使用</a:t>
            </a:r>
            <a:r>
              <a:rPr lang="en-US" altLang="zh-CN" sz="1800"/>
              <a:t>read/write</a:t>
            </a:r>
            <a:r>
              <a:rPr lang="zh-CN" altLang="en-US" sz="1800"/>
              <a:t>的调用</a:t>
            </a:r>
            <a:endParaRPr lang="zh-CN" altLang="en-US" sz="1800"/>
          </a:p>
          <a:p>
            <a:pPr marL="457200" lvl="1" indent="0">
              <a:buNone/>
            </a:pPr>
            <a:r>
              <a:rPr lang="zh-CN" altLang="en-US" sz="1800"/>
              <a:t>定义：系统自动的在内存中为每一个正在使用的文件开辟一个缓冲区，从内存向磁盘输出数据必须先送到内存缓冲区，装满缓冲区在一起送到磁盘中去。从磁盘中读数据，则一次从磁盘文件将一批数据读入到内存缓冲区中，然后再从缓冲区逐个的将数据送到程序的数据区。</a:t>
            </a:r>
            <a:endParaRPr lang="zh-CN" altLang="en-US" sz="1800"/>
          </a:p>
          <a:p>
            <a:pPr marL="457200" lvl="1" indent="0">
              <a:buNone/>
            </a:pPr>
            <a:r>
              <a:rPr lang="zh-CN" altLang="en-US" sz="1800"/>
              <a:t>分类：全缓存，行缓存，不缓存。</a:t>
            </a:r>
            <a:endParaRPr lang="en-US" altLang="zh-CN" sz="1800"/>
          </a:p>
          <a:p>
            <a:pPr lvl="0" indent="-342900">
              <a:lnSpc>
                <a:spcPct val="80000"/>
              </a:lnSpc>
            </a:pPr>
            <a:r>
              <a:rPr lang="zh-CN" altLang="en-US" sz="1800" b="1"/>
              <a:t>非缓冲文件系统 </a:t>
            </a:r>
            <a:endParaRPr lang="zh-CN" altLang="en-US" sz="1800"/>
          </a:p>
          <a:p>
            <a:pPr marL="457200" lvl="1" indent="0">
              <a:spcBef>
                <a:spcPts val="275"/>
              </a:spcBef>
              <a:spcAft>
                <a:spcPts val="275"/>
              </a:spcAft>
              <a:buNone/>
            </a:pPr>
            <a:r>
              <a:rPr lang="zh-CN" altLang="en-US" sz="1800"/>
              <a:t>定义：依靠于操作系统，通过操作系统的功能对文件进行读写，是系统级的输入输出。</a:t>
            </a:r>
            <a:endParaRPr lang="zh-CN" altLang="en-US" sz="1600" dirty="0">
              <a:latin typeface="宋体" panose="02010600030101010101" pitchFamily="2" charset="-122"/>
            </a:endParaRPr>
          </a:p>
          <a:p>
            <a:pPr marL="457200" lvl="1" indent="0">
              <a:spcBef>
                <a:spcPts val="275"/>
              </a:spcBef>
              <a:spcAft>
                <a:spcPts val="275"/>
              </a:spcAft>
            </a:pPr>
            <a:endParaRPr lang="zh-CN" altLang="en-US" sz="1600" dirty="0">
              <a:latin typeface="宋体" panose="02010600030101010101" pitchFamily="2" charset="-122"/>
            </a:endParaRPr>
          </a:p>
        </p:txBody>
      </p:sp>
      <p:sp>
        <p:nvSpPr>
          <p:cNvPr id="1433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缓存分类</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文本占位符 1"/>
          <p:cNvSpPr>
            <a:spLocks noGrp="1"/>
          </p:cNvSpPr>
          <p:nvPr>
            <p:ph sz="quarter"/>
          </p:nvPr>
        </p:nvSpPr>
        <p:spPr>
          <a:xfrm>
            <a:off x="612775" y="933450"/>
            <a:ext cx="7991475" cy="3725863"/>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lvl="0" indent="-342900" fontAlgn="base">
              <a:spcBef>
                <a:spcPts val="275"/>
              </a:spcBef>
              <a:spcAft>
                <a:spcPts val="275"/>
              </a:spcAft>
            </a:pPr>
            <a:r>
              <a:rPr lang="zh-CN" altLang="en-US" sz="1800" strike="noStrike" noProof="1" dirty="0">
                <a:latin typeface="宋体" panose="02010600030101010101" pitchFamily="2" charset="-122"/>
                <a:sym typeface="+mn-ea"/>
              </a:rPr>
              <a:t>标准</a:t>
            </a:r>
            <a:r>
              <a:rPr lang="en-US" altLang="zh-CN" sz="1800" strike="noStrike" noProof="1" dirty="0">
                <a:latin typeface="宋体" panose="02010600030101010101" pitchFamily="2" charset="-122"/>
                <a:sym typeface="+mn-ea"/>
              </a:rPr>
              <a:t>I/O</a:t>
            </a:r>
            <a:r>
              <a:rPr lang="zh-CN" altLang="en-US" sz="1800" strike="noStrike" noProof="1" dirty="0">
                <a:latin typeface="宋体" panose="02010600030101010101" pitchFamily="2" charset="-122"/>
                <a:sym typeface="+mn-ea"/>
              </a:rPr>
              <a:t>的缓冲类型有以下三种：</a:t>
            </a:r>
            <a:endParaRPr lang="en-US" altLang="zh-CN" sz="1800" strike="noStrike" noProof="1" dirty="0">
              <a:latin typeface="宋体" panose="02010600030101010101" pitchFamily="2" charset="-122"/>
            </a:endParaRPr>
          </a:p>
          <a:p>
            <a:pPr lvl="1" fontAlgn="base">
              <a:lnSpc>
                <a:spcPct val="80000"/>
              </a:lnSpc>
            </a:pPr>
            <a:r>
              <a:rPr lang="zh-CN" altLang="en-US" sz="1600" strike="noStrike" noProof="1">
                <a:sym typeface="+mn-ea"/>
              </a:rPr>
              <a:t>全缓存</a:t>
            </a:r>
            <a:endParaRPr lang="zh-CN" altLang="en-US" sz="1600" strike="noStrike" noProof="1"/>
          </a:p>
          <a:p>
            <a:pPr lvl="2" fontAlgn="base">
              <a:lnSpc>
                <a:spcPct val="80000"/>
              </a:lnSpc>
            </a:pPr>
            <a:r>
              <a:rPr lang="zh-CN" altLang="en-US" sz="1600" strike="noStrike" noProof="1">
                <a:sym typeface="+mn-ea"/>
              </a:rPr>
              <a:t>当填满</a:t>
            </a:r>
            <a:r>
              <a:rPr lang="en-US" altLang="zh-CN" sz="1600" strike="noStrike" noProof="1">
                <a:sym typeface="+mn-ea"/>
              </a:rPr>
              <a:t>I/O</a:t>
            </a:r>
            <a:r>
              <a:rPr lang="zh-CN" altLang="en-US" sz="1600" strike="noStrike" noProof="1">
                <a:sym typeface="+mn-ea"/>
              </a:rPr>
              <a:t>缓存后才进行实际</a:t>
            </a:r>
            <a:r>
              <a:rPr lang="en-US" altLang="zh-CN" sz="1600" strike="noStrike" noProof="1">
                <a:sym typeface="+mn-ea"/>
              </a:rPr>
              <a:t>I/O</a:t>
            </a:r>
            <a:r>
              <a:rPr lang="zh-CN" altLang="en-US" sz="1600" strike="noStrike" noProof="1">
                <a:sym typeface="+mn-ea"/>
              </a:rPr>
              <a:t>操作，或者满足一定条件后，系统通过调用</a:t>
            </a:r>
            <a:r>
              <a:rPr lang="en-US" altLang="zh-CN" sz="1600" strike="noStrike" noProof="1">
                <a:sym typeface="+mn-ea"/>
              </a:rPr>
              <a:t>malloc</a:t>
            </a:r>
            <a:r>
              <a:rPr lang="zh-CN" altLang="en-US" sz="1600" strike="noStrike" noProof="1">
                <a:sym typeface="+mn-ea"/>
              </a:rPr>
              <a:t>来获得所需要的缓冲区域，默认值。</a:t>
            </a:r>
            <a:endParaRPr lang="zh-CN" altLang="en-US" sz="1600" strike="noStrike" noProof="1"/>
          </a:p>
          <a:p>
            <a:pPr lvl="2" fontAlgn="base">
              <a:lnSpc>
                <a:spcPct val="80000"/>
              </a:lnSpc>
            </a:pPr>
            <a:r>
              <a:rPr lang="zh-CN" altLang="en-US" sz="1600" strike="noStrike" noProof="1">
                <a:sym typeface="+mn-ea"/>
              </a:rPr>
              <a:t>刷新</a:t>
            </a:r>
            <a:r>
              <a:rPr lang="en-US" altLang="zh-CN" sz="1600" strike="noStrike" noProof="1">
                <a:sym typeface="+mn-ea"/>
              </a:rPr>
              <a:t>(fflush)</a:t>
            </a:r>
            <a:r>
              <a:rPr lang="zh-CN" altLang="en-US" sz="1600" strike="noStrike" noProof="1">
                <a:sym typeface="+mn-ea"/>
              </a:rPr>
              <a:t>：标准</a:t>
            </a:r>
            <a:r>
              <a:rPr lang="en-US" altLang="zh-CN" sz="1600" strike="noStrike" noProof="1">
                <a:sym typeface="+mn-ea"/>
              </a:rPr>
              <a:t>I/O</a:t>
            </a:r>
            <a:r>
              <a:rPr lang="zh-CN" altLang="en-US" sz="1600" strike="noStrike" noProof="1">
                <a:sym typeface="+mn-ea"/>
              </a:rPr>
              <a:t>的写操作。</a:t>
            </a:r>
            <a:endParaRPr lang="zh-CN" altLang="en-US" sz="1600" strike="noStrike" noProof="1"/>
          </a:p>
          <a:p>
            <a:pPr lvl="2" fontAlgn="base">
              <a:lnSpc>
                <a:spcPct val="80000"/>
              </a:lnSpc>
              <a:buFont typeface="Wingdings 3" panose="05040102010807070707" pitchFamily="2" charset="2"/>
              <a:buNone/>
            </a:pPr>
            <a:r>
              <a:rPr lang="zh-CN" altLang="en-US" sz="1600" strike="noStrike" noProof="1">
                <a:sym typeface="+mn-ea"/>
              </a:rPr>
              <a:t>当缓冲区满了，或者满足一定的条件后，就会执行刷新操作。</a:t>
            </a:r>
            <a:endParaRPr lang="zh-CN" altLang="en-US" sz="1600" strike="noStrike" noProof="1"/>
          </a:p>
          <a:p>
            <a:pPr lvl="1" fontAlgn="base">
              <a:lnSpc>
                <a:spcPct val="80000"/>
              </a:lnSpc>
            </a:pPr>
            <a:r>
              <a:rPr lang="zh-CN" altLang="en-US" sz="1600" strike="noStrike" noProof="1">
                <a:sym typeface="+mn-ea"/>
              </a:rPr>
              <a:t>行缓存</a:t>
            </a:r>
            <a:endParaRPr lang="zh-CN" altLang="en-US" sz="1600" strike="noStrike" noProof="1"/>
          </a:p>
          <a:p>
            <a:pPr lvl="2" fontAlgn="base">
              <a:lnSpc>
                <a:spcPct val="80000"/>
              </a:lnSpc>
            </a:pPr>
            <a:r>
              <a:rPr lang="zh-CN" altLang="en-US" sz="1600" strike="noStrike" noProof="1">
                <a:sym typeface="+mn-ea"/>
              </a:rPr>
              <a:t>当在输入和输出中遇到新行符</a:t>
            </a:r>
            <a:r>
              <a:rPr lang="en-US" altLang="zh-CN" sz="1600" strike="noStrike" noProof="1">
                <a:sym typeface="+mn-ea"/>
              </a:rPr>
              <a:t>(</a:t>
            </a:r>
            <a:r>
              <a:rPr lang="en-US" altLang="zh-CN" sz="1600" strike="noStrike" noProof="1">
                <a:latin typeface="Arial" panose="020B0604020202020204"/>
                <a:sym typeface="+mn-ea"/>
              </a:rPr>
              <a:t>‘</a:t>
            </a:r>
            <a:r>
              <a:rPr lang="en-US" altLang="zh-CN" sz="1600" strike="noStrike" noProof="1">
                <a:sym typeface="+mn-ea"/>
              </a:rPr>
              <a:t>\n</a:t>
            </a:r>
            <a:r>
              <a:rPr lang="en-US" altLang="zh-CN" sz="1600" strike="noStrike" noProof="1">
                <a:latin typeface="Arial" panose="020B0604020202020204"/>
                <a:sym typeface="+mn-ea"/>
              </a:rPr>
              <a:t>’</a:t>
            </a:r>
            <a:r>
              <a:rPr lang="en-US" altLang="zh-CN" sz="1600" strike="noStrike" noProof="1">
                <a:sym typeface="+mn-ea"/>
              </a:rPr>
              <a:t>)</a:t>
            </a:r>
            <a:r>
              <a:rPr lang="zh-CN" altLang="en-US" sz="1600" strike="noStrike" noProof="1">
                <a:sym typeface="+mn-ea"/>
              </a:rPr>
              <a:t>时，进行</a:t>
            </a:r>
            <a:r>
              <a:rPr lang="en-US" altLang="zh-CN" sz="1600" strike="noStrike" noProof="1">
                <a:sym typeface="+mn-ea"/>
              </a:rPr>
              <a:t>I/O</a:t>
            </a:r>
            <a:r>
              <a:rPr lang="zh-CN" altLang="en-US" sz="1600" strike="noStrike" noProof="1">
                <a:sym typeface="+mn-ea"/>
              </a:rPr>
              <a:t>操作。</a:t>
            </a:r>
            <a:endParaRPr lang="zh-CN" altLang="en-US" sz="1600" strike="noStrike" noProof="1"/>
          </a:p>
          <a:p>
            <a:pPr lvl="2" fontAlgn="base">
              <a:lnSpc>
                <a:spcPct val="80000"/>
              </a:lnSpc>
              <a:buFont typeface="Wingdings 3" panose="05040102010807070707" pitchFamily="2" charset="2"/>
              <a:buNone/>
            </a:pPr>
            <a:r>
              <a:rPr lang="zh-CN" altLang="en-US" sz="1600" strike="noStrike" noProof="1">
                <a:sym typeface="+mn-ea"/>
              </a:rPr>
              <a:t>当流遇到一个终端时，典型的行缓存。</a:t>
            </a:r>
            <a:endParaRPr lang="zh-CN" altLang="en-US" sz="1600" strike="noStrike" noProof="1"/>
          </a:p>
          <a:p>
            <a:pPr lvl="1" fontAlgn="base">
              <a:lnSpc>
                <a:spcPct val="80000"/>
              </a:lnSpc>
            </a:pPr>
            <a:r>
              <a:rPr lang="zh-CN" altLang="en-US" sz="1600" strike="noStrike" noProof="1">
                <a:sym typeface="+mn-ea"/>
              </a:rPr>
              <a:t>不缓存</a:t>
            </a:r>
            <a:endParaRPr lang="zh-CN" altLang="en-US" sz="1600" strike="noStrike" noProof="1"/>
          </a:p>
          <a:p>
            <a:pPr lvl="2" fontAlgn="base">
              <a:lnSpc>
                <a:spcPct val="80000"/>
              </a:lnSpc>
            </a:pPr>
            <a:r>
              <a:rPr lang="zh-CN" altLang="en-US" sz="1600" strike="noStrike" noProof="1">
                <a:sym typeface="+mn-ea"/>
              </a:rPr>
              <a:t>标准</a:t>
            </a:r>
            <a:r>
              <a:rPr lang="en-US" altLang="zh-CN" sz="1600" strike="noStrike" noProof="1">
                <a:sym typeface="+mn-ea"/>
              </a:rPr>
              <a:t>I/O</a:t>
            </a:r>
            <a:r>
              <a:rPr lang="zh-CN" altLang="en-US" sz="1600" strike="noStrike" noProof="1">
                <a:sym typeface="+mn-ea"/>
              </a:rPr>
              <a:t>库不对字符进行缓冲，例如</a:t>
            </a:r>
            <a:r>
              <a:rPr lang="en-US" altLang="zh-CN" sz="1600" strike="noStrike" noProof="1">
                <a:sym typeface="+mn-ea"/>
              </a:rPr>
              <a:t>stderr</a:t>
            </a:r>
            <a:r>
              <a:rPr lang="zh-CN" altLang="en-US" sz="1600" strike="noStrike" noProof="1">
                <a:sym typeface="+mn-ea"/>
              </a:rPr>
              <a:t>。</a:t>
            </a:r>
            <a:endParaRPr lang="zh-CN" altLang="en-US" sz="1600" strike="noStrike" noProof="1"/>
          </a:p>
          <a:p>
            <a:pPr lvl="2" fontAlgn="base">
              <a:lnSpc>
                <a:spcPct val="80000"/>
              </a:lnSpc>
            </a:pPr>
            <a:r>
              <a:rPr lang="zh-CN" altLang="en-US" sz="1600" strike="noStrike" noProof="1">
                <a:sym typeface="+mn-ea"/>
              </a:rPr>
              <a:t>很多的人机交互界面要求不可全缓存。</a:t>
            </a:r>
            <a:endParaRPr lang="zh-CN" altLang="en-US" sz="1600" strike="noStrike" noProof="1"/>
          </a:p>
          <a:p>
            <a:pPr lvl="2" fontAlgn="base">
              <a:lnSpc>
                <a:spcPct val="80000"/>
              </a:lnSpc>
            </a:pPr>
            <a:r>
              <a:rPr lang="zh-CN" altLang="en-US" sz="1600" strike="noStrike" noProof="1">
                <a:sym typeface="+mn-ea"/>
              </a:rPr>
              <a:t>标准错误不会是全缓存的。</a:t>
            </a:r>
            <a:r>
              <a:rPr lang="en-US" altLang="zh-CN" sz="1600" strike="noStrike" noProof="1" dirty="0">
                <a:latin typeface="宋体" panose="02010600030101010101" pitchFamily="2" charset="-122"/>
                <a:sym typeface="+mn-ea"/>
              </a:rPr>
              <a:t>setbuf()</a:t>
            </a:r>
            <a:r>
              <a:rPr lang="zh-CN" altLang="en-US" sz="1600" strike="noStrike" noProof="1" dirty="0">
                <a:latin typeface="宋体" panose="02010600030101010101" pitchFamily="2" charset="-122"/>
                <a:sym typeface="+mn-ea"/>
              </a:rPr>
              <a:t>和</a:t>
            </a:r>
            <a:r>
              <a:rPr lang="en-US" altLang="zh-CN" sz="1600" strike="noStrike" noProof="1" dirty="0">
                <a:latin typeface="宋体" panose="02010600030101010101" pitchFamily="2" charset="-122"/>
                <a:sym typeface="+mn-ea"/>
              </a:rPr>
              <a:t>setvbuf()</a:t>
            </a:r>
            <a:r>
              <a:rPr lang="zh-CN" altLang="en-US" sz="1600" strike="noStrike" noProof="1" dirty="0">
                <a:latin typeface="宋体" panose="02010600030101010101" pitchFamily="2" charset="-122"/>
                <a:sym typeface="+mn-ea"/>
              </a:rPr>
              <a:t>可以更改缓存的类型</a:t>
            </a:r>
            <a:endParaRPr lang="en-US" altLang="zh-CN" sz="1800" strike="noStrike" noProof="1" dirty="0">
              <a:latin typeface="宋体" panose="02010600030101010101" pitchFamily="2" charset="-122"/>
            </a:endParaRPr>
          </a:p>
          <a:p>
            <a:pPr marL="457200" lvl="1" indent="0" fontAlgn="base">
              <a:spcBef>
                <a:spcPts val="275"/>
              </a:spcBef>
              <a:spcAft>
                <a:spcPts val="275"/>
              </a:spcAft>
              <a:buNone/>
            </a:pPr>
            <a:r>
              <a:rPr lang="zh-CN" altLang="en-US" sz="1800" strike="noStrike" noProof="1" dirty="0">
                <a:latin typeface="宋体" panose="02010600030101010101" pitchFamily="2" charset="-122"/>
                <a:sym typeface="+mn-ea"/>
              </a:rPr>
              <a:t>在任何时刻，可以使用</a:t>
            </a:r>
            <a:r>
              <a:rPr lang="en-US" altLang="zh-CN" sz="1800" strike="noStrike" noProof="1" dirty="0">
                <a:latin typeface="宋体" panose="02010600030101010101" pitchFamily="2" charset="-122"/>
                <a:sym typeface="+mn-ea"/>
              </a:rPr>
              <a:t>fflush</a:t>
            </a:r>
            <a:r>
              <a:rPr lang="zh-CN" altLang="en-US" sz="1800" strike="noStrike" noProof="1" dirty="0">
                <a:latin typeface="宋体" panose="02010600030101010101" pitchFamily="2" charset="-122"/>
                <a:sym typeface="+mn-ea"/>
              </a:rPr>
              <a:t>强制刷新一个数据流</a:t>
            </a:r>
            <a:endParaRPr lang="zh-CN" altLang="en-US" sz="1800" strike="noStrike" noProof="1" dirty="0">
              <a:latin typeface="宋体" panose="02010600030101010101" pitchFamily="2" charset="-122"/>
            </a:endParaRPr>
          </a:p>
          <a:p>
            <a:pPr marL="457200" lvl="1" indent="0" fontAlgn="base">
              <a:spcBef>
                <a:spcPts val="275"/>
              </a:spcBef>
              <a:spcAft>
                <a:spcPts val="275"/>
              </a:spcAft>
            </a:pPr>
            <a:endParaRPr lang="zh-CN" altLang="en-US" sz="1600" strike="noStrike" noProof="1" dirty="0">
              <a:latin typeface="宋体" panose="02010600030101010101" pitchFamily="2" charset="-122"/>
            </a:endParaRPr>
          </a:p>
        </p:txBody>
      </p:sp>
      <p:sp>
        <p:nvSpPr>
          <p:cNvPr id="1536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缓存分类</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273050" lvl="0" indent="-273050">
              <a:spcBef>
                <a:spcPts val="275"/>
              </a:spcBef>
              <a:spcAft>
                <a:spcPts val="275"/>
              </a:spcAft>
            </a:pPr>
            <a:r>
              <a:rPr lang="zh-CN" altLang="en-US" sz="1800" dirty="0">
                <a:latin typeface="宋体" panose="02010600030101010101" pitchFamily="2" charset="-122"/>
              </a:rPr>
              <a:t>下列三个函数可用于打开一个标准</a:t>
            </a:r>
            <a:r>
              <a:rPr lang="en-US" altLang="zh-CN" sz="1800" dirty="0">
                <a:latin typeface="宋体" panose="02010600030101010101" pitchFamily="2" charset="-122"/>
              </a:rPr>
              <a:t>I/O</a:t>
            </a:r>
            <a:r>
              <a:rPr lang="zh-CN" altLang="en-US" sz="1800" dirty="0">
                <a:latin typeface="宋体" panose="02010600030101010101" pitchFamily="2" charset="-122"/>
              </a:rPr>
              <a:t>流：</a:t>
            </a:r>
            <a:endParaRPr lang="zh-CN" altLang="en-US" sz="1800" dirty="0">
              <a:latin typeface="宋体" panose="02010600030101010101" pitchFamily="2" charset="-122"/>
            </a:endParaRPr>
          </a:p>
          <a:p>
            <a:pPr lvl="1" indent="-285750">
              <a:spcBef>
                <a:spcPts val="275"/>
              </a:spcBef>
              <a:spcAft>
                <a:spcPts val="275"/>
              </a:spcAft>
            </a:pPr>
            <a:r>
              <a:rPr lang="en-US" altLang="zh-CN" sz="1600" dirty="0">
                <a:latin typeface="宋体" panose="02010600030101010101" pitchFamily="2" charset="-122"/>
              </a:rPr>
              <a:t>FILE *fopen (const char *path, const char *mode);</a:t>
            </a:r>
            <a:endParaRPr lang="zh-CN" altLang="en-US" sz="1600" dirty="0">
              <a:latin typeface="宋体" panose="02010600030101010101" pitchFamily="2" charset="-122"/>
            </a:endParaRPr>
          </a:p>
          <a:p>
            <a:pPr lvl="1" indent="-285750" algn="just">
              <a:spcBef>
                <a:spcPts val="275"/>
              </a:spcBef>
              <a:spcAft>
                <a:spcPts val="275"/>
              </a:spcAft>
            </a:pPr>
            <a:r>
              <a:rPr lang="en-US" altLang="zh-CN" sz="1600" dirty="0">
                <a:latin typeface="宋体" panose="02010600030101010101" pitchFamily="2" charset="-122"/>
              </a:rPr>
              <a:t>FILE *freopen(const char *restrict pathname, const char *restrict type, FILE* restrict fp)</a:t>
            </a:r>
            <a:endParaRPr lang="zh-CN" altLang="en-US" sz="1600" dirty="0">
              <a:latin typeface="宋体" panose="02010600030101010101" pitchFamily="2" charset="-122"/>
            </a:endParaRPr>
          </a:p>
          <a:p>
            <a:pPr lvl="1" indent="-285750" algn="just">
              <a:spcBef>
                <a:spcPts val="275"/>
              </a:spcBef>
              <a:spcAft>
                <a:spcPts val="275"/>
              </a:spcAft>
            </a:pPr>
            <a:r>
              <a:rPr lang="en-US" altLang="zh-CN" sz="1600" dirty="0">
                <a:latin typeface="宋体" panose="02010600030101010101" pitchFamily="2" charset="-122"/>
              </a:rPr>
              <a:t>FILE *fdopen(int filedes, const char *type);</a:t>
            </a:r>
            <a:endParaRPr lang="zh-CN" altLang="en-US" sz="1600" dirty="0">
              <a:latin typeface="宋体" panose="02010600030101010101" pitchFamily="2" charset="-122"/>
            </a:endParaRPr>
          </a:p>
          <a:p>
            <a:pPr marL="273050" lvl="0" indent="-273050">
              <a:spcBef>
                <a:spcPts val="600"/>
              </a:spcBef>
              <a:spcAft>
                <a:spcPts val="275"/>
              </a:spcAft>
              <a:buClr>
                <a:schemeClr val="accent1"/>
              </a:buClr>
              <a:buSzPct val="76000"/>
              <a:buFont typeface="Wingdings 3" panose="05040102010807070707" pitchFamily="2" charset="2"/>
              <a:buChar char=""/>
            </a:pPr>
            <a:r>
              <a:rPr lang="en-US" altLang="zh-CN" sz="1800" dirty="0">
                <a:latin typeface="宋体" panose="02010600030101010101" pitchFamily="2" charset="-122"/>
              </a:rPr>
              <a:t>fopen()</a:t>
            </a:r>
            <a:r>
              <a:rPr lang="zh-CN" altLang="en-US" sz="1800" dirty="0">
                <a:latin typeface="宋体" panose="02010600030101010101" pitchFamily="2" charset="-122"/>
              </a:rPr>
              <a:t>打开由</a:t>
            </a:r>
            <a:r>
              <a:rPr lang="en-US" altLang="zh-CN" sz="1800" i="1" dirty="0">
                <a:latin typeface="宋体" panose="02010600030101010101" pitchFamily="2" charset="-122"/>
              </a:rPr>
              <a:t>path</a:t>
            </a:r>
            <a:r>
              <a:rPr lang="zh-CN" altLang="en-US" sz="1800" dirty="0">
                <a:latin typeface="宋体" panose="02010600030101010101" pitchFamily="2" charset="-122"/>
              </a:rPr>
              <a:t>指定的一个文件。</a:t>
            </a:r>
            <a:endParaRPr lang="zh-CN" altLang="en-US" sz="1800" dirty="0">
              <a:latin typeface="宋体" panose="02010600030101010101" pitchFamily="2" charset="-122"/>
            </a:endParaRPr>
          </a:p>
          <a:p>
            <a:pPr marL="273050" lvl="0" indent="-273050">
              <a:spcBef>
                <a:spcPts val="600"/>
              </a:spcBef>
              <a:spcAft>
                <a:spcPts val="275"/>
              </a:spcAft>
              <a:buClr>
                <a:schemeClr val="accent1"/>
              </a:buClr>
              <a:buSzPct val="76000"/>
              <a:buFont typeface="Wingdings 3" panose="05040102010807070707" pitchFamily="2" charset="2"/>
              <a:buChar char=""/>
            </a:pPr>
            <a:r>
              <a:rPr lang="en-US" altLang="zh-CN" sz="1800" dirty="0">
                <a:latin typeface="宋体" panose="02010600030101010101" pitchFamily="2" charset="-122"/>
              </a:rPr>
              <a:t>mode</a:t>
            </a:r>
            <a:r>
              <a:rPr lang="zh-CN" altLang="en-US" sz="1800" dirty="0">
                <a:latin typeface="宋体" panose="02010600030101010101" pitchFamily="2" charset="-122"/>
              </a:rPr>
              <a:t>的值如下：</a:t>
            </a:r>
            <a:endParaRPr lang="zh-CN" altLang="en-US" sz="1800" dirty="0">
              <a:latin typeface="宋体" panose="02010600030101010101" pitchFamily="2" charset="-122"/>
            </a:endParaRPr>
          </a:p>
          <a:p>
            <a:pPr marL="273050" lvl="0" indent="-273050">
              <a:spcBef>
                <a:spcPts val="275"/>
              </a:spcBef>
              <a:spcAft>
                <a:spcPts val="275"/>
              </a:spcAft>
            </a:pPr>
            <a:endParaRPr lang="zh-CN" altLang="en-US" sz="1800" dirty="0">
              <a:latin typeface="宋体" panose="02010600030101010101" pitchFamily="2" charset="-122"/>
            </a:endParaRPr>
          </a:p>
        </p:txBody>
      </p:sp>
      <p:sp>
        <p:nvSpPr>
          <p:cNvPr id="1638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fopen</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rPr>
              <a:t>b </a:t>
            </a:r>
            <a:r>
              <a:rPr lang="zh-CN" altLang="en-US" sz="1800" dirty="0">
                <a:latin typeface="宋体" panose="02010600030101010101" pitchFamily="2" charset="-122"/>
              </a:rPr>
              <a:t>二进制文件，而非存文本，不过在</a:t>
            </a:r>
            <a:r>
              <a:rPr lang="en-US" altLang="zh-CN" sz="1800" dirty="0">
                <a:latin typeface="宋体" panose="02010600030101010101" pitchFamily="2" charset="-122"/>
              </a:rPr>
              <a:t>linux</a:t>
            </a:r>
            <a:r>
              <a:rPr lang="zh-CN" altLang="en-US" sz="1800" dirty="0">
                <a:latin typeface="宋体" panose="02010600030101010101" pitchFamily="2" charset="-122"/>
              </a:rPr>
              <a:t>系统中会忽略此符号</a:t>
            </a:r>
            <a:endParaRPr lang="en-US" altLang="zh-CN"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p:txBody>
      </p:sp>
      <p:sp>
        <p:nvSpPr>
          <p:cNvPr id="1741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fopen mode</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参数</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80902" name="表格 80901"/>
          <p:cNvGraphicFramePr/>
          <p:nvPr/>
        </p:nvGraphicFramePr>
        <p:xfrm>
          <a:off x="611188" y="933450"/>
          <a:ext cx="7345363" cy="3338513"/>
        </p:xfrm>
        <a:graphic>
          <a:graphicData uri="http://schemas.openxmlformats.org/drawingml/2006/table">
            <a:tbl>
              <a:tblPr/>
              <a:tblGrid>
                <a:gridCol w="1657350"/>
                <a:gridCol w="5688013"/>
              </a:tblGrid>
              <a:tr h="363538">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just" eaLnBrk="1" fontAlgn="ctr" latinLnBrk="0" hangingPunct="1">
                        <a:lnSpc>
                          <a:spcPct val="100000"/>
                        </a:lnSpc>
                        <a:spcBef>
                          <a:spcPct val="0"/>
                        </a:spcBef>
                        <a:spcAft>
                          <a:spcPct val="0"/>
                        </a:spcAft>
                        <a:buFont typeface="Arial" panose="020B0604020202020204" pitchFamily="34" charset="0"/>
                        <a:buNone/>
                      </a:pP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r</a:t>
                      </a: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或</a:t>
                      </a: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rb</a:t>
                      </a:r>
                      <a:endPar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打开只读文件，该文件必须存在。</a:t>
                      </a:r>
                      <a:endParaRPr lang="zh-CN" altLang="en-US" dirty="0"/>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0675">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just" eaLnBrk="1" fontAlgn="ctr" latinLnBrk="0" hangingPunct="1">
                        <a:lnSpc>
                          <a:spcPct val="100000"/>
                        </a:lnSpc>
                        <a:spcBef>
                          <a:spcPct val="0"/>
                        </a:spcBef>
                        <a:spcAft>
                          <a:spcPct val="0"/>
                        </a:spcAft>
                        <a:buFont typeface="Arial" panose="020B0604020202020204" pitchFamily="34" charset="0"/>
                        <a:buNone/>
                      </a:pP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r+</a:t>
                      </a: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或</a:t>
                      </a: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r+b</a:t>
                      </a:r>
                      <a:endPar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打开可读写的文件，该文件必须存在。</a:t>
                      </a:r>
                      <a:endParaRPr lang="zh-CN" altLang="en-US" dirty="0"/>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9275">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just" eaLnBrk="1" fontAlgn="ctr" latinLnBrk="0" hangingPunct="1">
                        <a:lnSpc>
                          <a:spcPct val="100000"/>
                        </a:lnSpc>
                        <a:spcBef>
                          <a:spcPct val="0"/>
                        </a:spcBef>
                        <a:spcAft>
                          <a:spcPct val="0"/>
                        </a:spcAft>
                        <a:buFont typeface="Arial" panose="020B0604020202020204" pitchFamily="34" charset="0"/>
                        <a:buNone/>
                      </a:pP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w</a:t>
                      </a: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或</a:t>
                      </a: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wb</a:t>
                      </a:r>
                      <a:endPar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打开只写文件，若文件存在则文件长度清为</a:t>
                      </a: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0</a:t>
                      </a: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，即会擦些文件以</a:t>
                      </a:r>
                      <a:endPar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前内容。若文件不存在则建立该文件。</a:t>
                      </a:r>
                      <a:endParaRPr lang="zh-CN" altLang="en-US" dirty="0"/>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9275">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just" eaLnBrk="1" fontAlgn="ctr" latinLnBrk="0" hangingPunct="1">
                        <a:lnSpc>
                          <a:spcPct val="100000"/>
                        </a:lnSpc>
                        <a:spcBef>
                          <a:spcPct val="0"/>
                        </a:spcBef>
                        <a:spcAft>
                          <a:spcPct val="0"/>
                        </a:spcAft>
                        <a:buFont typeface="Arial" panose="020B0604020202020204" pitchFamily="34" charset="0"/>
                        <a:buNone/>
                      </a:pP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w+</a:t>
                      </a: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或</a:t>
                      </a: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w+b</a:t>
                      </a: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或</a:t>
                      </a: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wb+</a:t>
                      </a:r>
                      <a:endPar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打开可读写文件，若文件存在则文件长度清为零，即会擦些文件</a:t>
                      </a:r>
                      <a:endPar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以前内容。若文件不存在则建立该文件。</a:t>
                      </a:r>
                      <a:endParaRPr lang="zh-CN" altLang="en-US" dirty="0"/>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77875">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just" eaLnBrk="1" fontAlgn="ctr" latinLnBrk="0" hangingPunct="1">
                        <a:lnSpc>
                          <a:spcPct val="100000"/>
                        </a:lnSpc>
                        <a:spcBef>
                          <a:spcPct val="0"/>
                        </a:spcBef>
                        <a:spcAft>
                          <a:spcPct val="0"/>
                        </a:spcAft>
                        <a:buFont typeface="Arial" panose="020B0604020202020204" pitchFamily="34" charset="0"/>
                        <a:buNone/>
                      </a:pP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a</a:t>
                      </a: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或</a:t>
                      </a: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ab</a:t>
                      </a:r>
                      <a:endPar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以附加的方式打开只写文件。若文件不存在，则会建立该文件，</a:t>
                      </a:r>
                      <a:endPar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如果文件存在，写入的数据会被加到文件尾，即文件原先的内容</a:t>
                      </a:r>
                      <a:endPar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会被保留。</a:t>
                      </a:r>
                      <a:endParaRPr lang="zh-CN" altLang="en-US" dirty="0"/>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77875">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just" eaLnBrk="1" fontAlgn="ctr" latinLnBrk="0" hangingPunct="1">
                        <a:lnSpc>
                          <a:spcPct val="100000"/>
                        </a:lnSpc>
                        <a:spcBef>
                          <a:spcPct val="0"/>
                        </a:spcBef>
                        <a:spcAft>
                          <a:spcPct val="0"/>
                        </a:spcAft>
                        <a:buFont typeface="Arial" panose="020B0604020202020204" pitchFamily="34" charset="0"/>
                        <a:buNone/>
                      </a:pP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a+</a:t>
                      </a: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或</a:t>
                      </a: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a+b</a:t>
                      </a: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或</a:t>
                      </a:r>
                      <a:r>
                        <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ab+</a:t>
                      </a:r>
                      <a:endParaRPr lang="en-US" altLang="x-none"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以附加方式打开可读写的文件。若文件不存在，则会建立该文</a:t>
                      </a:r>
                      <a:endPar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件，如果文件存在，写入的数据会被加到文件尾后，即文件原先</a:t>
                      </a:r>
                      <a:endPar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endParaRPr>
                    </a:p>
                    <a:p>
                      <a:pPr marL="273050" lvl="0" indent="-273050" algn="l" eaLnBrk="1" fontAlgn="ctr" latinLnBrk="0" hangingPunct="1">
                        <a:lnSpc>
                          <a:spcPct val="100000"/>
                        </a:lnSpc>
                        <a:spcBef>
                          <a:spcPct val="0"/>
                        </a:spcBef>
                        <a:spcAft>
                          <a:spcPct val="0"/>
                        </a:spcAft>
                        <a:buFont typeface="Arial" panose="020B0604020202020204" pitchFamily="34" charset="0"/>
                        <a:buNone/>
                      </a:pPr>
                      <a:r>
                        <a:rPr lang="zh-CN" altLang="en-US" sz="1500" baseline="0" dirty="0">
                          <a:solidFill>
                            <a:schemeClr val="tx1"/>
                          </a:solidFill>
                          <a:latin typeface="Times New Roman" panose="02020603050405020304" pitchFamily="2" charset="0"/>
                          <a:ea typeface="宋体" panose="02010600030101010101" pitchFamily="2" charset="-122"/>
                          <a:sym typeface="Times New Roman" panose="02020603050405020304" pitchFamily="2" charset="0"/>
                        </a:rPr>
                        <a:t>的内容会被保留。</a:t>
                      </a:r>
                      <a:endParaRPr lang="zh-CN" altLang="en-US" dirty="0"/>
                    </a:p>
                  </a:txBody>
                  <a:tcPr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文本占位符 1"/>
          <p:cNvSpPr>
            <a:spLocks noGrp="1"/>
          </p:cNvSpPr>
          <p:nvPr>
            <p:ph sz="quarter"/>
          </p:nvPr>
        </p:nvSpPr>
        <p:spPr>
          <a:xfrm>
            <a:off x="612775" y="933450"/>
            <a:ext cx="7991475" cy="3725863"/>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fontAlgn="base">
              <a:lnSpc>
                <a:spcPct val="80000"/>
              </a:lnSpc>
            </a:pPr>
            <a:r>
              <a:rPr lang="en-US" altLang="zh-CN" sz="1800" strike="noStrike" noProof="1">
                <a:sym typeface="+mn-ea"/>
              </a:rPr>
              <a:t>fopen()</a:t>
            </a:r>
            <a:r>
              <a:rPr lang="zh-CN" altLang="en-US" sz="1800" strike="noStrike" noProof="1">
                <a:sym typeface="+mn-ea"/>
              </a:rPr>
              <a:t>没有设定创建文件权限的参数，</a:t>
            </a:r>
            <a:endParaRPr lang="zh-CN" altLang="en-US" sz="1800" strike="noStrike" noProof="1"/>
          </a:p>
          <a:p>
            <a:pPr fontAlgn="base">
              <a:lnSpc>
                <a:spcPct val="80000"/>
              </a:lnSpc>
            </a:pPr>
            <a:r>
              <a:rPr lang="en-US" altLang="zh-CN" sz="1800" strike="noStrike" noProof="1">
                <a:sym typeface="+mn-ea"/>
              </a:rPr>
              <a:t>POSIX.1</a:t>
            </a:r>
            <a:r>
              <a:rPr lang="zh-CN" altLang="en-US" sz="1800" strike="noStrike" noProof="1">
                <a:sym typeface="+mn-ea"/>
              </a:rPr>
              <a:t>要求具有如下权限</a:t>
            </a:r>
            <a:r>
              <a:rPr lang="en-US" altLang="zh-CN" sz="1800" strike="noStrike" noProof="1">
                <a:sym typeface="+mn-ea"/>
              </a:rPr>
              <a:t>(0666</a:t>
            </a:r>
            <a:r>
              <a:rPr lang="zh-CN" altLang="en-US" sz="1800" strike="noStrike" noProof="1">
                <a:sym typeface="+mn-ea"/>
              </a:rPr>
              <a:t>或者</a:t>
            </a:r>
            <a:r>
              <a:rPr lang="en-US" altLang="zh-CN" sz="1800" strike="noStrike" noProof="1">
                <a:sym typeface="+mn-ea"/>
              </a:rPr>
              <a:t>-rw-rw-rw)</a:t>
            </a:r>
            <a:r>
              <a:rPr lang="zh-CN" altLang="en-US" sz="1800" strike="noStrike" noProof="1">
                <a:sym typeface="+mn-ea"/>
              </a:rPr>
              <a:t>：</a:t>
            </a:r>
            <a:endParaRPr lang="zh-CN" altLang="en-US" sz="1800" strike="noStrike" noProof="1"/>
          </a:p>
          <a:p>
            <a:pPr fontAlgn="base">
              <a:lnSpc>
                <a:spcPct val="80000"/>
              </a:lnSpc>
            </a:pPr>
            <a:endParaRPr lang="zh-CN" altLang="en-US" sz="1800" strike="noStrike" noProof="1"/>
          </a:p>
          <a:p>
            <a:pPr lvl="1" fontAlgn="base">
              <a:lnSpc>
                <a:spcPct val="80000"/>
              </a:lnSpc>
            </a:pPr>
            <a:r>
              <a:rPr lang="en-US" altLang="zh-CN" sz="1800" strike="noStrike" noProof="1">
                <a:sym typeface="+mn-ea"/>
              </a:rPr>
              <a:t>S_IRUSR|S_IWUSR|S_IRGRP|S_IWGRP|S_IROTH|S_IWOTH</a:t>
            </a:r>
            <a:endParaRPr lang="en-US" altLang="zh-CN" sz="1800" strike="noStrike" noProof="1"/>
          </a:p>
          <a:p>
            <a:pPr lvl="1" fontAlgn="base">
              <a:lnSpc>
                <a:spcPct val="80000"/>
              </a:lnSpc>
            </a:pPr>
            <a:endParaRPr lang="en-US" altLang="zh-CN" sz="1800" strike="noStrike" noProof="1"/>
          </a:p>
          <a:p>
            <a:pPr fontAlgn="base">
              <a:lnSpc>
                <a:spcPct val="80000"/>
              </a:lnSpc>
            </a:pPr>
            <a:r>
              <a:rPr lang="zh-CN" altLang="en-US" sz="1800" strike="noStrike" noProof="1">
                <a:sym typeface="+mn-ea"/>
              </a:rPr>
              <a:t>用户可以通过</a:t>
            </a:r>
            <a:r>
              <a:rPr lang="en-US" altLang="zh-CN" sz="1800" strike="noStrike" noProof="1">
                <a:sym typeface="+mn-ea"/>
              </a:rPr>
              <a:t>umask</a:t>
            </a:r>
            <a:r>
              <a:rPr lang="zh-CN" altLang="en-US" sz="1800" strike="noStrike" noProof="1">
                <a:sym typeface="+mn-ea"/>
              </a:rPr>
              <a:t>修改文件存取的权限，其结果为</a:t>
            </a:r>
            <a:r>
              <a:rPr lang="en-US" altLang="zh-CN" sz="1800" strike="noStrike" noProof="1">
                <a:sym typeface="+mn-ea"/>
              </a:rPr>
              <a:t>(0666 &amp; </a:t>
            </a:r>
            <a:r>
              <a:rPr lang="zh-CN" altLang="en-US" sz="1800" strike="noStrike" noProof="1">
                <a:sym typeface="+mn-ea"/>
              </a:rPr>
              <a:t>～</a:t>
            </a:r>
            <a:r>
              <a:rPr lang="en-US" altLang="zh-CN" sz="1800" strike="noStrike" noProof="1">
                <a:sym typeface="+mn-ea"/>
              </a:rPr>
              <a:t>umask)</a:t>
            </a:r>
            <a:endParaRPr lang="en-US" altLang="zh-CN" sz="1800" strike="noStrike" noProof="1"/>
          </a:p>
          <a:p>
            <a:pPr marL="273050" lvl="0" indent="-273050" fontAlgn="base">
              <a:spcBef>
                <a:spcPts val="275"/>
              </a:spcBef>
              <a:spcAft>
                <a:spcPts val="275"/>
              </a:spcAft>
            </a:pPr>
            <a:endParaRPr lang="zh-CN" altLang="en-US" sz="1800" strike="noStrike" noProof="1" dirty="0">
              <a:latin typeface="宋体" panose="02010600030101010101" pitchFamily="2" charset="-122"/>
            </a:endParaRPr>
          </a:p>
          <a:p>
            <a:pPr marL="273050" lvl="0" indent="-273050" fontAlgn="base">
              <a:spcBef>
                <a:spcPts val="275"/>
              </a:spcBef>
              <a:spcAft>
                <a:spcPts val="275"/>
              </a:spcAft>
            </a:pPr>
            <a:endParaRPr lang="zh-CN" altLang="en-US" sz="1800" strike="noStrike" noProof="1" dirty="0">
              <a:latin typeface="宋体" panose="02010600030101010101" pitchFamily="2" charset="-122"/>
            </a:endParaRPr>
          </a:p>
        </p:txBody>
      </p:sp>
      <p:sp>
        <p:nvSpPr>
          <p:cNvPr id="1843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fopen</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457200" lvl="1" indent="0">
              <a:spcBef>
                <a:spcPts val="275"/>
              </a:spcBef>
              <a:spcAft>
                <a:spcPts val="275"/>
              </a:spcAft>
              <a:buChar char="•"/>
            </a:pPr>
            <a:r>
              <a:rPr lang="zh-CN" altLang="en-US" sz="1800" dirty="0">
                <a:latin typeface="宋体" panose="02010600030101010101" pitchFamily="2" charset="-122"/>
              </a:rPr>
              <a:t>错误处理</a:t>
            </a:r>
            <a:endParaRPr lang="en-US" altLang="zh-CN" sz="1800" dirty="0">
              <a:latin typeface="宋体" panose="02010600030101010101" pitchFamily="2" charset="-122"/>
            </a:endParaRPr>
          </a:p>
          <a:p>
            <a:pPr marL="457200" lvl="1" indent="0">
              <a:spcBef>
                <a:spcPts val="275"/>
              </a:spcBef>
              <a:spcAft>
                <a:spcPts val="275"/>
              </a:spcAft>
              <a:buChar char="•"/>
            </a:pPr>
            <a:r>
              <a:rPr lang="zh-CN" altLang="en-US" sz="1800" dirty="0">
                <a:latin typeface="宋体" panose="02010600030101010101" pitchFamily="2" charset="-122"/>
              </a:rPr>
              <a:t>标准 </a:t>
            </a:r>
            <a:r>
              <a:rPr lang="en-US" altLang="zh-CN" sz="1800" dirty="0">
                <a:latin typeface="宋体" panose="02010600030101010101" pitchFamily="2" charset="-122"/>
              </a:rPr>
              <a:t>I/O</a:t>
            </a:r>
            <a:r>
              <a:rPr lang="zh-CN" altLang="en-US" sz="1800" dirty="0">
                <a:latin typeface="宋体" panose="02010600030101010101" pitchFamily="2" charset="-122"/>
              </a:rPr>
              <a:t>执行过程中出现错误，获取相关错误信息</a:t>
            </a:r>
            <a:endParaRPr lang="en-US" altLang="zh-CN" sz="1800" dirty="0">
              <a:latin typeface="宋体" panose="02010600030101010101" pitchFamily="2" charset="-122"/>
            </a:endParaRPr>
          </a:p>
          <a:p>
            <a:pPr marL="457200" lvl="1" indent="0">
              <a:spcBef>
                <a:spcPts val="275"/>
              </a:spcBef>
              <a:spcAft>
                <a:spcPts val="275"/>
              </a:spcAft>
              <a:buChar char="•"/>
            </a:pPr>
            <a:r>
              <a:rPr lang="en-US" altLang="zh-CN" sz="1800" dirty="0">
                <a:latin typeface="宋体" panose="02010600030101010101" pitchFamily="2" charset="-122"/>
              </a:rPr>
              <a:t>void perror(const char *)</a:t>
            </a:r>
            <a:endParaRPr lang="en-US" altLang="zh-CN" sz="1800" dirty="0">
              <a:latin typeface="宋体" panose="02010600030101010101" pitchFamily="2" charset="-122"/>
            </a:endParaRPr>
          </a:p>
          <a:p>
            <a:pPr marL="457200" lvl="1" indent="0">
              <a:spcBef>
                <a:spcPts val="275"/>
              </a:spcBef>
              <a:spcAft>
                <a:spcPts val="275"/>
              </a:spcAft>
              <a:buChar char="•"/>
            </a:pPr>
            <a:r>
              <a:rPr lang="en-US" altLang="zh-CN" sz="1800" dirty="0">
                <a:latin typeface="宋体" panose="02010600030101010101" pitchFamily="2" charset="-122"/>
              </a:rPr>
              <a:t>char *strerror(int errnum);</a:t>
            </a:r>
            <a:endParaRPr lang="en-US" altLang="zh-CN" sz="1800" dirty="0">
              <a:latin typeface="宋体" panose="02010600030101010101" pitchFamily="2" charset="-122"/>
            </a:endParaRPr>
          </a:p>
          <a:p>
            <a:pPr marL="457200" lvl="1" indent="0">
              <a:spcBef>
                <a:spcPts val="275"/>
              </a:spcBef>
              <a:spcAft>
                <a:spcPts val="275"/>
              </a:spcAft>
              <a:buChar char="•"/>
            </a:pPr>
            <a:endParaRPr lang="en-US" altLang="zh-CN" sz="1800" dirty="0">
              <a:latin typeface="宋体" panose="02010600030101010101" pitchFamily="2" charset="-122"/>
            </a:endParaRPr>
          </a:p>
          <a:p>
            <a:pPr marL="457200" lvl="1" indent="0">
              <a:spcBef>
                <a:spcPts val="275"/>
              </a:spcBef>
              <a:spcAft>
                <a:spcPts val="275"/>
              </a:spcAft>
              <a:buChar char="•"/>
            </a:pPr>
            <a:endParaRPr lang="en-US" altLang="zh-CN" sz="1800" dirty="0">
              <a:latin typeface="宋体" panose="02010600030101010101" pitchFamily="2" charset="-122"/>
            </a:endParaRPr>
          </a:p>
          <a:p>
            <a:pPr marL="457200" lvl="1" indent="0">
              <a:spcBef>
                <a:spcPts val="275"/>
              </a:spcBef>
              <a:spcAft>
                <a:spcPts val="275"/>
              </a:spcAft>
              <a:buChar char="•"/>
            </a:pPr>
            <a:endParaRPr lang="en-US" altLang="zh-CN" sz="1800" dirty="0">
              <a:latin typeface="宋体" panose="02010600030101010101" pitchFamily="2" charset="-122"/>
            </a:endParaRPr>
          </a:p>
          <a:p>
            <a:pPr marL="457200" lvl="1" indent="0">
              <a:spcBef>
                <a:spcPts val="275"/>
              </a:spcBef>
              <a:spcAft>
                <a:spcPts val="275"/>
              </a:spcAft>
              <a:buChar char="•"/>
            </a:pPr>
            <a:endParaRPr lang="en-US" altLang="zh-CN" sz="1800" dirty="0">
              <a:latin typeface="宋体" panose="02010600030101010101" pitchFamily="2" charset="-122"/>
            </a:endParaRPr>
          </a:p>
          <a:p>
            <a:pPr marL="273050" lvl="0" indent="-273050">
              <a:spcBef>
                <a:spcPts val="275"/>
              </a:spcBef>
              <a:spcAft>
                <a:spcPts val="275"/>
              </a:spcAft>
            </a:pPr>
            <a:endParaRPr lang="zh-CN" altLang="en-US" sz="1800" dirty="0">
              <a:latin typeface="宋体" panose="02010600030101010101" pitchFamily="2" charset="-122"/>
            </a:endParaRPr>
          </a:p>
          <a:p>
            <a:pPr marL="273050" lvl="0" indent="-273050">
              <a:spcBef>
                <a:spcPts val="275"/>
              </a:spcBef>
              <a:spcAft>
                <a:spcPts val="275"/>
              </a:spcAft>
            </a:pPr>
            <a:endParaRPr lang="zh-CN" altLang="en-US" sz="1800" dirty="0">
              <a:latin typeface="宋体" panose="02010600030101010101" pitchFamily="2" charset="-122"/>
            </a:endParaRPr>
          </a:p>
        </p:txBody>
      </p:sp>
      <p:sp>
        <p:nvSpPr>
          <p:cNvPr id="1945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perror</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en-US" altLang="zh-CN" sz="1800" dirty="0">
                <a:latin typeface="宋体" panose="02010600030101010101" pitchFamily="2" charset="-122"/>
              </a:rPr>
              <a:t>fclose</a:t>
            </a:r>
            <a:endParaRPr lang="en-US" altLang="zh-CN" sz="18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关闭一个</a:t>
            </a:r>
            <a:r>
              <a:rPr lang="en-US" altLang="zh-CN" sz="1800" dirty="0">
                <a:latin typeface="宋体" panose="02010600030101010101" pitchFamily="2" charset="-122"/>
              </a:rPr>
              <a:t>fopen</a:t>
            </a:r>
            <a:r>
              <a:rPr lang="zh-CN" altLang="en-US" sz="1800" dirty="0">
                <a:latin typeface="宋体" panose="02010600030101010101" pitchFamily="2" charset="-122"/>
              </a:rPr>
              <a:t>打开的流，该函数将流的缓冲区中的数据全部写入文件中，并释放相关资源。</a:t>
            </a:r>
            <a:endParaRPr lang="en-US" altLang="zh-CN" sz="1800" dirty="0">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rPr>
              <a:t>int fclose(FILE *stream)</a:t>
            </a:r>
            <a:endParaRPr lang="zh-CN" altLang="en-US" sz="18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Stream : fopen</a:t>
            </a:r>
            <a:r>
              <a:rPr lang="zh-CN" altLang="en-US" sz="1600" dirty="0">
                <a:latin typeface="宋体" panose="02010600030101010101" pitchFamily="2" charset="-122"/>
              </a:rPr>
              <a:t>打开的流指针</a:t>
            </a:r>
            <a:endParaRPr lang="en-US" altLang="zh-CN" sz="1600" dirty="0">
              <a:latin typeface="宋体" panose="02010600030101010101" pitchFamily="2" charset="-122"/>
            </a:endParaRPr>
          </a:p>
          <a:p>
            <a:pPr marL="457200" lvl="1" indent="0">
              <a:spcBef>
                <a:spcPts val="275"/>
              </a:spcBef>
              <a:spcAft>
                <a:spcPts val="275"/>
              </a:spcAft>
            </a:pPr>
            <a:r>
              <a:rPr lang="zh-CN" altLang="en-US" sz="1600" dirty="0">
                <a:latin typeface="宋体" panose="02010600030101010101" pitchFamily="2" charset="-122"/>
              </a:rPr>
              <a:t>返回值：</a:t>
            </a:r>
            <a:r>
              <a:rPr lang="en-US" altLang="zh-CN" sz="1600" dirty="0">
                <a:latin typeface="宋体" panose="02010600030101010101" pitchFamily="2" charset="-122"/>
              </a:rPr>
              <a:t>0 </a:t>
            </a:r>
            <a:r>
              <a:rPr lang="zh-CN" altLang="en-US" sz="1600" dirty="0">
                <a:latin typeface="宋体" panose="02010600030101010101" pitchFamily="2" charset="-122"/>
              </a:rPr>
              <a:t>成功，</a:t>
            </a:r>
            <a:r>
              <a:rPr lang="en-US" altLang="zh-CN" sz="1600" dirty="0">
                <a:latin typeface="宋体" panose="02010600030101010101" pitchFamily="2" charset="-122"/>
              </a:rPr>
              <a:t>EOF </a:t>
            </a:r>
            <a:r>
              <a:rPr lang="zh-CN" altLang="en-US" sz="1600" dirty="0">
                <a:latin typeface="宋体" panose="02010600030101010101" pitchFamily="2" charset="-122"/>
              </a:rPr>
              <a:t>失败</a:t>
            </a:r>
            <a:endParaRPr lang="zh-CN" altLang="en-US" sz="1600" dirty="0">
              <a:latin typeface="宋体" panose="02010600030101010101" pitchFamily="2" charset="-122"/>
            </a:endParaRPr>
          </a:p>
          <a:p>
            <a:pPr lvl="0" indent="-342900">
              <a:spcBef>
                <a:spcPct val="0"/>
              </a:spcBef>
            </a:pPr>
            <a:r>
              <a:rPr lang="zh-CN" altLang="en-US" sz="1600" dirty="0"/>
              <a:t>在该文件被关闭之前，刷新缓存中的数据。如果标准</a:t>
            </a:r>
            <a:r>
              <a:rPr lang="en-US" altLang="zh-CN" sz="1600" dirty="0"/>
              <a:t>I / O</a:t>
            </a:r>
            <a:r>
              <a:rPr lang="zh-CN" altLang="en-US" sz="1600" dirty="0"/>
              <a:t>库已经为该流自动分配了一个缓存，则释放此缓存。</a:t>
            </a:r>
            <a:endParaRPr lang="zh-CN" altLang="en-US" sz="1600" u="none" dirty="0"/>
          </a:p>
          <a:p>
            <a:pPr lvl="0" indent="-342900">
              <a:spcBef>
                <a:spcPct val="0"/>
              </a:spcBef>
            </a:pPr>
            <a:endParaRPr lang="zh-CN" altLang="en-US" sz="1600" u="none" dirty="0"/>
          </a:p>
          <a:p>
            <a:pPr lvl="0" indent="-342900">
              <a:spcBef>
                <a:spcPct val="0"/>
              </a:spcBef>
            </a:pPr>
            <a:r>
              <a:rPr lang="zh-CN" altLang="en-US" sz="1600" dirty="0"/>
              <a:t>当一个进程正常终止时</a:t>
            </a:r>
            <a:r>
              <a:rPr lang="en-US" altLang="zh-CN" sz="1600" dirty="0"/>
              <a:t>(</a:t>
            </a:r>
            <a:r>
              <a:rPr lang="zh-CN" altLang="en-US" sz="1600" dirty="0"/>
              <a:t>直接调用</a:t>
            </a:r>
            <a:r>
              <a:rPr lang="en-US" altLang="zh-CN" sz="1600" dirty="0"/>
              <a:t>exit</a:t>
            </a:r>
            <a:r>
              <a:rPr lang="zh-CN" altLang="en-US" sz="1600" dirty="0"/>
              <a:t>函数，或从</a:t>
            </a:r>
            <a:r>
              <a:rPr lang="en-US" altLang="zh-CN" sz="1600" dirty="0"/>
              <a:t>main</a:t>
            </a:r>
            <a:r>
              <a:rPr lang="zh-CN" altLang="en-US" sz="1600" dirty="0"/>
              <a:t>函数返回</a:t>
            </a:r>
            <a:r>
              <a:rPr lang="en-US" altLang="zh-CN" sz="1600" dirty="0"/>
              <a:t>)</a:t>
            </a:r>
            <a:r>
              <a:rPr lang="zh-CN" altLang="en-US" sz="1600" dirty="0"/>
              <a:t>，则所有带未写缓存数据的标准</a:t>
            </a:r>
            <a:r>
              <a:rPr lang="en-US" altLang="zh-CN" sz="1600" dirty="0"/>
              <a:t>I / O</a:t>
            </a:r>
            <a:r>
              <a:rPr lang="zh-CN" altLang="en-US" sz="1600" dirty="0"/>
              <a:t>流都被刷新，所有打开的标准</a:t>
            </a:r>
            <a:r>
              <a:rPr lang="en-US" altLang="zh-CN" sz="1600" dirty="0"/>
              <a:t>I / O</a:t>
            </a:r>
            <a:r>
              <a:rPr lang="zh-CN" altLang="en-US" sz="1600" dirty="0"/>
              <a:t>流都被关闭。一定要程序中关闭</a:t>
            </a:r>
            <a:endParaRPr lang="zh-CN" altLang="en-US" sz="1600" u="none" dirty="0"/>
          </a:p>
          <a:p>
            <a:pPr lvl="0" indent="-342900">
              <a:spcBef>
                <a:spcPct val="0"/>
              </a:spcBef>
            </a:pPr>
            <a:endParaRPr lang="zh-CN" altLang="en-US" sz="1600" u="none" dirty="0"/>
          </a:p>
          <a:p>
            <a:pPr lvl="0" indent="-342900">
              <a:spcBef>
                <a:spcPct val="0"/>
              </a:spcBef>
            </a:pPr>
            <a:r>
              <a:rPr lang="zh-CN" altLang="en-US" sz="1600" dirty="0"/>
              <a:t>在调用</a:t>
            </a:r>
            <a:r>
              <a:rPr lang="en-US" altLang="zh-CN" sz="1600" dirty="0" err="1"/>
              <a:t>fclose</a:t>
            </a:r>
            <a:r>
              <a:rPr lang="en-US" altLang="zh-CN" sz="1600" dirty="0"/>
              <a:t>()</a:t>
            </a:r>
            <a:r>
              <a:rPr lang="zh-CN" altLang="en-US" sz="1600" dirty="0"/>
              <a:t>关闭流后对流所进行的任何操作，包括再次调用</a:t>
            </a:r>
            <a:r>
              <a:rPr lang="en-US" altLang="zh-CN" sz="1600" dirty="0" err="1"/>
              <a:t>fclose</a:t>
            </a:r>
            <a:r>
              <a:rPr lang="en-US" altLang="zh-CN" sz="1600" dirty="0"/>
              <a:t>()</a:t>
            </a:r>
            <a:r>
              <a:rPr lang="zh-CN" altLang="en-US" sz="1600" dirty="0"/>
              <a:t>，其结果都将是未知的。</a:t>
            </a:r>
            <a:endParaRPr lang="en-US" altLang="zh-CN" sz="1600" dirty="0">
              <a:latin typeface="宋体" panose="02010600030101010101" pitchFamily="2" charset="-122"/>
            </a:endParaRPr>
          </a:p>
          <a:p>
            <a:pPr marL="457200" lvl="1" indent="0">
              <a:spcBef>
                <a:spcPts val="275"/>
              </a:spcBef>
              <a:spcAft>
                <a:spcPts val="275"/>
              </a:spcAft>
              <a:buNone/>
            </a:pPr>
            <a:endParaRPr lang="zh-CN" altLang="en-US" sz="16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p:txBody>
      </p:sp>
      <p:sp>
        <p:nvSpPr>
          <p:cNvPr id="2048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fclose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标准</a:t>
            </a:r>
            <a:r>
              <a:rPr lang="en-US" altLang="zh-CN" sz="1800" dirty="0">
                <a:latin typeface="宋体" panose="02010600030101010101" pitchFamily="2" charset="-122"/>
              </a:rPr>
              <a:t>I/O</a:t>
            </a:r>
            <a:r>
              <a:rPr lang="zh-CN" altLang="en-US" sz="1800" dirty="0">
                <a:latin typeface="宋体" panose="02010600030101010101" pitchFamily="2" charset="-122"/>
              </a:rPr>
              <a:t>，在文件流打开后，从文件中读取数据</a:t>
            </a:r>
            <a:endParaRPr lang="en-US" altLang="zh-CN" sz="1800" dirty="0">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rPr>
              <a:t>Size_t fread(void *ptr, size_t size, size_t nmemb, FILE *stream)</a:t>
            </a:r>
            <a:endParaRPr lang="zh-CN" altLang="en-US" sz="18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Ptr</a:t>
            </a:r>
            <a:r>
              <a:rPr lang="zh-CN" altLang="en-US" sz="1600" dirty="0">
                <a:latin typeface="宋体" panose="02010600030101010101" pitchFamily="2" charset="-122"/>
              </a:rPr>
              <a:t>：存放读出数据的缓冲区</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Size</a:t>
            </a:r>
            <a:r>
              <a:rPr lang="zh-CN" altLang="en-US" sz="1600" dirty="0">
                <a:latin typeface="宋体" panose="02010600030101010101" pitchFamily="2" charset="-122"/>
              </a:rPr>
              <a:t>：读取的记录</a:t>
            </a:r>
            <a:r>
              <a:rPr lang="en-US" altLang="zh-CN" sz="1600" dirty="0">
                <a:latin typeface="宋体" panose="02010600030101010101" pitchFamily="2" charset="-122"/>
              </a:rPr>
              <a:t>/</a:t>
            </a:r>
            <a:r>
              <a:rPr lang="zh-CN" altLang="en-US" sz="1600" dirty="0">
                <a:latin typeface="宋体" panose="02010600030101010101" pitchFamily="2" charset="-122"/>
              </a:rPr>
              <a:t>元素的大小</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Nmemb</a:t>
            </a:r>
            <a:r>
              <a:rPr lang="zh-CN" altLang="en-US" sz="1600" dirty="0">
                <a:latin typeface="宋体" panose="02010600030101010101" pitchFamily="2" charset="-122"/>
              </a:rPr>
              <a:t>：读取的记录</a:t>
            </a:r>
            <a:r>
              <a:rPr lang="en-US" altLang="zh-CN" sz="1600" dirty="0">
                <a:latin typeface="宋体" panose="02010600030101010101" pitchFamily="2" charset="-122"/>
              </a:rPr>
              <a:t>/</a:t>
            </a:r>
            <a:r>
              <a:rPr lang="zh-CN" altLang="en-US" sz="1600" dirty="0">
                <a:latin typeface="宋体" panose="02010600030101010101" pitchFamily="2" charset="-122"/>
              </a:rPr>
              <a:t>元素个数</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Stream</a:t>
            </a:r>
            <a:r>
              <a:rPr lang="zh-CN" altLang="en-US" sz="1600" dirty="0">
                <a:latin typeface="宋体" panose="02010600030101010101" pitchFamily="2" charset="-122"/>
              </a:rPr>
              <a:t>：要读取的文件流</a:t>
            </a:r>
            <a:endParaRPr lang="en-US" altLang="zh-CN" sz="1600" dirty="0">
              <a:latin typeface="宋体" panose="02010600030101010101" pitchFamily="2" charset="-122"/>
            </a:endParaRPr>
          </a:p>
          <a:p>
            <a:pPr marL="457200" lvl="1" indent="0">
              <a:spcBef>
                <a:spcPts val="275"/>
              </a:spcBef>
              <a:spcAft>
                <a:spcPts val="275"/>
              </a:spcAft>
            </a:pPr>
            <a:r>
              <a:rPr lang="zh-CN" altLang="en-US" sz="1600" dirty="0">
                <a:latin typeface="宋体" panose="02010600030101010101" pitchFamily="2" charset="-122"/>
              </a:rPr>
              <a:t>返回值：成功</a:t>
            </a:r>
            <a:r>
              <a:rPr lang="en-US" altLang="zh-CN" sz="1600" dirty="0">
                <a:latin typeface="宋体" panose="02010600030101010101" pitchFamily="2" charset="-122"/>
              </a:rPr>
              <a:t>-</a:t>
            </a:r>
            <a:r>
              <a:rPr lang="zh-CN" altLang="en-US" sz="1600" dirty="0">
                <a:latin typeface="宋体" panose="02010600030101010101" pitchFamily="2" charset="-122"/>
              </a:rPr>
              <a:t>读取到的元素个数</a:t>
            </a:r>
            <a:endParaRPr lang="en-US" altLang="zh-CN" sz="1600" dirty="0">
              <a:latin typeface="宋体" panose="02010600030101010101" pitchFamily="2" charset="-122"/>
            </a:endParaRPr>
          </a:p>
          <a:p>
            <a:pPr marL="457200" lvl="1" indent="0">
              <a:spcBef>
                <a:spcPts val="275"/>
              </a:spcBef>
              <a:spcAft>
                <a:spcPts val="275"/>
              </a:spcAft>
              <a:buNone/>
            </a:pPr>
            <a:r>
              <a:rPr lang="en-US" altLang="zh-CN" sz="1600" dirty="0">
                <a:latin typeface="宋体" panose="02010600030101010101" pitchFamily="2" charset="-122"/>
              </a:rPr>
              <a:t>	       </a:t>
            </a:r>
            <a:r>
              <a:rPr lang="zh-CN" altLang="en-US" sz="1600" dirty="0">
                <a:latin typeface="宋体" panose="02010600030101010101" pitchFamily="2" charset="-122"/>
              </a:rPr>
              <a:t>失败</a:t>
            </a:r>
            <a:r>
              <a:rPr lang="en-US" altLang="zh-CN" sz="1600" dirty="0">
                <a:latin typeface="宋体" panose="02010600030101010101" pitchFamily="2" charset="-122"/>
              </a:rPr>
              <a:t>- If an error occurs, or the end-of-file  is  reached,</a:t>
            </a:r>
            <a:endParaRPr lang="zh-CN" altLang="en-US" sz="1600" dirty="0">
              <a:latin typeface="宋体" panose="02010600030101010101" pitchFamily="2" charset="-122"/>
            </a:endParaRPr>
          </a:p>
          <a:p>
            <a:pPr marL="457200" lvl="1" indent="0">
              <a:spcBef>
                <a:spcPts val="275"/>
              </a:spcBef>
              <a:spcAft>
                <a:spcPts val="275"/>
              </a:spcAft>
              <a:buNone/>
            </a:pPr>
            <a:r>
              <a:rPr lang="en-US" altLang="zh-CN" sz="1600" dirty="0">
                <a:latin typeface="宋体" panose="02010600030101010101" pitchFamily="2" charset="-122"/>
              </a:rPr>
              <a:t>       the return value is a short item count (or zero).</a:t>
            </a:r>
            <a:endParaRPr lang="zh-CN" altLang="en-US" sz="1600" dirty="0">
              <a:latin typeface="宋体" panose="02010600030101010101" pitchFamily="2" charset="-122"/>
            </a:endParaRPr>
          </a:p>
          <a:p>
            <a:pPr marL="457200" lvl="1" indent="0">
              <a:spcBef>
                <a:spcPts val="275"/>
              </a:spcBef>
              <a:spcAft>
                <a:spcPts val="275"/>
              </a:spcAft>
              <a:buNone/>
            </a:pPr>
            <a:r>
              <a:rPr lang="zh-CN" altLang="en-US" sz="1600" dirty="0">
                <a:latin typeface="宋体" panose="02010600030101010101" pitchFamily="2" charset="-122"/>
              </a:rPr>
              <a:t>注意：</a:t>
            </a:r>
            <a:r>
              <a:rPr lang="en-US" altLang="zh-CN" sz="1600" dirty="0">
                <a:latin typeface="宋体" panose="02010600030101010101" pitchFamily="2" charset="-122"/>
              </a:rPr>
              <a:t> fread()  does  not  distinguish  between end-of-file and error, and callers must use feof(3) and ferror(3) to determine which occurred.</a:t>
            </a:r>
            <a:endParaRPr lang="zh-CN" altLang="en-US" sz="1600" dirty="0">
              <a:latin typeface="宋体" panose="02010600030101010101" pitchFamily="2" charset="-122"/>
            </a:endParaRPr>
          </a:p>
          <a:p>
            <a:pPr marL="457200" lvl="1" indent="0">
              <a:spcBef>
                <a:spcPts val="275"/>
              </a:spcBef>
              <a:spcAft>
                <a:spcPts val="275"/>
              </a:spcAft>
              <a:buNone/>
            </a:pPr>
            <a:endParaRPr lang="zh-CN" altLang="en-US" sz="16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p:txBody>
      </p:sp>
      <p:sp>
        <p:nvSpPr>
          <p:cNvPr id="2150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fread</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标准</a:t>
            </a:r>
            <a:r>
              <a:rPr lang="en-US" altLang="zh-CN" sz="1800" dirty="0">
                <a:latin typeface="宋体" panose="02010600030101010101" pitchFamily="2" charset="-122"/>
              </a:rPr>
              <a:t>I/O</a:t>
            </a:r>
            <a:r>
              <a:rPr lang="zh-CN" altLang="en-US" sz="1800" dirty="0">
                <a:latin typeface="宋体" panose="02010600030101010101" pitchFamily="2" charset="-122"/>
              </a:rPr>
              <a:t>，在文件流打开后，向文件中写数据</a:t>
            </a:r>
            <a:endParaRPr lang="en-US" altLang="zh-CN" sz="1800" dirty="0">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rPr>
              <a:t>size_t fwrite(const void *ptr, size_t size, size_t nmemb, FILE 	*stream);</a:t>
            </a:r>
            <a:endParaRPr lang="zh-CN" altLang="en-US" sz="18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ptr</a:t>
            </a:r>
            <a:r>
              <a:rPr lang="zh-CN" altLang="en-US" sz="1600" dirty="0">
                <a:latin typeface="宋体" panose="02010600030101010101" pitchFamily="2" charset="-122"/>
              </a:rPr>
              <a:t>：存放写入数据的缓冲区</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Size</a:t>
            </a:r>
            <a:r>
              <a:rPr lang="zh-CN" altLang="en-US" sz="1600" dirty="0">
                <a:latin typeface="宋体" panose="02010600030101010101" pitchFamily="2" charset="-122"/>
              </a:rPr>
              <a:t>：读取的记录</a:t>
            </a:r>
            <a:r>
              <a:rPr lang="en-US" altLang="zh-CN" sz="1600" dirty="0">
                <a:latin typeface="宋体" panose="02010600030101010101" pitchFamily="2" charset="-122"/>
              </a:rPr>
              <a:t>/</a:t>
            </a:r>
            <a:r>
              <a:rPr lang="zh-CN" altLang="en-US" sz="1600" dirty="0">
                <a:latin typeface="宋体" panose="02010600030101010101" pitchFamily="2" charset="-122"/>
              </a:rPr>
              <a:t>元素的大小</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Nmemb</a:t>
            </a:r>
            <a:r>
              <a:rPr lang="zh-CN" altLang="en-US" sz="1600" dirty="0">
                <a:latin typeface="宋体" panose="02010600030101010101" pitchFamily="2" charset="-122"/>
              </a:rPr>
              <a:t>：读取的记录</a:t>
            </a:r>
            <a:r>
              <a:rPr lang="en-US" altLang="zh-CN" sz="1600" dirty="0">
                <a:latin typeface="宋体" panose="02010600030101010101" pitchFamily="2" charset="-122"/>
              </a:rPr>
              <a:t>/</a:t>
            </a:r>
            <a:r>
              <a:rPr lang="zh-CN" altLang="en-US" sz="1600" dirty="0">
                <a:latin typeface="宋体" panose="02010600030101010101" pitchFamily="2" charset="-122"/>
              </a:rPr>
              <a:t>元素个数</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Stream</a:t>
            </a:r>
            <a:r>
              <a:rPr lang="zh-CN" altLang="en-US" sz="1600" dirty="0">
                <a:latin typeface="宋体" panose="02010600030101010101" pitchFamily="2" charset="-122"/>
              </a:rPr>
              <a:t>：要写入的文件流</a:t>
            </a:r>
            <a:endParaRPr lang="en-US" altLang="zh-CN" sz="1600" dirty="0">
              <a:latin typeface="宋体" panose="02010600030101010101" pitchFamily="2" charset="-122"/>
            </a:endParaRPr>
          </a:p>
          <a:p>
            <a:pPr marL="457200" lvl="1" indent="0">
              <a:spcBef>
                <a:spcPts val="275"/>
              </a:spcBef>
              <a:spcAft>
                <a:spcPts val="275"/>
              </a:spcAft>
            </a:pPr>
            <a:r>
              <a:rPr lang="zh-CN" altLang="en-US" sz="1600" dirty="0">
                <a:latin typeface="宋体" panose="02010600030101010101" pitchFamily="2" charset="-122"/>
              </a:rPr>
              <a:t>返回值：成功 返回实际写入的元素个数</a:t>
            </a:r>
            <a:endParaRPr lang="en-US" altLang="zh-CN" sz="1600" dirty="0">
              <a:latin typeface="宋体" panose="02010600030101010101" pitchFamily="2" charset="-122"/>
            </a:endParaRPr>
          </a:p>
          <a:p>
            <a:pPr marL="457200" lvl="1" indent="0">
              <a:spcBef>
                <a:spcPts val="275"/>
              </a:spcBef>
              <a:spcAft>
                <a:spcPts val="275"/>
              </a:spcAft>
              <a:buNone/>
            </a:pPr>
            <a:r>
              <a:rPr lang="en-US" altLang="zh-CN" sz="1600" dirty="0">
                <a:latin typeface="宋体" panose="02010600030101010101" pitchFamily="2" charset="-122"/>
              </a:rPr>
              <a:t>           </a:t>
            </a:r>
            <a:r>
              <a:rPr lang="zh-CN" altLang="en-US" sz="1600" dirty="0">
                <a:latin typeface="宋体" panose="02010600030101010101" pitchFamily="2" charset="-122"/>
              </a:rPr>
              <a:t>失败 同</a:t>
            </a:r>
            <a:r>
              <a:rPr lang="en-US" altLang="zh-CN" sz="1600" dirty="0">
                <a:latin typeface="宋体" panose="02010600030101010101" pitchFamily="2" charset="-122"/>
              </a:rPr>
              <a:t>fread</a:t>
            </a:r>
            <a:endParaRPr lang="en-US" altLang="zh-CN" sz="1600" dirty="0">
              <a:latin typeface="宋体" panose="02010600030101010101" pitchFamily="2" charset="-122"/>
            </a:endParaRPr>
          </a:p>
          <a:p>
            <a:pPr marL="457200" lvl="1" indent="0">
              <a:spcBef>
                <a:spcPts val="275"/>
              </a:spcBef>
              <a:spcAft>
                <a:spcPts val="275"/>
              </a:spcAft>
            </a:pPr>
            <a:endParaRPr lang="zh-CN" altLang="en-US" sz="1600" dirty="0">
              <a:latin typeface="宋体" panose="02010600030101010101" pitchFamily="2" charset="-122"/>
            </a:endParaRPr>
          </a:p>
          <a:p>
            <a:pPr marL="457200" lvl="1" indent="0">
              <a:spcBef>
                <a:spcPts val="275"/>
              </a:spcBef>
              <a:spcAft>
                <a:spcPts val="275"/>
              </a:spcAft>
            </a:pPr>
            <a:endParaRPr lang="zh-CN" altLang="en-US" sz="1600" dirty="0">
              <a:latin typeface="宋体" panose="02010600030101010101" pitchFamily="2" charset="-122"/>
            </a:endParaRPr>
          </a:p>
          <a:p>
            <a:pPr marL="457200" lvl="1" indent="0">
              <a:spcBef>
                <a:spcPts val="275"/>
              </a:spcBef>
              <a:spcAft>
                <a:spcPts val="275"/>
              </a:spcAft>
            </a:pPr>
            <a:endParaRPr lang="zh-CN" altLang="en-US" sz="16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p:txBody>
      </p:sp>
      <p:sp>
        <p:nvSpPr>
          <p:cNvPr id="2253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fwrite</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文本占位符 1"/>
          <p:cNvSpPr>
            <a:spLocks noGrp="1"/>
          </p:cNvSpPr>
          <p:nvPr>
            <p:ph sz="quarter"/>
          </p:nvPr>
        </p:nvSpPr>
        <p:spPr>
          <a:xfrm>
            <a:off x="612775" y="933450"/>
            <a:ext cx="7991475" cy="3725863"/>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marL="0" lvl="0" indent="0" fontAlgn="base">
              <a:spcBef>
                <a:spcPts val="275"/>
              </a:spcBef>
              <a:spcAft>
                <a:spcPts val="275"/>
              </a:spcAft>
            </a:pPr>
            <a:r>
              <a:rPr lang="en-US" altLang="zh-CN" sz="1800" strike="noStrike" noProof="1" dirty="0">
                <a:latin typeface="宋体" panose="02010600030101010101" pitchFamily="2" charset="-122"/>
              </a:rPr>
              <a:t>int fgetc(FILE *stream);</a:t>
            </a:r>
            <a:endParaRPr lang="zh-CN" altLang="en-US" sz="1800" strike="noStrike" noProof="1" dirty="0">
              <a:latin typeface="宋体" panose="02010600030101010101" pitchFamily="2" charset="-122"/>
            </a:endParaRPr>
          </a:p>
          <a:p>
            <a:pPr marL="0" lvl="0" indent="0" fontAlgn="base">
              <a:spcBef>
                <a:spcPts val="275"/>
              </a:spcBef>
              <a:spcAft>
                <a:spcPts val="275"/>
              </a:spcAft>
            </a:pPr>
            <a:r>
              <a:rPr lang="en-US" altLang="zh-CN" sz="1800" strike="noStrike" noProof="1" dirty="0">
                <a:latin typeface="宋体" panose="02010600030101010101" pitchFamily="2" charset="-122"/>
              </a:rPr>
              <a:t>int getc(FILE *stream);</a:t>
            </a:r>
            <a:endParaRPr lang="zh-CN" altLang="en-US" sz="1800" strike="noStrike" noProof="1" dirty="0">
              <a:latin typeface="宋体" panose="02010600030101010101" pitchFamily="2" charset="-122"/>
            </a:endParaRPr>
          </a:p>
          <a:p>
            <a:pPr marL="0" lvl="0" indent="0" fontAlgn="base">
              <a:spcBef>
                <a:spcPts val="275"/>
              </a:spcBef>
              <a:spcAft>
                <a:spcPts val="275"/>
              </a:spcAft>
            </a:pPr>
            <a:r>
              <a:rPr lang="en-US" altLang="zh-CN" sz="1800" strike="noStrike" noProof="1" dirty="0">
                <a:latin typeface="宋体" panose="02010600030101010101" pitchFamily="2" charset="-122"/>
              </a:rPr>
              <a:t>int getchar(void);</a:t>
            </a:r>
            <a:endParaRPr lang="zh-CN" altLang="en-US" sz="1800" strike="noStrike" noProof="1" dirty="0">
              <a:latin typeface="宋体" panose="02010600030101010101" pitchFamily="2" charset="-122"/>
            </a:endParaRPr>
          </a:p>
          <a:p>
            <a:pPr marL="0" lvl="0" indent="0" fontAlgn="base">
              <a:spcBef>
                <a:spcPts val="275"/>
              </a:spcBef>
              <a:spcAft>
                <a:spcPts val="275"/>
              </a:spcAft>
              <a:buNone/>
            </a:pPr>
            <a:r>
              <a:rPr lang="en-US" altLang="zh-CN" sz="1800" strike="noStrike" noProof="1" dirty="0">
                <a:latin typeface="宋体" panose="02010600030101010101" pitchFamily="2" charset="-122"/>
              </a:rPr>
              <a:t>     fgetc</a:t>
            </a:r>
            <a:r>
              <a:rPr lang="zh-CN" altLang="en-US" sz="1800" strike="noStrike" noProof="1" dirty="0">
                <a:latin typeface="宋体" panose="02010600030101010101" pitchFamily="2" charset="-122"/>
              </a:rPr>
              <a:t>和</a:t>
            </a:r>
            <a:r>
              <a:rPr lang="en-US" altLang="zh-CN" sz="1800" strike="noStrike" noProof="1" dirty="0">
                <a:latin typeface="宋体" panose="02010600030101010101" pitchFamily="2" charset="-122"/>
              </a:rPr>
              <a:t>getc</a:t>
            </a:r>
            <a:r>
              <a:rPr lang="zh-CN" altLang="en-US" sz="1800" strike="noStrike" noProof="1" dirty="0">
                <a:latin typeface="宋体" panose="02010600030101010101" pitchFamily="2" charset="-122"/>
              </a:rPr>
              <a:t>从</a:t>
            </a:r>
            <a:r>
              <a:rPr lang="en-US" altLang="zh-CN" sz="1800" strike="noStrike" noProof="1" dirty="0">
                <a:latin typeface="宋体" panose="02010600030101010101" pitchFamily="2" charset="-122"/>
              </a:rPr>
              <a:t>stream</a:t>
            </a:r>
            <a:r>
              <a:rPr lang="zh-CN" altLang="en-US" sz="1800" strike="noStrike" noProof="1" dirty="0">
                <a:latin typeface="宋体" panose="02010600030101010101" pitchFamily="2" charset="-122"/>
              </a:rPr>
              <a:t>中读取一个字符，</a:t>
            </a:r>
            <a:r>
              <a:rPr lang="en-US" altLang="zh-CN" sz="1800" strike="noStrike" noProof="1" dirty="0">
                <a:latin typeface="宋体" panose="02010600030101010101" pitchFamily="2" charset="-122"/>
              </a:rPr>
              <a:t>getchar</a:t>
            </a:r>
            <a:r>
              <a:rPr lang="zh-CN" altLang="en-US" sz="1800" strike="noStrike" noProof="1" dirty="0">
                <a:latin typeface="宋体" panose="02010600030101010101" pitchFamily="2" charset="-122"/>
              </a:rPr>
              <a:t>从</a:t>
            </a:r>
            <a:r>
              <a:rPr lang="en-US" altLang="zh-CN" sz="1800" strike="noStrike" noProof="1" dirty="0">
                <a:latin typeface="宋体" panose="02010600030101010101" pitchFamily="2" charset="-122"/>
              </a:rPr>
              <a:t>stdin</a:t>
            </a:r>
            <a:r>
              <a:rPr lang="zh-CN" altLang="en-US" sz="1800" strike="noStrike" noProof="1" dirty="0">
                <a:latin typeface="宋体" panose="02010600030101010101" pitchFamily="2" charset="-122"/>
              </a:rPr>
              <a:t>中读取一个字符</a:t>
            </a:r>
            <a:endParaRPr lang="en-US" altLang="zh-CN" sz="1800" strike="noStrike" noProof="1" dirty="0">
              <a:latin typeface="宋体" panose="02010600030101010101" pitchFamily="2" charset="-122"/>
            </a:endParaRPr>
          </a:p>
          <a:p>
            <a:pPr marL="0" lvl="0" indent="0" fontAlgn="base">
              <a:spcBef>
                <a:spcPts val="275"/>
              </a:spcBef>
              <a:spcAft>
                <a:spcPts val="275"/>
              </a:spcAft>
              <a:buNone/>
            </a:pPr>
            <a:endParaRPr lang="zh-CN" altLang="en-US" sz="1800" strike="noStrike" noProof="1" dirty="0">
              <a:latin typeface="宋体" panose="02010600030101010101" pitchFamily="2" charset="-122"/>
            </a:endParaRPr>
          </a:p>
          <a:p>
            <a:pPr marL="0" lvl="0" indent="0" fontAlgn="base">
              <a:spcBef>
                <a:spcPts val="275"/>
              </a:spcBef>
              <a:spcAft>
                <a:spcPts val="275"/>
              </a:spcAft>
            </a:pPr>
            <a:r>
              <a:rPr lang="en-US" altLang="zh-CN" sz="1800" strike="noStrike" noProof="1" dirty="0">
                <a:latin typeface="宋体" panose="02010600030101010101" pitchFamily="2" charset="-122"/>
              </a:rPr>
              <a:t>int fputc(int c, FILE *stream);</a:t>
            </a:r>
            <a:endParaRPr lang="zh-CN" altLang="en-US" sz="1800" strike="noStrike" noProof="1" dirty="0">
              <a:latin typeface="宋体" panose="02010600030101010101" pitchFamily="2" charset="-122"/>
            </a:endParaRPr>
          </a:p>
          <a:p>
            <a:pPr marL="0" lvl="0" indent="0" fontAlgn="base">
              <a:spcBef>
                <a:spcPts val="275"/>
              </a:spcBef>
              <a:spcAft>
                <a:spcPts val="275"/>
              </a:spcAft>
            </a:pPr>
            <a:r>
              <a:rPr lang="en-US" altLang="zh-CN" sz="1800" strike="noStrike" noProof="1" dirty="0">
                <a:latin typeface="宋体" panose="02010600030101010101" pitchFamily="2" charset="-122"/>
              </a:rPr>
              <a:t>int putc(int c, FILE *stream);</a:t>
            </a:r>
            <a:endParaRPr lang="zh-CN" altLang="en-US" sz="1800" strike="noStrike" noProof="1" dirty="0">
              <a:latin typeface="宋体" panose="02010600030101010101" pitchFamily="2" charset="-122"/>
            </a:endParaRPr>
          </a:p>
          <a:p>
            <a:pPr marL="0" lvl="0" indent="0" fontAlgn="base">
              <a:spcBef>
                <a:spcPts val="275"/>
              </a:spcBef>
              <a:spcAft>
                <a:spcPts val="275"/>
              </a:spcAft>
            </a:pPr>
            <a:r>
              <a:rPr lang="en-US" altLang="zh-CN" sz="1800" strike="noStrike" noProof="1" dirty="0">
                <a:latin typeface="宋体" panose="02010600030101010101" pitchFamily="2" charset="-122"/>
              </a:rPr>
              <a:t>int putchar(int c);</a:t>
            </a:r>
            <a:endParaRPr lang="zh-CN" altLang="en-US" sz="1800" strike="noStrike" noProof="1" dirty="0">
              <a:latin typeface="宋体" panose="02010600030101010101" pitchFamily="2" charset="-122"/>
            </a:endParaRPr>
          </a:p>
          <a:p>
            <a:pPr marL="0" lvl="0" indent="0" fontAlgn="base">
              <a:spcBef>
                <a:spcPts val="275"/>
              </a:spcBef>
              <a:spcAft>
                <a:spcPts val="275"/>
              </a:spcAft>
              <a:buNone/>
            </a:pPr>
            <a:r>
              <a:rPr lang="en-US" altLang="zh-CN" sz="1800" strike="noStrike" noProof="1" dirty="0">
                <a:latin typeface="宋体" panose="02010600030101010101" pitchFamily="2" charset="-122"/>
              </a:rPr>
              <a:t>     fputc</a:t>
            </a:r>
            <a:r>
              <a:rPr lang="zh-CN" altLang="en-US" sz="1800" strike="noStrike" noProof="1" dirty="0">
                <a:latin typeface="宋体" panose="02010600030101010101" pitchFamily="2" charset="-122"/>
              </a:rPr>
              <a:t>和</a:t>
            </a:r>
            <a:r>
              <a:rPr lang="en-US" altLang="zh-CN" sz="1800" strike="noStrike" noProof="1" dirty="0">
                <a:latin typeface="宋体" panose="02010600030101010101" pitchFamily="2" charset="-122"/>
              </a:rPr>
              <a:t>putc</a:t>
            </a:r>
            <a:r>
              <a:rPr lang="zh-CN" altLang="en-US" sz="1800" strike="noStrike" noProof="1" dirty="0">
                <a:latin typeface="宋体" panose="02010600030101010101" pitchFamily="2" charset="-122"/>
              </a:rPr>
              <a:t>向</a:t>
            </a:r>
            <a:r>
              <a:rPr lang="en-US" altLang="zh-CN" sz="1800" strike="noStrike" noProof="1" dirty="0">
                <a:latin typeface="宋体" panose="02010600030101010101" pitchFamily="2" charset="-122"/>
              </a:rPr>
              <a:t>stream</a:t>
            </a:r>
            <a:r>
              <a:rPr lang="zh-CN" altLang="en-US" sz="1800" strike="noStrike" noProof="1" dirty="0">
                <a:latin typeface="宋体" panose="02010600030101010101" pitchFamily="2" charset="-122"/>
              </a:rPr>
              <a:t>输出一个字符，</a:t>
            </a:r>
            <a:r>
              <a:rPr lang="en-US" altLang="zh-CN" sz="1800" strike="noStrike" noProof="1" dirty="0">
                <a:latin typeface="宋体" panose="02010600030101010101" pitchFamily="2" charset="-122"/>
              </a:rPr>
              <a:t>putchar</a:t>
            </a:r>
            <a:r>
              <a:rPr lang="zh-CN" altLang="en-US" sz="1800" strike="noStrike" noProof="1" dirty="0">
                <a:latin typeface="宋体" panose="02010600030101010101" pitchFamily="2" charset="-122"/>
              </a:rPr>
              <a:t>向</a:t>
            </a:r>
            <a:r>
              <a:rPr lang="en-US" altLang="zh-CN" sz="1800" strike="noStrike" noProof="1" dirty="0">
                <a:latin typeface="宋体" panose="02010600030101010101" pitchFamily="2" charset="-122"/>
              </a:rPr>
              <a:t>stdout</a:t>
            </a:r>
            <a:r>
              <a:rPr lang="zh-CN" altLang="en-US" sz="1800" strike="noStrike" noProof="1" dirty="0">
                <a:latin typeface="宋体" panose="02010600030101010101" pitchFamily="2" charset="-122"/>
              </a:rPr>
              <a:t>输出一个字符</a:t>
            </a:r>
            <a:endParaRPr lang="zh-CN" altLang="en-US" sz="1800" strike="noStrike" noProof="1" dirty="0">
              <a:latin typeface="宋体" panose="02010600030101010101" pitchFamily="2" charset="-122"/>
            </a:endParaRPr>
          </a:p>
          <a:p>
            <a:pPr marL="0" lvl="0" indent="0" fontAlgn="base">
              <a:spcBef>
                <a:spcPts val="275"/>
              </a:spcBef>
              <a:spcAft>
                <a:spcPts val="275"/>
              </a:spcAft>
              <a:buNone/>
            </a:pPr>
            <a:endParaRPr lang="zh-CN" altLang="en-US" sz="1800" strike="noStrike" noProof="1" dirty="0">
              <a:latin typeface="宋体" panose="02010600030101010101" pitchFamily="2" charset="-122"/>
            </a:endParaRPr>
          </a:p>
          <a:p>
            <a:pPr lvl="0" indent="-342900" fontAlgn="base">
              <a:spcBef>
                <a:spcPts val="275"/>
              </a:spcBef>
              <a:spcAft>
                <a:spcPts val="275"/>
              </a:spcAft>
            </a:pPr>
            <a:endParaRPr lang="zh-CN" altLang="en-US" sz="1800" strike="noStrike" noProof="1" dirty="0">
              <a:latin typeface="宋体" panose="02010600030101010101" pitchFamily="2" charset="-122"/>
            </a:endParaRPr>
          </a:p>
          <a:p>
            <a:pPr marL="0" lvl="0" indent="0" fontAlgn="base">
              <a:spcBef>
                <a:spcPts val="275"/>
              </a:spcBef>
              <a:spcAft>
                <a:spcPts val="275"/>
              </a:spcAft>
              <a:buNone/>
            </a:pPr>
            <a:endParaRPr lang="en-US" altLang="zh-CN" sz="1800" strike="noStrike" noProof="1" dirty="0">
              <a:latin typeface="宋体" panose="02010600030101010101" pitchFamily="2" charset="-122"/>
            </a:endParaRPr>
          </a:p>
          <a:p>
            <a:pPr marL="0" lvl="0" indent="0" fontAlgn="base">
              <a:spcBef>
                <a:spcPts val="275"/>
              </a:spcBef>
              <a:spcAft>
                <a:spcPts val="275"/>
              </a:spcAft>
              <a:buNone/>
            </a:pPr>
            <a:endParaRPr lang="zh-CN" altLang="en-US" sz="1800" strike="noStrike" noProof="1" dirty="0">
              <a:latin typeface="宋体" panose="02010600030101010101" pitchFamily="2" charset="-122"/>
            </a:endParaRPr>
          </a:p>
          <a:p>
            <a:pPr marL="0" lvl="0" indent="0" fontAlgn="base">
              <a:spcBef>
                <a:spcPts val="275"/>
              </a:spcBef>
              <a:spcAft>
                <a:spcPts val="275"/>
              </a:spcAft>
              <a:buNone/>
            </a:pPr>
            <a:endParaRPr lang="zh-CN" altLang="en-US" sz="1800" strike="noStrike" noProof="1" dirty="0">
              <a:latin typeface="宋体" panose="02010600030101010101" pitchFamily="2" charset="-122"/>
            </a:endParaRPr>
          </a:p>
          <a:p>
            <a:pPr marL="0" lvl="0" indent="0" fontAlgn="base">
              <a:spcBef>
                <a:spcPts val="275"/>
              </a:spcBef>
              <a:spcAft>
                <a:spcPts val="275"/>
              </a:spcAft>
            </a:pPr>
            <a:endParaRPr lang="zh-CN" altLang="en-US" sz="1800" strike="noStrike" noProof="1" dirty="0">
              <a:latin typeface="宋体" panose="02010600030101010101" pitchFamily="2" charset="-122"/>
            </a:endParaRPr>
          </a:p>
        </p:txBody>
      </p:sp>
      <p:sp>
        <p:nvSpPr>
          <p:cNvPr id="2355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fgetc  fputc</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文本占位符 1"/>
          <p:cNvSpPr>
            <a:spLocks noGrp="1"/>
          </p:cNvSpPr>
          <p:nvPr>
            <p:ph sz="quarter"/>
          </p:nvPr>
        </p:nvSpPr>
        <p:spPr>
          <a:xfrm>
            <a:off x="611188"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en-US" altLang="zh-CN" sz="1800" dirty="0">
                <a:latin typeface="宋体" panose="02010600030101010101" pitchFamily="2" charset="-122"/>
              </a:rPr>
              <a:t>char *gets(char *s);</a:t>
            </a:r>
            <a:endParaRPr lang="zh-CN" altLang="en-US" sz="1800" dirty="0">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rPr>
              <a:t>char *fgets(char *s, int size, FILE *stream);</a:t>
            </a:r>
            <a:endParaRPr lang="en-US" altLang="zh-CN" sz="1800" dirty="0">
              <a:latin typeface="宋体" panose="02010600030101010101" pitchFamily="2" charset="-122"/>
            </a:endParaRPr>
          </a:p>
          <a:p>
            <a:pPr lvl="0" indent="-342900">
              <a:spcBef>
                <a:spcPct val="0"/>
              </a:spcBef>
            </a:pPr>
            <a:r>
              <a:rPr lang="zh-CN" altLang="en-US" sz="1800"/>
              <a:t>两个函数返回：若成功则为</a:t>
            </a:r>
            <a:r>
              <a:rPr lang="en-US" altLang="zh-CN" sz="1800"/>
              <a:t>buf</a:t>
            </a:r>
            <a:r>
              <a:rPr lang="zh-CN" altLang="en-US" sz="1800"/>
              <a:t>，若已处文件尾端或出错则为</a:t>
            </a:r>
            <a:r>
              <a:rPr lang="en-US" altLang="zh-CN" sz="1800"/>
              <a:t>null</a:t>
            </a:r>
            <a:endParaRPr lang="en-US" altLang="zh-CN" sz="1800" u="none"/>
          </a:p>
          <a:p>
            <a:pPr lvl="0" indent="-342900">
              <a:spcBef>
                <a:spcPct val="0"/>
              </a:spcBef>
            </a:pPr>
            <a:r>
              <a:rPr lang="zh-CN" altLang="en-US" sz="1800"/>
              <a:t>这两个函数都指定了缓存地址，读入的行将送入其中。</a:t>
            </a:r>
            <a:r>
              <a:rPr lang="en-US" altLang="zh-CN" sz="1800"/>
              <a:t>gets()</a:t>
            </a:r>
            <a:r>
              <a:rPr lang="zh-CN" altLang="en-US" sz="1800"/>
              <a:t>从标准输入读，而</a:t>
            </a:r>
            <a:r>
              <a:rPr lang="en-US" altLang="zh-CN" sz="1800"/>
              <a:t>fgets()</a:t>
            </a:r>
            <a:r>
              <a:rPr lang="zh-CN" altLang="en-US" sz="1800"/>
              <a:t>则从指定的流读。</a:t>
            </a:r>
            <a:endParaRPr lang="zh-CN" altLang="en-US" sz="1800" u="none"/>
          </a:p>
          <a:p>
            <a:pPr lvl="0" indent="-342900">
              <a:spcBef>
                <a:spcPct val="0"/>
              </a:spcBef>
            </a:pPr>
            <a:r>
              <a:rPr lang="zh-CN" altLang="en-US" sz="1800"/>
              <a:t>对于</a:t>
            </a:r>
            <a:r>
              <a:rPr lang="en-US" altLang="zh-CN" sz="1800"/>
              <a:t>fgets()</a:t>
            </a:r>
            <a:r>
              <a:rPr lang="zh-CN" altLang="en-US" sz="1800"/>
              <a:t>，必须指定缓存的长度</a:t>
            </a:r>
            <a:r>
              <a:rPr lang="en-US" altLang="zh-CN" sz="1800"/>
              <a:t>n</a:t>
            </a:r>
            <a:r>
              <a:rPr lang="zh-CN" altLang="en-US" sz="1800"/>
              <a:t>。此函数一直读到下一个新行符为止，但是不超过</a:t>
            </a:r>
            <a:r>
              <a:rPr lang="en-US" altLang="zh-CN" sz="1800"/>
              <a:t>n-1</a:t>
            </a:r>
            <a:r>
              <a:rPr lang="zh-CN" altLang="en-US" sz="1800"/>
              <a:t>个字符，读入的字符被送入缓存。该缓存以</a:t>
            </a:r>
            <a:r>
              <a:rPr lang="en-US" altLang="zh-CN" sz="1800"/>
              <a:t>null</a:t>
            </a:r>
            <a:r>
              <a:rPr lang="zh-CN" altLang="en-US" sz="1800"/>
              <a:t>字符结尾。如若该行，包括最后一个新行符的字符数超过</a:t>
            </a:r>
            <a:r>
              <a:rPr lang="en-US" altLang="zh-CN" sz="1800"/>
              <a:t>n-1</a:t>
            </a:r>
            <a:r>
              <a:rPr lang="zh-CN" altLang="en-US" sz="1800"/>
              <a:t>，则只返回一个不完整的行，而且缓存总是以</a:t>
            </a:r>
            <a:r>
              <a:rPr lang="en-US" altLang="zh-CN" sz="1800"/>
              <a:t>null</a:t>
            </a:r>
            <a:r>
              <a:rPr lang="zh-CN" altLang="en-US" sz="1800"/>
              <a:t>字符结尾。对</a:t>
            </a:r>
            <a:r>
              <a:rPr lang="en-US" altLang="zh-CN" sz="1800"/>
              <a:t>fgets()</a:t>
            </a:r>
            <a:r>
              <a:rPr lang="zh-CN" altLang="en-US" sz="1800"/>
              <a:t>的下一次调用会继续读该行。</a:t>
            </a:r>
            <a:endParaRPr lang="zh-CN" altLang="en-US" sz="1800" dirty="0">
              <a:latin typeface="宋体" panose="02010600030101010101" pitchFamily="2" charset="-122"/>
            </a:endParaRPr>
          </a:p>
          <a:p>
            <a:pPr lvl="0" indent="-342900">
              <a:spcBef>
                <a:spcPts val="275"/>
              </a:spcBef>
              <a:spcAft>
                <a:spcPts val="275"/>
              </a:spcAft>
            </a:pPr>
            <a:r>
              <a:rPr lang="en-US" altLang="zh-CN" sz="1800" dirty="0">
                <a:solidFill>
                  <a:srgbClr val="FF0000"/>
                </a:solidFill>
                <a:latin typeface="宋体" panose="02010600030101010101" pitchFamily="2" charset="-122"/>
              </a:rPr>
              <a:t>gets()</a:t>
            </a:r>
            <a:r>
              <a:rPr lang="zh-CN" altLang="en-US" sz="1800" dirty="0">
                <a:solidFill>
                  <a:srgbClr val="FF0000"/>
                </a:solidFill>
                <a:latin typeface="宋体" panose="02010600030101010101" pitchFamily="2" charset="-122"/>
              </a:rPr>
              <a:t>是一个不推荐使用的函数，因为调用者在使用</a:t>
            </a:r>
            <a:r>
              <a:rPr lang="en-US" altLang="zh-CN" sz="1800" dirty="0">
                <a:solidFill>
                  <a:srgbClr val="FF0000"/>
                </a:solidFill>
                <a:latin typeface="宋体" panose="02010600030101010101" pitchFamily="2" charset="-122"/>
              </a:rPr>
              <a:t>gets()</a:t>
            </a:r>
            <a:r>
              <a:rPr lang="zh-CN" altLang="en-US" sz="1800" dirty="0">
                <a:solidFill>
                  <a:srgbClr val="FF0000"/>
                </a:solidFill>
                <a:latin typeface="宋体" panose="02010600030101010101" pitchFamily="2" charset="-122"/>
              </a:rPr>
              <a:t>时不能指定缓存的长度，这样就可能造成缓存越界（如若该行长于缓存长度），写到缓存之后的存储空间中，从而产生不可预料的后果。</a:t>
            </a:r>
            <a:endParaRPr lang="zh-CN" altLang="en-US" sz="1800" dirty="0">
              <a:solidFill>
                <a:srgbClr val="FF0000"/>
              </a:solidFill>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rPr>
              <a:t>gets()</a:t>
            </a:r>
            <a:r>
              <a:rPr lang="zh-CN" altLang="en-US" sz="1800" dirty="0">
                <a:latin typeface="宋体" panose="02010600030101010101" pitchFamily="2" charset="-122"/>
              </a:rPr>
              <a:t>与</a:t>
            </a:r>
            <a:r>
              <a:rPr lang="en-US" altLang="zh-CN" sz="1800" dirty="0">
                <a:latin typeface="宋体" panose="02010600030101010101" pitchFamily="2" charset="-122"/>
              </a:rPr>
              <a:t>fgets()</a:t>
            </a:r>
            <a:r>
              <a:rPr lang="zh-CN" altLang="en-US" sz="1800" dirty="0">
                <a:latin typeface="宋体" panose="02010600030101010101" pitchFamily="2" charset="-122"/>
              </a:rPr>
              <a:t>的另一个区别是，</a:t>
            </a:r>
            <a:r>
              <a:rPr lang="en-US" altLang="zh-CN" sz="1800" dirty="0">
                <a:latin typeface="宋体" panose="02010600030101010101" pitchFamily="2" charset="-122"/>
              </a:rPr>
              <a:t>gets()</a:t>
            </a:r>
            <a:r>
              <a:rPr lang="zh-CN" altLang="en-US" sz="1800" dirty="0">
                <a:latin typeface="宋体" panose="02010600030101010101" pitchFamily="2" charset="-122"/>
              </a:rPr>
              <a:t>并不将新行符存入缓存中</a:t>
            </a:r>
            <a:endParaRPr lang="en-US" altLang="zh-CN"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p:txBody>
      </p:sp>
      <p:sp>
        <p:nvSpPr>
          <p:cNvPr id="2457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gets  fgets</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en-US" altLang="zh-CN" sz="1800" dirty="0">
                <a:latin typeface="宋体" panose="02010600030101010101" pitchFamily="2" charset="-122"/>
                <a:sym typeface="宋体" panose="02010600030101010101" pitchFamily="2" charset="-122"/>
              </a:rPr>
              <a:t>int puts(const char *s);</a:t>
            </a:r>
            <a:endParaRPr lang="zh-CN" altLang="en-US" sz="1800" dirty="0">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sym typeface="宋体" panose="02010600030101010101" pitchFamily="2" charset="-122"/>
              </a:rPr>
              <a:t>int fputs(const char *s, FILE *stream);</a:t>
            </a:r>
            <a:endParaRPr lang="en-US" altLang="zh-CN" sz="1800" dirty="0">
              <a:latin typeface="宋体" panose="02010600030101010101" pitchFamily="2" charset="-122"/>
              <a:sym typeface="宋体" panose="02010600030101010101" pitchFamily="2" charset="-122"/>
            </a:endParaRPr>
          </a:p>
          <a:p>
            <a:pPr lvl="0" indent="-342900">
              <a:spcBef>
                <a:spcPts val="275"/>
              </a:spcBef>
              <a:spcAft>
                <a:spcPts val="275"/>
              </a:spcAft>
            </a:pPr>
            <a:endParaRPr lang="en-US" altLang="zh-CN" sz="1800" dirty="0">
              <a:latin typeface="宋体" panose="02010600030101010101" pitchFamily="2" charset="-122"/>
              <a:sym typeface="宋体" panose="02010600030101010101" pitchFamily="2" charset="-122"/>
            </a:endParaRPr>
          </a:p>
          <a:p>
            <a:pPr lvl="0" indent="-342900">
              <a:spcBef>
                <a:spcPts val="275"/>
              </a:spcBef>
              <a:spcAft>
                <a:spcPts val="275"/>
              </a:spcAft>
            </a:pPr>
            <a:r>
              <a:rPr lang="zh-CN" altLang="en-US" sz="1600"/>
              <a:t>两个函数返回：若成功则为非负值，若出错则为</a:t>
            </a:r>
            <a:r>
              <a:rPr lang="en-US" altLang="zh-CN" sz="1600"/>
              <a:t>EOF</a:t>
            </a:r>
            <a:endParaRPr lang="en-US" altLang="zh-CN" sz="1600" u="none"/>
          </a:p>
          <a:p>
            <a:pPr lvl="0" indent="-342900">
              <a:spcBef>
                <a:spcPct val="0"/>
              </a:spcBef>
            </a:pPr>
            <a:r>
              <a:rPr lang="zh-CN" altLang="en-US" sz="1600"/>
              <a:t>函数</a:t>
            </a:r>
            <a:r>
              <a:rPr lang="en-US" altLang="zh-CN" sz="1600"/>
              <a:t>fputs()</a:t>
            </a:r>
            <a:r>
              <a:rPr lang="zh-CN" altLang="en-US" sz="1600"/>
              <a:t>将一个以</a:t>
            </a:r>
            <a:r>
              <a:rPr lang="en-US" altLang="zh-CN" sz="1600"/>
              <a:t>null</a:t>
            </a:r>
            <a:r>
              <a:rPr lang="zh-CN" altLang="en-US" sz="1600"/>
              <a:t>符终止的字符串写到指定的流，终止符</a:t>
            </a:r>
            <a:r>
              <a:rPr lang="en-US" altLang="zh-CN" sz="1600"/>
              <a:t>null</a:t>
            </a:r>
            <a:r>
              <a:rPr lang="zh-CN" altLang="en-US" sz="1600"/>
              <a:t>不写出。注意，这并不一定是每次输出一行，因为它并不要求在</a:t>
            </a:r>
            <a:r>
              <a:rPr lang="en-US" altLang="zh-CN" sz="1600"/>
              <a:t>null</a:t>
            </a:r>
            <a:r>
              <a:rPr lang="zh-CN" altLang="en-US" sz="1600"/>
              <a:t>符之前一定是新行符。通常，在</a:t>
            </a:r>
            <a:r>
              <a:rPr lang="en-US" altLang="zh-CN" sz="1600"/>
              <a:t>null</a:t>
            </a:r>
            <a:r>
              <a:rPr lang="zh-CN" altLang="en-US" sz="1600"/>
              <a:t>符之前是一个新行符，但并不要求总是如此。</a:t>
            </a:r>
            <a:endParaRPr lang="zh-CN" altLang="en-US" sz="1600" u="none"/>
          </a:p>
          <a:p>
            <a:pPr lvl="0" indent="-342900">
              <a:spcBef>
                <a:spcPct val="0"/>
              </a:spcBef>
            </a:pPr>
            <a:r>
              <a:rPr lang="en-US" altLang="zh-CN" sz="1600"/>
              <a:t>puts()</a:t>
            </a:r>
            <a:r>
              <a:rPr lang="zh-CN" altLang="en-US" sz="1600"/>
              <a:t>将一个以</a:t>
            </a:r>
            <a:r>
              <a:rPr lang="en-US" altLang="zh-CN" sz="1600"/>
              <a:t>null</a:t>
            </a:r>
            <a:r>
              <a:rPr lang="zh-CN" altLang="en-US" sz="1600"/>
              <a:t>符终止的字符串写到标准输出，终止符不写出。但是，</a:t>
            </a:r>
            <a:r>
              <a:rPr lang="en-US" altLang="zh-CN" sz="1600"/>
              <a:t>puts()</a:t>
            </a:r>
            <a:r>
              <a:rPr lang="zh-CN" altLang="en-US" sz="1600"/>
              <a:t>然后又将一个新行符写到标准输出。</a:t>
            </a:r>
            <a:endParaRPr lang="zh-CN" altLang="en-US" sz="1600" u="none"/>
          </a:p>
          <a:p>
            <a:pPr lvl="0" indent="-342900">
              <a:spcBef>
                <a:spcPct val="0"/>
              </a:spcBef>
            </a:pPr>
            <a:r>
              <a:rPr lang="en-US" altLang="zh-CN" sz="1600"/>
              <a:t>puts()</a:t>
            </a:r>
            <a:r>
              <a:rPr lang="zh-CN" altLang="en-US" sz="1600"/>
              <a:t>并不像它所对应的</a:t>
            </a:r>
            <a:r>
              <a:rPr lang="en-US" altLang="zh-CN" sz="1600"/>
              <a:t>gets()</a:t>
            </a:r>
            <a:r>
              <a:rPr lang="zh-CN" altLang="en-US" sz="1600"/>
              <a:t>那样不安全。但是我们还是应避免使用它，以免需要记住它在最后又加上了一个新行符。如果总是使用</a:t>
            </a:r>
            <a:r>
              <a:rPr lang="en-US" altLang="zh-CN" sz="1600"/>
              <a:t>fgets()</a:t>
            </a:r>
            <a:r>
              <a:rPr lang="zh-CN" altLang="en-US" sz="1600"/>
              <a:t>和</a:t>
            </a:r>
            <a:r>
              <a:rPr lang="en-US" altLang="zh-CN" sz="1600"/>
              <a:t>fputs(),</a:t>
            </a:r>
            <a:r>
              <a:rPr lang="zh-CN" altLang="en-US" sz="1600"/>
              <a:t>那么就会熟知在每行终止处我们必须自己加一个新行符。</a:t>
            </a:r>
            <a:endParaRPr lang="en-US" altLang="zh-CN" sz="1800" dirty="0">
              <a:latin typeface="宋体" panose="02010600030101010101" pitchFamily="2" charset="-122"/>
            </a:endParaRPr>
          </a:p>
        </p:txBody>
      </p:sp>
      <p:sp>
        <p:nvSpPr>
          <p:cNvPr id="2560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puts fputs</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en-US" altLang="zh-CN" sz="1800" dirty="0">
                <a:latin typeface="宋体" panose="02010600030101010101" pitchFamily="2" charset="-122"/>
              </a:rPr>
              <a:t>int fseek(FILE *stream, long offset, int whence);</a:t>
            </a:r>
            <a:endParaRPr lang="zh-CN" altLang="en-US" sz="18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Stream</a:t>
            </a:r>
            <a:r>
              <a:rPr lang="zh-CN" altLang="en-US" sz="1600" dirty="0">
                <a:latin typeface="宋体" panose="02010600030101010101" pitchFamily="2" charset="-122"/>
              </a:rPr>
              <a:t>：要定位的流</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Offset</a:t>
            </a:r>
            <a:r>
              <a:rPr lang="zh-CN" altLang="en-US" sz="1600" dirty="0">
                <a:latin typeface="宋体" panose="02010600030101010101" pitchFamily="2" charset="-122"/>
              </a:rPr>
              <a:t>：相对于基准位置的偏移量</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Whence</a:t>
            </a:r>
            <a:r>
              <a:rPr lang="zh-CN" altLang="en-US" sz="1600" dirty="0">
                <a:latin typeface="宋体" panose="02010600030101010101" pitchFamily="2" charset="-122"/>
              </a:rPr>
              <a:t>：基准值</a:t>
            </a:r>
            <a:endParaRPr lang="en-US" altLang="zh-CN" sz="1600" dirty="0">
              <a:latin typeface="宋体" panose="02010600030101010101" pitchFamily="2" charset="-122"/>
            </a:endParaRPr>
          </a:p>
          <a:p>
            <a:pPr marL="457200" lvl="1" indent="0">
              <a:spcBef>
                <a:spcPts val="275"/>
              </a:spcBef>
              <a:spcAft>
                <a:spcPts val="275"/>
              </a:spcAft>
              <a:buNone/>
            </a:pPr>
            <a:r>
              <a:rPr lang="en-US" altLang="zh-CN" sz="1600" dirty="0">
                <a:latin typeface="宋体" panose="02010600030101010101" pitchFamily="2" charset="-122"/>
              </a:rPr>
              <a:t>	SEEK_SET </a:t>
            </a:r>
            <a:r>
              <a:rPr lang="zh-CN" altLang="en-US" sz="1600" dirty="0">
                <a:latin typeface="宋体" panose="02010600030101010101" pitchFamily="2" charset="-122"/>
              </a:rPr>
              <a:t>设置文件读写位置</a:t>
            </a:r>
            <a:r>
              <a:rPr lang="en-US" altLang="zh-CN" sz="1600" dirty="0">
                <a:latin typeface="宋体" panose="02010600030101010101" pitchFamily="2" charset="-122"/>
              </a:rPr>
              <a:t> </a:t>
            </a:r>
            <a:r>
              <a:rPr lang="zh-CN" altLang="en-US" sz="1600" dirty="0">
                <a:latin typeface="宋体" panose="02010600030101010101" pitchFamily="2" charset="-122"/>
              </a:rPr>
              <a:t>，</a:t>
            </a:r>
            <a:r>
              <a:rPr lang="en-US" altLang="zh-CN" sz="1600" dirty="0">
                <a:latin typeface="宋体" panose="02010600030101010101" pitchFamily="2" charset="-122"/>
              </a:rPr>
              <a:t>SEEK_END </a:t>
            </a:r>
            <a:r>
              <a:rPr lang="zh-CN" altLang="en-US" sz="1600" dirty="0">
                <a:latin typeface="宋体" panose="02010600030101010101" pitchFamily="2" charset="-122"/>
              </a:rPr>
              <a:t>文件的结束位置</a:t>
            </a:r>
            <a:endParaRPr lang="en-US" altLang="zh-CN" sz="1600" dirty="0">
              <a:latin typeface="宋体" panose="02010600030101010101" pitchFamily="2" charset="-122"/>
            </a:endParaRPr>
          </a:p>
          <a:p>
            <a:pPr marL="457200" lvl="1" indent="0">
              <a:spcBef>
                <a:spcPts val="275"/>
              </a:spcBef>
              <a:spcAft>
                <a:spcPts val="275"/>
              </a:spcAft>
              <a:buNone/>
            </a:pPr>
            <a:r>
              <a:rPr lang="en-US" altLang="zh-CN" sz="1600" dirty="0">
                <a:latin typeface="宋体" panose="02010600030101010101" pitchFamily="2" charset="-122"/>
              </a:rPr>
              <a:t>	SEEK_CUR </a:t>
            </a:r>
            <a:r>
              <a:rPr lang="zh-CN" altLang="en-US" sz="1600" dirty="0">
                <a:latin typeface="宋体" panose="02010600030101010101" pitchFamily="2" charset="-122"/>
              </a:rPr>
              <a:t>文件的当前位置</a:t>
            </a:r>
            <a:endParaRPr lang="en-US" altLang="zh-CN" sz="1600" dirty="0">
              <a:latin typeface="宋体" panose="02010600030101010101" pitchFamily="2" charset="-122"/>
            </a:endParaRPr>
          </a:p>
          <a:p>
            <a:pPr marL="457200" lvl="1" indent="0">
              <a:spcBef>
                <a:spcPts val="275"/>
              </a:spcBef>
              <a:spcAft>
                <a:spcPts val="275"/>
              </a:spcAft>
            </a:pPr>
            <a:r>
              <a:rPr lang="zh-CN" altLang="en-US" sz="1600" dirty="0">
                <a:latin typeface="宋体" panose="02010600030101010101" pitchFamily="2" charset="-122"/>
              </a:rPr>
              <a:t>返回值：</a:t>
            </a:r>
            <a:r>
              <a:rPr lang="en-US" altLang="zh-CN" sz="1600" dirty="0">
                <a:latin typeface="宋体" panose="02010600030101010101" pitchFamily="2" charset="-122"/>
              </a:rPr>
              <a:t>0  </a:t>
            </a:r>
            <a:r>
              <a:rPr lang="zh-CN" altLang="en-US" sz="1600" dirty="0">
                <a:latin typeface="宋体" panose="02010600030101010101" pitchFamily="2" charset="-122"/>
              </a:rPr>
              <a:t>成功</a:t>
            </a:r>
            <a:r>
              <a:rPr lang="en-US" altLang="zh-CN" sz="1600" dirty="0">
                <a:latin typeface="宋体" panose="02010600030101010101" pitchFamily="2" charset="-122"/>
              </a:rPr>
              <a:t>  -1 </a:t>
            </a:r>
            <a:r>
              <a:rPr lang="zh-CN" altLang="en-US" sz="1600" dirty="0">
                <a:latin typeface="宋体" panose="02010600030101010101" pitchFamily="2" charset="-122"/>
              </a:rPr>
              <a:t>失败</a:t>
            </a:r>
            <a:endParaRPr lang="en-US" altLang="zh-CN" sz="1600" dirty="0">
              <a:latin typeface="宋体" panose="02010600030101010101" pitchFamily="2" charset="-122"/>
            </a:endParaRPr>
          </a:p>
          <a:p>
            <a:pPr marL="457200" lvl="1" indent="0">
              <a:spcBef>
                <a:spcPts val="275"/>
              </a:spcBef>
              <a:spcAft>
                <a:spcPts val="275"/>
              </a:spcAft>
              <a:buChar char="•"/>
            </a:pPr>
            <a:r>
              <a:rPr lang="en-US" altLang="zh-CN" sz="1800" dirty="0">
                <a:latin typeface="宋体" panose="02010600030101010101" pitchFamily="2" charset="-122"/>
              </a:rPr>
              <a:t>long ftell(FILE *stream);</a:t>
            </a:r>
            <a:endParaRPr lang="zh-CN" altLang="en-US" sz="1800" dirty="0">
              <a:latin typeface="宋体" panose="02010600030101010101" pitchFamily="2" charset="-122"/>
            </a:endParaRPr>
          </a:p>
          <a:p>
            <a:pPr marL="457200" lvl="1" indent="0">
              <a:spcBef>
                <a:spcPts val="275"/>
              </a:spcBef>
              <a:spcAft>
                <a:spcPts val="275"/>
              </a:spcAft>
              <a:buNone/>
            </a:pPr>
            <a:r>
              <a:rPr lang="en-US" altLang="zh-CN" sz="1800" dirty="0">
                <a:latin typeface="宋体" panose="02010600030101010101" pitchFamily="2" charset="-122"/>
              </a:rPr>
              <a:t>	</a:t>
            </a:r>
            <a:r>
              <a:rPr lang="zh-CN" altLang="en-US" sz="1800" dirty="0">
                <a:latin typeface="宋体" panose="02010600030101010101" pitchFamily="2" charset="-122"/>
              </a:rPr>
              <a:t>获取文件当前读写位置</a:t>
            </a:r>
            <a:endParaRPr lang="zh-CN" altLang="en-US" sz="1800" dirty="0">
              <a:latin typeface="宋体" panose="02010600030101010101" pitchFamily="2" charset="-122"/>
            </a:endParaRPr>
          </a:p>
          <a:p>
            <a:pPr lvl="0" indent="-342900">
              <a:lnSpc>
                <a:spcPct val="150000"/>
              </a:lnSpc>
              <a:spcBef>
                <a:spcPct val="0"/>
              </a:spcBef>
            </a:pPr>
            <a:r>
              <a:rPr lang="en-US" altLang="zh-CN" sz="1800" dirty="0"/>
              <a:t>rewind()</a:t>
            </a:r>
            <a:r>
              <a:rPr lang="zh-CN" altLang="en-US" sz="1800" dirty="0"/>
              <a:t>用于设定流的文件位置指示为文件开始，该函数调用成功无返回值。</a:t>
            </a:r>
            <a:endParaRPr lang="zh-CN" altLang="en-US" sz="1800" u="none" dirty="0"/>
          </a:p>
          <a:p>
            <a:pPr lvl="0" indent="-342900">
              <a:lnSpc>
                <a:spcPct val="150000"/>
              </a:lnSpc>
              <a:spcBef>
                <a:spcPct val="0"/>
              </a:spcBef>
            </a:pPr>
            <a:r>
              <a:rPr lang="en-US" altLang="zh-CN" sz="1800" dirty="0"/>
              <a:t>rewind()</a:t>
            </a:r>
            <a:r>
              <a:rPr lang="zh-CN" altLang="en-US" sz="1800" dirty="0"/>
              <a:t>等价于</a:t>
            </a:r>
            <a:r>
              <a:rPr lang="en-US" altLang="zh-CN" sz="1800" dirty="0"/>
              <a:t>(void)</a:t>
            </a:r>
            <a:r>
              <a:rPr lang="en-US" altLang="zh-CN" sz="1800" dirty="0" err="1"/>
              <a:t>fseek</a:t>
            </a:r>
            <a:r>
              <a:rPr lang="en-US" altLang="zh-CN" sz="1800" dirty="0"/>
              <a:t>(stream, 0L, SEEK_SET)</a:t>
            </a:r>
            <a:endParaRPr lang="en-US" altLang="zh-CN" sz="1800" u="none" dirty="0"/>
          </a:p>
          <a:p>
            <a:pPr marL="457200" lvl="1" indent="0">
              <a:spcBef>
                <a:spcPts val="275"/>
              </a:spcBef>
              <a:spcAft>
                <a:spcPts val="275"/>
              </a:spcAft>
              <a:buNone/>
            </a:pPr>
            <a:endParaRPr lang="en-US" altLang="zh-CN" sz="1800" dirty="0">
              <a:latin typeface="宋体" panose="02010600030101010101" pitchFamily="2" charset="-122"/>
            </a:endParaRPr>
          </a:p>
        </p:txBody>
      </p:sp>
      <p:sp>
        <p:nvSpPr>
          <p:cNvPr id="2662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 fseek  ftell  rewind</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文件拷贝</a:t>
            </a:r>
            <a:endParaRPr lang="zh-CN" altLang="en-US" sz="1800" dirty="0">
              <a:latin typeface="宋体" panose="02010600030101010101" pitchFamily="2" charset="-122"/>
            </a:endParaRPr>
          </a:p>
          <a:p>
            <a:pPr lvl="0" indent="-342900">
              <a:spcBef>
                <a:spcPts val="275"/>
              </a:spcBef>
              <a:spcAft>
                <a:spcPts val="275"/>
              </a:spcAft>
            </a:pPr>
            <a:r>
              <a:rPr lang="zh-CN" altLang="en-US" sz="1800" dirty="0"/>
              <a:t>怎样在程序里把</a:t>
            </a:r>
            <a:r>
              <a:rPr lang="en-US" altLang="zh-CN" sz="1800" b="1" dirty="0" err="1"/>
              <a:t>stdin</a:t>
            </a:r>
            <a:r>
              <a:rPr lang="en-US" altLang="zh-CN" sz="1800" b="1" dirty="0"/>
              <a:t> </a:t>
            </a:r>
            <a:r>
              <a:rPr lang="zh-CN" altLang="en-US" sz="1800" dirty="0"/>
              <a:t>或</a:t>
            </a:r>
            <a:r>
              <a:rPr lang="en-US" altLang="zh-CN" sz="1800" b="1" dirty="0" err="1"/>
              <a:t>stdout</a:t>
            </a:r>
            <a:r>
              <a:rPr lang="en-US" altLang="zh-CN" sz="1800" b="1" dirty="0"/>
              <a:t> </a:t>
            </a:r>
            <a:r>
              <a:rPr lang="zh-CN" altLang="en-US" sz="1800" dirty="0"/>
              <a:t>重定向到文件？</a:t>
            </a:r>
            <a:endParaRPr lang="zh-CN" altLang="en-US" sz="1800" dirty="0"/>
          </a:p>
          <a:p>
            <a:pPr lvl="0" indent="-342900">
              <a:spcBef>
                <a:spcPts val="275"/>
              </a:spcBef>
              <a:spcAft>
                <a:spcPts val="275"/>
              </a:spcAft>
            </a:pPr>
            <a:r>
              <a:rPr lang="zh-CN" altLang="en-US" sz="1800" dirty="0"/>
              <a:t>一旦使用</a:t>
            </a:r>
            <a:r>
              <a:rPr lang="en-US" altLang="zh-CN" sz="1800" b="1" dirty="0" err="1"/>
              <a:t>freopen</a:t>
            </a:r>
            <a:r>
              <a:rPr lang="en-US" altLang="zh-CN" sz="1800" b="1" dirty="0"/>
              <a:t>() </a:t>
            </a:r>
            <a:r>
              <a:rPr lang="zh-CN" altLang="en-US" sz="1800" dirty="0"/>
              <a:t>之后</a:t>
            </a:r>
            <a:r>
              <a:rPr lang="en-US" altLang="zh-CN" sz="1800" b="1" dirty="0"/>
              <a:t>, </a:t>
            </a:r>
            <a:r>
              <a:rPr lang="zh-CN" altLang="en-US" sz="1800" dirty="0"/>
              <a:t>怎样才能恢复原来的</a:t>
            </a:r>
            <a:r>
              <a:rPr lang="en-US" altLang="zh-CN" sz="1800" b="1" dirty="0" err="1"/>
              <a:t>stdout</a:t>
            </a:r>
            <a:r>
              <a:rPr lang="en-US" altLang="zh-CN" sz="1800" b="1" dirty="0"/>
              <a:t> (</a:t>
            </a:r>
            <a:r>
              <a:rPr lang="zh-CN" altLang="en-US" sz="1800" dirty="0"/>
              <a:t>或</a:t>
            </a:r>
            <a:r>
              <a:rPr lang="en-US" altLang="zh-CN" sz="1800" b="1" dirty="0" err="1"/>
              <a:t>stdin</a:t>
            </a:r>
            <a:r>
              <a:rPr lang="en-US" altLang="zh-CN" sz="1800" b="1" dirty="0"/>
              <a:t>)</a:t>
            </a:r>
            <a:r>
              <a:rPr lang="zh-CN" altLang="en-US" sz="1800" dirty="0"/>
              <a:t>？</a:t>
            </a:r>
            <a:endParaRPr lang="en-US" altLang="zh-CN" sz="18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循环记录系统时间</a:t>
            </a:r>
            <a:endParaRPr lang="zh-CN" altLang="en-US" sz="1800" dirty="0">
              <a:latin typeface="宋体" panose="02010600030101010101" pitchFamily="2" charset="-122"/>
            </a:endParaRPr>
          </a:p>
          <a:p>
            <a:pPr lvl="1" indent="-285750">
              <a:lnSpc>
                <a:spcPct val="90000"/>
              </a:lnSpc>
            </a:pPr>
            <a:r>
              <a:rPr lang="zh-CN" altLang="en-US" sz="1400" dirty="0"/>
              <a:t>要追加写入文件，同时要读取该文件的内容以决定下一个序号是几，应该用什么模式打开文件？ </a:t>
            </a:r>
            <a:endParaRPr lang="zh-CN" altLang="en-US" sz="1400" dirty="0"/>
          </a:p>
          <a:p>
            <a:pPr lvl="1" indent="-285750">
              <a:lnSpc>
                <a:spcPct val="90000"/>
              </a:lnSpc>
            </a:pPr>
            <a:r>
              <a:rPr lang="zh-CN" altLang="en-US" sz="1400" dirty="0"/>
              <a:t>首先判断一下打开的文件是否为新文件，如果是新文件，就从序号</a:t>
            </a:r>
            <a:r>
              <a:rPr lang="en-US" altLang="zh-CN" sz="1400" dirty="0"/>
              <a:t>1</a:t>
            </a:r>
            <a:r>
              <a:rPr lang="zh-CN" altLang="en-US" sz="1400" dirty="0"/>
              <a:t>开始写入；如果不是新文件，则统计原来有多少行，比如有</a:t>
            </a:r>
            <a:r>
              <a:rPr lang="en-US" altLang="zh-CN" sz="1400" dirty="0"/>
              <a:t>n</a:t>
            </a:r>
            <a:r>
              <a:rPr lang="zh-CN" altLang="en-US" sz="1400" dirty="0"/>
              <a:t>行，然后从序号</a:t>
            </a:r>
            <a:r>
              <a:rPr lang="en-US" altLang="zh-CN" sz="1400" dirty="0"/>
              <a:t>n+1</a:t>
            </a:r>
            <a:r>
              <a:rPr lang="zh-CN" altLang="en-US" sz="1400" dirty="0"/>
              <a:t>开始写入。以后每写一行就把行号加</a:t>
            </a:r>
            <a:r>
              <a:rPr lang="en-US" altLang="zh-CN" sz="1400" dirty="0"/>
              <a:t>1</a:t>
            </a:r>
            <a:r>
              <a:rPr lang="zh-CN" altLang="en-US" sz="1400" dirty="0"/>
              <a:t>。 </a:t>
            </a:r>
            <a:endParaRPr lang="zh-CN" altLang="en-US" sz="1400" dirty="0"/>
          </a:p>
          <a:p>
            <a:pPr lvl="1" indent="-285750">
              <a:lnSpc>
                <a:spcPct val="90000"/>
              </a:lnSpc>
            </a:pPr>
            <a:r>
              <a:rPr lang="zh-CN" altLang="en-US" sz="1400" dirty="0"/>
              <a:t>获取当前的系统时间需要调用函数</a:t>
            </a:r>
            <a:r>
              <a:rPr lang="en-US" altLang="zh-CN" sz="1400" dirty="0"/>
              <a:t>time()</a:t>
            </a:r>
            <a:r>
              <a:rPr lang="zh-CN" altLang="en-US" sz="1400" dirty="0"/>
              <a:t>，得到的结果是一个</a:t>
            </a:r>
            <a:r>
              <a:rPr lang="en-US" altLang="zh-CN" sz="1400" dirty="0" err="1"/>
              <a:t>time_t</a:t>
            </a:r>
            <a:r>
              <a:rPr lang="zh-CN" altLang="en-US" sz="1400" dirty="0"/>
              <a:t>类型，其实就是一个大整数，其值表示从</a:t>
            </a:r>
            <a:r>
              <a:rPr lang="en-US" altLang="zh-CN" sz="1400" dirty="0"/>
              <a:t>UTC</a:t>
            </a:r>
            <a:r>
              <a:rPr lang="zh-CN" altLang="en-US" sz="1400" dirty="0"/>
              <a:t>时间</a:t>
            </a:r>
            <a:r>
              <a:rPr lang="en-US" altLang="zh-CN" sz="1400" dirty="0"/>
              <a:t>1970</a:t>
            </a:r>
            <a:r>
              <a:rPr lang="zh-CN" altLang="en-US" sz="1400" dirty="0"/>
              <a:t>年</a:t>
            </a:r>
            <a:r>
              <a:rPr lang="en-US" altLang="zh-CN" sz="1400" dirty="0"/>
              <a:t>1</a:t>
            </a:r>
            <a:r>
              <a:rPr lang="zh-CN" altLang="en-US" sz="1400" dirty="0"/>
              <a:t>月</a:t>
            </a:r>
            <a:r>
              <a:rPr lang="en-US" altLang="zh-CN" sz="1400" dirty="0"/>
              <a:t>1</a:t>
            </a:r>
            <a:r>
              <a:rPr lang="zh-CN" altLang="en-US" sz="1400" dirty="0"/>
              <a:t>日</a:t>
            </a:r>
            <a:r>
              <a:rPr lang="en-US" altLang="zh-CN" sz="1400" dirty="0"/>
              <a:t>00:00:00</a:t>
            </a:r>
            <a:r>
              <a:rPr lang="zh-CN" altLang="en-US" sz="1400" dirty="0"/>
              <a:t>（称为</a:t>
            </a:r>
            <a:r>
              <a:rPr lang="en-US" altLang="zh-CN" sz="1400" dirty="0"/>
              <a:t>UNIX</a:t>
            </a:r>
            <a:r>
              <a:rPr lang="zh-CN" altLang="en-US" sz="1400" dirty="0"/>
              <a:t>的</a:t>
            </a:r>
            <a:r>
              <a:rPr lang="en-US" altLang="zh-CN" sz="1400" dirty="0"/>
              <a:t>Epoch</a:t>
            </a:r>
            <a:r>
              <a:rPr lang="zh-CN" altLang="en-US" sz="1400" dirty="0"/>
              <a:t>时间）到当前时刻的秒钟数。然后调用</a:t>
            </a:r>
            <a:r>
              <a:rPr lang="en-US" altLang="zh-CN" sz="1400" dirty="0" err="1"/>
              <a:t>localtime</a:t>
            </a:r>
            <a:r>
              <a:rPr lang="en-US" altLang="zh-CN" sz="1400" dirty="0"/>
              <a:t>()</a:t>
            </a:r>
            <a:r>
              <a:rPr lang="zh-CN" altLang="en-US" sz="1400" dirty="0"/>
              <a:t>将</a:t>
            </a:r>
            <a:r>
              <a:rPr lang="en-US" altLang="zh-CN" sz="1400" dirty="0" err="1"/>
              <a:t>time_t</a:t>
            </a:r>
            <a:r>
              <a:rPr lang="zh-CN" altLang="en-US" sz="1400" dirty="0"/>
              <a:t>所表示的</a:t>
            </a:r>
            <a:r>
              <a:rPr lang="en-US" altLang="zh-CN" sz="1400" dirty="0"/>
              <a:t>UTC</a:t>
            </a:r>
            <a:r>
              <a:rPr lang="zh-CN" altLang="en-US" sz="1400" dirty="0"/>
              <a:t>时间转换为本地时间（我们是</a:t>
            </a:r>
            <a:r>
              <a:rPr lang="en-US" altLang="zh-CN" sz="1400" dirty="0"/>
              <a:t>+8</a:t>
            </a:r>
            <a:r>
              <a:rPr lang="zh-CN" altLang="en-US" sz="1400" dirty="0"/>
              <a:t>区，比</a:t>
            </a:r>
            <a:r>
              <a:rPr lang="en-US" altLang="zh-CN" sz="1400" dirty="0"/>
              <a:t>UTC</a:t>
            </a:r>
            <a:r>
              <a:rPr lang="zh-CN" altLang="en-US" sz="1400" dirty="0"/>
              <a:t>多</a:t>
            </a:r>
            <a:r>
              <a:rPr lang="en-US" altLang="zh-CN" sz="1400" dirty="0"/>
              <a:t>8</a:t>
            </a:r>
            <a:r>
              <a:rPr lang="zh-CN" altLang="en-US" sz="1400" dirty="0"/>
              <a:t>个小时）并转成</a:t>
            </a:r>
            <a:r>
              <a:rPr lang="en-US" altLang="zh-CN" sz="1400" dirty="0" err="1"/>
              <a:t>struct</a:t>
            </a:r>
            <a:r>
              <a:rPr lang="en-US" altLang="zh-CN" sz="1400" dirty="0"/>
              <a:t> tm</a:t>
            </a:r>
            <a:r>
              <a:rPr lang="zh-CN" altLang="en-US" sz="1400" dirty="0"/>
              <a:t>类型，该类型的各数据成员分别表示年月日时分秒，请自己写出转换格式的代码，不要使用</a:t>
            </a:r>
            <a:r>
              <a:rPr lang="en-US" altLang="zh-CN" sz="1400" dirty="0" err="1"/>
              <a:t>ctime</a:t>
            </a:r>
            <a:r>
              <a:rPr lang="en-US" altLang="zh-CN" sz="1400" dirty="0"/>
              <a:t>()</a:t>
            </a:r>
            <a:r>
              <a:rPr lang="zh-CN" altLang="en-US" sz="1400" dirty="0"/>
              <a:t>或</a:t>
            </a:r>
            <a:r>
              <a:rPr lang="en-US" altLang="zh-CN" sz="1400" dirty="0" err="1"/>
              <a:t>asctime</a:t>
            </a:r>
            <a:r>
              <a:rPr lang="en-US" altLang="zh-CN" sz="1400" dirty="0"/>
              <a:t>()</a:t>
            </a:r>
            <a:r>
              <a:rPr lang="zh-CN" altLang="en-US" sz="1400" dirty="0"/>
              <a:t>函数。具体用法请查阅</a:t>
            </a:r>
            <a:r>
              <a:rPr lang="en-US" altLang="zh-CN" sz="1400" dirty="0"/>
              <a:t>man page</a:t>
            </a:r>
            <a:r>
              <a:rPr lang="zh-CN" altLang="en-US" sz="1400" dirty="0"/>
              <a:t>。</a:t>
            </a:r>
            <a:r>
              <a:rPr lang="en-US" altLang="zh-CN" sz="1400" dirty="0"/>
              <a:t>time</a:t>
            </a:r>
            <a:r>
              <a:rPr lang="zh-CN" altLang="en-US" sz="1400" dirty="0"/>
              <a:t>和</a:t>
            </a:r>
            <a:r>
              <a:rPr lang="en-US" altLang="zh-CN" sz="1400" dirty="0" err="1"/>
              <a:t>localtime</a:t>
            </a:r>
            <a:r>
              <a:rPr lang="zh-CN" altLang="en-US" sz="1400" dirty="0"/>
              <a:t>函数需要头文件</a:t>
            </a:r>
            <a:r>
              <a:rPr lang="en-US" altLang="zh-CN" sz="1400" dirty="0" err="1"/>
              <a:t>time.h</a:t>
            </a:r>
            <a:r>
              <a:rPr lang="zh-CN" altLang="en-US" sz="1400" dirty="0"/>
              <a:t>。 </a:t>
            </a:r>
            <a:endParaRPr lang="zh-CN" altLang="en-US" sz="1400" dirty="0"/>
          </a:p>
          <a:p>
            <a:pPr lvl="1" indent="-285750">
              <a:lnSpc>
                <a:spcPct val="90000"/>
              </a:lnSpc>
            </a:pPr>
            <a:r>
              <a:rPr lang="zh-CN" altLang="en-US" sz="1400" dirty="0"/>
              <a:t>调用</a:t>
            </a:r>
            <a:r>
              <a:rPr lang="en-US" altLang="zh-CN" sz="1400" dirty="0"/>
              <a:t>sleep(n)</a:t>
            </a:r>
            <a:r>
              <a:rPr lang="zh-CN" altLang="en-US" sz="1400" dirty="0"/>
              <a:t>可使程序睡眠</a:t>
            </a:r>
            <a:r>
              <a:rPr lang="en-US" altLang="zh-CN" sz="1400" dirty="0"/>
              <a:t>n</a:t>
            </a:r>
            <a:r>
              <a:rPr lang="zh-CN" altLang="en-US" sz="1400" dirty="0"/>
              <a:t>秒，该函数需要头文件</a:t>
            </a:r>
            <a:r>
              <a:rPr lang="en-US" altLang="zh-CN" sz="1400" dirty="0" err="1"/>
              <a:t>unistd.h</a:t>
            </a:r>
            <a:r>
              <a:rPr lang="zh-CN" altLang="en-US" sz="1400" dirty="0"/>
              <a:t>。</a:t>
            </a:r>
            <a:endParaRPr lang="zh-CN" altLang="en-US" sz="1400" dirty="0">
              <a:latin typeface="宋体" panose="02010600030101010101" pitchFamily="2" charset="-122"/>
            </a:endParaRPr>
          </a:p>
        </p:txBody>
      </p:sp>
      <p:sp>
        <p:nvSpPr>
          <p:cNvPr id="2765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I/0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试验</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标准</a:t>
            </a:r>
            <a:r>
              <a:rPr lang="en-US" altLang="zh-CN" sz="1800" dirty="0">
                <a:latin typeface="宋体" panose="02010600030101010101" pitchFamily="2" charset="-122"/>
              </a:rPr>
              <a:t>I/O</a:t>
            </a: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r>
              <a:rPr lang="zh-CN" altLang="en-US" sz="1800" dirty="0">
                <a:solidFill>
                  <a:srgbClr val="FF0000"/>
                </a:solidFill>
                <a:latin typeface="宋体" panose="02010600030101010101" pitchFamily="2" charset="-122"/>
              </a:rPr>
              <a:t>文件</a:t>
            </a:r>
            <a:r>
              <a:rPr lang="en-US" altLang="zh-CN" sz="1800" dirty="0">
                <a:solidFill>
                  <a:srgbClr val="FF0000"/>
                </a:solidFill>
                <a:latin typeface="宋体" panose="02010600030101010101" pitchFamily="2" charset="-122"/>
              </a:rPr>
              <a:t>I/O</a:t>
            </a:r>
            <a:endParaRPr lang="zh-CN" altLang="en-US" sz="1800" dirty="0">
              <a:solidFill>
                <a:srgbClr val="FF0000"/>
              </a:solidFill>
              <a:latin typeface="宋体" panose="02010600030101010101" pitchFamily="2" charset="-122"/>
            </a:endParaRPr>
          </a:p>
        </p:txBody>
      </p:sp>
      <p:sp>
        <p:nvSpPr>
          <p:cNvPr id="2867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课程目标</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文件描述符</a:t>
            </a:r>
            <a:endParaRPr lang="en-US" altLang="zh-CN" sz="1800" dirty="0">
              <a:latin typeface="宋体" panose="02010600030101010101" pitchFamily="2" charset="-122"/>
            </a:endParaRPr>
          </a:p>
          <a:p>
            <a:pPr marL="342900" lvl="1" indent="-342900">
              <a:spcBef>
                <a:spcPts val="275"/>
              </a:spcBef>
              <a:spcAft>
                <a:spcPts val="275"/>
              </a:spcAft>
            </a:pPr>
            <a:r>
              <a:rPr lang="zh-CN" altLang="en-US" sz="1600" dirty="0">
                <a:latin typeface="宋体" panose="02010600030101010101" pitchFamily="2" charset="-122"/>
              </a:rPr>
              <a:t>顺序分配的非负整数，最小未用原则分配</a:t>
            </a:r>
            <a:endParaRPr lang="en-US" altLang="zh-CN" sz="1600" dirty="0">
              <a:latin typeface="宋体" panose="02010600030101010101" pitchFamily="2" charset="-122"/>
            </a:endParaRPr>
          </a:p>
          <a:p>
            <a:pPr marL="342900" lvl="1" indent="-342900">
              <a:spcBef>
                <a:spcPts val="275"/>
              </a:spcBef>
              <a:spcAft>
                <a:spcPts val="275"/>
              </a:spcAft>
            </a:pPr>
            <a:r>
              <a:rPr lang="zh-CN" altLang="en-US" sz="1600" dirty="0">
                <a:latin typeface="Arial" panose="020B0604020202020204" pitchFamily="34" charset="0"/>
                <a:sym typeface="Arial" panose="020B0604020202020204" pitchFamily="34" charset="0"/>
              </a:rPr>
              <a:t>内核用以标识一个特定进程正在访问的文件</a:t>
            </a:r>
            <a:endParaRPr lang="zh-CN" altLang="en-US" sz="1600" dirty="0">
              <a:latin typeface="Arial" panose="020B0604020202020204" pitchFamily="34" charset="0"/>
              <a:sym typeface="Arial" panose="020B0604020202020204" pitchFamily="34" charset="0"/>
            </a:endParaRPr>
          </a:p>
          <a:p>
            <a:pPr marL="342900" lvl="1" indent="-342900">
              <a:spcBef>
                <a:spcPts val="275"/>
              </a:spcBef>
              <a:spcAft>
                <a:spcPts val="275"/>
              </a:spcAft>
            </a:pPr>
            <a:r>
              <a:rPr lang="zh-CN" altLang="en-US" sz="1600" dirty="0">
                <a:latin typeface="Arial" panose="020B0604020202020204" pitchFamily="34" charset="0"/>
                <a:sym typeface="Arial" panose="020B0604020202020204" pitchFamily="34" charset="0"/>
              </a:rPr>
              <a:t>其他资源</a:t>
            </a:r>
            <a:r>
              <a:rPr lang="en-US" altLang="zh-CN" sz="1600" dirty="0">
                <a:latin typeface="Arial" panose="020B0604020202020204" pitchFamily="34" charset="0"/>
                <a:sym typeface="Arial" panose="020B0604020202020204" pitchFamily="34" charset="0"/>
              </a:rPr>
              <a:t>(socket</a:t>
            </a:r>
            <a:r>
              <a:rPr lang="zh-CN" altLang="en-US" sz="1600" dirty="0">
                <a:latin typeface="Arial" panose="020B0604020202020204" pitchFamily="34" charset="0"/>
                <a:sym typeface="Arial" panose="020B0604020202020204" pitchFamily="34" charset="0"/>
              </a:rPr>
              <a:t>、</a:t>
            </a:r>
            <a:r>
              <a:rPr lang="en-US" altLang="zh-CN" sz="1600" dirty="0">
                <a:latin typeface="Arial" panose="020B0604020202020204" pitchFamily="34" charset="0"/>
                <a:sym typeface="Arial" panose="020B0604020202020204" pitchFamily="34" charset="0"/>
              </a:rPr>
              <a:t>pipe</a:t>
            </a:r>
            <a:r>
              <a:rPr lang="zh-CN" altLang="en-US" sz="1600" dirty="0">
                <a:latin typeface="Arial" panose="020B0604020202020204" pitchFamily="34" charset="0"/>
                <a:sym typeface="Arial" panose="020B0604020202020204" pitchFamily="34" charset="0"/>
              </a:rPr>
              <a:t>等</a:t>
            </a:r>
            <a:r>
              <a:rPr lang="en-US" altLang="zh-CN" sz="1600" dirty="0">
                <a:latin typeface="Arial" panose="020B0604020202020204" pitchFamily="34" charset="0"/>
                <a:sym typeface="Arial" panose="020B0604020202020204" pitchFamily="34" charset="0"/>
              </a:rPr>
              <a:t>)</a:t>
            </a:r>
            <a:r>
              <a:rPr lang="zh-CN" altLang="en-US" sz="1600" dirty="0">
                <a:latin typeface="Arial" panose="020B0604020202020204" pitchFamily="34" charset="0"/>
                <a:sym typeface="Arial" panose="020B0604020202020204" pitchFamily="34" charset="0"/>
              </a:rPr>
              <a:t>的访问标识</a:t>
            </a:r>
            <a:endParaRPr lang="zh-CN" altLang="en-US" sz="1600" dirty="0">
              <a:latin typeface="Arial" panose="020B0604020202020204" pitchFamily="34" charset="0"/>
              <a:sym typeface="Arial" panose="020B0604020202020204" pitchFamily="34" charset="0"/>
            </a:endParaRPr>
          </a:p>
          <a:p>
            <a:pPr marL="342900" lvl="1" indent="-342900">
              <a:spcBef>
                <a:spcPts val="275"/>
              </a:spcBef>
              <a:spcAft>
                <a:spcPts val="275"/>
              </a:spcAft>
              <a:buChar char="•"/>
            </a:pPr>
            <a:r>
              <a:rPr lang="zh-CN" altLang="en-US" sz="1800" dirty="0">
                <a:latin typeface="宋体" panose="02010600030101010101" pitchFamily="2" charset="-122"/>
              </a:rPr>
              <a:t>标准输入、标准输出和标准错误</a:t>
            </a:r>
            <a:endParaRPr lang="en-US" altLang="zh-CN" sz="1800" dirty="0">
              <a:latin typeface="宋体" panose="02010600030101010101" pitchFamily="2" charset="-122"/>
            </a:endParaRPr>
          </a:p>
          <a:p>
            <a:pPr marL="342900" lvl="1" indent="-342900">
              <a:spcBef>
                <a:spcPts val="275"/>
              </a:spcBef>
              <a:spcAft>
                <a:spcPts val="275"/>
              </a:spcAft>
            </a:pPr>
            <a:r>
              <a:rPr lang="zh-CN" altLang="en-US" sz="1600" dirty="0">
                <a:latin typeface="Arial" panose="020B0604020202020204" pitchFamily="34" charset="0"/>
                <a:sym typeface="Arial" panose="020B0604020202020204" pitchFamily="34" charset="0"/>
              </a:rPr>
              <a:t>对应描述符为</a:t>
            </a:r>
            <a:r>
              <a:rPr lang="en-US" altLang="zh-CN" sz="1600" dirty="0">
                <a:latin typeface="Arial" panose="020B0604020202020204" pitchFamily="34" charset="0"/>
                <a:sym typeface="Arial" panose="020B0604020202020204" pitchFamily="34" charset="0"/>
              </a:rPr>
              <a:t>0</a:t>
            </a:r>
            <a:r>
              <a:rPr lang="zh-CN" altLang="en-US" sz="1600" dirty="0">
                <a:latin typeface="Arial" panose="020B0604020202020204" pitchFamily="34" charset="0"/>
                <a:sym typeface="Arial" panose="020B0604020202020204" pitchFamily="34" charset="0"/>
              </a:rPr>
              <a:t>、</a:t>
            </a:r>
            <a:r>
              <a:rPr lang="en-US" altLang="zh-CN" sz="1600" dirty="0">
                <a:latin typeface="Arial" panose="020B0604020202020204" pitchFamily="34" charset="0"/>
                <a:sym typeface="Arial" panose="020B0604020202020204" pitchFamily="34" charset="0"/>
              </a:rPr>
              <a:t>1</a:t>
            </a:r>
            <a:r>
              <a:rPr lang="zh-CN" altLang="en-US" sz="1600" dirty="0">
                <a:latin typeface="Arial" panose="020B0604020202020204" pitchFamily="34" charset="0"/>
                <a:sym typeface="Arial" panose="020B0604020202020204" pitchFamily="34" charset="0"/>
              </a:rPr>
              <a:t>、</a:t>
            </a:r>
            <a:r>
              <a:rPr lang="en-US" altLang="zh-CN" sz="1600" dirty="0">
                <a:latin typeface="Arial" panose="020B0604020202020204" pitchFamily="34" charset="0"/>
                <a:sym typeface="Arial" panose="020B0604020202020204" pitchFamily="34" charset="0"/>
              </a:rPr>
              <a:t>2</a:t>
            </a:r>
            <a:r>
              <a:rPr lang="zh-CN" altLang="en-US" sz="1600" dirty="0">
                <a:latin typeface="Arial" panose="020B0604020202020204" pitchFamily="34" charset="0"/>
                <a:sym typeface="Arial" panose="020B0604020202020204" pitchFamily="34" charset="0"/>
              </a:rPr>
              <a:t>，由</a:t>
            </a:r>
            <a:r>
              <a:rPr lang="en-US" altLang="zh-CN" sz="1600" dirty="0">
                <a:latin typeface="Arial" panose="020B0604020202020204" pitchFamily="34" charset="0"/>
                <a:sym typeface="Arial" panose="020B0604020202020204" pitchFamily="34" charset="0"/>
              </a:rPr>
              <a:t>shell</a:t>
            </a:r>
            <a:r>
              <a:rPr lang="zh-CN" altLang="en-US" sz="1600" dirty="0">
                <a:latin typeface="Arial" panose="020B0604020202020204" pitchFamily="34" charset="0"/>
                <a:sym typeface="Arial" panose="020B0604020202020204" pitchFamily="34" charset="0"/>
              </a:rPr>
              <a:t>打开</a:t>
            </a:r>
            <a:endParaRPr lang="zh-CN" altLang="en-US" sz="1600" dirty="0">
              <a:latin typeface="Arial" panose="020B0604020202020204" pitchFamily="34" charset="0"/>
              <a:sym typeface="Arial" panose="020B0604020202020204" pitchFamily="34" charset="0"/>
            </a:endParaRPr>
          </a:p>
          <a:p>
            <a:pPr marL="342900" lvl="1" indent="-342900">
              <a:spcBef>
                <a:spcPts val="275"/>
              </a:spcBef>
              <a:spcAft>
                <a:spcPts val="275"/>
              </a:spcAft>
              <a:buChar char="•"/>
            </a:pPr>
            <a:r>
              <a:rPr lang="zh-CN" altLang="en-US" sz="1800" dirty="0">
                <a:latin typeface="宋体" panose="02010600030101010101" pitchFamily="2" charset="-122"/>
              </a:rPr>
              <a:t>不带缓存的</a:t>
            </a:r>
            <a:r>
              <a:rPr lang="en-US" altLang="zh-CN" sz="1800" dirty="0">
                <a:latin typeface="宋体" panose="02010600030101010101" pitchFamily="2" charset="-122"/>
              </a:rPr>
              <a:t>I/O</a:t>
            </a:r>
            <a:endParaRPr lang="zh-CN" altLang="en-US" sz="1800" dirty="0">
              <a:latin typeface="宋体" panose="02010600030101010101" pitchFamily="2" charset="-122"/>
            </a:endParaRPr>
          </a:p>
          <a:p>
            <a:pPr marL="342900" lvl="1" indent="-342900">
              <a:spcBef>
                <a:spcPts val="275"/>
              </a:spcBef>
              <a:spcAft>
                <a:spcPts val="275"/>
              </a:spcAft>
            </a:pPr>
            <a:r>
              <a:rPr lang="zh-CN" altLang="en-US" sz="1600" dirty="0">
                <a:latin typeface="Arial" panose="020B0604020202020204" pitchFamily="34" charset="0"/>
                <a:sym typeface="Arial" panose="020B0604020202020204" pitchFamily="34" charset="0"/>
              </a:rPr>
              <a:t>通过文件描述符进行访问</a:t>
            </a:r>
            <a:endParaRPr lang="zh-CN" altLang="en-US" sz="1600" dirty="0">
              <a:latin typeface="Arial" panose="020B0604020202020204" pitchFamily="34" charset="0"/>
              <a:sym typeface="Arial" panose="020B0604020202020204" pitchFamily="34" charset="0"/>
            </a:endParaRPr>
          </a:p>
          <a:p>
            <a:pPr marL="342900" lvl="1" indent="-342900">
              <a:spcBef>
                <a:spcPts val="275"/>
              </a:spcBef>
              <a:spcAft>
                <a:spcPts val="275"/>
              </a:spcAft>
            </a:pPr>
            <a:r>
              <a:rPr lang="zh-CN" altLang="en-US" sz="1600" dirty="0">
                <a:latin typeface="宋体" panose="02010600030101010101" pitchFamily="2" charset="-122"/>
              </a:rPr>
              <a:t>系统调用函数</a:t>
            </a:r>
            <a:r>
              <a:rPr lang="en-US" altLang="zh-CN" sz="1600" dirty="0">
                <a:latin typeface="宋体" panose="02010600030101010101" pitchFamily="2" charset="-122"/>
              </a:rPr>
              <a:t>open</a:t>
            </a:r>
            <a:r>
              <a:rPr lang="zh-CN" altLang="en-US" sz="1600" dirty="0">
                <a:latin typeface="宋体" panose="02010600030101010101" pitchFamily="2" charset="-122"/>
              </a:rPr>
              <a:t>、</a:t>
            </a:r>
            <a:r>
              <a:rPr lang="en-US" altLang="zh-CN" sz="1600" dirty="0">
                <a:latin typeface="宋体" panose="02010600030101010101" pitchFamily="2" charset="-122"/>
              </a:rPr>
              <a:t>read</a:t>
            </a:r>
            <a:r>
              <a:rPr lang="zh-CN" altLang="en-US" sz="1600" dirty="0">
                <a:latin typeface="宋体" panose="02010600030101010101" pitchFamily="2" charset="-122"/>
              </a:rPr>
              <a:t>、</a:t>
            </a:r>
            <a:r>
              <a:rPr lang="en-US" altLang="zh-CN" sz="1600" dirty="0">
                <a:latin typeface="宋体" panose="02010600030101010101" pitchFamily="2" charset="-122"/>
              </a:rPr>
              <a:t>write</a:t>
            </a:r>
            <a:r>
              <a:rPr lang="zh-CN" altLang="en-US" sz="1600" dirty="0">
                <a:latin typeface="宋体" panose="02010600030101010101" pitchFamily="2" charset="-122"/>
              </a:rPr>
              <a:t>、</a:t>
            </a:r>
            <a:r>
              <a:rPr lang="en-US" altLang="zh-CN" sz="1600" dirty="0">
                <a:latin typeface="宋体" panose="02010600030101010101" pitchFamily="2" charset="-122"/>
              </a:rPr>
              <a:t>close</a:t>
            </a:r>
            <a:r>
              <a:rPr lang="zh-CN" altLang="en-US" sz="1600" dirty="0">
                <a:latin typeface="宋体" panose="02010600030101010101" pitchFamily="2" charset="-122"/>
              </a:rPr>
              <a:t>、</a:t>
            </a:r>
            <a:r>
              <a:rPr lang="en-US" altLang="zh-CN" sz="1600" dirty="0">
                <a:latin typeface="宋体" panose="02010600030101010101" pitchFamily="2" charset="-122"/>
              </a:rPr>
              <a:t>lseek</a:t>
            </a:r>
            <a:endParaRPr lang="en-US" altLang="zh-CN" sz="16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文件</a:t>
            </a:r>
            <a:r>
              <a:rPr lang="en-US" altLang="zh-CN" sz="1800" dirty="0">
                <a:latin typeface="宋体" panose="02010600030101010101" pitchFamily="2" charset="-122"/>
              </a:rPr>
              <a:t>I/O</a:t>
            </a:r>
            <a:r>
              <a:rPr lang="zh-CN" altLang="en-US" sz="1800" dirty="0">
                <a:latin typeface="宋体" panose="02010600030101010101" pitchFamily="2" charset="-122"/>
              </a:rPr>
              <a:t>是系统调用</a:t>
            </a:r>
            <a:endParaRPr lang="zh-CN" altLang="en-US" sz="1800" dirty="0">
              <a:latin typeface="宋体" panose="02010600030101010101" pitchFamily="2" charset="-122"/>
            </a:endParaRPr>
          </a:p>
        </p:txBody>
      </p:sp>
      <p:sp>
        <p:nvSpPr>
          <p:cNvPr id="2969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en-US" altLang="zh-CN" sz="1800" dirty="0">
                <a:latin typeface="宋体" panose="02010600030101010101" pitchFamily="2" charset="-122"/>
              </a:rPr>
              <a:t> </a:t>
            </a:r>
            <a:endParaRPr lang="zh-CN" altLang="en-US" sz="1800" dirty="0">
              <a:latin typeface="宋体" panose="02010600030101010101" pitchFamily="2" charset="-122"/>
            </a:endParaRPr>
          </a:p>
        </p:txBody>
      </p:sp>
      <p:sp>
        <p:nvSpPr>
          <p:cNvPr id="3072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系统调用与库调用</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30724" name="Picture 5" descr="1"/>
          <p:cNvPicPr>
            <a:picLocks noChangeAspect="1"/>
          </p:cNvPicPr>
          <p:nvPr/>
        </p:nvPicPr>
        <p:blipFill>
          <a:blip r:embed="rId1"/>
          <a:stretch>
            <a:fillRect/>
          </a:stretch>
        </p:blipFill>
        <p:spPr>
          <a:xfrm>
            <a:off x="2266950" y="960438"/>
            <a:ext cx="3384550" cy="3535362"/>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int open(const char *pathname, int flags);</a:t>
            </a:r>
            <a:endParaRPr lang="zh-CN" altLang="en-US" sz="18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int open(const char *pathname, int flags, mode_t mode);</a:t>
            </a:r>
            <a:endParaRPr lang="zh-CN" altLang="en-US" sz="1800" dirty="0">
              <a:latin typeface="宋体" panose="02010600030101010101" pitchFamily="2" charset="-122"/>
            </a:endParaRPr>
          </a:p>
          <a:p>
            <a:pPr lvl="0" indent="-342900">
              <a:spcBef>
                <a:spcPts val="275"/>
              </a:spcBef>
              <a:spcAft>
                <a:spcPts val="275"/>
              </a:spcAft>
            </a:pPr>
            <a:r>
              <a:rPr lang="zh-CN" altLang="en-US" sz="1800" dirty="0">
                <a:latin typeface="宋体" panose="02010600030101010101" pitchFamily="2" charset="-122"/>
              </a:rPr>
              <a:t>int creat(const char *pathname, mode_t mode);</a:t>
            </a: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1" indent="-285750">
              <a:lnSpc>
                <a:spcPct val="150000"/>
              </a:lnSpc>
              <a:spcBef>
                <a:spcPts val="275"/>
              </a:spcBef>
              <a:spcAft>
                <a:spcPts val="275"/>
              </a:spcAft>
            </a:pPr>
            <a:r>
              <a:rPr lang="en-US" altLang="zh-CN" sz="1600" dirty="0">
                <a:latin typeface="宋体" panose="02010600030101010101" pitchFamily="2" charset="-122"/>
              </a:rPr>
              <a:t>open()</a:t>
            </a:r>
            <a:r>
              <a:rPr lang="zh-CN" altLang="en-US" sz="1600" dirty="0">
                <a:latin typeface="宋体" panose="02010600030101010101" pitchFamily="2" charset="-122"/>
              </a:rPr>
              <a:t>和</a:t>
            </a:r>
            <a:r>
              <a:rPr lang="en-US" altLang="zh-CN" sz="1600" dirty="0">
                <a:latin typeface="宋体" panose="02010600030101010101" pitchFamily="2" charset="-122"/>
              </a:rPr>
              <a:t>creat()</a:t>
            </a:r>
            <a:r>
              <a:rPr lang="zh-CN" altLang="en-US" sz="1600" dirty="0">
                <a:latin typeface="宋体" panose="02010600030101010101" pitchFamily="2" charset="-122"/>
              </a:rPr>
              <a:t>调用成功返回文件描述符，失败返回</a:t>
            </a:r>
            <a:r>
              <a:rPr lang="en-US" altLang="zh-CN" sz="1600" dirty="0">
                <a:latin typeface="宋体" panose="02010600030101010101" pitchFamily="2" charset="-122"/>
              </a:rPr>
              <a:t>-1</a:t>
            </a:r>
            <a:r>
              <a:rPr lang="zh-CN" altLang="en-US" sz="1600" dirty="0">
                <a:latin typeface="宋体" panose="02010600030101010101" pitchFamily="2" charset="-122"/>
              </a:rPr>
              <a:t>，并设置</a:t>
            </a:r>
            <a:r>
              <a:rPr lang="en-US" altLang="zh-CN" sz="1600" dirty="0">
                <a:latin typeface="宋体" panose="02010600030101010101" pitchFamily="2" charset="-122"/>
              </a:rPr>
              <a:t>errno</a:t>
            </a:r>
            <a:r>
              <a:rPr lang="zh-CN" altLang="en-US" sz="1600" dirty="0">
                <a:latin typeface="宋体" panose="02010600030101010101" pitchFamily="2" charset="-122"/>
              </a:rPr>
              <a:t>。</a:t>
            </a:r>
            <a:endParaRPr lang="zh-CN" altLang="en-US" sz="1600" dirty="0">
              <a:latin typeface="宋体" panose="02010600030101010101" pitchFamily="2" charset="-122"/>
            </a:endParaRPr>
          </a:p>
          <a:p>
            <a:pPr lvl="1" indent="-285750">
              <a:lnSpc>
                <a:spcPct val="150000"/>
              </a:lnSpc>
              <a:spcBef>
                <a:spcPts val="275"/>
              </a:spcBef>
              <a:spcAft>
                <a:spcPts val="275"/>
              </a:spcAft>
            </a:pPr>
            <a:r>
              <a:rPr lang="en-US" altLang="zh-CN" sz="1600" dirty="0">
                <a:latin typeface="宋体" panose="02010600030101010101" pitchFamily="2" charset="-122"/>
              </a:rPr>
              <a:t>open()/creat()</a:t>
            </a:r>
            <a:r>
              <a:rPr lang="zh-CN" altLang="en-US" sz="1600" dirty="0">
                <a:latin typeface="宋体" panose="02010600030101010101" pitchFamily="2" charset="-122"/>
              </a:rPr>
              <a:t>调用返回的文件描述符一定是</a:t>
            </a:r>
            <a:r>
              <a:rPr lang="zh-CN" altLang="en-US" sz="1600" b="1" dirty="0">
                <a:latin typeface="宋体" panose="02010600030101010101" pitchFamily="2" charset="-122"/>
              </a:rPr>
              <a:t>最小的未用描述符数字</a:t>
            </a:r>
            <a:r>
              <a:rPr lang="zh-CN" altLang="en-US" sz="1600" dirty="0">
                <a:latin typeface="宋体" panose="02010600030101010101" pitchFamily="2" charset="-122"/>
              </a:rPr>
              <a:t>。</a:t>
            </a:r>
            <a:endParaRPr lang="zh-CN" altLang="en-US" sz="1600" dirty="0">
              <a:latin typeface="宋体" panose="02010600030101010101" pitchFamily="2" charset="-122"/>
            </a:endParaRPr>
          </a:p>
          <a:p>
            <a:pPr lvl="1" indent="-285750">
              <a:lnSpc>
                <a:spcPct val="150000"/>
              </a:lnSpc>
              <a:spcBef>
                <a:spcPts val="275"/>
              </a:spcBef>
              <a:spcAft>
                <a:spcPts val="275"/>
              </a:spcAft>
            </a:pPr>
            <a:r>
              <a:rPr lang="en-US" altLang="zh-CN" sz="1600" dirty="0">
                <a:latin typeface="宋体" panose="02010600030101010101" pitchFamily="2" charset="-122"/>
              </a:rPr>
              <a:t>creat()</a:t>
            </a:r>
            <a:r>
              <a:rPr lang="zh-CN" altLang="en-US" sz="1600" dirty="0">
                <a:latin typeface="宋体" panose="02010600030101010101" pitchFamily="2" charset="-122"/>
              </a:rPr>
              <a:t>等价于</a:t>
            </a:r>
            <a:r>
              <a:rPr lang="en-US" altLang="zh-CN" sz="1600" dirty="0">
                <a:latin typeface="宋体" panose="02010600030101010101" pitchFamily="2" charset="-122"/>
              </a:rPr>
              <a:t>open(</a:t>
            </a:r>
            <a:r>
              <a:rPr lang="en-US" altLang="zh-CN" sz="1600" i="1" dirty="0">
                <a:latin typeface="Times New Roman" panose="02020603050405020304" pitchFamily="2" charset="0"/>
                <a:sym typeface="Times New Roman" panose="02020603050405020304" pitchFamily="2" charset="0"/>
              </a:rPr>
              <a:t>pathname</a:t>
            </a:r>
            <a:r>
              <a:rPr lang="en-US" altLang="zh-CN" sz="1600" dirty="0">
                <a:latin typeface="宋体" panose="02010600030101010101" pitchFamily="2" charset="-122"/>
              </a:rPr>
              <a:t>, O_CREAT|O_WRONLY|O_TRUNC, </a:t>
            </a:r>
            <a:r>
              <a:rPr lang="en-US" altLang="zh-CN" sz="1600" i="1" dirty="0">
                <a:latin typeface="Times New Roman" panose="02020603050405020304" pitchFamily="2" charset="0"/>
                <a:sym typeface="Times New Roman" panose="02020603050405020304" pitchFamily="2" charset="0"/>
              </a:rPr>
              <a:t>mode</a:t>
            </a:r>
            <a:r>
              <a:rPr lang="en-US" altLang="zh-CN" sz="1600" dirty="0">
                <a:latin typeface="宋体" panose="02010600030101010101" pitchFamily="2" charset="-122"/>
              </a:rPr>
              <a:t>)</a:t>
            </a:r>
            <a:endParaRPr lang="zh-CN" altLang="en-US" sz="1600" dirty="0">
              <a:latin typeface="宋体" panose="02010600030101010101" pitchFamily="2" charset="-122"/>
            </a:endParaRPr>
          </a:p>
          <a:p>
            <a:pPr lvl="1" indent="-285750">
              <a:lnSpc>
                <a:spcPct val="150000"/>
              </a:lnSpc>
              <a:spcBef>
                <a:spcPts val="275"/>
              </a:spcBef>
              <a:spcAft>
                <a:spcPts val="275"/>
              </a:spcAft>
            </a:pPr>
            <a:r>
              <a:rPr lang="en-US" altLang="zh-CN" sz="1600" dirty="0">
                <a:latin typeface="宋体" panose="02010600030101010101" pitchFamily="2" charset="-122"/>
              </a:rPr>
              <a:t>open()</a:t>
            </a:r>
            <a:r>
              <a:rPr lang="zh-CN" altLang="en-US" sz="1600" dirty="0">
                <a:latin typeface="宋体" panose="02010600030101010101" pitchFamily="2" charset="-122"/>
              </a:rPr>
              <a:t>可以打开设备文件，但是不能创建设备文件，设备文件必须使用</a:t>
            </a:r>
            <a:r>
              <a:rPr lang="en-US" altLang="zh-CN" sz="1600" dirty="0">
                <a:latin typeface="宋体" panose="02010600030101010101" pitchFamily="2" charset="-122"/>
              </a:rPr>
              <a:t>mknod()</a:t>
            </a:r>
            <a:r>
              <a:rPr lang="zh-CN" altLang="en-US" sz="1600" dirty="0">
                <a:latin typeface="宋体" panose="02010600030101010101" pitchFamily="2" charset="-122"/>
              </a:rPr>
              <a:t>创建。</a:t>
            </a:r>
            <a:endParaRPr lang="zh-CN" altLang="en-US" sz="16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p:txBody>
      </p:sp>
      <p:sp>
        <p:nvSpPr>
          <p:cNvPr id="3174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open</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770" name="图片 3"/>
          <p:cNvPicPr>
            <a:picLocks noChangeAspect="1"/>
          </p:cNvPicPr>
          <p:nvPr/>
        </p:nvPicPr>
        <p:blipFill>
          <a:blip r:embed="rId1"/>
          <a:stretch>
            <a:fillRect/>
          </a:stretch>
        </p:blipFill>
        <p:spPr>
          <a:xfrm>
            <a:off x="827088" y="933450"/>
            <a:ext cx="6265862" cy="3759200"/>
          </a:xfrm>
          <a:prstGeom prst="rect">
            <a:avLst/>
          </a:prstGeom>
          <a:noFill/>
          <a:ln w="9525">
            <a:noFill/>
          </a:ln>
        </p:spPr>
      </p:pic>
      <p:sp>
        <p:nvSpPr>
          <p:cNvPr id="32771"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en-US" altLang="zh-CN" sz="1800" dirty="0">
                <a:latin typeface="宋体" panose="02010600030101010101" pitchFamily="2" charset="-122"/>
              </a:rPr>
              <a:t> </a:t>
            </a:r>
            <a:endParaRPr lang="zh-CN" altLang="en-US" sz="1800" dirty="0">
              <a:latin typeface="宋体" panose="02010600030101010101" pitchFamily="2" charset="-122"/>
            </a:endParaRPr>
          </a:p>
        </p:txBody>
      </p:sp>
      <p:sp>
        <p:nvSpPr>
          <p:cNvPr id="3277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open</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用来关闭一个文件描述符</a:t>
            </a:r>
            <a:endParaRPr lang="en-US" altLang="zh-CN" sz="1800" dirty="0">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rPr>
              <a:t>int close(int fd);</a:t>
            </a:r>
            <a:endParaRPr lang="zh-CN" altLang="en-US" sz="1800" dirty="0">
              <a:latin typeface="宋体" panose="02010600030101010101" pitchFamily="2" charset="-122"/>
            </a:endParaRPr>
          </a:p>
          <a:p>
            <a:pPr lvl="1" indent="-285750">
              <a:spcBef>
                <a:spcPts val="275"/>
              </a:spcBef>
              <a:spcAft>
                <a:spcPts val="275"/>
              </a:spcAft>
            </a:pPr>
            <a:r>
              <a:rPr lang="en-US" altLang="zh-CN" sz="1600" dirty="0">
                <a:latin typeface="宋体" panose="02010600030101010101" pitchFamily="2" charset="-122"/>
              </a:rPr>
              <a:t>Fd </a:t>
            </a:r>
            <a:r>
              <a:rPr lang="zh-CN" altLang="en-US" sz="1600" dirty="0">
                <a:latin typeface="宋体" panose="02010600030101010101" pitchFamily="2" charset="-122"/>
              </a:rPr>
              <a:t>：要关闭的文件描述符</a:t>
            </a:r>
            <a:endParaRPr lang="en-US" altLang="zh-CN" sz="1600" dirty="0">
              <a:latin typeface="宋体" panose="02010600030101010101" pitchFamily="2" charset="-122"/>
            </a:endParaRPr>
          </a:p>
          <a:p>
            <a:pPr lvl="1" indent="-285750">
              <a:spcBef>
                <a:spcPts val="275"/>
              </a:spcBef>
              <a:spcAft>
                <a:spcPts val="275"/>
              </a:spcAft>
            </a:pPr>
            <a:r>
              <a:rPr lang="zh-CN" altLang="en-US" sz="1600" dirty="0">
                <a:latin typeface="宋体" panose="02010600030101010101" pitchFamily="2" charset="-122"/>
              </a:rPr>
              <a:t>返回值：成功返回</a:t>
            </a:r>
            <a:r>
              <a:rPr lang="en-US" altLang="zh-CN" sz="1600" dirty="0">
                <a:latin typeface="宋体" panose="02010600030101010101" pitchFamily="2" charset="-122"/>
              </a:rPr>
              <a:t>0</a:t>
            </a:r>
            <a:r>
              <a:rPr lang="zh-CN" altLang="en-US" sz="1600" dirty="0">
                <a:latin typeface="宋体" panose="02010600030101010101" pitchFamily="2" charset="-122"/>
              </a:rPr>
              <a:t>，失败返回</a:t>
            </a:r>
            <a:r>
              <a:rPr lang="en-US" altLang="zh-CN" sz="1600" dirty="0">
                <a:latin typeface="宋体" panose="02010600030101010101" pitchFamily="2" charset="-122"/>
              </a:rPr>
              <a:t>-1</a:t>
            </a:r>
            <a:r>
              <a:rPr lang="zh-CN" altLang="en-US" sz="1600" dirty="0">
                <a:latin typeface="宋体" panose="02010600030101010101" pitchFamily="2" charset="-122"/>
              </a:rPr>
              <a:t>，失败原因需要查看</a:t>
            </a:r>
            <a:r>
              <a:rPr lang="en-US" altLang="zh-CN" sz="1600" dirty="0">
                <a:latin typeface="宋体" panose="02010600030101010101" pitchFamily="2" charset="-122"/>
              </a:rPr>
              <a:t>errno</a:t>
            </a:r>
            <a:endParaRPr lang="zh-CN" altLang="en-US" sz="1600" dirty="0">
              <a:latin typeface="宋体" panose="02010600030101010101" pitchFamily="2" charset="-122"/>
            </a:endParaRPr>
          </a:p>
        </p:txBody>
      </p:sp>
      <p:sp>
        <p:nvSpPr>
          <p:cNvPr id="3379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 -- close</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用来从一个已打开的可读文件中读取数据</a:t>
            </a:r>
            <a:endParaRPr lang="en-US" altLang="zh-CN" sz="1800" dirty="0">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rPr>
              <a:t>ssize_t read(int fd, void *buf, size_t count);</a:t>
            </a:r>
            <a:endParaRPr lang="zh-CN" altLang="en-US" sz="18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Fd </a:t>
            </a:r>
            <a:r>
              <a:rPr lang="zh-CN" altLang="en-US" sz="1600" dirty="0">
                <a:latin typeface="宋体" panose="02010600030101010101" pitchFamily="2" charset="-122"/>
              </a:rPr>
              <a:t>：文件描述符</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Buf </a:t>
            </a:r>
            <a:r>
              <a:rPr lang="zh-CN" altLang="en-US" sz="1600" dirty="0">
                <a:latin typeface="宋体" panose="02010600030101010101" pitchFamily="2" charset="-122"/>
              </a:rPr>
              <a:t>：</a:t>
            </a:r>
            <a:r>
              <a:rPr lang="en-US" altLang="zh-CN" sz="1600" dirty="0">
                <a:latin typeface="宋体" panose="02010600030101010101" pitchFamily="2" charset="-122"/>
              </a:rPr>
              <a:t>read</a:t>
            </a:r>
            <a:r>
              <a:rPr lang="zh-CN" altLang="en-US" sz="1600" dirty="0">
                <a:latin typeface="宋体" panose="02010600030101010101" pitchFamily="2" charset="-122"/>
              </a:rPr>
              <a:t>函数将读出的数据放在</a:t>
            </a:r>
            <a:r>
              <a:rPr lang="en-US" altLang="zh-CN" sz="1600" dirty="0">
                <a:latin typeface="宋体" panose="02010600030101010101" pitchFamily="2" charset="-122"/>
              </a:rPr>
              <a:t>buf</a:t>
            </a:r>
            <a:r>
              <a:rPr lang="zh-CN" altLang="en-US" sz="1600" dirty="0">
                <a:latin typeface="宋体" panose="02010600030101010101" pitchFamily="2" charset="-122"/>
              </a:rPr>
              <a:t>中</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Count </a:t>
            </a:r>
            <a:r>
              <a:rPr lang="zh-CN" altLang="en-US" sz="1600" dirty="0">
                <a:latin typeface="宋体" panose="02010600030101010101" pitchFamily="2" charset="-122"/>
              </a:rPr>
              <a:t>：</a:t>
            </a:r>
            <a:r>
              <a:rPr lang="en-US" altLang="zh-CN" sz="1600" dirty="0">
                <a:latin typeface="宋体" panose="02010600030101010101" pitchFamily="2" charset="-122"/>
              </a:rPr>
              <a:t>buf</a:t>
            </a:r>
            <a:r>
              <a:rPr lang="zh-CN" altLang="en-US" sz="1600" dirty="0">
                <a:latin typeface="宋体" panose="02010600030101010101" pitchFamily="2" charset="-122"/>
              </a:rPr>
              <a:t>大小</a:t>
            </a:r>
            <a:endParaRPr lang="en-US" altLang="zh-CN" sz="1600" dirty="0">
              <a:latin typeface="宋体" panose="02010600030101010101" pitchFamily="2" charset="-122"/>
            </a:endParaRPr>
          </a:p>
          <a:p>
            <a:pPr marL="457200" lvl="1" indent="0">
              <a:spcBef>
                <a:spcPts val="275"/>
              </a:spcBef>
              <a:spcAft>
                <a:spcPts val="275"/>
              </a:spcAft>
            </a:pPr>
            <a:r>
              <a:rPr lang="zh-CN" altLang="en-US" sz="1600" dirty="0">
                <a:latin typeface="宋体" panose="02010600030101010101" pitchFamily="2" charset="-122"/>
              </a:rPr>
              <a:t>返回值：成功返回读取的字节数，如果返回</a:t>
            </a:r>
            <a:r>
              <a:rPr lang="en-US" altLang="zh-CN" sz="1600" dirty="0">
                <a:latin typeface="宋体" panose="02010600030101010101" pitchFamily="2" charset="-122"/>
              </a:rPr>
              <a:t>0</a:t>
            </a:r>
            <a:r>
              <a:rPr lang="zh-CN" altLang="en-US" sz="1600" dirty="0">
                <a:latin typeface="宋体" panose="02010600030101010101" pitchFamily="2" charset="-122"/>
              </a:rPr>
              <a:t>，表示到达文件末尾，如果返回</a:t>
            </a:r>
            <a:r>
              <a:rPr lang="en-US" altLang="zh-CN" sz="1600" dirty="0">
                <a:latin typeface="宋体" panose="02010600030101010101" pitchFamily="2" charset="-122"/>
              </a:rPr>
              <a:t>-1</a:t>
            </a:r>
            <a:r>
              <a:rPr lang="zh-CN" altLang="en-US" sz="1600" dirty="0">
                <a:latin typeface="宋体" panose="02010600030101010101" pitchFamily="2" charset="-122"/>
              </a:rPr>
              <a:t>，表示出错，通过</a:t>
            </a:r>
            <a:r>
              <a:rPr lang="en-US" altLang="zh-CN" sz="1600" dirty="0">
                <a:latin typeface="宋体" panose="02010600030101010101" pitchFamily="2" charset="-122"/>
              </a:rPr>
              <a:t>errno</a:t>
            </a:r>
            <a:r>
              <a:rPr lang="zh-CN" altLang="en-US" sz="1600" dirty="0">
                <a:latin typeface="宋体" panose="02010600030101010101" pitchFamily="2" charset="-122"/>
              </a:rPr>
              <a:t>设置错误码。</a:t>
            </a:r>
            <a:endParaRPr lang="en-US" altLang="zh-CN" sz="1600" dirty="0">
              <a:latin typeface="宋体" panose="02010600030101010101" pitchFamily="2" charset="-122"/>
            </a:endParaRPr>
          </a:p>
          <a:p>
            <a:pPr marL="457200" lvl="1" indent="0">
              <a:spcBef>
                <a:spcPts val="275"/>
              </a:spcBef>
              <a:spcAft>
                <a:spcPts val="275"/>
              </a:spcAft>
              <a:buNone/>
            </a:pPr>
            <a:r>
              <a:rPr lang="zh-CN" altLang="en-US" sz="1600" dirty="0">
                <a:solidFill>
                  <a:srgbClr val="FF0000"/>
                </a:solidFill>
                <a:latin typeface="宋体" panose="02010600030101010101" pitchFamily="2" charset="-122"/>
              </a:rPr>
              <a:t>注意：读操作从文件的当前位移量处开始，在成功返回之前，该位移量增加实际读</a:t>
            </a:r>
            <a:r>
              <a:rPr lang="en-US" altLang="zh-CN" sz="1600" dirty="0">
                <a:solidFill>
                  <a:srgbClr val="FF0000"/>
                </a:solidFill>
                <a:latin typeface="宋体" panose="02010600030101010101" pitchFamily="2" charset="-122"/>
              </a:rPr>
              <a:t>	</a:t>
            </a:r>
            <a:r>
              <a:rPr lang="zh-CN" altLang="en-US" sz="1600" dirty="0">
                <a:solidFill>
                  <a:srgbClr val="FF0000"/>
                </a:solidFill>
                <a:latin typeface="宋体" panose="02010600030101010101" pitchFamily="2" charset="-122"/>
              </a:rPr>
              <a:t>取的字节数。</a:t>
            </a:r>
            <a:endParaRPr lang="zh-CN" altLang="en-US" sz="1600" dirty="0">
              <a:solidFill>
                <a:srgbClr val="FF0000"/>
              </a:solidFill>
              <a:latin typeface="宋体" panose="02010600030101010101" pitchFamily="2" charset="-122"/>
            </a:endParaRPr>
          </a:p>
          <a:p>
            <a:pPr marL="457200" lvl="1" indent="0">
              <a:spcBef>
                <a:spcPts val="275"/>
              </a:spcBef>
              <a:spcAft>
                <a:spcPts val="275"/>
              </a:spcAft>
              <a:buNone/>
            </a:pPr>
            <a:endParaRPr lang="zh-CN" altLang="en-US" sz="1600" dirty="0">
              <a:latin typeface="宋体" panose="02010600030101010101" pitchFamily="2" charset="-122"/>
            </a:endParaRPr>
          </a:p>
          <a:p>
            <a:pPr marL="457200" lvl="1" indent="0">
              <a:spcBef>
                <a:spcPts val="275"/>
              </a:spcBef>
              <a:spcAft>
                <a:spcPts val="275"/>
              </a:spcAft>
            </a:pPr>
            <a:endParaRPr lang="zh-CN" altLang="en-US" sz="1600" dirty="0">
              <a:latin typeface="宋体" panose="02010600030101010101" pitchFamily="2" charset="-122"/>
            </a:endParaRPr>
          </a:p>
        </p:txBody>
      </p:sp>
      <p:sp>
        <p:nvSpPr>
          <p:cNvPr id="3481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 -- read</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用来向一个已打开的可写文件中写入数据</a:t>
            </a:r>
            <a:endParaRPr lang="en-US" altLang="zh-CN" sz="1800" dirty="0">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rPr>
              <a:t>ssize_t write(int fd, const void *buf, size_t count);</a:t>
            </a:r>
            <a:endParaRPr lang="zh-CN" altLang="en-US" sz="18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Fd </a:t>
            </a:r>
            <a:r>
              <a:rPr lang="zh-CN" altLang="en-US" sz="1600" dirty="0">
                <a:latin typeface="宋体" panose="02010600030101010101" pitchFamily="2" charset="-122"/>
              </a:rPr>
              <a:t>：文件描述符</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Buf </a:t>
            </a:r>
            <a:r>
              <a:rPr lang="zh-CN" altLang="en-US" sz="1600" dirty="0">
                <a:latin typeface="宋体" panose="02010600030101010101" pitchFamily="2" charset="-122"/>
              </a:rPr>
              <a:t>：向文件写入的数据存放在</a:t>
            </a:r>
            <a:r>
              <a:rPr lang="en-US" altLang="zh-CN" sz="1600" dirty="0">
                <a:latin typeface="宋体" panose="02010600030101010101" pitchFamily="2" charset="-122"/>
              </a:rPr>
              <a:t>buf</a:t>
            </a:r>
            <a:r>
              <a:rPr lang="zh-CN" altLang="en-US" sz="1600" dirty="0">
                <a:latin typeface="宋体" panose="02010600030101010101" pitchFamily="2" charset="-122"/>
              </a:rPr>
              <a:t>中</a:t>
            </a:r>
            <a:endParaRPr lang="en-US" altLang="zh-CN" sz="1600" dirty="0">
              <a:latin typeface="宋体" panose="02010600030101010101" pitchFamily="2" charset="-122"/>
            </a:endParaRPr>
          </a:p>
          <a:p>
            <a:pPr marL="457200" lvl="1" indent="0">
              <a:spcBef>
                <a:spcPts val="275"/>
              </a:spcBef>
              <a:spcAft>
                <a:spcPts val="275"/>
              </a:spcAft>
            </a:pPr>
            <a:r>
              <a:rPr lang="en-US" altLang="zh-CN" sz="1600" dirty="0">
                <a:latin typeface="宋体" panose="02010600030101010101" pitchFamily="2" charset="-122"/>
              </a:rPr>
              <a:t>Count </a:t>
            </a:r>
            <a:r>
              <a:rPr lang="zh-CN" altLang="en-US" sz="1600" dirty="0">
                <a:latin typeface="宋体" panose="02010600030101010101" pitchFamily="2" charset="-122"/>
              </a:rPr>
              <a:t>：</a:t>
            </a:r>
            <a:r>
              <a:rPr lang="en-US" altLang="zh-CN" sz="1600" dirty="0">
                <a:latin typeface="宋体" panose="02010600030101010101" pitchFamily="2" charset="-122"/>
              </a:rPr>
              <a:t>buf</a:t>
            </a:r>
            <a:r>
              <a:rPr lang="zh-CN" altLang="en-US" sz="1600" dirty="0">
                <a:latin typeface="宋体" panose="02010600030101010101" pitchFamily="2" charset="-122"/>
              </a:rPr>
              <a:t>大小</a:t>
            </a:r>
            <a:endParaRPr lang="en-US" altLang="zh-CN" sz="1600" dirty="0">
              <a:latin typeface="宋体" panose="02010600030101010101" pitchFamily="2" charset="-122"/>
            </a:endParaRPr>
          </a:p>
          <a:p>
            <a:pPr marL="457200" lvl="1" indent="0">
              <a:spcBef>
                <a:spcPts val="275"/>
              </a:spcBef>
              <a:spcAft>
                <a:spcPts val="275"/>
              </a:spcAft>
            </a:pPr>
            <a:r>
              <a:rPr lang="zh-CN" altLang="en-US" sz="1600" dirty="0">
                <a:latin typeface="宋体" panose="02010600030101010101" pitchFamily="2" charset="-122"/>
              </a:rPr>
              <a:t>返回值：成功返回已写的字节数，失败返回</a:t>
            </a:r>
            <a:r>
              <a:rPr lang="en-US" altLang="zh-CN" sz="1600" dirty="0">
                <a:latin typeface="宋体" panose="02010600030101010101" pitchFamily="2" charset="-122"/>
              </a:rPr>
              <a:t>-1</a:t>
            </a:r>
            <a:r>
              <a:rPr lang="zh-CN" altLang="en-US" sz="1600" dirty="0">
                <a:latin typeface="宋体" panose="02010600030101010101" pitchFamily="2" charset="-122"/>
              </a:rPr>
              <a:t>，并设置</a:t>
            </a:r>
            <a:r>
              <a:rPr lang="en-US" altLang="zh-CN" sz="1600" dirty="0">
                <a:latin typeface="宋体" panose="02010600030101010101" pitchFamily="2" charset="-122"/>
              </a:rPr>
              <a:t>errno</a:t>
            </a:r>
            <a:r>
              <a:rPr lang="zh-CN" altLang="en-US" sz="1600" dirty="0">
                <a:latin typeface="宋体" panose="02010600030101010101" pitchFamily="2" charset="-122"/>
              </a:rPr>
              <a:t>。</a:t>
            </a:r>
            <a:endParaRPr lang="zh-CN" altLang="en-US" sz="1600" dirty="0">
              <a:latin typeface="宋体" panose="02010600030101010101" pitchFamily="2" charset="-122"/>
            </a:endParaRPr>
          </a:p>
          <a:p>
            <a:pPr marL="457200" lvl="1" indent="0">
              <a:spcBef>
                <a:spcPts val="275"/>
              </a:spcBef>
              <a:spcAft>
                <a:spcPts val="275"/>
              </a:spcAft>
              <a:buNone/>
            </a:pPr>
            <a:r>
              <a:rPr lang="zh-CN" altLang="en-US" sz="1600" dirty="0">
                <a:solidFill>
                  <a:srgbClr val="FF0000"/>
                </a:solidFill>
                <a:latin typeface="宋体" panose="02010600030101010101" pitchFamily="2" charset="-122"/>
              </a:rPr>
              <a:t>注意：在写入文件时不能一次完成写入情况写需要多次循环写入</a:t>
            </a:r>
            <a:endParaRPr lang="en-US" altLang="zh-CN" sz="1600" dirty="0">
              <a:solidFill>
                <a:srgbClr val="FF0000"/>
              </a:solidFill>
              <a:latin typeface="宋体" panose="02010600030101010101" pitchFamily="2" charset="-122"/>
            </a:endParaRPr>
          </a:p>
          <a:p>
            <a:pPr lvl="0" indent="-342900">
              <a:spcBef>
                <a:spcPts val="275"/>
              </a:spcBef>
              <a:spcAft>
                <a:spcPts val="275"/>
              </a:spcAft>
            </a:pPr>
            <a:endParaRPr lang="zh-CN" altLang="en-US" sz="1800" dirty="0">
              <a:latin typeface="宋体" panose="02010600030101010101" pitchFamily="2" charset="-122"/>
            </a:endParaRPr>
          </a:p>
        </p:txBody>
      </p:sp>
      <p:sp>
        <p:nvSpPr>
          <p:cNvPr id="3686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 -- write</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ts val="275"/>
              </a:spcBef>
              <a:spcAft>
                <a:spcPts val="275"/>
              </a:spcAft>
            </a:pPr>
            <a:r>
              <a:rPr lang="zh-CN" altLang="en-US" sz="1800" dirty="0">
                <a:latin typeface="宋体" panose="02010600030101010101" pitchFamily="2" charset="-122"/>
              </a:rPr>
              <a:t>通过打开的文件描述符设置文件的偏移</a:t>
            </a:r>
            <a:endParaRPr lang="en-US" altLang="zh-CN" sz="1800" dirty="0">
              <a:latin typeface="宋体" panose="02010600030101010101" pitchFamily="2" charset="-122"/>
            </a:endParaRPr>
          </a:p>
          <a:p>
            <a:pPr lvl="0" indent="-342900">
              <a:spcBef>
                <a:spcPts val="275"/>
              </a:spcBef>
              <a:spcAft>
                <a:spcPts val="275"/>
              </a:spcAft>
            </a:pPr>
            <a:r>
              <a:rPr lang="en-US" altLang="zh-CN" sz="1800" dirty="0">
                <a:latin typeface="宋体" panose="02010600030101010101" pitchFamily="2" charset="-122"/>
              </a:rPr>
              <a:t> off_t lseek(int fd, off_t offset, int whence);</a:t>
            </a:r>
            <a:endParaRPr lang="zh-CN" altLang="en-US" sz="1800" dirty="0">
              <a:latin typeface="宋体" panose="02010600030101010101" pitchFamily="2" charset="-122"/>
            </a:endParaRPr>
          </a:p>
          <a:p>
            <a:pPr lvl="1" indent="-285750">
              <a:spcBef>
                <a:spcPts val="275"/>
              </a:spcBef>
              <a:spcAft>
                <a:spcPts val="275"/>
              </a:spcAft>
            </a:pPr>
            <a:r>
              <a:rPr lang="en-US" altLang="zh-CN" sz="1600" dirty="0">
                <a:latin typeface="宋体" panose="02010600030101010101" pitchFamily="2" charset="-122"/>
              </a:rPr>
              <a:t>Fd </a:t>
            </a:r>
            <a:r>
              <a:rPr lang="zh-CN" altLang="en-US" sz="1600" dirty="0">
                <a:latin typeface="宋体" panose="02010600030101010101" pitchFamily="2" charset="-122"/>
              </a:rPr>
              <a:t>：文件描述符</a:t>
            </a:r>
            <a:endParaRPr lang="en-US" altLang="zh-CN" sz="1600" dirty="0">
              <a:latin typeface="宋体" panose="02010600030101010101" pitchFamily="2" charset="-122"/>
            </a:endParaRPr>
          </a:p>
          <a:p>
            <a:pPr lvl="1" indent="-285750">
              <a:spcBef>
                <a:spcPts val="275"/>
              </a:spcBef>
              <a:spcAft>
                <a:spcPts val="275"/>
              </a:spcAft>
            </a:pPr>
            <a:r>
              <a:rPr lang="en-US" altLang="zh-CN" sz="1600" dirty="0">
                <a:latin typeface="宋体" panose="02010600030101010101" pitchFamily="2" charset="-122"/>
              </a:rPr>
              <a:t>Offset </a:t>
            </a:r>
            <a:r>
              <a:rPr lang="zh-CN" altLang="en-US" sz="1600" dirty="0">
                <a:latin typeface="宋体" panose="02010600030101010101" pitchFamily="2" charset="-122"/>
              </a:rPr>
              <a:t>：</a:t>
            </a:r>
            <a:r>
              <a:rPr lang="zh-CN" altLang="en-US" sz="1600" dirty="0">
                <a:latin typeface="Arial" panose="020B0604020202020204" pitchFamily="34" charset="0"/>
                <a:sym typeface="Times New Roman" panose="02020603050405020304" pitchFamily="2" charset="0"/>
              </a:rPr>
              <a:t>偏移量，每一读写操作所需要移动的距离，单位是字节的数量，可正可负（向前移，向后移）</a:t>
            </a:r>
            <a:endParaRPr lang="en-US" altLang="zh-CN" sz="1600" dirty="0">
              <a:latin typeface="Arial" panose="020B0604020202020204" pitchFamily="34" charset="0"/>
              <a:sym typeface="Times New Roman" panose="02020603050405020304" pitchFamily="2" charset="0"/>
            </a:endParaRPr>
          </a:p>
          <a:p>
            <a:pPr lvl="1" indent="-285750">
              <a:spcBef>
                <a:spcPts val="275"/>
              </a:spcBef>
              <a:spcAft>
                <a:spcPts val="275"/>
              </a:spcAft>
            </a:pPr>
            <a:r>
              <a:rPr lang="en-US" altLang="zh-CN" sz="1600" dirty="0">
                <a:latin typeface="宋体" panose="02010600030101010101" pitchFamily="2" charset="-122"/>
              </a:rPr>
              <a:t>Whence</a:t>
            </a:r>
            <a:r>
              <a:rPr lang="zh-CN" altLang="en-US" sz="1600" dirty="0">
                <a:latin typeface="宋体" panose="02010600030101010101" pitchFamily="2" charset="-122"/>
              </a:rPr>
              <a:t>：</a:t>
            </a:r>
            <a:r>
              <a:rPr lang="en-US" altLang="zh-CN" sz="1600" dirty="0">
                <a:latin typeface="宋体" panose="02010600030101010101" pitchFamily="2" charset="-122"/>
              </a:rPr>
              <a:t>SEEK_SET</a:t>
            </a:r>
            <a:r>
              <a:rPr lang="zh-CN" altLang="en-US" sz="1600" dirty="0">
                <a:latin typeface="宋体" panose="02010600030101010101" pitchFamily="2" charset="-122"/>
              </a:rPr>
              <a:t>，</a:t>
            </a:r>
            <a:r>
              <a:rPr lang="en-US" altLang="zh-CN" sz="1600" dirty="0">
                <a:latin typeface="宋体" panose="02010600030101010101" pitchFamily="2" charset="-122"/>
              </a:rPr>
              <a:t>SEEK_CUR</a:t>
            </a:r>
            <a:r>
              <a:rPr lang="zh-CN" altLang="en-US" sz="1600" dirty="0">
                <a:latin typeface="宋体" panose="02010600030101010101" pitchFamily="2" charset="-122"/>
              </a:rPr>
              <a:t>，</a:t>
            </a:r>
            <a:r>
              <a:rPr lang="en-US" altLang="zh-CN" sz="1600" dirty="0">
                <a:latin typeface="宋体" panose="02010600030101010101" pitchFamily="2" charset="-122"/>
              </a:rPr>
              <a:t>SEEK_END</a:t>
            </a:r>
            <a:endParaRPr lang="zh-CN" altLang="en-US" sz="1600" dirty="0">
              <a:latin typeface="宋体" panose="02010600030101010101" pitchFamily="2" charset="-122"/>
            </a:endParaRPr>
          </a:p>
          <a:p>
            <a:pPr lvl="1" indent="-285750">
              <a:spcBef>
                <a:spcPts val="275"/>
              </a:spcBef>
              <a:spcAft>
                <a:spcPts val="275"/>
              </a:spcAft>
            </a:pPr>
            <a:r>
              <a:rPr lang="zh-CN" altLang="en-US" sz="1600" dirty="0">
                <a:latin typeface="宋体" panose="02010600030101010101" pitchFamily="2" charset="-122"/>
              </a:rPr>
              <a:t>返回值：成功返回文件的当前位移，失败</a:t>
            </a:r>
            <a:r>
              <a:rPr lang="en-US" altLang="zh-CN" sz="1600" dirty="0">
                <a:latin typeface="宋体" panose="02010600030101010101" pitchFamily="2" charset="-122"/>
              </a:rPr>
              <a:t>-1</a:t>
            </a:r>
            <a:endParaRPr lang="zh-CN" altLang="en-US" sz="1600" dirty="0">
              <a:latin typeface="宋体" panose="02010600030101010101" pitchFamily="2" charset="-122"/>
            </a:endParaRPr>
          </a:p>
        </p:txBody>
      </p:sp>
      <p:sp>
        <p:nvSpPr>
          <p:cNvPr id="3789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 -- lseek</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150000"/>
              </a:lnSpc>
              <a:buClr>
                <a:schemeClr val="tx1"/>
              </a:buClr>
              <a:buSzPct val="75000"/>
              <a:buFont typeface="Wingdings" panose="05000000000000000000" pitchFamily="2" charset="2"/>
              <a:buNone/>
            </a:pPr>
            <a:r>
              <a:rPr lang="zh-CN" altLang="en-US" sz="1800">
                <a:latin typeface="Arial" panose="020B0604020202020204" pitchFamily="34" charset="0"/>
              </a:rPr>
              <a:t>每个打开的文件都有一个与其相关的“当前文件位移量”，它是一个非负整数，用以度量从文件开始处计算的字节数。</a:t>
            </a:r>
            <a:endParaRPr lang="zh-CN" altLang="en-US" sz="1800">
              <a:latin typeface="Arial" panose="020B0604020202020204" pitchFamily="34" charset="0"/>
            </a:endParaRPr>
          </a:p>
          <a:p>
            <a:pPr marL="0" lvl="0" indent="0">
              <a:lnSpc>
                <a:spcPct val="150000"/>
              </a:lnSpc>
              <a:buClr>
                <a:schemeClr val="tx1"/>
              </a:buClr>
              <a:buSzPct val="75000"/>
              <a:buFont typeface="Wingdings" panose="05000000000000000000" pitchFamily="2" charset="2"/>
              <a:buNone/>
            </a:pPr>
            <a:r>
              <a:rPr lang="zh-CN" altLang="en-US" sz="1800">
                <a:latin typeface="Arial" panose="020B0604020202020204" pitchFamily="34" charset="0"/>
              </a:rPr>
              <a:t>通常，读</a:t>
            </a:r>
            <a:r>
              <a:rPr lang="en-US" altLang="zh-CN" sz="1800">
                <a:latin typeface="Arial" panose="020B0604020202020204" pitchFamily="34" charset="0"/>
              </a:rPr>
              <a:t>/</a:t>
            </a:r>
            <a:r>
              <a:rPr lang="zh-CN" altLang="en-US" sz="1800">
                <a:latin typeface="Arial" panose="020B0604020202020204" pitchFamily="34" charset="0"/>
              </a:rPr>
              <a:t>写操作都从</a:t>
            </a:r>
            <a:r>
              <a:rPr lang="zh-CN" altLang="en-US" sz="1800" b="1">
                <a:solidFill>
                  <a:srgbClr val="E30C07"/>
                </a:solidFill>
                <a:latin typeface="Arial" panose="020B0604020202020204" pitchFamily="34" charset="0"/>
              </a:rPr>
              <a:t>当前文件位移量处</a:t>
            </a:r>
            <a:r>
              <a:rPr lang="zh-CN" altLang="en-US" sz="1800">
                <a:latin typeface="Arial" panose="020B0604020202020204" pitchFamily="34" charset="0"/>
              </a:rPr>
              <a:t>开始，在读</a:t>
            </a:r>
            <a:r>
              <a:rPr lang="en-US" altLang="zh-CN" sz="1800">
                <a:latin typeface="Arial" panose="020B0604020202020204" pitchFamily="34" charset="0"/>
              </a:rPr>
              <a:t>/</a:t>
            </a:r>
            <a:r>
              <a:rPr lang="zh-CN" altLang="en-US" sz="1800">
                <a:latin typeface="Arial" panose="020B0604020202020204" pitchFamily="34" charset="0"/>
              </a:rPr>
              <a:t>写调用成功后，使位移量增加所读或者所写的字节数。</a:t>
            </a:r>
            <a:endParaRPr lang="zh-CN" altLang="en-US" sz="1800">
              <a:latin typeface="Arial" panose="020B0604020202020204" pitchFamily="34" charset="0"/>
            </a:endParaRPr>
          </a:p>
          <a:p>
            <a:pPr marL="0" lvl="0" indent="0">
              <a:lnSpc>
                <a:spcPct val="150000"/>
              </a:lnSpc>
              <a:buClr>
                <a:schemeClr val="tx1"/>
              </a:buClr>
              <a:buSzPct val="75000"/>
              <a:buFont typeface="Wingdings" panose="05000000000000000000" pitchFamily="2" charset="2"/>
              <a:buNone/>
            </a:pPr>
            <a:r>
              <a:rPr lang="en-US" altLang="zh-CN" sz="1800">
                <a:latin typeface="Arial" panose="020B0604020202020204" pitchFamily="34" charset="0"/>
              </a:rPr>
              <a:t>lseek()</a:t>
            </a:r>
            <a:r>
              <a:rPr lang="zh-CN" altLang="en-US" sz="1800">
                <a:latin typeface="Arial" panose="020B0604020202020204" pitchFamily="34" charset="0"/>
              </a:rPr>
              <a:t>调用成功为新的文件位移量，失败返回</a:t>
            </a:r>
            <a:r>
              <a:rPr lang="en-US" altLang="zh-CN" sz="1800">
                <a:latin typeface="Arial" panose="020B0604020202020204" pitchFamily="34" charset="0"/>
              </a:rPr>
              <a:t>-1</a:t>
            </a:r>
            <a:r>
              <a:rPr lang="zh-CN" altLang="en-US" sz="1800">
                <a:latin typeface="Arial" panose="020B0604020202020204" pitchFamily="34" charset="0"/>
              </a:rPr>
              <a:t>，并设置</a:t>
            </a:r>
            <a:r>
              <a:rPr lang="en-US" altLang="zh-CN" sz="1800">
                <a:latin typeface="Arial" panose="020B0604020202020204" pitchFamily="34" charset="0"/>
              </a:rPr>
              <a:t>errno</a:t>
            </a:r>
            <a:r>
              <a:rPr lang="zh-CN" altLang="en-US" sz="1800">
                <a:latin typeface="Arial" panose="020B0604020202020204" pitchFamily="34" charset="0"/>
              </a:rPr>
              <a:t>。</a:t>
            </a:r>
            <a:endParaRPr lang="zh-CN" altLang="en-US" sz="1800">
              <a:latin typeface="Arial" panose="020B0604020202020204" pitchFamily="34" charset="0"/>
            </a:endParaRPr>
          </a:p>
          <a:p>
            <a:pPr marL="0" lvl="0" indent="0">
              <a:lnSpc>
                <a:spcPct val="150000"/>
              </a:lnSpc>
              <a:buClr>
                <a:schemeClr val="tx1"/>
              </a:buClr>
              <a:buSzPct val="75000"/>
              <a:buFont typeface="Wingdings" panose="05000000000000000000" pitchFamily="2" charset="2"/>
              <a:buNone/>
            </a:pPr>
            <a:r>
              <a:rPr lang="en-US" altLang="zh-CN" sz="1800" b="1">
                <a:solidFill>
                  <a:srgbClr val="E30C07"/>
                </a:solidFill>
                <a:latin typeface="Arial" panose="020B0604020202020204" pitchFamily="34" charset="0"/>
              </a:rPr>
              <a:t>lseek()</a:t>
            </a:r>
            <a:r>
              <a:rPr lang="zh-CN" altLang="en-US" sz="1800" b="1">
                <a:solidFill>
                  <a:srgbClr val="E30C07"/>
                </a:solidFill>
                <a:latin typeface="Arial" panose="020B0604020202020204" pitchFamily="34" charset="0"/>
              </a:rPr>
              <a:t>只对常规文件有效</a:t>
            </a:r>
            <a:r>
              <a:rPr lang="zh-CN" altLang="en-US" sz="1800">
                <a:solidFill>
                  <a:srgbClr val="E30C07"/>
                </a:solidFill>
                <a:latin typeface="Arial" panose="020B0604020202020204" pitchFamily="34" charset="0"/>
              </a:rPr>
              <a:t>，</a:t>
            </a:r>
            <a:r>
              <a:rPr lang="zh-CN" altLang="en-US" sz="1800">
                <a:latin typeface="Arial" panose="020B0604020202020204" pitchFamily="34" charset="0"/>
              </a:rPr>
              <a:t>对</a:t>
            </a:r>
            <a:r>
              <a:rPr lang="en-US" altLang="zh-CN" sz="1800">
                <a:latin typeface="Arial" panose="020B0604020202020204" pitchFamily="34" charset="0"/>
              </a:rPr>
              <a:t>socket</a:t>
            </a:r>
            <a:r>
              <a:rPr lang="zh-CN" altLang="en-US" sz="1800">
                <a:latin typeface="Arial" panose="020B0604020202020204" pitchFamily="34" charset="0"/>
              </a:rPr>
              <a:t>、管道、</a:t>
            </a:r>
            <a:r>
              <a:rPr lang="en-US" altLang="zh-CN" sz="1800">
                <a:latin typeface="Arial" panose="020B0604020202020204" pitchFamily="34" charset="0"/>
              </a:rPr>
              <a:t>FIFO</a:t>
            </a:r>
            <a:r>
              <a:rPr lang="zh-CN" altLang="en-US" sz="1800">
                <a:latin typeface="Arial" panose="020B0604020202020204" pitchFamily="34" charset="0"/>
              </a:rPr>
              <a:t>等进行</a:t>
            </a:r>
            <a:r>
              <a:rPr lang="en-US" altLang="zh-CN" sz="1800">
                <a:latin typeface="Arial" panose="020B0604020202020204" pitchFamily="34" charset="0"/>
              </a:rPr>
              <a:t>lseek()</a:t>
            </a:r>
            <a:r>
              <a:rPr lang="zh-CN" altLang="en-US" sz="1800">
                <a:latin typeface="Arial" panose="020B0604020202020204" pitchFamily="34" charset="0"/>
              </a:rPr>
              <a:t>操作失败。</a:t>
            </a:r>
            <a:endParaRPr lang="zh-CN" altLang="en-US" sz="1800">
              <a:latin typeface="Arial" panose="020B0604020202020204" pitchFamily="34" charset="0"/>
            </a:endParaRPr>
          </a:p>
          <a:p>
            <a:pPr marL="0" lvl="0" indent="0">
              <a:lnSpc>
                <a:spcPct val="150000"/>
              </a:lnSpc>
              <a:buClr>
                <a:schemeClr val="tx1"/>
              </a:buClr>
              <a:buSzPct val="75000"/>
              <a:buFont typeface="Wingdings" panose="05000000000000000000" pitchFamily="2" charset="2"/>
              <a:buNone/>
            </a:pPr>
            <a:r>
              <a:rPr lang="en-US" altLang="zh-CN" sz="1800">
                <a:latin typeface="Arial" panose="020B0604020202020204" pitchFamily="34" charset="0"/>
              </a:rPr>
              <a:t>lseek()</a:t>
            </a:r>
            <a:r>
              <a:rPr lang="zh-CN" altLang="en-US" sz="1800">
                <a:latin typeface="Arial" panose="020B0604020202020204" pitchFamily="34" charset="0"/>
              </a:rPr>
              <a:t>仅将当前文件的位移量记录在内核中，它并</a:t>
            </a:r>
            <a:r>
              <a:rPr lang="zh-CN" altLang="en-US" sz="1800" b="1">
                <a:solidFill>
                  <a:srgbClr val="E30C07"/>
                </a:solidFill>
                <a:latin typeface="Arial" panose="020B0604020202020204" pitchFamily="34" charset="0"/>
              </a:rPr>
              <a:t>不引起任何</a:t>
            </a:r>
            <a:r>
              <a:rPr lang="en-US" altLang="zh-CN" sz="1800" b="1">
                <a:solidFill>
                  <a:srgbClr val="E30C07"/>
                </a:solidFill>
                <a:latin typeface="Arial" panose="020B0604020202020204" pitchFamily="34" charset="0"/>
              </a:rPr>
              <a:t>I/O</a:t>
            </a:r>
            <a:r>
              <a:rPr lang="zh-CN" altLang="en-US" sz="1800" b="1">
                <a:solidFill>
                  <a:srgbClr val="E30C07"/>
                </a:solidFill>
                <a:latin typeface="Arial" panose="020B0604020202020204" pitchFamily="34" charset="0"/>
              </a:rPr>
              <a:t>操作</a:t>
            </a:r>
            <a:r>
              <a:rPr lang="zh-CN" altLang="en-US" sz="1800">
                <a:latin typeface="Arial" panose="020B0604020202020204" pitchFamily="34" charset="0"/>
              </a:rPr>
              <a:t>。</a:t>
            </a:r>
            <a:endParaRPr lang="zh-CN" altLang="en-US" sz="1800">
              <a:latin typeface="Arial" panose="020B0604020202020204" pitchFamily="34" charset="0"/>
            </a:endParaRPr>
          </a:p>
          <a:p>
            <a:pPr marL="0" lvl="0" indent="0">
              <a:lnSpc>
                <a:spcPct val="150000"/>
              </a:lnSpc>
              <a:buClr>
                <a:schemeClr val="tx1"/>
              </a:buClr>
              <a:buSzPct val="75000"/>
              <a:buFont typeface="Wingdings" panose="05000000000000000000" pitchFamily="2" charset="2"/>
              <a:buNone/>
            </a:pPr>
            <a:r>
              <a:rPr lang="zh-CN" altLang="en-US" sz="1800">
                <a:latin typeface="Arial" panose="020B0604020202020204" pitchFamily="34" charset="0"/>
              </a:rPr>
              <a:t>文件位移量可以大于文件的当前长度，在这种情况下，对该文件的写操作会延长文件，并形成空洞。</a:t>
            </a:r>
            <a:endParaRPr lang="zh-CN" altLang="en-US" sz="1600" dirty="0">
              <a:latin typeface="宋体" panose="02010600030101010101" pitchFamily="2" charset="-122"/>
            </a:endParaRPr>
          </a:p>
        </p:txBody>
      </p:sp>
      <p:sp>
        <p:nvSpPr>
          <p:cNvPr id="3891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 -- lseek</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150000"/>
              </a:lnSpc>
              <a:buClr>
                <a:schemeClr val="tx1"/>
              </a:buClr>
              <a:buSzPct val="75000"/>
              <a:buFont typeface="Wingdings" panose="05000000000000000000" pitchFamily="2" charset="2"/>
              <a:buNone/>
            </a:pPr>
            <a:endParaRPr lang="zh-CN" altLang="en-US" sz="1600" dirty="0">
              <a:latin typeface="宋体" panose="02010600030101010101" pitchFamily="2" charset="-122"/>
            </a:endParaRPr>
          </a:p>
          <a:p>
            <a:pPr marL="0" lvl="0" indent="0">
              <a:lnSpc>
                <a:spcPct val="150000"/>
              </a:lnSpc>
              <a:buClr>
                <a:schemeClr val="tx1"/>
              </a:buClr>
              <a:buSzPct val="75000"/>
              <a:buFont typeface="Wingdings" panose="05000000000000000000" pitchFamily="2" charset="2"/>
              <a:buNone/>
            </a:pPr>
            <a:endParaRPr lang="zh-CN" altLang="en-US" sz="1600" dirty="0">
              <a:latin typeface="宋体" panose="02010600030101010101" pitchFamily="2" charset="-122"/>
            </a:endParaRPr>
          </a:p>
        </p:txBody>
      </p:sp>
      <p:sp>
        <p:nvSpPr>
          <p:cNvPr id="4096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标准</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与文件</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区别</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216067" name="Group 3"/>
          <p:cNvGraphicFramePr>
            <a:graphicFrameLocks noGrp="1"/>
          </p:cNvGraphicFramePr>
          <p:nvPr>
            <p:ph idx="1"/>
          </p:nvPr>
        </p:nvGraphicFramePr>
        <p:xfrm>
          <a:off x="611188" y="933450"/>
          <a:ext cx="6977063" cy="4084638"/>
        </p:xfrm>
        <a:graphic>
          <a:graphicData uri="http://schemas.openxmlformats.org/drawingml/2006/table">
            <a:tbl>
              <a:tblPr/>
              <a:tblGrid>
                <a:gridCol w="1367790"/>
                <a:gridCol w="1419860"/>
                <a:gridCol w="4189095"/>
              </a:tblGrid>
              <a:tr h="396240">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I/O</a:t>
                      </a: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模型</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文件</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I/O</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标准</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I/O</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r>
              <a:tr h="701040">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缓冲方式</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99FF"/>
                    </a:solid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非缓冲</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I/O</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缓冲</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I/O</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040">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操作对象</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99FF"/>
                    </a:solid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文件描述符</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流</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(FILE *)</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40">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打开</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99FF"/>
                    </a:solid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open()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fopen()/freopen()/fdopen()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40">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读</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99FF"/>
                    </a:solid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read()</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fread()/fgetc()/fgets()…</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40">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写</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99FF"/>
                    </a:solid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write()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fwrite()/fputc()/fputs()…</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040">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定位</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99FF"/>
                    </a:solid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lseek()</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fseek()/ftell()/rewind()/fsetpos()/fgetpos()</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40">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关闭</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99FF"/>
                    </a:solid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close()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fclose()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文本占位符 1"/>
          <p:cNvSpPr>
            <a:spLocks noGrp="1"/>
          </p:cNvSpPr>
          <p:nvPr>
            <p:ph sz="quarter"/>
          </p:nvPr>
        </p:nvSpPr>
        <p:spPr>
          <a:xfrm>
            <a:off x="612775" y="933450"/>
            <a:ext cx="7991475" cy="3725863"/>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150000"/>
              </a:lnSpc>
              <a:buClr>
                <a:schemeClr val="tx1"/>
              </a:buClr>
              <a:buSzPct val="75000"/>
              <a:buFont typeface="Wingdings" panose="05000000000000000000" pitchFamily="2" charset="2"/>
              <a:buNone/>
            </a:pPr>
            <a:r>
              <a:rPr lang="zh-CN" altLang="en-US" sz="1600" dirty="0">
                <a:latin typeface="Arial" panose="020B0604020202020204" pitchFamily="34" charset="0"/>
              </a:rPr>
              <a:t>掌握文件属性获取</a:t>
            </a:r>
            <a:endParaRPr lang="zh-CN" altLang="en-US" sz="1600" dirty="0">
              <a:latin typeface="Arial" panose="020B0604020202020204" pitchFamily="34" charset="0"/>
            </a:endParaRPr>
          </a:p>
          <a:p>
            <a:pPr marL="0" lvl="0" indent="0">
              <a:lnSpc>
                <a:spcPct val="150000"/>
              </a:lnSpc>
              <a:buClr>
                <a:schemeClr val="tx1"/>
              </a:buClr>
              <a:buSzPct val="75000"/>
              <a:buFont typeface="Wingdings" panose="05000000000000000000" pitchFamily="2" charset="2"/>
              <a:buNone/>
            </a:pPr>
            <a:r>
              <a:rPr lang="en-US" altLang="zh-CN" sz="1600" dirty="0">
                <a:latin typeface="Arial" panose="020B0604020202020204" pitchFamily="34" charset="0"/>
              </a:rPr>
              <a:t>  stat()</a:t>
            </a:r>
            <a:endParaRPr lang="en-US" altLang="zh-CN" sz="1600" dirty="0">
              <a:latin typeface="Arial" panose="020B0604020202020204" pitchFamily="34" charset="0"/>
            </a:endParaRPr>
          </a:p>
          <a:p>
            <a:pPr marL="0" lvl="0" indent="0">
              <a:lnSpc>
                <a:spcPct val="150000"/>
              </a:lnSpc>
              <a:buClr>
                <a:schemeClr val="tx1"/>
              </a:buClr>
              <a:buSzPct val="75000"/>
              <a:buFont typeface="Wingdings" panose="05000000000000000000" pitchFamily="2" charset="2"/>
              <a:buNone/>
            </a:pPr>
            <a:r>
              <a:rPr lang="zh-CN" altLang="en-US" sz="1600" dirty="0">
                <a:latin typeface="Arial" panose="020B0604020202020204" pitchFamily="34" charset="0"/>
              </a:rPr>
              <a:t>掌握目录操作相关的函数</a:t>
            </a:r>
            <a:endParaRPr lang="zh-CN" altLang="en-US" sz="1600" dirty="0">
              <a:latin typeface="Arial" panose="020B0604020202020204" pitchFamily="34" charset="0"/>
            </a:endParaRPr>
          </a:p>
          <a:p>
            <a:pPr marL="0" lvl="0" indent="0">
              <a:lnSpc>
                <a:spcPct val="150000"/>
              </a:lnSpc>
              <a:buClr>
                <a:schemeClr val="tx1"/>
              </a:buClr>
              <a:buSzPct val="75000"/>
              <a:buFont typeface="Wingdings" panose="05000000000000000000" pitchFamily="2" charset="2"/>
              <a:buNone/>
            </a:pPr>
            <a:r>
              <a:rPr lang="zh-CN" altLang="en-US" sz="1600" dirty="0">
                <a:latin typeface="Arial" panose="020B0604020202020204" pitchFamily="34" charset="0"/>
              </a:rPr>
              <a:t> </a:t>
            </a:r>
            <a:r>
              <a:rPr lang="en-US" altLang="zh-CN" sz="1600" dirty="0" err="1">
                <a:latin typeface="Arial" panose="020B0604020202020204" pitchFamily="34" charset="0"/>
              </a:rPr>
              <a:t>opendir</a:t>
            </a:r>
            <a:r>
              <a:rPr lang="en-US" altLang="zh-CN" sz="1600" dirty="0">
                <a:latin typeface="Arial" panose="020B0604020202020204" pitchFamily="34" charset="0"/>
              </a:rPr>
              <a:t>()</a:t>
            </a:r>
            <a:r>
              <a:rPr lang="zh-CN" altLang="en-US" sz="1600" dirty="0">
                <a:latin typeface="Arial" panose="020B0604020202020204" pitchFamily="34" charset="0"/>
              </a:rPr>
              <a:t>、</a:t>
            </a:r>
            <a:r>
              <a:rPr lang="en-US" altLang="zh-CN" sz="1600" dirty="0" err="1">
                <a:latin typeface="Arial" panose="020B0604020202020204" pitchFamily="34" charset="0"/>
              </a:rPr>
              <a:t>readdir</a:t>
            </a:r>
            <a:r>
              <a:rPr lang="en-US" altLang="zh-CN" sz="1600" dirty="0">
                <a:latin typeface="Arial" panose="020B0604020202020204" pitchFamily="34" charset="0"/>
              </a:rPr>
              <a:t>()</a:t>
            </a:r>
            <a:r>
              <a:rPr lang="zh-CN" altLang="en-US" sz="1600" dirty="0">
                <a:latin typeface="Arial" panose="020B0604020202020204" pitchFamily="34" charset="0"/>
              </a:rPr>
              <a:t>、</a:t>
            </a:r>
            <a:r>
              <a:rPr lang="en-US" altLang="zh-CN" sz="1600" dirty="0">
                <a:latin typeface="Arial" panose="020B0604020202020204" pitchFamily="34" charset="0"/>
              </a:rPr>
              <a:t>closedir()</a:t>
            </a:r>
            <a:endParaRPr lang="zh-CN" altLang="en-US" sz="1600" dirty="0">
              <a:latin typeface="Arial" panose="020B0604020202020204" pitchFamily="34" charset="0"/>
            </a:endParaRPr>
          </a:p>
          <a:p>
            <a:pPr marL="0" lvl="0" indent="0">
              <a:lnSpc>
                <a:spcPct val="150000"/>
              </a:lnSpc>
              <a:buClr>
                <a:schemeClr val="tx1"/>
              </a:buClr>
              <a:buSzPct val="75000"/>
              <a:buFont typeface="Wingdings" panose="05000000000000000000" pitchFamily="2" charset="2"/>
              <a:buNone/>
            </a:pPr>
            <a:endParaRPr lang="en-US" altLang="zh-CN" sz="1600" dirty="0">
              <a:latin typeface="宋体" panose="02010600030101010101" pitchFamily="2" charset="-122"/>
            </a:endParaRPr>
          </a:p>
        </p:txBody>
      </p:sp>
      <p:sp>
        <p:nvSpPr>
          <p:cNvPr id="4198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文件和目录</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文件和目录</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43011" name="Picture 3"/>
          <p:cNvPicPr>
            <a:picLocks noChangeAspect="1"/>
          </p:cNvPicPr>
          <p:nvPr>
            <p:ph sz="quarter"/>
          </p:nvPr>
        </p:nvPicPr>
        <p:blipFill>
          <a:blip r:embed="rId1"/>
          <a:stretch>
            <a:fillRect/>
          </a:stretch>
        </p:blipFill>
        <p:spPr>
          <a:xfrm>
            <a:off x="611188" y="1157288"/>
            <a:ext cx="7610475" cy="1114425"/>
          </a:xfrm>
          <a:prstGeom prst="rect">
            <a:avLst/>
          </a:prstGeom>
          <a:noFill/>
          <a:ln w="9525">
            <a:noFill/>
          </a:ln>
        </p:spPr>
      </p:pic>
      <p:sp>
        <p:nvSpPr>
          <p:cNvPr id="43012" name="文本框 2"/>
          <p:cNvSpPr txBox="1"/>
          <p:nvPr/>
        </p:nvSpPr>
        <p:spPr>
          <a:xfrm>
            <a:off x="661988" y="2427288"/>
            <a:ext cx="7583487" cy="2584450"/>
          </a:xfrm>
          <a:prstGeom prst="rect">
            <a:avLst/>
          </a:prstGeom>
          <a:noFill/>
          <a:ln w="9525">
            <a:noFill/>
          </a:ln>
        </p:spPr>
        <p:txBody>
          <a:bodyPr wrap="square" anchor="t" anchorCtr="0">
            <a:spAutoFit/>
          </a:bodyPr>
          <a:p>
            <a:pPr marL="342900" indent="-342900">
              <a:lnSpc>
                <a:spcPct val="150000"/>
              </a:lnSpc>
            </a:pPr>
            <a:r>
              <a:rPr lang="zh-CN" altLang="en-US" dirty="0">
                <a:latin typeface="Arial" panose="020B0604020202020204" pitchFamily="34" charset="0"/>
                <a:ea typeface="宋体" panose="02010600030101010101" pitchFamily="2" charset="-122"/>
              </a:rPr>
              <a:t>三个函数的返回：若成功则为</a:t>
            </a:r>
            <a:r>
              <a:rPr lang="en-US" altLang="zh-CN" dirty="0">
                <a:latin typeface="Arial" panose="020B0604020202020204" pitchFamily="34" charset="0"/>
                <a:ea typeface="宋体" panose="02010600030101010101" pitchFamily="2" charset="-122"/>
              </a:rPr>
              <a:t>0</a:t>
            </a:r>
            <a:r>
              <a:rPr lang="zh-CN" altLang="en-US" dirty="0">
                <a:latin typeface="Arial" panose="020B0604020202020204" pitchFamily="34" charset="0"/>
                <a:ea typeface="宋体" panose="02010600030101010101" pitchFamily="2" charset="-122"/>
              </a:rPr>
              <a:t>，若出错则为</a:t>
            </a:r>
            <a:r>
              <a:rPr lang="en-US" altLang="zh-CN" dirty="0">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并且设置</a:t>
            </a:r>
            <a:r>
              <a:rPr lang="en-US" altLang="zh-CN" dirty="0" err="1">
                <a:latin typeface="Arial" panose="020B0604020202020204" pitchFamily="34" charset="0"/>
                <a:ea typeface="宋体" panose="02010600030101010101" pitchFamily="2" charset="-122"/>
              </a:rPr>
              <a:t>errno</a:t>
            </a: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a:p>
            <a:pPr marL="342900" indent="-342900">
              <a:lnSpc>
                <a:spcPct val="150000"/>
              </a:lnSpc>
            </a:pPr>
            <a:r>
              <a:rPr lang="zh-CN" altLang="en-US" dirty="0">
                <a:latin typeface="Arial" panose="020B0604020202020204" pitchFamily="34" charset="0"/>
                <a:ea typeface="宋体" panose="02010600030101010101" pitchFamily="2" charset="-122"/>
              </a:rPr>
              <a:t>给定一个</a:t>
            </a:r>
            <a:r>
              <a:rPr lang="en-US" altLang="zh-CN" dirty="0">
                <a:latin typeface="Arial" panose="020B0604020202020204" pitchFamily="34" charset="0"/>
                <a:ea typeface="宋体" panose="02010600030101010101" pitchFamily="2" charset="-122"/>
              </a:rPr>
              <a:t>pathname</a:t>
            </a:r>
            <a:r>
              <a:rPr lang="zh-CN" altLang="en-US" dirty="0">
                <a:latin typeface="Arial" panose="020B0604020202020204" pitchFamily="34" charset="0"/>
                <a:ea typeface="宋体" panose="02010600030101010101" pitchFamily="2" charset="-122"/>
              </a:rPr>
              <a:t>的情况下：</a:t>
            </a:r>
            <a:endParaRPr lang="zh-CN" altLang="en-US" dirty="0">
              <a:latin typeface="Arial" panose="020B0604020202020204" pitchFamily="34" charset="0"/>
              <a:ea typeface="宋体" panose="02010600030101010101" pitchFamily="2" charset="-122"/>
            </a:endParaRPr>
          </a:p>
          <a:p>
            <a:pPr lvl="1" indent="0">
              <a:lnSpc>
                <a:spcPct val="150000"/>
              </a:lnSpc>
              <a:buSzPct val="75000"/>
              <a:buFont typeface="Wingdings" panose="05000000000000000000" pitchFamily="2" charset="2"/>
            </a:pPr>
            <a:r>
              <a:rPr lang="en-US" altLang="zh-CN" dirty="0">
                <a:latin typeface="Arial" panose="020B0604020202020204" pitchFamily="34" charset="0"/>
                <a:ea typeface="+mn-ea"/>
              </a:rPr>
              <a:t>stat</a:t>
            </a:r>
            <a:r>
              <a:rPr lang="zh-CN" altLang="en-US" dirty="0">
                <a:latin typeface="Arial" panose="020B0604020202020204" pitchFamily="34" charset="0"/>
                <a:ea typeface="+mn-ea"/>
              </a:rPr>
              <a:t>函数返回一个与此命名文件有关的信息结构</a:t>
            </a:r>
            <a:endParaRPr lang="zh-CN" altLang="en-US" u="none" dirty="0">
              <a:latin typeface="Arial" panose="020B0604020202020204" pitchFamily="34" charset="0"/>
              <a:ea typeface="+mn-ea"/>
            </a:endParaRPr>
          </a:p>
          <a:p>
            <a:pPr lvl="1" indent="0">
              <a:lnSpc>
                <a:spcPct val="150000"/>
              </a:lnSpc>
              <a:buSzPct val="75000"/>
              <a:buFont typeface="Wingdings" panose="05000000000000000000" pitchFamily="2" charset="2"/>
            </a:pPr>
            <a:r>
              <a:rPr lang="en-US" altLang="zh-CN" dirty="0" err="1">
                <a:latin typeface="Arial" panose="020B0604020202020204" pitchFamily="34" charset="0"/>
                <a:ea typeface="+mn-ea"/>
              </a:rPr>
              <a:t>fstat</a:t>
            </a:r>
            <a:r>
              <a:rPr lang="zh-CN" altLang="en-US" dirty="0">
                <a:latin typeface="Arial" panose="020B0604020202020204" pitchFamily="34" charset="0"/>
                <a:ea typeface="+mn-ea"/>
              </a:rPr>
              <a:t>函数获得已在描述符</a:t>
            </a:r>
            <a:r>
              <a:rPr lang="en-US" altLang="zh-CN" dirty="0" err="1">
                <a:latin typeface="Arial" panose="020B0604020202020204" pitchFamily="34" charset="0"/>
                <a:ea typeface="+mn-ea"/>
              </a:rPr>
              <a:t>filedes</a:t>
            </a:r>
            <a:r>
              <a:rPr lang="zh-CN" altLang="en-US" dirty="0">
                <a:latin typeface="Arial" panose="020B0604020202020204" pitchFamily="34" charset="0"/>
                <a:ea typeface="+mn-ea"/>
              </a:rPr>
              <a:t>上打开的文件的有关信息</a:t>
            </a:r>
            <a:endParaRPr lang="zh-CN" altLang="en-US" u="none" dirty="0">
              <a:latin typeface="Arial" panose="020B0604020202020204" pitchFamily="34" charset="0"/>
              <a:ea typeface="+mn-ea"/>
            </a:endParaRPr>
          </a:p>
          <a:p>
            <a:pPr lvl="1" indent="0">
              <a:lnSpc>
                <a:spcPct val="150000"/>
              </a:lnSpc>
              <a:buSzPct val="75000"/>
              <a:buFont typeface="Wingdings" panose="05000000000000000000" pitchFamily="2" charset="2"/>
            </a:pPr>
            <a:r>
              <a:rPr lang="en-US" altLang="zh-CN" dirty="0" err="1">
                <a:latin typeface="Arial" panose="020B0604020202020204" pitchFamily="34" charset="0"/>
                <a:ea typeface="+mn-ea"/>
              </a:rPr>
              <a:t>lstat</a:t>
            </a:r>
            <a:r>
              <a:rPr lang="zh-CN" altLang="en-US" dirty="0">
                <a:latin typeface="Arial" panose="020B0604020202020204" pitchFamily="34" charset="0"/>
                <a:ea typeface="+mn-ea"/>
              </a:rPr>
              <a:t>函数类似于</a:t>
            </a:r>
            <a:r>
              <a:rPr lang="en-US" altLang="zh-CN" dirty="0">
                <a:latin typeface="Arial" panose="020B0604020202020204" pitchFamily="34" charset="0"/>
                <a:ea typeface="+mn-ea"/>
              </a:rPr>
              <a:t>stat</a:t>
            </a:r>
            <a:r>
              <a:rPr lang="zh-CN" altLang="en-US" dirty="0">
                <a:latin typeface="Arial" panose="020B0604020202020204" pitchFamily="34" charset="0"/>
                <a:ea typeface="+mn-ea"/>
              </a:rPr>
              <a:t>，但是当命名的文件是一个符号连接时，</a:t>
            </a:r>
            <a:r>
              <a:rPr lang="en-US" altLang="zh-CN" dirty="0" err="1">
                <a:latin typeface="Arial" panose="020B0604020202020204" pitchFamily="34" charset="0"/>
                <a:ea typeface="+mn-ea"/>
              </a:rPr>
              <a:t>lstat</a:t>
            </a:r>
            <a:r>
              <a:rPr lang="zh-CN" altLang="en-US" dirty="0">
                <a:latin typeface="Arial" panose="020B0604020202020204" pitchFamily="34" charset="0"/>
                <a:ea typeface="+mn-ea"/>
              </a:rPr>
              <a:t>返回该符号连接的有关信息，而不是由该符号连接引用的文件的信息</a:t>
            </a:r>
            <a:endParaRPr lang="zh-CN" altLang="en-US">
              <a:latin typeface="Arial" panose="020B0604020202020204" pitchFamily="34" charset="0"/>
              <a:ea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文件和目录</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44035" name="Picture 3"/>
          <p:cNvPicPr>
            <a:picLocks noChangeAspect="1"/>
          </p:cNvPicPr>
          <p:nvPr/>
        </p:nvPicPr>
        <p:blipFill>
          <a:blip r:embed="rId1"/>
          <a:stretch>
            <a:fillRect/>
          </a:stretch>
        </p:blipFill>
        <p:spPr>
          <a:xfrm>
            <a:off x="760413" y="1674813"/>
            <a:ext cx="7621587" cy="3032125"/>
          </a:xfrm>
          <a:prstGeom prst="rect">
            <a:avLst/>
          </a:prstGeom>
          <a:noFill/>
          <a:ln w="9525">
            <a:noFill/>
          </a:ln>
        </p:spPr>
      </p:pic>
      <p:sp>
        <p:nvSpPr>
          <p:cNvPr id="44036" name="文本框 3"/>
          <p:cNvSpPr txBox="1"/>
          <p:nvPr/>
        </p:nvSpPr>
        <p:spPr>
          <a:xfrm>
            <a:off x="762000" y="1206500"/>
            <a:ext cx="4960938" cy="368300"/>
          </a:xfrm>
          <a:prstGeom prst="rect">
            <a:avLst/>
          </a:prstGeom>
          <a:noFill/>
          <a:ln w="9525">
            <a:noFill/>
          </a:ln>
        </p:spPr>
        <p:txBody>
          <a:bodyPr wrap="square" anchor="t" anchorCtr="0">
            <a:spAutoFit/>
          </a:bodyPr>
          <a:p>
            <a:r>
              <a:rPr lang="en-US" altLang="zh-CN">
                <a:latin typeface="Arial" panose="020B0604020202020204" pitchFamily="34" charset="0"/>
                <a:ea typeface="宋体" panose="02010600030101010101" pitchFamily="2" charset="-122"/>
              </a:rPr>
              <a:t>stat </a:t>
            </a:r>
            <a:r>
              <a:rPr lang="zh-CN" altLang="en-US">
                <a:latin typeface="Arial" panose="020B0604020202020204" pitchFamily="34" charset="0"/>
                <a:ea typeface="宋体" panose="02010600030101010101" pitchFamily="2" charset="-122"/>
              </a:rPr>
              <a:t>结构体定义</a:t>
            </a:r>
            <a:endParaRPr lang="zh-CN" altLang="en-US">
              <a:latin typeface="Arial" panose="020B0604020202020204" pitchFamily="34" charset="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文件和目录</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45059" name="文本框 3"/>
          <p:cNvSpPr txBox="1"/>
          <p:nvPr/>
        </p:nvSpPr>
        <p:spPr>
          <a:xfrm>
            <a:off x="762000" y="1238250"/>
            <a:ext cx="6042025" cy="644525"/>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可以用以下的宏确定文件类型。这些宏的参数都是</a:t>
            </a:r>
            <a:r>
              <a:rPr lang="en-US" altLang="zh-CN">
                <a:latin typeface="Arial" panose="020B0604020202020204" pitchFamily="34" charset="0"/>
                <a:ea typeface="宋体" panose="02010600030101010101" pitchFamily="2" charset="-122"/>
              </a:rPr>
              <a:t>struct stat</a:t>
            </a:r>
            <a:r>
              <a:rPr lang="zh-CN" altLang="en-US">
                <a:latin typeface="Arial" panose="020B0604020202020204" pitchFamily="34" charset="0"/>
                <a:ea typeface="宋体" panose="02010600030101010101" pitchFamily="2" charset="-122"/>
              </a:rPr>
              <a:t>结构中的</a:t>
            </a:r>
            <a:r>
              <a:rPr lang="en-US" altLang="zh-CN">
                <a:latin typeface="Arial" panose="020B0604020202020204" pitchFamily="34" charset="0"/>
                <a:ea typeface="宋体" panose="02010600030101010101" pitchFamily="2" charset="-122"/>
              </a:rPr>
              <a:t>st_mode</a:t>
            </a:r>
            <a:r>
              <a:rPr lang="zh-CN" altLang="en-US">
                <a:latin typeface="Arial" panose="020B0604020202020204" pitchFamily="34" charset="0"/>
                <a:ea typeface="宋体" panose="02010600030101010101" pitchFamily="2" charset="-122"/>
              </a:rPr>
              <a:t>成员。</a:t>
            </a:r>
            <a:endParaRPr lang="zh-CN" altLang="en-US">
              <a:latin typeface="Arial" panose="020B0604020202020204" pitchFamily="34" charset="0"/>
              <a:ea typeface="宋体" panose="02010600030101010101" pitchFamily="2" charset="-122"/>
            </a:endParaRPr>
          </a:p>
        </p:txBody>
      </p:sp>
      <p:pic>
        <p:nvPicPr>
          <p:cNvPr id="45060" name="Picture 3"/>
          <p:cNvPicPr>
            <a:picLocks noChangeAspect="1"/>
          </p:cNvPicPr>
          <p:nvPr/>
        </p:nvPicPr>
        <p:blipFill>
          <a:blip r:embed="rId1"/>
          <a:stretch>
            <a:fillRect/>
          </a:stretch>
        </p:blipFill>
        <p:spPr>
          <a:xfrm>
            <a:off x="760413" y="2000250"/>
            <a:ext cx="7621587" cy="2722563"/>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文件和目录</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46083" name="文本框 3"/>
          <p:cNvSpPr txBox="1"/>
          <p:nvPr/>
        </p:nvSpPr>
        <p:spPr>
          <a:xfrm>
            <a:off x="762000" y="1238250"/>
            <a:ext cx="6042025" cy="368300"/>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sym typeface="宋体" panose="02010600030101010101" pitchFamily="2" charset="-122"/>
              </a:rPr>
              <a:t>通过</a:t>
            </a:r>
            <a:r>
              <a:rPr lang="en-US" altLang="zh-CN">
                <a:latin typeface="Arial" panose="020B0604020202020204" pitchFamily="34" charset="0"/>
                <a:ea typeface="宋体" panose="02010600030101010101" pitchFamily="2" charset="-122"/>
                <a:sym typeface="宋体" panose="02010600030101010101" pitchFamily="2" charset="-122"/>
              </a:rPr>
              <a:t>stat</a:t>
            </a:r>
            <a:r>
              <a:rPr lang="zh-CN" altLang="en-US">
                <a:latin typeface="Arial" panose="020B0604020202020204" pitchFamily="34" charset="0"/>
                <a:ea typeface="宋体" panose="02010600030101010101" pitchFamily="2" charset="-122"/>
                <a:sym typeface="宋体" panose="02010600030101010101" pitchFamily="2" charset="-122"/>
              </a:rPr>
              <a:t>结构中的</a:t>
            </a:r>
            <a:r>
              <a:rPr lang="en-US" altLang="zh-CN">
                <a:latin typeface="Arial" panose="020B0604020202020204" pitchFamily="34" charset="0"/>
                <a:ea typeface="宋体" panose="02010600030101010101" pitchFamily="2" charset="-122"/>
                <a:sym typeface="宋体" panose="02010600030101010101" pitchFamily="2" charset="-122"/>
              </a:rPr>
              <a:t>st_mode</a:t>
            </a:r>
            <a:r>
              <a:rPr lang="zh-CN" altLang="en-US">
                <a:latin typeface="Arial" panose="020B0604020202020204" pitchFamily="34" charset="0"/>
                <a:ea typeface="宋体" panose="02010600030101010101" pitchFamily="2" charset="-122"/>
                <a:sym typeface="宋体" panose="02010600030101010101" pitchFamily="2" charset="-122"/>
              </a:rPr>
              <a:t>成员获取权限。</a:t>
            </a:r>
            <a:endParaRPr lang="zh-CN" altLang="en-US">
              <a:latin typeface="Arial" panose="020B0604020202020204" pitchFamily="34" charset="0"/>
              <a:ea typeface="宋体" panose="02010600030101010101" pitchFamily="2" charset="-122"/>
            </a:endParaRPr>
          </a:p>
        </p:txBody>
      </p:sp>
      <p:pic>
        <p:nvPicPr>
          <p:cNvPr id="46084" name="Picture 2"/>
          <p:cNvPicPr>
            <a:picLocks noChangeAspect="1"/>
          </p:cNvPicPr>
          <p:nvPr/>
        </p:nvPicPr>
        <p:blipFill>
          <a:blip r:embed="rId1"/>
          <a:stretch>
            <a:fillRect/>
          </a:stretch>
        </p:blipFill>
        <p:spPr>
          <a:xfrm>
            <a:off x="1193800" y="1882775"/>
            <a:ext cx="5029200" cy="3076575"/>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文件和目录</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47107" name="文本框 3"/>
          <p:cNvSpPr txBox="1"/>
          <p:nvPr/>
        </p:nvSpPr>
        <p:spPr>
          <a:xfrm>
            <a:off x="687388" y="1238250"/>
            <a:ext cx="6042025" cy="2584450"/>
          </a:xfrm>
          <a:prstGeom prst="rect">
            <a:avLst/>
          </a:prstGeom>
          <a:noFill/>
          <a:ln w="9525">
            <a:noFill/>
          </a:ln>
        </p:spPr>
        <p:txBody>
          <a:bodyPr wrap="square" anchor="t" anchorCtr="0">
            <a:spAutoFit/>
          </a:bodyPr>
          <a:p>
            <a:r>
              <a:rPr lang="zh-CN" altLang="zh-CN">
                <a:latin typeface="Arial" panose="020B0604020202020204" pitchFamily="34" charset="0"/>
                <a:ea typeface="宋体" panose="02010600030101010101" pitchFamily="2" charset="-122"/>
                <a:sym typeface="宋体" panose="02010600030101010101" pitchFamily="2" charset="-122"/>
              </a:rPr>
              <a:t>#include &lt;dirent.h&gt;</a:t>
            </a:r>
            <a:endParaRPr lang="zh-CN" altLang="zh-CN">
              <a:latin typeface="Arial" panose="020B0604020202020204" pitchFamily="34" charset="0"/>
              <a:ea typeface="宋体" panose="02010600030101010101" pitchFamily="2" charset="-122"/>
              <a:sym typeface="宋体" panose="02010600030101010101" pitchFamily="2" charset="-122"/>
            </a:endParaRPr>
          </a:p>
          <a:p>
            <a:r>
              <a:rPr lang="zh-CN" altLang="zh-CN">
                <a:latin typeface="Arial" panose="020B0604020202020204" pitchFamily="34" charset="0"/>
                <a:ea typeface="宋体" panose="02010600030101010101" pitchFamily="2" charset="-122"/>
                <a:sym typeface="宋体" panose="02010600030101010101" pitchFamily="2" charset="-122"/>
              </a:rPr>
              <a:t>#include &lt;sys/types.h&gt;</a:t>
            </a:r>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r>
              <a:rPr lang="zh-CN" altLang="zh-CN">
                <a:latin typeface="Arial" panose="020B0604020202020204" pitchFamily="34" charset="0"/>
                <a:ea typeface="宋体" panose="02010600030101010101" pitchFamily="2" charset="-122"/>
                <a:sym typeface="宋体" panose="02010600030101010101" pitchFamily="2" charset="-122"/>
              </a:rPr>
              <a:t>DIR *opendir(const char *name);</a:t>
            </a:r>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r>
              <a:rPr lang="zh-CN" altLang="zh-CN">
                <a:latin typeface="Arial" panose="020B0604020202020204" pitchFamily="34" charset="0"/>
                <a:ea typeface="宋体" panose="02010600030101010101" pitchFamily="2" charset="-122"/>
                <a:sym typeface="宋体" panose="02010600030101010101" pitchFamily="2" charset="-122"/>
              </a:rPr>
              <a:t>int closedir(DIR *dirp);</a:t>
            </a:r>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r>
              <a:rPr lang="zh-CN" altLang="zh-CN">
                <a:latin typeface="Arial" panose="020B0604020202020204" pitchFamily="34" charset="0"/>
                <a:ea typeface="宋体" panose="02010600030101010101" pitchFamily="2" charset="-122"/>
                <a:sym typeface="宋体" panose="02010600030101010101" pitchFamily="2" charset="-122"/>
              </a:rPr>
              <a:t>struct dirent *readdir(DIR *dirp);</a:t>
            </a:r>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48131" name="文本框 3"/>
          <p:cNvSpPr txBox="1"/>
          <p:nvPr/>
        </p:nvSpPr>
        <p:spPr>
          <a:xfrm>
            <a:off x="687388" y="1238250"/>
            <a:ext cx="6042025" cy="2306638"/>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什么是库</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静态库</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动态库</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加载库</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创建和安装共享库</a:t>
            </a:r>
            <a:endParaRPr lang="zh-CN" altLang="en-US">
              <a:latin typeface="Arial" panose="020B0604020202020204" pitchFamily="34" charset="0"/>
              <a:ea typeface="宋体" panose="02010600030101010101" pitchFamily="2" charset="-122"/>
            </a:endParaRPr>
          </a:p>
          <a:p>
            <a:endParaRPr lang="zh-CN" altLang="en-US" dirty="0">
              <a:latin typeface="Arial" panose="020B0604020202020204" pitchFamily="34" charset="0"/>
              <a:ea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库</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什么是库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49155" name="文本框 3"/>
          <p:cNvSpPr txBox="1"/>
          <p:nvPr/>
        </p:nvSpPr>
        <p:spPr>
          <a:xfrm>
            <a:off x="687388" y="1238250"/>
            <a:ext cx="6042025" cy="3414713"/>
          </a:xfrm>
          <a:prstGeom prst="rect">
            <a:avLst/>
          </a:prstGeom>
          <a:noFill/>
          <a:ln w="9525">
            <a:noFill/>
          </a:ln>
        </p:spPr>
        <p:txBody>
          <a:bodyPr wrap="square" anchor="t" anchorCtr="0">
            <a:spAutoFit/>
          </a:bodyPr>
          <a:p>
            <a:r>
              <a:rPr lang="zh-CN" altLang="zh-CN" dirty="0">
                <a:latin typeface="Arial" panose="020B0604020202020204" pitchFamily="34" charset="0"/>
                <a:ea typeface="宋体" panose="02010600030101010101" pitchFamily="2" charset="-122"/>
                <a:sym typeface="宋体" panose="02010600030101010101" pitchFamily="2" charset="-122"/>
              </a:rPr>
              <a:t>本质上来说库是一种可执行代码的二进制形式，可以被操作系统载入内存执行。由于windows和linux的本质不同，因此二者库的二进制是不兼容的。 </a:t>
            </a:r>
            <a:endParaRPr lang="zh-CN" altLang="zh-CN" dirty="0">
              <a:latin typeface="Arial" panose="020B0604020202020204" pitchFamily="34" charset="0"/>
              <a:ea typeface="宋体" panose="02010600030101010101" pitchFamily="2" charset="-122"/>
            </a:endParaRPr>
          </a:p>
          <a:p>
            <a:r>
              <a:rPr lang="zh-CN" altLang="zh-CN" dirty="0">
                <a:latin typeface="Arial" panose="020B0604020202020204" pitchFamily="34" charset="0"/>
                <a:ea typeface="宋体" panose="02010600030101010101" pitchFamily="2" charset="-122"/>
                <a:sym typeface="宋体" panose="02010600030101010101" pitchFamily="2" charset="-122"/>
              </a:rPr>
              <a:t>linux下的库有两种：静态库和共享库（动态库）。二者的不同点在于代码被载入的时刻不同。 </a:t>
            </a:r>
            <a:endParaRPr lang="zh-CN" altLang="zh-CN" dirty="0">
              <a:latin typeface="Arial" panose="020B0604020202020204" pitchFamily="34" charset="0"/>
              <a:ea typeface="宋体" panose="02010600030101010101" pitchFamily="2" charset="-122"/>
            </a:endParaRPr>
          </a:p>
          <a:p>
            <a:pPr lvl="1" indent="0"/>
            <a:r>
              <a:rPr lang="zh-CN" altLang="zh-CN" dirty="0">
                <a:latin typeface="Arial" panose="020B0604020202020204" pitchFamily="34" charset="0"/>
                <a:ea typeface="+mn-ea"/>
                <a:sym typeface="宋体" panose="02010600030101010101" pitchFamily="2" charset="-122"/>
              </a:rPr>
              <a:t>静态库在程序编译时会被连接到目标代码中，程序运行时将不再需要该静态库，因此体积较大。</a:t>
            </a:r>
            <a:endParaRPr lang="zh-CN" altLang="zh-CN" dirty="0">
              <a:latin typeface="Arial" panose="020B0604020202020204" pitchFamily="34" charset="0"/>
              <a:ea typeface="+mn-ea"/>
            </a:endParaRPr>
          </a:p>
          <a:p>
            <a:pPr lvl="1" indent="0"/>
            <a:r>
              <a:rPr lang="zh-CN" altLang="zh-CN" dirty="0">
                <a:latin typeface="Arial" panose="020B0604020202020204" pitchFamily="34" charset="0"/>
                <a:ea typeface="+mn-ea"/>
                <a:sym typeface="宋体" panose="02010600030101010101" pitchFamily="2" charset="-122"/>
              </a:rPr>
              <a:t>动态库在程序编译时并不会被连接到目标代码中，而是在程序运行是才被载入，因此在程序运行时还需要动态库存在，因此代码体积较小。 </a:t>
            </a:r>
            <a:endParaRPr lang="zh-CN" altLang="en-US" dirty="0">
              <a:latin typeface="Arial" panose="020B0604020202020204" pitchFamily="34" charset="0"/>
              <a:ea typeface="+mn-ea"/>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库</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什么是库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50179" name="文本框 3"/>
          <p:cNvSpPr txBox="1"/>
          <p:nvPr/>
        </p:nvSpPr>
        <p:spPr>
          <a:xfrm>
            <a:off x="687388" y="1238250"/>
            <a:ext cx="6042025" cy="2635250"/>
          </a:xfrm>
          <a:prstGeom prst="rect">
            <a:avLst/>
          </a:prstGeom>
          <a:noFill/>
          <a:ln w="9525">
            <a:noFill/>
          </a:ln>
        </p:spPr>
        <p:txBody>
          <a:bodyPr wrap="square" anchor="t" anchorCtr="0">
            <a:spAutoFit/>
          </a:bodyPr>
          <a:p>
            <a:pPr>
              <a:lnSpc>
                <a:spcPct val="90000"/>
              </a:lnSpc>
            </a:pPr>
            <a:r>
              <a:rPr lang="zh-CN" altLang="en-US" dirty="0">
                <a:latin typeface="Arial" panose="020B0604020202020204" pitchFamily="34" charset="0"/>
                <a:ea typeface="宋体" panose="02010600030101010101" pitchFamily="2" charset="-122"/>
              </a:rPr>
              <a:t>库是别人写好的现有的，成熟的，可以复用的代码，你可以使用但要记得遵守许可协议。</a:t>
            </a:r>
            <a:endParaRPr lang="zh-CN" altLang="en-US" dirty="0">
              <a:latin typeface="Arial" panose="020B0604020202020204" pitchFamily="34" charset="0"/>
              <a:ea typeface="宋体" panose="02010600030101010101" pitchFamily="2" charset="-122"/>
            </a:endParaRPr>
          </a:p>
          <a:p>
            <a:pPr>
              <a:lnSpc>
                <a:spcPct val="90000"/>
              </a:lnSpc>
            </a:pPr>
            <a:endParaRPr lang="zh-CN" altLang="en-US" dirty="0">
              <a:latin typeface="Arial" panose="020B0604020202020204" pitchFamily="34" charset="0"/>
              <a:ea typeface="宋体" panose="02010600030101010101" pitchFamily="2" charset="-122"/>
            </a:endParaRPr>
          </a:p>
          <a:p>
            <a:pPr>
              <a:lnSpc>
                <a:spcPct val="90000"/>
              </a:lnSpc>
            </a:pPr>
            <a:r>
              <a:rPr lang="zh-CN" altLang="en-US" dirty="0">
                <a:latin typeface="Arial" panose="020B0604020202020204" pitchFamily="34" charset="0"/>
                <a:ea typeface="宋体" panose="02010600030101010101" pitchFamily="2" charset="-122"/>
              </a:rPr>
              <a:t>现实中每个程序都要依赖很多基础的底层库，不可能每个人的代码都从零开始，因此库的存在意义非同寻常。</a:t>
            </a:r>
            <a:endParaRPr lang="zh-CN" altLang="en-US" dirty="0">
              <a:latin typeface="Arial" panose="020B0604020202020204" pitchFamily="34" charset="0"/>
              <a:ea typeface="宋体" panose="02010600030101010101" pitchFamily="2" charset="-122"/>
            </a:endParaRPr>
          </a:p>
          <a:p>
            <a:pPr>
              <a:lnSpc>
                <a:spcPct val="90000"/>
              </a:lnSpc>
            </a:pPr>
            <a:endParaRPr lang="zh-CN" altLang="en-US" dirty="0">
              <a:latin typeface="Arial" panose="020B0604020202020204" pitchFamily="34" charset="0"/>
              <a:ea typeface="宋体" panose="02010600030101010101" pitchFamily="2" charset="-122"/>
            </a:endParaRPr>
          </a:p>
          <a:p>
            <a:pPr>
              <a:lnSpc>
                <a:spcPct val="90000"/>
              </a:lnSpc>
            </a:pPr>
            <a:r>
              <a:rPr lang="zh-CN" altLang="en-US" dirty="0">
                <a:latin typeface="Arial" panose="020B0604020202020204" pitchFamily="34" charset="0"/>
                <a:ea typeface="宋体" panose="02010600030101010101" pitchFamily="2" charset="-122"/>
              </a:rPr>
              <a:t>共享库的好处是，不同的应用程序如果调用相同的库，那么在内存里只需要有一份该共享库的实例。</a:t>
            </a:r>
            <a:r>
              <a:rPr lang="zh-CN" altLang="zh-CN" dirty="0">
                <a:latin typeface="Arial" panose="020B0604020202020204" pitchFamily="34" charset="0"/>
                <a:ea typeface="宋体" panose="02010600030101010101" pitchFamily="2" charset="-122"/>
                <a:sym typeface="宋体" panose="02010600030101010101" pitchFamily="2" charset="-122"/>
              </a:rPr>
              <a:t> </a:t>
            </a:r>
            <a:endParaRPr lang="zh-CN" altLang="en-US" dirty="0">
              <a:latin typeface="Arial" panose="020B0604020202020204" pitchFamily="34" charset="0"/>
              <a:ea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库</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静态库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51203" name="文本框 3"/>
          <p:cNvSpPr txBox="1"/>
          <p:nvPr/>
        </p:nvSpPr>
        <p:spPr>
          <a:xfrm>
            <a:off x="687388" y="1238250"/>
            <a:ext cx="6042025" cy="2498725"/>
          </a:xfrm>
          <a:prstGeom prst="rect">
            <a:avLst/>
          </a:prstGeom>
          <a:noFill/>
          <a:ln w="9525">
            <a:noFill/>
          </a:ln>
        </p:spPr>
        <p:txBody>
          <a:bodyPr wrap="square" anchor="t" anchorCtr="0">
            <a:spAutoFit/>
          </a:bodyPr>
          <a:p>
            <a:pPr>
              <a:lnSpc>
                <a:spcPct val="90000"/>
              </a:lnSpc>
            </a:pPr>
            <a:r>
              <a:rPr lang="zh-CN" altLang="en-US">
                <a:latin typeface="Arial" panose="020B0604020202020204" pitchFamily="34" charset="0"/>
                <a:ea typeface="宋体" panose="02010600030101010101" pitchFamily="2" charset="-122"/>
              </a:rPr>
              <a:t>静态库对函数库的链接是放在编译时期（</a:t>
            </a:r>
            <a:r>
              <a:rPr lang="en-US" altLang="zh-CN">
                <a:latin typeface="Arial" panose="020B0604020202020204" pitchFamily="34" charset="0"/>
                <a:ea typeface="宋体" panose="02010600030101010101" pitchFamily="2" charset="-122"/>
              </a:rPr>
              <a:t>compile time</a:t>
            </a:r>
            <a:r>
              <a:rPr lang="zh-CN" altLang="en-US">
                <a:latin typeface="Arial" panose="020B0604020202020204" pitchFamily="34" charset="0"/>
                <a:ea typeface="宋体" panose="02010600030101010101" pitchFamily="2" charset="-122"/>
              </a:rPr>
              <a:t>）完成的。</a:t>
            </a:r>
            <a:endParaRPr lang="zh-CN" altLang="en-US">
              <a:latin typeface="Arial" panose="020B0604020202020204" pitchFamily="34" charset="0"/>
              <a:ea typeface="宋体" panose="02010600030101010101" pitchFamily="2" charset="-122"/>
            </a:endParaRPr>
          </a:p>
          <a:p>
            <a:pPr lvl="1" indent="0"/>
            <a:r>
              <a:rPr lang="zh-CN" altLang="en-US">
                <a:latin typeface="Arial" panose="020B0604020202020204" pitchFamily="34" charset="0"/>
                <a:ea typeface="+mn-ea"/>
              </a:rPr>
              <a:t>程序在运行时与函数库再无瓜葛，移植方便</a:t>
            </a:r>
            <a:endParaRPr lang="zh-CN" altLang="en-US">
              <a:latin typeface="Arial" panose="020B0604020202020204" pitchFamily="34" charset="0"/>
              <a:ea typeface="+mn-ea"/>
            </a:endParaRPr>
          </a:p>
          <a:p>
            <a:pPr lvl="1" indent="0"/>
            <a:r>
              <a:rPr lang="zh-CN" altLang="en-US">
                <a:latin typeface="Arial" panose="020B0604020202020204" pitchFamily="34" charset="0"/>
                <a:ea typeface="+mn-ea"/>
              </a:rPr>
              <a:t>浪费空间和资源，因为所有相关的对象文件（</a:t>
            </a:r>
            <a:r>
              <a:rPr lang="en-US" altLang="zh-CN">
                <a:latin typeface="Arial" panose="020B0604020202020204" pitchFamily="34" charset="0"/>
                <a:ea typeface="+mn-ea"/>
              </a:rPr>
              <a:t>object file</a:t>
            </a:r>
            <a:r>
              <a:rPr lang="zh-CN" altLang="en-US">
                <a:latin typeface="Arial" panose="020B0604020202020204" pitchFamily="34" charset="0"/>
                <a:ea typeface="+mn-ea"/>
              </a:rPr>
              <a:t>）与牵涉到的函数库（</a:t>
            </a:r>
            <a:r>
              <a:rPr lang="en-US" altLang="zh-CN">
                <a:latin typeface="Arial" panose="020B0604020202020204" pitchFamily="34" charset="0"/>
                <a:ea typeface="+mn-ea"/>
              </a:rPr>
              <a:t>library</a:t>
            </a:r>
            <a:r>
              <a:rPr lang="zh-CN" altLang="en-US">
                <a:latin typeface="Arial" panose="020B0604020202020204" pitchFamily="34" charset="0"/>
                <a:ea typeface="+mn-ea"/>
              </a:rPr>
              <a:t>）被链接合成一个可执行文件（</a:t>
            </a:r>
            <a:r>
              <a:rPr lang="en-US" altLang="zh-CN">
                <a:latin typeface="Arial" panose="020B0604020202020204" pitchFamily="34" charset="0"/>
                <a:ea typeface="+mn-ea"/>
              </a:rPr>
              <a:t>executable file</a:t>
            </a:r>
            <a:r>
              <a:rPr lang="zh-CN" altLang="en-US">
                <a:latin typeface="Arial" panose="020B0604020202020204" pitchFamily="34" charset="0"/>
                <a:ea typeface="+mn-ea"/>
              </a:rPr>
              <a:t>）。</a:t>
            </a:r>
            <a:endParaRPr lang="zh-CN" altLang="en-US">
              <a:latin typeface="Arial" panose="020B0604020202020204" pitchFamily="34" charset="0"/>
              <a:ea typeface="+mn-ea"/>
            </a:endParaRPr>
          </a:p>
          <a:p>
            <a:pPr>
              <a:lnSpc>
                <a:spcPct val="90000"/>
              </a:lnSpc>
            </a:pPr>
            <a:endParaRPr lang="zh-CN" altLang="en-US" dirty="0">
              <a:latin typeface="Arial" panose="020B0604020202020204" pitchFamily="34" charset="0"/>
              <a:ea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库</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静态库创建</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52227" name="文本框 3"/>
          <p:cNvSpPr txBox="1"/>
          <p:nvPr/>
        </p:nvSpPr>
        <p:spPr>
          <a:xfrm>
            <a:off x="687388" y="1238250"/>
            <a:ext cx="8189912" cy="2747963"/>
          </a:xfrm>
          <a:prstGeom prst="rect">
            <a:avLst/>
          </a:prstGeom>
          <a:noFill/>
          <a:ln w="9525">
            <a:noFill/>
          </a:ln>
        </p:spPr>
        <p:txBody>
          <a:bodyPr wrap="square" anchor="t" anchorCtr="0">
            <a:spAutoFit/>
          </a:bodyPr>
          <a:p>
            <a:pPr>
              <a:lnSpc>
                <a:spcPct val="90000"/>
              </a:lnSpc>
            </a:pPr>
            <a:r>
              <a:rPr lang="zh-CN" altLang="en-US" dirty="0">
                <a:latin typeface="Arial" panose="020B0604020202020204" pitchFamily="34" charset="0"/>
                <a:ea typeface="宋体" panose="02010600030101010101" pitchFamily="2" charset="-122"/>
              </a:rPr>
              <a:t>创建静态库用</a:t>
            </a:r>
            <a:r>
              <a:rPr lang="en-US" altLang="zh-CN" dirty="0" err="1">
                <a:latin typeface="Arial" panose="020B0604020202020204" pitchFamily="34" charset="0"/>
                <a:ea typeface="宋体" panose="02010600030101010101" pitchFamily="2" charset="-122"/>
              </a:rPr>
              <a:t>ar</a:t>
            </a:r>
            <a:r>
              <a:rPr lang="zh-CN" altLang="en-US" dirty="0">
                <a:latin typeface="Arial" panose="020B0604020202020204" pitchFamily="34" charset="0"/>
                <a:ea typeface="宋体" panose="02010600030101010101" pitchFamily="2" charset="-122"/>
              </a:rPr>
              <a:t>命令，它将很多</a:t>
            </a:r>
            <a:r>
              <a:rPr lang="en-US" altLang="zh-CN" dirty="0">
                <a:latin typeface="Arial" panose="020B0604020202020204" pitchFamily="34" charset="0"/>
                <a:ea typeface="宋体" panose="02010600030101010101" pitchFamily="2" charset="-122"/>
              </a:rPr>
              <a:t>.o</a:t>
            </a:r>
            <a:r>
              <a:rPr lang="zh-CN" altLang="en-US" dirty="0">
                <a:latin typeface="Arial" panose="020B0604020202020204" pitchFamily="34" charset="0"/>
                <a:ea typeface="宋体" panose="02010600030101010101" pitchFamily="2" charset="-122"/>
              </a:rPr>
              <a:t>转换成</a:t>
            </a: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a:p>
            <a:pPr lvl="1" indent="0"/>
            <a:r>
              <a:rPr lang="en-US" altLang="zh-CN" dirty="0">
                <a:latin typeface="Arial" panose="020B0604020202020204" pitchFamily="34" charset="0"/>
                <a:ea typeface="+mn-ea"/>
              </a:rPr>
              <a:t># </a:t>
            </a:r>
            <a:r>
              <a:rPr lang="en-US" altLang="zh-CN" dirty="0" err="1">
                <a:latin typeface="Arial" panose="020B0604020202020204" pitchFamily="34" charset="0"/>
                <a:ea typeface="+mn-ea"/>
              </a:rPr>
              <a:t>ar</a:t>
            </a:r>
            <a:r>
              <a:rPr lang="en-US" altLang="zh-CN" dirty="0">
                <a:latin typeface="Arial" panose="020B0604020202020204" pitchFamily="34" charset="0"/>
                <a:ea typeface="+mn-ea"/>
              </a:rPr>
              <a:t> </a:t>
            </a:r>
            <a:r>
              <a:rPr lang="en-US" altLang="zh-CN" dirty="0" err="1">
                <a:latin typeface="Arial" panose="020B0604020202020204" pitchFamily="34" charset="0"/>
                <a:ea typeface="+mn-ea"/>
              </a:rPr>
              <a:t>crs</a:t>
            </a:r>
            <a:r>
              <a:rPr lang="en-US" altLang="zh-CN" dirty="0">
                <a:latin typeface="Arial" panose="020B0604020202020204" pitchFamily="34" charset="0"/>
                <a:ea typeface="+mn-ea"/>
              </a:rPr>
              <a:t> </a:t>
            </a:r>
            <a:r>
              <a:rPr lang="en-US" altLang="zh-CN" dirty="0" err="1">
                <a:latin typeface="Arial" panose="020B0604020202020204" pitchFamily="34" charset="0"/>
                <a:ea typeface="+mn-ea"/>
              </a:rPr>
              <a:t>libmyhello.a</a:t>
            </a:r>
            <a:r>
              <a:rPr lang="en-US" altLang="zh-CN" dirty="0">
                <a:latin typeface="Arial" panose="020B0604020202020204" pitchFamily="34" charset="0"/>
                <a:ea typeface="+mn-ea"/>
              </a:rPr>
              <a:t> </a:t>
            </a:r>
            <a:r>
              <a:rPr lang="en-US" altLang="zh-CN" dirty="0" err="1">
                <a:latin typeface="Arial" panose="020B0604020202020204" pitchFamily="34" charset="0"/>
                <a:ea typeface="+mn-ea"/>
              </a:rPr>
              <a:t>hello.o</a:t>
            </a:r>
            <a:r>
              <a:rPr lang="en-US" altLang="zh-CN" dirty="0">
                <a:latin typeface="Arial" panose="020B0604020202020204" pitchFamily="34" charset="0"/>
                <a:ea typeface="+mn-ea"/>
              </a:rPr>
              <a:t> </a:t>
            </a:r>
            <a:endParaRPr lang="en-US" altLang="zh-CN" dirty="0">
              <a:latin typeface="Arial" panose="020B0604020202020204" pitchFamily="34" charset="0"/>
              <a:ea typeface="+mn-ea"/>
            </a:endParaRPr>
          </a:p>
          <a:p>
            <a:pPr lvl="1" indent="0"/>
            <a:r>
              <a:rPr lang="zh-CN" altLang="en-US" dirty="0">
                <a:latin typeface="Arial" panose="020B0604020202020204" pitchFamily="34" charset="0"/>
                <a:ea typeface="+mn-ea"/>
              </a:rPr>
              <a:t>静态库文件名的命名规范是以</a:t>
            </a:r>
            <a:r>
              <a:rPr lang="en-US" altLang="zh-CN" dirty="0">
                <a:latin typeface="Arial" panose="020B0604020202020204" pitchFamily="34" charset="0"/>
                <a:ea typeface="+mn-ea"/>
              </a:rPr>
              <a:t>lib</a:t>
            </a:r>
            <a:r>
              <a:rPr lang="zh-CN" altLang="en-US" dirty="0">
                <a:latin typeface="Arial" panose="020B0604020202020204" pitchFamily="34" charset="0"/>
                <a:ea typeface="+mn-ea"/>
              </a:rPr>
              <a:t>为前缀，紧接着跟静态库名，扩展名为</a:t>
            </a:r>
            <a:r>
              <a:rPr lang="en-US" altLang="zh-CN" dirty="0">
                <a:latin typeface="Arial" panose="020B0604020202020204" pitchFamily="34" charset="0"/>
                <a:ea typeface="+mn-ea"/>
              </a:rPr>
              <a:t>.a</a:t>
            </a:r>
            <a:r>
              <a:rPr lang="zh-CN" altLang="en-US" dirty="0">
                <a:latin typeface="Arial" panose="020B0604020202020204" pitchFamily="34" charset="0"/>
                <a:ea typeface="+mn-ea"/>
              </a:rPr>
              <a:t>。</a:t>
            </a:r>
            <a:endParaRPr lang="zh-CN" altLang="en-US" dirty="0">
              <a:latin typeface="Arial" panose="020B0604020202020204" pitchFamily="34" charset="0"/>
              <a:ea typeface="+mn-ea"/>
            </a:endParaRPr>
          </a:p>
          <a:p>
            <a:pPr>
              <a:lnSpc>
                <a:spcPct val="90000"/>
              </a:lnSpc>
            </a:pPr>
            <a:r>
              <a:rPr lang="zh-CN" altLang="en-US" dirty="0">
                <a:latin typeface="Arial" panose="020B0604020202020204" pitchFamily="34" charset="0"/>
                <a:ea typeface="宋体" panose="02010600030101010101" pitchFamily="2" charset="-122"/>
              </a:rPr>
              <a:t>使用静态链接库</a:t>
            </a:r>
            <a:endParaRPr lang="zh-CN" altLang="en-US" dirty="0">
              <a:latin typeface="Arial" panose="020B0604020202020204" pitchFamily="34" charset="0"/>
              <a:ea typeface="宋体" panose="02010600030101010101" pitchFamily="2" charset="-122"/>
            </a:endParaRPr>
          </a:p>
          <a:p>
            <a:pPr lvl="1" indent="0"/>
            <a:r>
              <a:rPr lang="en-US" altLang="zh-CN" dirty="0">
                <a:latin typeface="Arial" panose="020B0604020202020204" pitchFamily="34" charset="0"/>
                <a:ea typeface="+mn-ea"/>
              </a:rPr>
              <a:t># </a:t>
            </a:r>
            <a:r>
              <a:rPr lang="en-US" altLang="zh-CN" dirty="0" err="1">
                <a:latin typeface="Arial" panose="020B0604020202020204" pitchFamily="34" charset="0"/>
                <a:ea typeface="+mn-ea"/>
              </a:rPr>
              <a:t>gcc</a:t>
            </a:r>
            <a:r>
              <a:rPr lang="en-US" altLang="zh-CN" dirty="0">
                <a:latin typeface="Arial" panose="020B0604020202020204" pitchFamily="34" charset="0"/>
                <a:ea typeface="+mn-ea"/>
              </a:rPr>
              <a:t> -o hello </a:t>
            </a:r>
            <a:r>
              <a:rPr lang="en-US" altLang="zh-CN" dirty="0" err="1">
                <a:latin typeface="Arial" panose="020B0604020202020204" pitchFamily="34" charset="0"/>
                <a:ea typeface="+mn-ea"/>
              </a:rPr>
              <a:t>main.c</a:t>
            </a:r>
            <a:r>
              <a:rPr lang="en-US" altLang="zh-CN" dirty="0">
                <a:latin typeface="Arial" panose="020B0604020202020204" pitchFamily="34" charset="0"/>
                <a:ea typeface="+mn-ea"/>
              </a:rPr>
              <a:t> -L. -</a:t>
            </a:r>
            <a:r>
              <a:rPr lang="en-US" altLang="zh-CN" dirty="0" err="1">
                <a:latin typeface="Arial" panose="020B0604020202020204" pitchFamily="34" charset="0"/>
                <a:ea typeface="+mn-ea"/>
              </a:rPr>
              <a:t>lmyhello</a:t>
            </a:r>
            <a:r>
              <a:rPr lang="en-US" altLang="zh-CN" dirty="0">
                <a:latin typeface="Arial" panose="020B0604020202020204" pitchFamily="34" charset="0"/>
                <a:ea typeface="+mn-ea"/>
              </a:rPr>
              <a:t> </a:t>
            </a:r>
            <a:endParaRPr lang="en-US" altLang="zh-CN" dirty="0">
              <a:latin typeface="Arial" panose="020B0604020202020204" pitchFamily="34" charset="0"/>
              <a:ea typeface="+mn-ea"/>
            </a:endParaRPr>
          </a:p>
          <a:p>
            <a:pPr lvl="1" indent="0"/>
            <a:endParaRPr lang="en-US" altLang="zh-CN" dirty="0">
              <a:latin typeface="Arial" panose="020B0604020202020204" pitchFamily="34" charset="0"/>
              <a:ea typeface="+mn-ea"/>
            </a:endParaRPr>
          </a:p>
          <a:p>
            <a:pPr>
              <a:lnSpc>
                <a:spcPct val="90000"/>
              </a:lnSpc>
            </a:pPr>
            <a:endParaRPr lang="zh-CN" altLang="en-US">
              <a:latin typeface="Arial" panose="020B0604020202020204" pitchFamily="34" charset="0"/>
              <a:ea typeface="宋体" panose="02010600030101010101" pitchFamily="2" charset="-122"/>
            </a:endParaRPr>
          </a:p>
          <a:p>
            <a:pPr>
              <a:lnSpc>
                <a:spcPct val="90000"/>
              </a:lnSpc>
            </a:pPr>
            <a:endParaRPr lang="zh-CN" altLang="en-US" dirty="0">
              <a:latin typeface="Arial" panose="020B0604020202020204" pitchFamily="34" charset="0"/>
              <a:ea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库</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动态库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53251" name="文本框 3"/>
          <p:cNvSpPr txBox="1"/>
          <p:nvPr/>
        </p:nvSpPr>
        <p:spPr>
          <a:xfrm>
            <a:off x="687388" y="1238250"/>
            <a:ext cx="7070725" cy="2470150"/>
          </a:xfrm>
          <a:prstGeom prst="rect">
            <a:avLst/>
          </a:prstGeom>
          <a:noFill/>
          <a:ln w="9525">
            <a:noFill/>
          </a:ln>
        </p:spPr>
        <p:txBody>
          <a:bodyPr wrap="square" anchor="t" anchorCtr="0">
            <a:spAutoFit/>
          </a:bodyPr>
          <a:p>
            <a:pPr>
              <a:lnSpc>
                <a:spcPct val="90000"/>
              </a:lnSpc>
            </a:pPr>
            <a:r>
              <a:rPr lang="zh-CN" altLang="en-US">
                <a:latin typeface="Arial" panose="020B0604020202020204" pitchFamily="34" charset="0"/>
                <a:ea typeface="宋体" panose="02010600030101010101" pitchFamily="2" charset="-122"/>
              </a:rPr>
              <a:t>动态库把对一些库函数的链接载入推迟到程序运行的时期（</a:t>
            </a:r>
            <a:r>
              <a:rPr lang="en-US" altLang="zh-CN">
                <a:latin typeface="Arial" panose="020B0604020202020204" pitchFamily="34" charset="0"/>
                <a:ea typeface="宋体" panose="02010600030101010101" pitchFamily="2" charset="-122"/>
              </a:rPr>
              <a:t>runtime</a:t>
            </a:r>
            <a:r>
              <a:rPr lang="zh-CN" altLang="en-US">
                <a:latin typeface="Arial" panose="020B0604020202020204" pitchFamily="34"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a:p>
            <a:pPr lvl="1" indent="0"/>
            <a:r>
              <a:rPr lang="zh-CN" altLang="en-US">
                <a:latin typeface="Arial" panose="020B0604020202020204" pitchFamily="34" charset="0"/>
                <a:ea typeface="+mn-ea"/>
              </a:rPr>
              <a:t>可以实现进程之间的资源共享。</a:t>
            </a:r>
            <a:endParaRPr lang="zh-CN" altLang="en-US">
              <a:latin typeface="Arial" panose="020B0604020202020204" pitchFamily="34" charset="0"/>
              <a:ea typeface="+mn-ea"/>
            </a:endParaRPr>
          </a:p>
          <a:p>
            <a:pPr lvl="1" indent="0"/>
            <a:r>
              <a:rPr lang="zh-CN" altLang="en-US">
                <a:latin typeface="Arial" panose="020B0604020202020204" pitchFamily="34" charset="0"/>
                <a:ea typeface="+mn-ea"/>
              </a:rPr>
              <a:t>将一些程序升级变得简单。</a:t>
            </a:r>
            <a:endParaRPr lang="zh-CN" altLang="en-US">
              <a:latin typeface="Arial" panose="020B0604020202020204" pitchFamily="34" charset="0"/>
              <a:ea typeface="+mn-ea"/>
            </a:endParaRPr>
          </a:p>
          <a:p>
            <a:pPr lvl="1" indent="0"/>
            <a:r>
              <a:rPr lang="zh-CN" altLang="en-US">
                <a:latin typeface="Arial" panose="020B0604020202020204" pitchFamily="34" charset="0"/>
                <a:ea typeface="+mn-ea"/>
              </a:rPr>
              <a:t>甚至可以真正做到链接载入完全由程序员在程序代码中控制。</a:t>
            </a:r>
            <a:endParaRPr lang="en-US" altLang="zh-CN" dirty="0">
              <a:latin typeface="Arial" panose="020B0604020202020204" pitchFamily="34" charset="0"/>
              <a:ea typeface="+mn-ea"/>
            </a:endParaRPr>
          </a:p>
          <a:p>
            <a:pPr>
              <a:lnSpc>
                <a:spcPct val="90000"/>
              </a:lnSpc>
            </a:pPr>
            <a:endParaRPr lang="zh-CN" altLang="en-US">
              <a:latin typeface="Arial" panose="020B0604020202020204" pitchFamily="34" charset="0"/>
              <a:ea typeface="宋体" panose="02010600030101010101" pitchFamily="2" charset="-122"/>
            </a:endParaRPr>
          </a:p>
          <a:p>
            <a:pPr>
              <a:lnSpc>
                <a:spcPct val="90000"/>
              </a:lnSpc>
            </a:pPr>
            <a:endParaRPr lang="zh-CN" altLang="en-US" dirty="0">
              <a:latin typeface="Arial" panose="020B0604020202020204" pitchFamily="34" charset="0"/>
              <a:ea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库</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动态库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54275" name="文本框 3"/>
          <p:cNvSpPr txBox="1"/>
          <p:nvPr/>
        </p:nvSpPr>
        <p:spPr>
          <a:xfrm>
            <a:off x="687388" y="1238250"/>
            <a:ext cx="7070725" cy="2882900"/>
          </a:xfrm>
          <a:prstGeom prst="rect">
            <a:avLst/>
          </a:prstGeom>
          <a:noFill/>
          <a:ln w="9525">
            <a:noFill/>
          </a:ln>
        </p:spPr>
        <p:txBody>
          <a:bodyPr wrap="square" anchor="t" anchorCtr="0">
            <a:spAutoFit/>
          </a:bodyPr>
          <a:p>
            <a:pPr>
              <a:lnSpc>
                <a:spcPct val="90000"/>
              </a:lnSpc>
            </a:pPr>
            <a:r>
              <a:rPr lang="zh-CN" altLang="en-US">
                <a:latin typeface="Arial" panose="020B0604020202020204" pitchFamily="34" charset="0"/>
                <a:ea typeface="宋体" panose="02010600030101010101" pitchFamily="2" charset="-122"/>
              </a:rPr>
              <a:t>动态链接库的名字形式为 </a:t>
            </a:r>
            <a:r>
              <a:rPr lang="zh-CN" altLang="en-US">
                <a:latin typeface="Arial" panose="020B0604020202020204"/>
                <a:ea typeface="宋体" panose="02010600030101010101" pitchFamily="2" charset="-122"/>
              </a:rPr>
              <a:t>“</a:t>
            </a:r>
            <a:r>
              <a:rPr lang="en-US" altLang="zh-CN">
                <a:latin typeface="Arial" panose="020B0604020202020204" pitchFamily="34" charset="0"/>
                <a:ea typeface="宋体" panose="02010600030101010101" pitchFamily="2" charset="-122"/>
              </a:rPr>
              <a:t>libxxx.so</a:t>
            </a:r>
            <a:r>
              <a:rPr lang="en-US" altLang="zh-CN">
                <a:latin typeface="Arial" panose="020B0604020202020204"/>
                <a:ea typeface="宋体" panose="02010600030101010101" pitchFamily="2" charset="-122"/>
              </a:rPr>
              <a:t>”</a:t>
            </a:r>
            <a:r>
              <a:rPr lang="en-US" altLang="zh-CN">
                <a:latin typeface="Arial" panose="020B0604020202020204" pitchFamily="34" charset="0"/>
                <a:ea typeface="宋体" panose="02010600030101010101" pitchFamily="2" charset="-122"/>
              </a:rPr>
              <a:t> </a:t>
            </a:r>
            <a:r>
              <a:rPr lang="zh-CN" altLang="en-US">
                <a:latin typeface="Arial" panose="020B0604020202020204" pitchFamily="34" charset="0"/>
                <a:ea typeface="宋体" panose="02010600030101010101" pitchFamily="2" charset="-122"/>
              </a:rPr>
              <a:t>后缀名为 </a:t>
            </a:r>
            <a:r>
              <a:rPr lang="zh-CN" altLang="en-US">
                <a:latin typeface="Arial" panose="020B0604020202020204"/>
                <a:ea typeface="宋体" panose="02010600030101010101" pitchFamily="2" charset="-122"/>
              </a:rPr>
              <a:t>“</a:t>
            </a:r>
            <a:r>
              <a:rPr lang="en-US" altLang="zh-CN">
                <a:latin typeface="Arial" panose="020B0604020202020204" pitchFamily="34" charset="0"/>
                <a:ea typeface="宋体" panose="02010600030101010101" pitchFamily="2" charset="-122"/>
              </a:rPr>
              <a:t>.so</a:t>
            </a:r>
            <a:r>
              <a:rPr lang="en-US" altLang="zh-CN">
                <a:latin typeface="Arial" panose="020B0604020202020204"/>
                <a:ea typeface="宋体" panose="02010600030101010101" pitchFamily="2" charset="-122"/>
              </a:rPr>
              <a:t>”</a:t>
            </a:r>
            <a:endParaRPr lang="en-US" altLang="zh-CN">
              <a:latin typeface="Arial" panose="020B0604020202020204"/>
              <a:ea typeface="宋体" panose="02010600030101010101" pitchFamily="2" charset="-122"/>
            </a:endParaRPr>
          </a:p>
          <a:p>
            <a:pPr>
              <a:lnSpc>
                <a:spcPct val="90000"/>
              </a:lnSpc>
            </a:pPr>
            <a:endParaRPr lang="en-US" altLang="zh-CN">
              <a:latin typeface="Arial" panose="020B0604020202020204" pitchFamily="34" charset="0"/>
              <a:ea typeface="宋体" panose="02010600030101010101" pitchFamily="2" charset="-122"/>
            </a:endParaRPr>
          </a:p>
          <a:p>
            <a:pPr>
              <a:lnSpc>
                <a:spcPct val="90000"/>
              </a:lnSpc>
            </a:pPr>
            <a:r>
              <a:rPr lang="zh-CN" altLang="en-US">
                <a:latin typeface="Arial" panose="020B0604020202020204" pitchFamily="34" charset="0"/>
                <a:ea typeface="宋体" panose="02010600030101010101" pitchFamily="2" charset="-122"/>
              </a:rPr>
              <a:t>针对于实际库文件，每个共享库都有个特殊的名字</a:t>
            </a:r>
            <a:r>
              <a:rPr lang="zh-CN" altLang="en-US">
                <a:latin typeface="Arial" panose="020B0604020202020204"/>
                <a:ea typeface="宋体" panose="02010600030101010101" pitchFamily="2" charset="-122"/>
              </a:rPr>
              <a:t>“</a:t>
            </a:r>
            <a:r>
              <a:rPr lang="en-US" altLang="zh-CN">
                <a:latin typeface="Arial" panose="020B0604020202020204" pitchFamily="34" charset="0"/>
                <a:ea typeface="宋体" panose="02010600030101010101" pitchFamily="2" charset="-122"/>
              </a:rPr>
              <a:t>soname</a:t>
            </a:r>
            <a:r>
              <a:rPr lang="en-US" altLang="zh-CN">
                <a:latin typeface="Arial" panose="020B0604020202020204"/>
                <a:ea typeface="宋体" panose="02010600030101010101" pitchFamily="2" charset="-122"/>
              </a:rPr>
              <a:t>”</a:t>
            </a:r>
            <a:r>
              <a:rPr lang="zh-CN" altLang="en-US">
                <a:latin typeface="Arial" panose="020B0604020202020204" pitchFamily="34" charset="0"/>
                <a:ea typeface="宋体" panose="02010600030101010101" pitchFamily="2" charset="-122"/>
              </a:rPr>
              <a:t>。在程序启动后，程序通过这个名字来告诉动态加载器该载入哪个共享库。</a:t>
            </a:r>
            <a:endParaRPr lang="zh-CN" altLang="en-US">
              <a:latin typeface="Arial" panose="020B0604020202020204" pitchFamily="34" charset="0"/>
              <a:ea typeface="宋体" panose="02010600030101010101" pitchFamily="2" charset="-122"/>
            </a:endParaRPr>
          </a:p>
          <a:p>
            <a:pPr>
              <a:lnSpc>
                <a:spcPct val="90000"/>
              </a:lnSpc>
            </a:pPr>
            <a:r>
              <a:rPr lang="zh-CN" altLang="en-US">
                <a:latin typeface="Arial" panose="020B0604020202020204" pitchFamily="34" charset="0"/>
                <a:ea typeface="宋体" panose="02010600030101010101" pitchFamily="2" charset="-122"/>
              </a:rPr>
              <a:t>在文件系统中，</a:t>
            </a:r>
            <a:r>
              <a:rPr lang="en-US" altLang="zh-CN">
                <a:latin typeface="Arial" panose="020B0604020202020204" pitchFamily="34" charset="0"/>
                <a:ea typeface="宋体" panose="02010600030101010101" pitchFamily="2" charset="-122"/>
              </a:rPr>
              <a:t>soname</a:t>
            </a:r>
            <a:r>
              <a:rPr lang="zh-CN" altLang="en-US">
                <a:latin typeface="Arial" panose="020B0604020202020204" pitchFamily="34" charset="0"/>
                <a:ea typeface="宋体" panose="02010600030101010101" pitchFamily="2" charset="-122"/>
              </a:rPr>
              <a:t>仅是一个链接到实际动态库的链接。</a:t>
            </a:r>
            <a:endParaRPr lang="zh-CN" altLang="en-US">
              <a:latin typeface="Arial" panose="020B0604020202020204" pitchFamily="34" charset="0"/>
              <a:ea typeface="宋体" panose="02010600030101010101" pitchFamily="2" charset="-122"/>
            </a:endParaRPr>
          </a:p>
          <a:p>
            <a:pPr>
              <a:lnSpc>
                <a:spcPct val="90000"/>
              </a:lnSpc>
            </a:pPr>
            <a:endParaRPr lang="zh-CN" altLang="en-US">
              <a:latin typeface="Arial" panose="020B0604020202020204" pitchFamily="34" charset="0"/>
              <a:ea typeface="宋体" panose="02010600030101010101" pitchFamily="2" charset="-122"/>
            </a:endParaRPr>
          </a:p>
          <a:p>
            <a:pPr>
              <a:lnSpc>
                <a:spcPct val="90000"/>
              </a:lnSpc>
            </a:pPr>
            <a:r>
              <a:rPr lang="zh-CN" altLang="en-US">
                <a:latin typeface="Arial" panose="020B0604020202020204" pitchFamily="34" charset="0"/>
                <a:ea typeface="宋体" panose="02010600030101010101" pitchFamily="2" charset="-122"/>
              </a:rPr>
              <a:t>对于动态库而言，每个库实际上都有另一个名字给编译器来用。它是一个指向实际库镜像文件的链接文件。这个时候</a:t>
            </a:r>
            <a:r>
              <a:rPr lang="en-US" altLang="zh-CN">
                <a:latin typeface="Arial" panose="020B0604020202020204" pitchFamily="34" charset="0"/>
                <a:ea typeface="宋体" panose="02010600030101010101" pitchFamily="2" charset="-122"/>
              </a:rPr>
              <a:t>soname</a:t>
            </a:r>
            <a:r>
              <a:rPr lang="zh-CN" altLang="en-US">
                <a:latin typeface="Arial" panose="020B0604020202020204" pitchFamily="34" charset="0"/>
                <a:ea typeface="宋体" panose="02010600030101010101" pitchFamily="2" charset="-122"/>
              </a:rPr>
              <a:t>是没有版本号的。</a:t>
            </a:r>
            <a:endParaRPr lang="zh-CN" altLang="en-US" dirty="0">
              <a:latin typeface="Arial" panose="020B0604020202020204" pitchFamily="34" charset="0"/>
              <a:ea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库</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动态库创建</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55299" name="文本框 3"/>
          <p:cNvSpPr txBox="1"/>
          <p:nvPr/>
        </p:nvSpPr>
        <p:spPr>
          <a:xfrm>
            <a:off x="687388" y="1238250"/>
            <a:ext cx="7070725" cy="2386013"/>
          </a:xfrm>
          <a:prstGeom prst="rect">
            <a:avLst/>
          </a:prstGeom>
          <a:noFill/>
          <a:ln w="9525">
            <a:noFill/>
          </a:ln>
        </p:spPr>
        <p:txBody>
          <a:bodyPr wrap="square" anchor="t" anchorCtr="0">
            <a:spAutoFit/>
          </a:bodyPr>
          <a:p>
            <a:pPr>
              <a:lnSpc>
                <a:spcPct val="90000"/>
              </a:lnSpc>
            </a:pPr>
            <a:r>
              <a:rPr lang="zh-CN" altLang="zh-CN">
                <a:latin typeface="Arial" panose="020B0604020202020204" pitchFamily="34" charset="0"/>
                <a:ea typeface="宋体" panose="02010600030101010101" pitchFamily="2" charset="-122"/>
                <a:sym typeface="宋体" panose="02010600030101010101" pitchFamily="2" charset="-122"/>
              </a:rPr>
              <a:t>制作.o文件 gcc -fPIC -Wall -c hello.c</a:t>
            </a:r>
            <a:endParaRPr lang="zh-CN" altLang="zh-CN">
              <a:latin typeface="Arial" panose="020B0604020202020204" pitchFamily="34" charset="0"/>
              <a:ea typeface="宋体" panose="02010600030101010101" pitchFamily="2" charset="-122"/>
              <a:sym typeface="宋体" panose="02010600030101010101" pitchFamily="2" charset="-122"/>
            </a:endParaRPr>
          </a:p>
          <a:p>
            <a:pPr>
              <a:lnSpc>
                <a:spcPct val="90000"/>
              </a:lnSpc>
            </a:pPr>
            <a:endParaRPr lang="zh-CN" altLang="zh-CN">
              <a:latin typeface="Arial" panose="020B0604020202020204" pitchFamily="34" charset="0"/>
              <a:ea typeface="宋体" panose="02010600030101010101" pitchFamily="2" charset="-122"/>
              <a:sym typeface="宋体" panose="02010600030101010101" pitchFamily="2" charset="-122"/>
            </a:endParaRPr>
          </a:p>
          <a:p>
            <a:pPr>
              <a:lnSpc>
                <a:spcPct val="90000"/>
              </a:lnSpc>
            </a:pPr>
            <a:r>
              <a:rPr lang="zh-CN" altLang="zh-CN">
                <a:latin typeface="Arial" panose="020B0604020202020204" pitchFamily="34" charset="0"/>
                <a:ea typeface="宋体" panose="02010600030101010101" pitchFamily="2" charset="-122"/>
                <a:sym typeface="宋体" panose="02010600030101010101" pitchFamily="2" charset="-122"/>
              </a:rPr>
              <a:t>制作.so文件 gcc -shared -o libmyhello.so hello.o</a:t>
            </a:r>
            <a:endParaRPr lang="zh-CN" altLang="zh-CN">
              <a:latin typeface="Arial" panose="020B0604020202020204" pitchFamily="34" charset="0"/>
              <a:ea typeface="宋体" panose="02010600030101010101" pitchFamily="2" charset="-122"/>
              <a:sym typeface="宋体" panose="02010600030101010101" pitchFamily="2" charset="-122"/>
            </a:endParaRPr>
          </a:p>
          <a:p>
            <a:pPr>
              <a:lnSpc>
                <a:spcPct val="90000"/>
              </a:lnSpc>
            </a:pPr>
            <a:endParaRPr lang="zh-CN" altLang="zh-CN">
              <a:latin typeface="Arial" panose="020B0604020202020204" pitchFamily="34" charset="0"/>
              <a:ea typeface="宋体" panose="02010600030101010101" pitchFamily="2" charset="-122"/>
              <a:sym typeface="宋体" panose="02010600030101010101" pitchFamily="2" charset="-122"/>
            </a:endParaRPr>
          </a:p>
          <a:p>
            <a:pPr>
              <a:lnSpc>
                <a:spcPct val="90000"/>
              </a:lnSpc>
            </a:pPr>
            <a:r>
              <a:rPr lang="zh-CN" altLang="zh-CN">
                <a:latin typeface="Arial" panose="020B0604020202020204" pitchFamily="34" charset="0"/>
                <a:ea typeface="宋体" panose="02010600030101010101" pitchFamily="2" charset="-122"/>
                <a:sym typeface="宋体" panose="02010600030101010101" pitchFamily="2" charset="-122"/>
              </a:rPr>
              <a:t>链接 gcc -o main main.c -lmyhello</a:t>
            </a:r>
            <a:endParaRPr lang="zh-CN" altLang="zh-CN">
              <a:latin typeface="Arial" panose="020B0604020202020204" pitchFamily="34" charset="0"/>
              <a:ea typeface="宋体" panose="02010600030101010101" pitchFamily="2" charset="-122"/>
              <a:sym typeface="宋体" panose="02010600030101010101" pitchFamily="2" charset="-122"/>
            </a:endParaRPr>
          </a:p>
          <a:p>
            <a:pPr>
              <a:lnSpc>
                <a:spcPct val="90000"/>
              </a:lnSpc>
            </a:pPr>
            <a:endParaRPr lang="zh-CN" altLang="zh-CN">
              <a:latin typeface="Arial" panose="020B0604020202020204" pitchFamily="34" charset="0"/>
              <a:ea typeface="宋体" panose="02010600030101010101" pitchFamily="2" charset="-122"/>
              <a:sym typeface="宋体" panose="02010600030101010101" pitchFamily="2" charset="-122"/>
            </a:endParaRPr>
          </a:p>
          <a:p>
            <a:pPr>
              <a:lnSpc>
                <a:spcPct val="90000"/>
              </a:lnSpc>
            </a:pPr>
            <a:r>
              <a:rPr lang="en-US" altLang="zh-CN">
                <a:latin typeface="Arial" panose="020B0604020202020204" pitchFamily="34" charset="0"/>
                <a:ea typeface="宋体" panose="02010600030101010101" pitchFamily="2" charset="-122"/>
              </a:rPr>
              <a:t>-fPIC </a:t>
            </a:r>
            <a:r>
              <a:rPr lang="zh-CN" altLang="en-US">
                <a:latin typeface="Arial" panose="020B0604020202020204" pitchFamily="34" charset="0"/>
                <a:ea typeface="宋体" panose="02010600030101010101" pitchFamily="2" charset="-122"/>
              </a:rPr>
              <a:t>创建与地址无关的编译程序</a:t>
            </a:r>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库</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动态库创建</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56323" name="文本框 3"/>
          <p:cNvSpPr txBox="1"/>
          <p:nvPr/>
        </p:nvSpPr>
        <p:spPr>
          <a:xfrm>
            <a:off x="687388" y="1238250"/>
            <a:ext cx="7070725" cy="4019550"/>
          </a:xfrm>
          <a:prstGeom prst="rect">
            <a:avLst/>
          </a:prstGeom>
          <a:noFill/>
          <a:ln w="9525">
            <a:noFill/>
          </a:ln>
        </p:spPr>
        <p:txBody>
          <a:bodyPr wrap="square" anchor="t" anchorCtr="0">
            <a:spAutoFit/>
          </a:bodyPr>
          <a:p>
            <a:pPr>
              <a:lnSpc>
                <a:spcPct val="90000"/>
              </a:lnSpc>
            </a:pPr>
            <a:r>
              <a:rPr lang="zh-CN" altLang="en-US">
                <a:latin typeface="Arial" panose="020B0604020202020204" pitchFamily="34" charset="0"/>
                <a:ea typeface="宋体" panose="02010600030101010101" pitchFamily="2" charset="-122"/>
              </a:rPr>
              <a:t>为了让执行程序顺利找到动态库，有三种方法 ：</a:t>
            </a:r>
            <a:endParaRPr lang="zh-CN" altLang="en-US">
              <a:latin typeface="Arial" panose="020B0604020202020204" pitchFamily="34" charset="0"/>
              <a:ea typeface="宋体" panose="02010600030101010101" pitchFamily="2" charset="-122"/>
            </a:endParaRPr>
          </a:p>
          <a:p>
            <a:pPr lvl="1" indent="0">
              <a:lnSpc>
                <a:spcPct val="90000"/>
              </a:lnSpc>
            </a:pPr>
            <a:r>
              <a:rPr lang="en-US" altLang="zh-CN">
                <a:latin typeface="Arial" panose="020B0604020202020204" pitchFamily="34" charset="0"/>
                <a:ea typeface="+mn-ea"/>
              </a:rPr>
              <a:t>(1)</a:t>
            </a:r>
            <a:r>
              <a:rPr lang="en-US" altLang="zh-CN">
                <a:latin typeface="Arial" panose="020B0604020202020204"/>
                <a:ea typeface="+mn-ea"/>
              </a:rPr>
              <a:t> </a:t>
            </a:r>
            <a:r>
              <a:rPr lang="zh-CN" altLang="en-US">
                <a:latin typeface="Arial" panose="020B0604020202020204" pitchFamily="34" charset="0"/>
                <a:ea typeface="+mn-ea"/>
              </a:rPr>
              <a:t>把库拷贝到</a:t>
            </a:r>
            <a:r>
              <a:rPr lang="en-US" altLang="zh-CN">
                <a:latin typeface="Arial" panose="020B0604020202020204" pitchFamily="34" charset="0"/>
                <a:ea typeface="+mn-ea"/>
              </a:rPr>
              <a:t>/usr/lib</a:t>
            </a:r>
            <a:r>
              <a:rPr lang="zh-CN" altLang="en-US">
                <a:latin typeface="Arial" panose="020B0604020202020204" pitchFamily="34" charset="0"/>
                <a:ea typeface="+mn-ea"/>
              </a:rPr>
              <a:t>和</a:t>
            </a:r>
            <a:r>
              <a:rPr lang="en-US" altLang="zh-CN">
                <a:latin typeface="Arial" panose="020B0604020202020204" pitchFamily="34" charset="0"/>
                <a:ea typeface="+mn-ea"/>
              </a:rPr>
              <a:t>/lib</a:t>
            </a:r>
            <a:r>
              <a:rPr lang="zh-CN" altLang="en-US">
                <a:latin typeface="Arial" panose="020B0604020202020204" pitchFamily="34" charset="0"/>
                <a:ea typeface="+mn-ea"/>
              </a:rPr>
              <a:t>目录下。 </a:t>
            </a:r>
            <a:endParaRPr lang="zh-CN" altLang="en-US">
              <a:latin typeface="Arial" panose="020B0604020202020204" pitchFamily="34" charset="0"/>
              <a:ea typeface="+mn-ea"/>
            </a:endParaRPr>
          </a:p>
          <a:p>
            <a:pPr lvl="1" indent="0">
              <a:lnSpc>
                <a:spcPct val="90000"/>
              </a:lnSpc>
            </a:pPr>
            <a:r>
              <a:rPr lang="en-US" altLang="zh-CN">
                <a:latin typeface="Arial" panose="020B0604020202020204" pitchFamily="34" charset="0"/>
                <a:ea typeface="+mn-ea"/>
              </a:rPr>
              <a:t>(2)</a:t>
            </a:r>
            <a:r>
              <a:rPr lang="en-US" altLang="zh-CN">
                <a:latin typeface="Arial" panose="020B0604020202020204"/>
                <a:ea typeface="+mn-ea"/>
              </a:rPr>
              <a:t> </a:t>
            </a:r>
            <a:r>
              <a:rPr lang="zh-CN" altLang="en-US">
                <a:latin typeface="Arial" panose="020B0604020202020204" pitchFamily="34" charset="0"/>
                <a:ea typeface="+mn-ea"/>
              </a:rPr>
              <a:t>在</a:t>
            </a:r>
            <a:r>
              <a:rPr lang="en-US" altLang="zh-CN">
                <a:latin typeface="Arial" panose="020B0604020202020204" pitchFamily="34" charset="0"/>
                <a:ea typeface="+mn-ea"/>
              </a:rPr>
              <a:t>LD_LIBRARY_PATH</a:t>
            </a:r>
            <a:r>
              <a:rPr lang="zh-CN" altLang="en-US">
                <a:latin typeface="Arial" panose="020B0604020202020204" pitchFamily="34" charset="0"/>
                <a:ea typeface="+mn-ea"/>
              </a:rPr>
              <a:t>环境变量中加上库所在路径。 </a:t>
            </a:r>
            <a:endParaRPr lang="zh-CN" altLang="en-US">
              <a:latin typeface="Arial" panose="020B0604020202020204" pitchFamily="34" charset="0"/>
              <a:ea typeface="+mn-ea"/>
            </a:endParaRPr>
          </a:p>
          <a:p>
            <a:pPr lvl="1" indent="0">
              <a:lnSpc>
                <a:spcPct val="90000"/>
              </a:lnSpc>
            </a:pPr>
            <a:r>
              <a:rPr lang="en-US" altLang="zh-CN">
                <a:latin typeface="Arial" panose="020B0604020202020204" pitchFamily="34" charset="0"/>
                <a:ea typeface="+mn-ea"/>
              </a:rPr>
              <a:t>(3) </a:t>
            </a:r>
            <a:r>
              <a:rPr lang="zh-CN" altLang="en-US">
                <a:latin typeface="Arial" panose="020B0604020202020204" pitchFamily="34" charset="0"/>
                <a:ea typeface="+mn-ea"/>
              </a:rPr>
              <a:t>添加</a:t>
            </a:r>
            <a:r>
              <a:rPr lang="en-US" altLang="zh-CN">
                <a:latin typeface="Arial" panose="020B0604020202020204" pitchFamily="34" charset="0"/>
                <a:ea typeface="+mn-ea"/>
              </a:rPr>
              <a:t>/etc/ld.so.conf.d/*.conf</a:t>
            </a:r>
            <a:r>
              <a:rPr lang="zh-CN" altLang="en-US">
                <a:latin typeface="Arial" panose="020B0604020202020204" pitchFamily="34" charset="0"/>
                <a:ea typeface="+mn-ea"/>
              </a:rPr>
              <a:t>文件，把库所在的路径加到文件末尾，并执行</a:t>
            </a:r>
            <a:r>
              <a:rPr lang="en-US" altLang="zh-CN">
                <a:latin typeface="Arial" panose="020B0604020202020204" pitchFamily="34" charset="0"/>
                <a:ea typeface="+mn-ea"/>
              </a:rPr>
              <a:t>ldconfig</a:t>
            </a:r>
            <a:r>
              <a:rPr lang="zh-CN" altLang="en-US">
                <a:latin typeface="Arial" panose="020B0604020202020204" pitchFamily="34" charset="0"/>
                <a:ea typeface="+mn-ea"/>
              </a:rPr>
              <a:t>刷新。</a:t>
            </a:r>
            <a:br>
              <a:rPr lang="zh-CN" altLang="en-US">
                <a:latin typeface="Arial" panose="020B0604020202020204" pitchFamily="34" charset="0"/>
                <a:ea typeface="+mn-ea"/>
              </a:rPr>
            </a:br>
            <a:r>
              <a:rPr lang="zh-CN" altLang="en-US">
                <a:latin typeface="Arial" panose="020B0604020202020204"/>
                <a:ea typeface="+mn-ea"/>
              </a:rPr>
              <a:t> </a:t>
            </a:r>
            <a:r>
              <a:rPr lang="zh-CN" altLang="en-US">
                <a:latin typeface="Arial" panose="020B0604020202020204" pitchFamily="34" charset="0"/>
                <a:ea typeface="+mn-ea"/>
              </a:rPr>
              <a:t>这样，加入的目录下的所有库文件都可见。</a:t>
            </a:r>
            <a:endParaRPr lang="zh-CN" altLang="en-US">
              <a:latin typeface="Arial" panose="020B0604020202020204" pitchFamily="34" charset="0"/>
              <a:ea typeface="+mn-ea"/>
            </a:endParaRPr>
          </a:p>
          <a:p>
            <a:pPr lvl="1" indent="0">
              <a:lnSpc>
                <a:spcPct val="90000"/>
              </a:lnSpc>
            </a:pPr>
            <a:endParaRPr lang="zh-CN" altLang="en-US">
              <a:latin typeface="Arial" panose="020B0604020202020204" pitchFamily="34" charset="0"/>
              <a:ea typeface="+mn-ea"/>
            </a:endParaRPr>
          </a:p>
          <a:p>
            <a:pPr lvl="1" indent="0"/>
            <a:r>
              <a:rPr lang="en-US" altLang="zh-CN">
                <a:latin typeface="Arial" panose="020B0604020202020204" pitchFamily="34" charset="0"/>
                <a:ea typeface="+mn-ea"/>
                <a:sym typeface="宋体" panose="02010600030101010101" pitchFamily="2" charset="-122"/>
              </a:rPr>
              <a:t>ldd</a:t>
            </a:r>
            <a:r>
              <a:rPr lang="zh-CN" altLang="en-US">
                <a:latin typeface="Arial" panose="020B0604020202020204" pitchFamily="34" charset="0"/>
                <a:ea typeface="+mn-ea"/>
                <a:sym typeface="宋体" panose="02010600030101010101" pitchFamily="2" charset="-122"/>
              </a:rPr>
              <a:t>命令可以查看一个可执行程序依赖的共享库</a:t>
            </a:r>
            <a:endParaRPr lang="zh-CN" altLang="en-US">
              <a:latin typeface="Arial" panose="020B0604020202020204" pitchFamily="34" charset="0"/>
              <a:ea typeface="+mn-ea"/>
              <a:sym typeface="宋体" panose="02010600030101010101" pitchFamily="2" charset="-122"/>
            </a:endParaRPr>
          </a:p>
          <a:p>
            <a:pPr lvl="1" indent="0"/>
            <a:r>
              <a:rPr lang="en-US" altLang="zh-CN">
                <a:latin typeface="Arial" panose="020B0604020202020204" pitchFamily="34" charset="0"/>
                <a:ea typeface="+mn-ea"/>
                <a:sym typeface="宋体" panose="02010600030101010101" pitchFamily="2" charset="-122"/>
              </a:rPr>
              <a:t>	ldd a.out</a:t>
            </a:r>
            <a:endParaRPr lang="zh-CN" altLang="en-US">
              <a:latin typeface="Arial" panose="020B0604020202020204" pitchFamily="34" charset="0"/>
              <a:ea typeface="+mn-ea"/>
              <a:sym typeface="宋体" panose="02010600030101010101" pitchFamily="2" charset="-122"/>
            </a:endParaRPr>
          </a:p>
          <a:p>
            <a:pPr lvl="1" indent="0"/>
            <a:r>
              <a:rPr lang="en-US" altLang="zh-CN">
                <a:latin typeface="Arial" panose="020B0604020202020204" pitchFamily="34" charset="0"/>
                <a:ea typeface="+mn-ea"/>
                <a:sym typeface="宋体" panose="02010600030101010101" pitchFamily="2" charset="-122"/>
              </a:rPr>
              <a:t>nm</a:t>
            </a:r>
            <a:r>
              <a:rPr lang="zh-CN" altLang="en-US">
                <a:latin typeface="Arial" panose="020B0604020202020204" pitchFamily="34" charset="0"/>
                <a:ea typeface="+mn-ea"/>
                <a:sym typeface="宋体" panose="02010600030101010101" pitchFamily="2" charset="-122"/>
              </a:rPr>
              <a:t>命令可以打印出库中的涉及到的所有符号</a:t>
            </a:r>
            <a:endParaRPr lang="zh-CN" altLang="en-US">
              <a:latin typeface="Arial" panose="020B0604020202020204" pitchFamily="34" charset="0"/>
              <a:ea typeface="+mn-ea"/>
              <a:sym typeface="宋体" panose="02010600030101010101" pitchFamily="2" charset="-122"/>
            </a:endParaRPr>
          </a:p>
          <a:p>
            <a:pPr lvl="1" indent="0"/>
            <a:r>
              <a:rPr lang="en-US" altLang="zh-CN" dirty="0">
                <a:latin typeface="Arial" panose="020B0604020202020204" pitchFamily="34" charset="0"/>
                <a:ea typeface="+mn-ea"/>
              </a:rPr>
              <a:t>	nm -D /lib/i386-linux-gnu/libc-2.15.so | grep printf</a:t>
            </a:r>
            <a:endParaRPr lang="en-US" altLang="zh-CN" dirty="0">
              <a:latin typeface="Arial" panose="020B0604020202020204" pitchFamily="34" charset="0"/>
              <a:ea typeface="+mn-ea"/>
            </a:endParaRPr>
          </a:p>
          <a:p>
            <a:pPr lvl="1" indent="0"/>
            <a:r>
              <a:rPr lang="en-US" altLang="zh-CN" dirty="0">
                <a:latin typeface="Arial" panose="020B0604020202020204" pitchFamily="34" charset="0"/>
                <a:ea typeface="+mn-ea"/>
              </a:rPr>
              <a:t>		</a:t>
            </a:r>
            <a:r>
              <a:rPr lang="zh-CN" altLang="en-US">
                <a:latin typeface="Arial" panose="020B0604020202020204" pitchFamily="34" charset="0"/>
                <a:ea typeface="+mn-ea"/>
                <a:sym typeface="宋体" panose="02010600030101010101" pitchFamily="2" charset="-122"/>
              </a:rPr>
              <a:t>库中定义的函数，用</a:t>
            </a:r>
            <a:r>
              <a:rPr lang="en-US" altLang="zh-CN">
                <a:latin typeface="Arial" panose="020B0604020202020204" pitchFamily="34" charset="0"/>
                <a:ea typeface="+mn-ea"/>
                <a:sym typeface="宋体" panose="02010600030101010101" pitchFamily="2" charset="-122"/>
              </a:rPr>
              <a:t>T</a:t>
            </a:r>
            <a:r>
              <a:rPr lang="zh-CN" altLang="en-US">
                <a:latin typeface="Arial" panose="020B0604020202020204" pitchFamily="34" charset="0"/>
                <a:ea typeface="+mn-ea"/>
                <a:sym typeface="宋体" panose="02010600030101010101" pitchFamily="2" charset="-122"/>
              </a:rPr>
              <a:t>表示，这是最常见的</a:t>
            </a:r>
            <a:endParaRPr lang="en-US" altLang="zh-CN" dirty="0">
              <a:latin typeface="Arial" panose="020B0604020202020204" pitchFamily="34" charset="0"/>
              <a:ea typeface="+mn-ea"/>
            </a:endParaRPr>
          </a:p>
          <a:p>
            <a:pPr lvl="1" indent="0">
              <a:lnSpc>
                <a:spcPct val="90000"/>
              </a:lnSpc>
            </a:pPr>
            <a:endParaRPr lang="zh-CN" altLang="zh-CN">
              <a:latin typeface="Arial" panose="020B0604020202020204" pitchFamily="34" charset="0"/>
              <a:ea typeface="+mn-ea"/>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a:p>
            <a:endParaRPr lang="zh-CN" altLang="zh-CN">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marL="0" lvl="0" indent="0" fontAlgn="base">
              <a:spcBef>
                <a:spcPct val="0"/>
              </a:spcBef>
              <a:spcAft>
                <a:spcPct val="0"/>
              </a:spcAft>
              <a:buNone/>
            </a:pPr>
            <a:endParaRPr lang="en-US" altLang="zh-CN" sz="1800" strike="noStrike" noProof="1" dirty="0">
              <a:latin typeface="宋体" panose="02010600030101010101" pitchFamily="2" charset="-122"/>
            </a:endParaRPr>
          </a:p>
          <a:p>
            <a:pPr lvl="0" indent="-342900" fontAlgn="base">
              <a:spcBef>
                <a:spcPct val="0"/>
              </a:spcBef>
              <a:spcAft>
                <a:spcPct val="0"/>
              </a:spcAft>
            </a:pPr>
            <a:r>
              <a:rPr lang="zh-CN" altLang="en-US" sz="1800" strike="noStrike" noProof="1" dirty="0">
                <a:latin typeface="宋体" panose="02010600030101010101" pitchFamily="2" charset="-122"/>
              </a:rPr>
              <a:t>标准</a:t>
            </a:r>
            <a:r>
              <a:rPr lang="en-US" altLang="zh-CN" sz="1800" strike="noStrike" noProof="1" dirty="0">
                <a:latin typeface="宋体" panose="02010600030101010101" pitchFamily="2" charset="-122"/>
              </a:rPr>
              <a:t>I/O</a:t>
            </a:r>
            <a:r>
              <a:rPr lang="zh-CN" altLang="en-US" sz="1800" strike="noStrike" noProof="1" dirty="0">
                <a:latin typeface="宋体" panose="02010600030101010101" pitchFamily="2" charset="-122"/>
              </a:rPr>
              <a:t>、文件</a:t>
            </a:r>
            <a:r>
              <a:rPr lang="en-US" altLang="zh-CN" sz="1800" strike="noStrike" noProof="1" dirty="0">
                <a:latin typeface="宋体" panose="02010600030101010101" pitchFamily="2" charset="-122"/>
              </a:rPr>
              <a:t>I/O</a:t>
            </a:r>
            <a:endParaRPr lang="zh-CN" altLang="en-US" sz="1800" strike="noStrike" noProof="1" dirty="0">
              <a:latin typeface="宋体" panose="02010600030101010101" pitchFamily="2" charset="-122"/>
            </a:endParaRPr>
          </a:p>
          <a:p>
            <a:pPr lvl="0" indent="-342900" fontAlgn="base">
              <a:spcBef>
                <a:spcPct val="0"/>
              </a:spcBef>
              <a:spcAft>
                <a:spcPct val="0"/>
              </a:spcAft>
            </a:pPr>
            <a:endParaRPr lang="zh-CN" altLang="en-US" sz="1800" strike="noStrike" noProof="1" dirty="0">
              <a:latin typeface="宋体" panose="02010600030101010101" pitchFamily="2" charset="-122"/>
            </a:endParaRPr>
          </a:p>
          <a:p>
            <a:pPr lvl="0" indent="-342900" fontAlgn="base">
              <a:spcBef>
                <a:spcPct val="0"/>
              </a:spcBef>
              <a:spcAft>
                <a:spcPct val="0"/>
              </a:spcAft>
            </a:pPr>
            <a:r>
              <a:rPr lang="en-US" altLang="zh-CN" sz="1800" strike="noStrike" noProof="1" dirty="0">
                <a:solidFill>
                  <a:srgbClr val="FF0000"/>
                </a:solidFill>
                <a:latin typeface="宋体" panose="02010600030101010101" pitchFamily="2" charset="-122"/>
              </a:rPr>
              <a:t>Linux </a:t>
            </a:r>
            <a:r>
              <a:rPr lang="zh-CN" altLang="en-US" sz="1800" strike="noStrike" noProof="1" dirty="0">
                <a:solidFill>
                  <a:srgbClr val="FF0000"/>
                </a:solidFill>
                <a:latin typeface="宋体" panose="02010600030101010101" pitchFamily="2" charset="-122"/>
              </a:rPr>
              <a:t>进程、线程</a:t>
            </a:r>
            <a:endParaRPr lang="en-US" altLang="zh-CN" sz="1800" strike="noStrike" noProof="1" dirty="0">
              <a:solidFill>
                <a:srgbClr val="FF0000"/>
              </a:solidFill>
              <a:latin typeface="宋体" panose="02010600030101010101" pitchFamily="2" charset="-122"/>
            </a:endParaRPr>
          </a:p>
          <a:p>
            <a:pPr lvl="0" indent="-342900" fontAlgn="base">
              <a:spcBef>
                <a:spcPct val="0"/>
              </a:spcBef>
              <a:spcAft>
                <a:spcPct val="0"/>
              </a:spcAft>
            </a:pPr>
            <a:endParaRPr lang="zh-CN" altLang="en-US" sz="1800" strike="noStrike" noProof="1" dirty="0">
              <a:latin typeface="宋体" panose="02010600030101010101" pitchFamily="2" charset="-122"/>
            </a:endParaRPr>
          </a:p>
          <a:p>
            <a:pPr lvl="0" indent="-342900" fontAlgn="base">
              <a:spcBef>
                <a:spcPct val="0"/>
              </a:spcBef>
              <a:spcAft>
                <a:spcPct val="0"/>
              </a:spcAft>
            </a:pPr>
            <a:r>
              <a:rPr lang="en-US" altLang="zh-CN" sz="1800" strike="noStrike" noProof="1" dirty="0">
                <a:latin typeface="宋体" panose="02010600030101010101" pitchFamily="2" charset="-122"/>
              </a:rPr>
              <a:t>Linux </a:t>
            </a:r>
            <a:r>
              <a:rPr lang="zh-CN" altLang="en-US" sz="1800" strike="noStrike" noProof="1" dirty="0">
                <a:latin typeface="宋体" panose="02010600030101010101" pitchFamily="2" charset="-122"/>
              </a:rPr>
              <a:t>进程间通信</a:t>
            </a:r>
            <a:endParaRPr lang="en-US" altLang="zh-CN" sz="1800" strike="noStrike" noProof="1" dirty="0">
              <a:latin typeface="宋体" panose="02010600030101010101" pitchFamily="2" charset="-122"/>
            </a:endParaRPr>
          </a:p>
          <a:p>
            <a:pPr lvl="0" indent="-342900" fontAlgn="base">
              <a:spcBef>
                <a:spcPct val="0"/>
              </a:spcBef>
              <a:spcAft>
                <a:spcPct val="0"/>
              </a:spcAft>
            </a:pPr>
            <a:endParaRPr lang="zh-CN" altLang="en-US" sz="1800" strike="noStrike" noProof="1" dirty="0">
              <a:latin typeface="宋体" panose="02010600030101010101" pitchFamily="2" charset="-122"/>
            </a:endParaRPr>
          </a:p>
          <a:p>
            <a:pPr lvl="0" indent="-342900" fontAlgn="base">
              <a:spcBef>
                <a:spcPct val="0"/>
              </a:spcBef>
              <a:spcAft>
                <a:spcPct val="0"/>
              </a:spcAft>
            </a:pPr>
            <a:endParaRPr lang="en-US" altLang="zh-CN" sz="1800" strike="noStrike" noProof="1" dirty="0">
              <a:latin typeface="宋体" panose="02010600030101010101" pitchFamily="2" charset="-122"/>
            </a:endParaRPr>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5734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课程目标</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40000"/>
              </a:lnSpc>
              <a:spcBef>
                <a:spcPct val="0"/>
              </a:spcBef>
              <a:spcAft>
                <a:spcPct val="0"/>
              </a:spcAft>
            </a:pPr>
            <a:r>
              <a:rPr lang="en-US" altLang="zh-CN" sz="1800" dirty="0">
                <a:solidFill>
                  <a:srgbClr val="FF0000"/>
                </a:solidFill>
                <a:latin typeface="宋体" panose="02010600030101010101" pitchFamily="2" charset="-122"/>
              </a:rPr>
              <a:t>linux 进程</a:t>
            </a:r>
            <a:r>
              <a:rPr lang="zh-CN" altLang="en-US" sz="1800" dirty="0">
                <a:solidFill>
                  <a:srgbClr val="FF0000"/>
                </a:solidFill>
                <a:latin typeface="宋体" panose="02010600030101010101" pitchFamily="2" charset="-122"/>
              </a:rPr>
              <a:t>及相关系统调用</a:t>
            </a:r>
            <a:endParaRPr lang="en-US" altLang="zh-CN" sz="1800" dirty="0">
              <a:latin typeface="宋体" panose="02010600030101010101" pitchFamily="2" charset="-122"/>
            </a:endParaRPr>
          </a:p>
          <a:p>
            <a:pPr lvl="0" indent="-342900">
              <a:lnSpc>
                <a:spcPct val="140000"/>
              </a:lnSpc>
              <a:spcBef>
                <a:spcPct val="0"/>
              </a:spcBef>
              <a:spcAft>
                <a:spcPct val="0"/>
              </a:spcAft>
            </a:pPr>
            <a:r>
              <a:rPr lang="en-US" altLang="zh-CN" sz="1800" dirty="0">
                <a:latin typeface="宋体" panose="02010600030101010101" pitchFamily="2" charset="-122"/>
              </a:rPr>
              <a:t>守护进程</a:t>
            </a:r>
            <a:endParaRPr lang="en-US" altLang="zh-CN" sz="1800" dirty="0">
              <a:latin typeface="宋体" panose="02010600030101010101" pitchFamily="2" charset="-122"/>
            </a:endParaRPr>
          </a:p>
          <a:p>
            <a:pPr lvl="0" indent="-342900">
              <a:lnSpc>
                <a:spcPct val="140000"/>
              </a:lnSpc>
              <a:spcBef>
                <a:spcPct val="0"/>
              </a:spcBef>
              <a:spcAft>
                <a:spcPct val="0"/>
              </a:spcAft>
            </a:pPr>
            <a:r>
              <a:rPr lang="en-US" altLang="zh-CN" sz="1800" dirty="0">
                <a:latin typeface="宋体" panose="02010600030101010101" pitchFamily="2" charset="-122"/>
              </a:rPr>
              <a:t>进程间通信(共享内存、消息队列、管道、</a:t>
            </a:r>
            <a:r>
              <a:rPr lang="en-US" altLang="zh-CN" sz="1800" dirty="0"/>
              <a:t>System V </a:t>
            </a:r>
            <a:r>
              <a:rPr lang="en-US" altLang="zh-CN" sz="1800" dirty="0">
                <a:latin typeface="宋体" panose="02010600030101010101" pitchFamily="2" charset="-122"/>
              </a:rPr>
              <a:t>IPC对象</a:t>
            </a:r>
            <a:r>
              <a:rPr lang="zh-CN" altLang="en-US" sz="1800" dirty="0">
                <a:latin typeface="宋体" panose="02010600030101010101" pitchFamily="2" charset="-122"/>
              </a:rPr>
              <a:t>、信号</a:t>
            </a:r>
            <a:r>
              <a:rPr lang="en-US" altLang="zh-CN" sz="1800" dirty="0">
                <a:latin typeface="宋体" panose="02010600030101010101" pitchFamily="2" charset="-122"/>
              </a:rPr>
              <a:t>)</a:t>
            </a:r>
            <a:endParaRPr lang="en-US" altLang="zh-CN" sz="1800" dirty="0">
              <a:latin typeface="宋体" panose="02010600030101010101" pitchFamily="2" charset="-122"/>
            </a:endParaRPr>
          </a:p>
          <a:p>
            <a:pPr lvl="0" indent="-342900">
              <a:lnSpc>
                <a:spcPct val="140000"/>
              </a:lnSpc>
              <a:spcBef>
                <a:spcPct val="0"/>
              </a:spcBef>
              <a:spcAft>
                <a:spcPct val="0"/>
              </a:spcAft>
            </a:pPr>
            <a:r>
              <a:rPr lang="en-US" altLang="zh-CN" sz="1800" dirty="0">
                <a:latin typeface="宋体" panose="02010600030101010101" pitchFamily="2" charset="-122"/>
              </a:rPr>
              <a:t>线程</a:t>
            </a:r>
            <a:endParaRPr lang="en-US" altLang="zh-CN" sz="1800" dirty="0">
              <a:latin typeface="宋体" panose="02010600030101010101" pitchFamily="2" charset="-122"/>
            </a:endParaRPr>
          </a:p>
          <a:p>
            <a:pPr lvl="0" indent="-342900">
              <a:lnSpc>
                <a:spcPct val="140000"/>
              </a:lnSpc>
              <a:spcBef>
                <a:spcPct val="0"/>
              </a:spcBef>
              <a:spcAft>
                <a:spcPct val="0"/>
              </a:spcAft>
            </a:pPr>
            <a:r>
              <a:rPr lang="en-US" altLang="zh-CN" sz="1800" dirty="0">
                <a:latin typeface="宋体" panose="02010600030101010101" pitchFamily="2" charset="-122"/>
              </a:rPr>
              <a:t>线程间</a:t>
            </a:r>
            <a:r>
              <a:rPr lang="zh-CN" altLang="en-US" sz="1800" dirty="0">
                <a:latin typeface="宋体" panose="02010600030101010101" pitchFamily="2" charset="-122"/>
              </a:rPr>
              <a:t>同步和互斥  </a:t>
            </a:r>
            <a:endParaRPr lang="zh-CN" altLang="en-US" sz="1800" dirty="0">
              <a:latin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5837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课程目标</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lvl="0" indent="-342900" fontAlgn="base">
              <a:lnSpc>
                <a:spcPct val="140000"/>
              </a:lnSpc>
              <a:spcBef>
                <a:spcPct val="0"/>
              </a:spcBef>
              <a:spcAft>
                <a:spcPct val="0"/>
              </a:spcAft>
            </a:pPr>
            <a:r>
              <a:rPr lang="zh-CN" altLang="en-US" sz="1800" strike="noStrike" noProof="1" dirty="0">
                <a:latin typeface="宋体" panose="02010600030101010101" pitchFamily="2" charset="-122"/>
                <a:sym typeface="宋体" panose="02010600030101010101" pitchFamily="2" charset="-122"/>
              </a:rPr>
              <a:t>进程是一个独立的可调度的任务</a:t>
            </a:r>
            <a:endParaRPr lang="zh-CN" altLang="en-US" sz="1800" strike="noStrike" noProof="1" dirty="0">
              <a:latin typeface="宋体" panose="02010600030101010101" pitchFamily="2" charset="-122"/>
              <a:sym typeface="宋体" panose="02010600030101010101" pitchFamily="2" charset="-122"/>
            </a:endParaRPr>
          </a:p>
          <a:p>
            <a:pPr lvl="1" indent="-342900" fontAlgn="base">
              <a:lnSpc>
                <a:spcPct val="140000"/>
              </a:lnSpc>
              <a:spcBef>
                <a:spcPct val="0"/>
              </a:spcBef>
              <a:spcAft>
                <a:spcPct val="0"/>
              </a:spcAft>
            </a:pPr>
            <a:r>
              <a:rPr lang="zh-CN" altLang="en-US" sz="1500" strike="noStrike" noProof="1">
                <a:sym typeface="+mn-ea"/>
              </a:rPr>
              <a:t>进程是一个抽象实体。当系统在执行某个程序时，分配和释放的各种资源</a:t>
            </a:r>
            <a:r>
              <a:rPr lang="zh-CN" altLang="en-US" sz="1500" strike="noStrike" noProof="1" dirty="0">
                <a:latin typeface="宋体" panose="02010600030101010101" pitchFamily="2" charset="-122"/>
                <a:sym typeface="宋体" panose="02010600030101010101" pitchFamily="2" charset="-122"/>
              </a:rPr>
              <a:t> </a:t>
            </a:r>
            <a:endParaRPr lang="zh-CN" altLang="en-US" sz="1500" strike="noStrike" noProof="1" dirty="0">
              <a:latin typeface="宋体" panose="02010600030101010101" pitchFamily="2" charset="-122"/>
              <a:sym typeface="宋体" panose="02010600030101010101" pitchFamily="2" charset="-122"/>
            </a:endParaRPr>
          </a:p>
          <a:p>
            <a:pPr lvl="0" indent="-342900" fontAlgn="base">
              <a:lnSpc>
                <a:spcPct val="140000"/>
              </a:lnSpc>
              <a:spcBef>
                <a:spcPct val="0"/>
              </a:spcBef>
              <a:spcAft>
                <a:spcPct val="0"/>
              </a:spcAft>
            </a:pPr>
            <a:r>
              <a:rPr lang="zh-CN" altLang="en-US" sz="1800" strike="noStrike" noProof="1" dirty="0">
                <a:latin typeface="宋体" panose="02010600030101010101" pitchFamily="2" charset="-122"/>
                <a:sym typeface="宋体" panose="02010600030101010101" pitchFamily="2" charset="-122"/>
              </a:rPr>
              <a:t>进程是一个程序的一次执行的过程</a:t>
            </a:r>
            <a:endParaRPr lang="zh-CN" altLang="en-US" sz="1800" strike="noStrike" noProof="1" dirty="0">
              <a:latin typeface="宋体" panose="02010600030101010101" pitchFamily="2" charset="-122"/>
              <a:sym typeface="宋体" panose="02010600030101010101" pitchFamily="2" charset="-122"/>
            </a:endParaRPr>
          </a:p>
          <a:p>
            <a:pPr lvl="0" indent="-342900" fontAlgn="base">
              <a:lnSpc>
                <a:spcPct val="140000"/>
              </a:lnSpc>
              <a:spcBef>
                <a:spcPct val="0"/>
              </a:spcBef>
              <a:spcAft>
                <a:spcPct val="0"/>
              </a:spcAft>
            </a:pPr>
            <a:r>
              <a:rPr lang="zh-CN" altLang="en-US" sz="1800" strike="noStrike" noProof="1" dirty="0">
                <a:latin typeface="宋体" panose="02010600030101010101" pitchFamily="2" charset="-122"/>
                <a:sym typeface="宋体" panose="02010600030101010101" pitchFamily="2" charset="-122"/>
              </a:rPr>
              <a:t>进程和程序的区别</a:t>
            </a:r>
            <a:endParaRPr lang="zh-CN" altLang="en-US" sz="1800" strike="noStrike" noProof="1" dirty="0">
              <a:latin typeface="宋体" panose="02010600030101010101" pitchFamily="2" charset="-122"/>
              <a:sym typeface="宋体" panose="02010600030101010101" pitchFamily="2" charset="-122"/>
            </a:endParaRPr>
          </a:p>
          <a:p>
            <a:pPr lvl="1" fontAlgn="base"/>
            <a:r>
              <a:rPr lang="zh-CN" altLang="en-US" sz="1500" strike="noStrike" noProof="1">
                <a:sym typeface="+mn-ea"/>
              </a:rPr>
              <a:t>程序是静态的，它是一些保存在磁盘上的指令的有序集合，没有任何执行的概念</a:t>
            </a:r>
            <a:endParaRPr lang="zh-CN" altLang="en-US" sz="1500" strike="noStrike" noProof="1"/>
          </a:p>
          <a:p>
            <a:pPr lvl="1" fontAlgn="base"/>
            <a:r>
              <a:rPr lang="zh-CN" altLang="en-US" sz="1500" strike="noStrike" noProof="1">
                <a:sym typeface="+mn-ea"/>
              </a:rPr>
              <a:t>进程是一个动态的概念，它是程序执行的过程，包括创建、调度和消亡</a:t>
            </a:r>
            <a:endParaRPr lang="zh-CN" altLang="en-US" sz="1500" strike="noStrike" noProof="1" dirty="0">
              <a:latin typeface="宋体" panose="02010600030101010101" pitchFamily="2" charset="-122"/>
              <a:sym typeface="宋体" panose="02010600030101010101" pitchFamily="2" charset="-122"/>
            </a:endParaRPr>
          </a:p>
          <a:p>
            <a:pPr lvl="0" indent="-342900" fontAlgn="base">
              <a:lnSpc>
                <a:spcPct val="140000"/>
              </a:lnSpc>
              <a:spcBef>
                <a:spcPct val="0"/>
              </a:spcBef>
              <a:spcAft>
                <a:spcPct val="0"/>
              </a:spcAft>
            </a:pPr>
            <a:r>
              <a:rPr lang="zh-CN" altLang="en-US" sz="1800" strike="noStrike" noProof="1" dirty="0">
                <a:latin typeface="宋体" panose="02010600030101010101" pitchFamily="2" charset="-122"/>
                <a:sym typeface="宋体" panose="02010600030101010101" pitchFamily="2" charset="-122"/>
              </a:rPr>
              <a:t>进程是程序执行和资源管理的最小单位</a:t>
            </a:r>
            <a:endParaRPr lang="zh-CN" altLang="en-US" sz="1800" strike="noStrike" noProof="1" dirty="0">
              <a:latin typeface="宋体" panose="02010600030101010101" pitchFamily="2" charset="-122"/>
              <a:sym typeface="宋体" panose="02010600030101010101" pitchFamily="2" charset="-122"/>
            </a:endParaRPr>
          </a:p>
          <a:p>
            <a:pPr lvl="0" indent="-342900" fontAlgn="base">
              <a:lnSpc>
                <a:spcPct val="140000"/>
              </a:lnSpc>
              <a:spcBef>
                <a:spcPct val="0"/>
              </a:spcBef>
              <a:spcAft>
                <a:spcPct val="0"/>
              </a:spcAft>
            </a:pPr>
            <a:endParaRPr lang="zh-CN" altLang="en-US" sz="1800" strike="noStrike" noProof="1" dirty="0">
              <a:latin typeface="宋体" panose="02010600030101010101" pitchFamily="2" charset="-122"/>
              <a:sym typeface="Times New Roman" panose="02020603050405020304" pitchFamily="2" charset="0"/>
            </a:endParaRPr>
          </a:p>
          <a:p>
            <a:pPr lvl="0" indent="-342900" fontAlgn="base">
              <a:lnSpc>
                <a:spcPct val="140000"/>
              </a:lnSpc>
              <a:spcBef>
                <a:spcPct val="0"/>
              </a:spcBef>
              <a:spcAft>
                <a:spcPct val="0"/>
              </a:spcAft>
            </a:pPr>
            <a:endParaRPr lang="zh-CN" altLang="en-US" sz="1800" strike="noStrike" noProof="1" dirty="0">
              <a:latin typeface="宋体" panose="02010600030101010101" pitchFamily="2" charset="-122"/>
              <a:sym typeface="宋体" panose="02010600030101010101" pitchFamily="2" charset="-122"/>
            </a:endParaRPr>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5939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40000"/>
              </a:lnSpc>
              <a:spcBef>
                <a:spcPct val="0"/>
              </a:spcBef>
              <a:spcAft>
                <a:spcPct val="0"/>
              </a:spcAft>
            </a:pPr>
            <a:endParaRPr lang="zh-CN" altLang="en-US" sz="1800" dirty="0">
              <a:latin typeface="宋体" panose="02010600030101010101" pitchFamily="2" charset="-122"/>
              <a:sym typeface="Times New Roman" panose="02020603050405020304" pitchFamily="2" charset="0"/>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6144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61444" name="Rectangle 5"/>
          <p:cNvSpPr/>
          <p:nvPr/>
        </p:nvSpPr>
        <p:spPr>
          <a:xfrm>
            <a:off x="2511425" y="1090613"/>
            <a:ext cx="1955800" cy="946150"/>
          </a:xfrm>
          <a:prstGeom prst="rect">
            <a:avLst/>
          </a:prstGeom>
          <a:gradFill rotWithShape="1">
            <a:gsLst>
              <a:gs pos="0">
                <a:srgbClr val="765E00"/>
              </a:gs>
              <a:gs pos="50000">
                <a:srgbClr val="FFCC00">
                  <a:alpha val="87999"/>
                </a:srgbClr>
              </a:gs>
              <a:gs pos="100000">
                <a:srgbClr val="765E00"/>
              </a:gs>
            </a:gsLst>
            <a:lin ang="5400000" scaled="1"/>
            <a:tileRect/>
          </a:gradFill>
          <a:ln w="12700" cap="flat" cmpd="sng">
            <a:solidFill>
              <a:schemeClr val="bg2"/>
            </a:solidFill>
            <a:prstDash val="solid"/>
            <a:miter/>
            <a:headEnd type="none" w="med" len="med"/>
            <a:tailEnd type="none" w="med" len="med"/>
          </a:ln>
        </p:spPr>
        <p:txBody>
          <a:bodyPr wrap="none" anchor="ctr" anchorCtr="0"/>
          <a:p>
            <a:pPr algn="ctr">
              <a:spcBef>
                <a:spcPct val="20000"/>
              </a:spcBef>
              <a:buClr>
                <a:srgbClr val="FF0000"/>
              </a:buClr>
              <a:buFont typeface="Arial" panose="020B0604020202020204" pitchFamily="34" charset="0"/>
              <a:buChar char="•"/>
            </a:pPr>
            <a:endParaRPr lang="zh-CN" altLang="en-US" sz="2400" i="1">
              <a:latin typeface="Times New Roman" panose="02020603050405020304" pitchFamily="2" charset="0"/>
              <a:ea typeface="宋体" panose="02010600030101010101" pitchFamily="2" charset="-122"/>
            </a:endParaRPr>
          </a:p>
        </p:txBody>
      </p:sp>
      <p:sp>
        <p:nvSpPr>
          <p:cNvPr id="61445" name="Rectangle 6"/>
          <p:cNvSpPr/>
          <p:nvPr/>
        </p:nvSpPr>
        <p:spPr>
          <a:xfrm>
            <a:off x="2497138" y="2032000"/>
            <a:ext cx="1971675" cy="930275"/>
          </a:xfrm>
          <a:prstGeom prst="rect">
            <a:avLst/>
          </a:prstGeom>
          <a:gradFill rotWithShape="1">
            <a:gsLst>
              <a:gs pos="0">
                <a:srgbClr val="765E00"/>
              </a:gs>
              <a:gs pos="50000">
                <a:srgbClr val="FFCC00">
                  <a:alpha val="87999"/>
                </a:srgbClr>
              </a:gs>
              <a:gs pos="100000">
                <a:srgbClr val="765E00"/>
              </a:gs>
            </a:gsLst>
            <a:lin ang="5400000" scaled="1"/>
            <a:tileRect/>
          </a:gradFill>
          <a:ln w="12700" cap="flat" cmpd="sng">
            <a:solidFill>
              <a:schemeClr val="bg2"/>
            </a:solidFill>
            <a:prstDash val="solid"/>
            <a:miter/>
            <a:headEnd type="none" w="med" len="med"/>
            <a:tailEnd type="none" w="med" len="med"/>
          </a:ln>
        </p:spPr>
        <p:txBody>
          <a:bodyPr wrap="none" anchor="ctr" anchorCtr="0"/>
          <a:p>
            <a:pPr algn="ctr">
              <a:spcBef>
                <a:spcPct val="20000"/>
              </a:spcBef>
              <a:buClr>
                <a:srgbClr val="FF0000"/>
              </a:buClr>
              <a:buFont typeface="Arial" panose="020B0604020202020204" pitchFamily="34" charset="0"/>
              <a:buChar char="•"/>
            </a:pPr>
            <a:endParaRPr lang="zh-CN" altLang="en-US" sz="2400" i="1">
              <a:latin typeface="Times New Roman" panose="02020603050405020304" pitchFamily="2" charset="0"/>
              <a:ea typeface="宋体" panose="02010600030101010101" pitchFamily="2" charset="-122"/>
            </a:endParaRPr>
          </a:p>
        </p:txBody>
      </p:sp>
      <p:sp>
        <p:nvSpPr>
          <p:cNvPr id="61446" name="Rectangle 9"/>
          <p:cNvSpPr/>
          <p:nvPr/>
        </p:nvSpPr>
        <p:spPr>
          <a:xfrm>
            <a:off x="2433638" y="1395413"/>
            <a:ext cx="2141537" cy="384175"/>
          </a:xfrm>
          <a:prstGeom prst="rect">
            <a:avLst/>
          </a:prstGeom>
          <a:noFill/>
          <a:ln w="9525">
            <a:noFill/>
          </a:ln>
        </p:spPr>
        <p:txBody>
          <a:bodyPr anchor="t" anchorCtr="0">
            <a:spAutoFit/>
          </a:bodyPr>
          <a:p>
            <a:pPr algn="ctr">
              <a:lnSpc>
                <a:spcPct val="80000"/>
              </a:lnSpc>
              <a:spcBef>
                <a:spcPct val="20000"/>
              </a:spcBef>
            </a:pPr>
            <a:r>
              <a:rPr lang="zh-CN" altLang="en-US" sz="2400" b="1">
                <a:solidFill>
                  <a:schemeClr val="bg2"/>
                </a:solidFill>
                <a:latin typeface="Arial" panose="020B0604020202020204" pitchFamily="34" charset="0"/>
                <a:ea typeface="宋体" panose="02010600030101010101" pitchFamily="2" charset="-122"/>
              </a:rPr>
              <a:t>正文段</a:t>
            </a:r>
            <a:endParaRPr lang="zh-CN" altLang="en-US" sz="2400">
              <a:solidFill>
                <a:schemeClr val="bg2"/>
              </a:solidFill>
              <a:latin typeface="Arial" panose="020B0604020202020204" pitchFamily="34" charset="0"/>
              <a:ea typeface="宋体" panose="02010600030101010101" pitchFamily="2" charset="-122"/>
            </a:endParaRPr>
          </a:p>
        </p:txBody>
      </p:sp>
      <p:sp>
        <p:nvSpPr>
          <p:cNvPr id="61447" name="Rectangle 12"/>
          <p:cNvSpPr/>
          <p:nvPr/>
        </p:nvSpPr>
        <p:spPr>
          <a:xfrm>
            <a:off x="2540000" y="2289175"/>
            <a:ext cx="1927225" cy="384175"/>
          </a:xfrm>
          <a:prstGeom prst="rect">
            <a:avLst/>
          </a:prstGeom>
          <a:noFill/>
          <a:ln w="9525">
            <a:noFill/>
          </a:ln>
        </p:spPr>
        <p:txBody>
          <a:bodyPr anchor="t" anchorCtr="0">
            <a:spAutoFit/>
          </a:bodyPr>
          <a:p>
            <a:pPr algn="ctr">
              <a:lnSpc>
                <a:spcPct val="80000"/>
              </a:lnSpc>
              <a:spcBef>
                <a:spcPct val="20000"/>
              </a:spcBef>
            </a:pPr>
            <a:r>
              <a:rPr lang="zh-CN" altLang="en-US" sz="2400" b="1">
                <a:solidFill>
                  <a:schemeClr val="bg2"/>
                </a:solidFill>
                <a:latin typeface="Arial" panose="020B0604020202020204" pitchFamily="34" charset="0"/>
                <a:ea typeface="宋体" panose="02010600030101010101" pitchFamily="2" charset="-122"/>
              </a:rPr>
              <a:t>用户数据段</a:t>
            </a:r>
            <a:endParaRPr lang="zh-CN" altLang="en-US" sz="2400">
              <a:solidFill>
                <a:schemeClr val="bg2"/>
              </a:solidFill>
              <a:latin typeface="Arial" panose="020B0604020202020204" pitchFamily="34" charset="0"/>
              <a:ea typeface="宋体" panose="02010600030101010101" pitchFamily="2" charset="-122"/>
            </a:endParaRPr>
          </a:p>
        </p:txBody>
      </p:sp>
      <p:sp>
        <p:nvSpPr>
          <p:cNvPr id="61448" name="Rectangle 14"/>
          <p:cNvSpPr/>
          <p:nvPr/>
        </p:nvSpPr>
        <p:spPr>
          <a:xfrm>
            <a:off x="2497138" y="2970213"/>
            <a:ext cx="1971675" cy="928687"/>
          </a:xfrm>
          <a:prstGeom prst="rect">
            <a:avLst/>
          </a:prstGeom>
          <a:gradFill rotWithShape="1">
            <a:gsLst>
              <a:gs pos="0">
                <a:srgbClr val="765E00"/>
              </a:gs>
              <a:gs pos="50000">
                <a:srgbClr val="FFCC00">
                  <a:alpha val="87999"/>
                </a:srgbClr>
              </a:gs>
              <a:gs pos="100000">
                <a:srgbClr val="765E00"/>
              </a:gs>
            </a:gsLst>
            <a:lin ang="5400000" scaled="1"/>
            <a:tileRect/>
          </a:gradFill>
          <a:ln w="12700" cap="flat" cmpd="sng">
            <a:solidFill>
              <a:schemeClr val="bg2"/>
            </a:solidFill>
            <a:prstDash val="solid"/>
            <a:miter/>
            <a:headEnd type="none" w="med" len="med"/>
            <a:tailEnd type="none" w="med" len="med"/>
          </a:ln>
        </p:spPr>
        <p:txBody>
          <a:bodyPr wrap="none" anchor="ctr" anchorCtr="0"/>
          <a:p>
            <a:pPr algn="ctr">
              <a:spcBef>
                <a:spcPct val="20000"/>
              </a:spcBef>
              <a:buClr>
                <a:srgbClr val="FF0000"/>
              </a:buClr>
              <a:buFont typeface="Arial" panose="020B0604020202020204" pitchFamily="34" charset="0"/>
              <a:buChar char="•"/>
            </a:pPr>
            <a:endParaRPr lang="zh-CN" altLang="en-US" sz="2400" i="1">
              <a:latin typeface="Times New Roman" panose="02020603050405020304" pitchFamily="2" charset="0"/>
              <a:ea typeface="宋体" panose="02010600030101010101" pitchFamily="2" charset="-122"/>
            </a:endParaRPr>
          </a:p>
        </p:txBody>
      </p:sp>
      <p:sp>
        <p:nvSpPr>
          <p:cNvPr id="61449" name="Rectangle 15"/>
          <p:cNvSpPr/>
          <p:nvPr/>
        </p:nvSpPr>
        <p:spPr>
          <a:xfrm>
            <a:off x="2540000" y="3225800"/>
            <a:ext cx="1927225" cy="384175"/>
          </a:xfrm>
          <a:prstGeom prst="rect">
            <a:avLst/>
          </a:prstGeom>
          <a:noFill/>
          <a:ln w="9525">
            <a:noFill/>
          </a:ln>
        </p:spPr>
        <p:txBody>
          <a:bodyPr anchor="t" anchorCtr="0">
            <a:spAutoFit/>
          </a:bodyPr>
          <a:p>
            <a:pPr algn="ctr">
              <a:lnSpc>
                <a:spcPct val="80000"/>
              </a:lnSpc>
              <a:spcBef>
                <a:spcPct val="20000"/>
              </a:spcBef>
            </a:pPr>
            <a:r>
              <a:rPr lang="zh-CN" altLang="en-US" sz="2400" b="1">
                <a:solidFill>
                  <a:schemeClr val="bg2"/>
                </a:solidFill>
                <a:latin typeface="Arial" panose="020B0604020202020204" pitchFamily="34" charset="0"/>
                <a:ea typeface="宋体" panose="02010600030101010101" pitchFamily="2" charset="-122"/>
              </a:rPr>
              <a:t>系统数据段</a:t>
            </a:r>
            <a:endParaRPr lang="zh-CN" altLang="en-US" sz="2400" b="1">
              <a:solidFill>
                <a:schemeClr val="bg2"/>
              </a:solidFill>
              <a:latin typeface="Arial" panose="020B0604020202020204" pitchFamily="34" charset="0"/>
              <a:ea typeface="宋体" panose="02010600030101010101" pitchFamily="2" charset="-122"/>
            </a:endParaRPr>
          </a:p>
        </p:txBody>
      </p:sp>
      <p:sp>
        <p:nvSpPr>
          <p:cNvPr id="61450" name="AutoShape 19"/>
          <p:cNvSpPr/>
          <p:nvPr/>
        </p:nvSpPr>
        <p:spPr>
          <a:xfrm>
            <a:off x="4738688" y="1162050"/>
            <a:ext cx="304800" cy="1671638"/>
          </a:xfrm>
          <a:prstGeom prst="rightBrace">
            <a:avLst>
              <a:gd name="adj1" fmla="val 45398"/>
              <a:gd name="adj2" fmla="val 50000"/>
            </a:avLst>
          </a:prstGeom>
          <a:noFill/>
          <a:ln w="9525" cap="flat" cmpd="sng">
            <a:solidFill>
              <a:schemeClr val="tx1"/>
            </a:solidFill>
            <a:prstDash val="solid"/>
            <a:round/>
            <a:headEnd type="none" w="med" len="med"/>
            <a:tailEnd type="none" w="med" len="med"/>
          </a:ln>
        </p:spPr>
        <p:txBody>
          <a:bodyPr wrap="none" anchor="ctr" anchorCtr="0"/>
          <a:p>
            <a:pPr algn="ctr">
              <a:spcBef>
                <a:spcPct val="20000"/>
              </a:spcBef>
              <a:buClr>
                <a:srgbClr val="FF0000"/>
              </a:buClr>
              <a:buFont typeface="Arial" panose="020B0604020202020204" pitchFamily="34" charset="0"/>
              <a:buChar char="•"/>
            </a:pPr>
            <a:endParaRPr lang="zh-CN" altLang="zh-CN" sz="2400" i="1">
              <a:latin typeface="Times New Roman" panose="02020603050405020304" pitchFamily="2" charset="0"/>
              <a:ea typeface="宋体" panose="02010600030101010101" pitchFamily="2" charset="-122"/>
            </a:endParaRPr>
          </a:p>
        </p:txBody>
      </p:sp>
      <p:sp>
        <p:nvSpPr>
          <p:cNvPr id="7" name="Rectangle 20"/>
          <p:cNvSpPr>
            <a:spLocks noChangeArrowheads="1"/>
          </p:cNvSpPr>
          <p:nvPr/>
        </p:nvSpPr>
        <p:spPr bwMode="auto">
          <a:xfrm>
            <a:off x="5314950" y="1665288"/>
            <a:ext cx="2447925" cy="576263"/>
          </a:xfrm>
          <a:prstGeom prst="rect">
            <a:avLst/>
          </a:prstGeom>
          <a:gradFill rotWithShape="1">
            <a:gsLst>
              <a:gs pos="0">
                <a:schemeClr val="tx2"/>
              </a:gs>
              <a:gs pos="100000">
                <a:schemeClr val="tx2">
                  <a:gamma/>
                  <a:tint val="43922"/>
                  <a:invGamma/>
                </a:schemeClr>
              </a:gs>
            </a:gsLst>
            <a:lin ang="5400000" scaled="1"/>
          </a:gradFill>
          <a:ln w="9525" algn="ctr">
            <a:solidFill>
              <a:schemeClr val="accent1"/>
            </a:solidFill>
            <a:miter lim="800000"/>
          </a:ln>
          <a:effectLst/>
        </p:spPr>
        <p:txBody>
          <a:bodyPr wrap="none"/>
          <a:p>
            <a:pPr algn="ctr" fontAlgn="base">
              <a:defRPr/>
            </a:pPr>
            <a:r>
              <a:rPr lang="zh-CN" altLang="en-US" sz="2800" b="1" strike="noStrike" noProof="1">
                <a:solidFill>
                  <a:schemeClr val="bg2"/>
                </a:solidFill>
                <a:effectLst>
                  <a:outerShdw blurRad="38100" dist="38100" dir="2700000" algn="tl">
                    <a:srgbClr val="000000"/>
                  </a:outerShdw>
                </a:effectLst>
                <a:latin typeface="Arial" panose="020B0604020202020204" pitchFamily="34" charset="0"/>
                <a:ea typeface="Arial" panose="020B0604020202020204" pitchFamily="34" charset="0"/>
                <a:cs typeface="Arial" panose="020B0604020202020204" pitchFamily="34" charset="0"/>
              </a:rPr>
              <a:t>程序</a:t>
            </a:r>
            <a:endParaRPr lang="zh-CN" altLang="en-US" sz="2800" b="1" strike="noStrike" noProof="1">
              <a:solidFill>
                <a:schemeClr val="bg2"/>
              </a:solidFill>
              <a:effectLst>
                <a:outerShdw blurRad="38100" dist="38100" dir="2700000" algn="tl">
                  <a:srgbClr val="000000"/>
                </a:outerShdw>
              </a:effectLst>
              <a:cs typeface="Arial" panose="020B0604020202020204" pitchFamily="34" charset="0"/>
            </a:endParaRPr>
          </a:p>
        </p:txBody>
      </p:sp>
      <p:sp>
        <p:nvSpPr>
          <p:cNvPr id="61452" name="AutoShape 22"/>
          <p:cNvSpPr/>
          <p:nvPr/>
        </p:nvSpPr>
        <p:spPr>
          <a:xfrm rot="10800000">
            <a:off x="1930400" y="1162050"/>
            <a:ext cx="431800" cy="2665413"/>
          </a:xfrm>
          <a:prstGeom prst="rightBrace">
            <a:avLst>
              <a:gd name="adj1" fmla="val 154005"/>
              <a:gd name="adj2" fmla="val 50000"/>
            </a:avLst>
          </a:prstGeom>
          <a:noFill/>
          <a:ln w="9525" cap="flat" cmpd="sng">
            <a:solidFill>
              <a:schemeClr val="tx1"/>
            </a:solidFill>
            <a:prstDash val="solid"/>
            <a:round/>
            <a:headEnd type="none" w="med" len="med"/>
            <a:tailEnd type="none" w="med" len="med"/>
          </a:ln>
        </p:spPr>
        <p:txBody>
          <a:bodyPr wrap="none" anchor="ctr" anchorCtr="0"/>
          <a:p>
            <a:pPr algn="ctr">
              <a:spcBef>
                <a:spcPct val="20000"/>
              </a:spcBef>
              <a:buClr>
                <a:srgbClr val="FF0000"/>
              </a:buClr>
              <a:buFont typeface="Arial" panose="020B0604020202020204" pitchFamily="34" charset="0"/>
              <a:buChar char="•"/>
            </a:pPr>
            <a:endParaRPr lang="zh-CN" altLang="zh-CN" sz="2400" i="1">
              <a:latin typeface="Times New Roman" panose="02020603050405020304" pitchFamily="2" charset="0"/>
              <a:ea typeface="宋体" panose="02010600030101010101" pitchFamily="2" charset="-122"/>
            </a:endParaRPr>
          </a:p>
        </p:txBody>
      </p:sp>
      <p:sp>
        <p:nvSpPr>
          <p:cNvPr id="8" name="Rectangle 23"/>
          <p:cNvSpPr>
            <a:spLocks noChangeArrowheads="1"/>
          </p:cNvSpPr>
          <p:nvPr/>
        </p:nvSpPr>
        <p:spPr bwMode="auto">
          <a:xfrm>
            <a:off x="490538" y="2170113"/>
            <a:ext cx="1295400" cy="576263"/>
          </a:xfrm>
          <a:prstGeom prst="rect">
            <a:avLst/>
          </a:prstGeom>
          <a:gradFill rotWithShape="1">
            <a:gsLst>
              <a:gs pos="0">
                <a:schemeClr val="tx2"/>
              </a:gs>
              <a:gs pos="100000">
                <a:schemeClr val="tx2">
                  <a:gamma/>
                  <a:tint val="43922"/>
                  <a:invGamma/>
                </a:schemeClr>
              </a:gs>
            </a:gsLst>
            <a:lin ang="5400000" scaled="1"/>
          </a:gradFill>
          <a:ln w="9525" algn="ctr">
            <a:solidFill>
              <a:schemeClr val="accent1"/>
            </a:solidFill>
            <a:miter lim="800000"/>
          </a:ln>
          <a:effectLst/>
        </p:spPr>
        <p:txBody>
          <a:bodyPr wrap="none"/>
          <a:p>
            <a:pPr algn="ctr" fontAlgn="base">
              <a:defRPr/>
            </a:pPr>
            <a:r>
              <a:rPr lang="zh-CN" altLang="en-US" sz="2800" b="1" strike="noStrike" noProof="1">
                <a:solidFill>
                  <a:schemeClr val="bg2"/>
                </a:solidFill>
                <a:effectLst>
                  <a:outerShdw blurRad="38100" dist="38100" dir="2700000" algn="tl">
                    <a:srgbClr val="000000"/>
                  </a:outerShdw>
                </a:effectLst>
                <a:latin typeface="Arial" panose="020B0604020202020204" pitchFamily="34" charset="0"/>
                <a:ea typeface="Arial" panose="020B0604020202020204" pitchFamily="34" charset="0"/>
                <a:cs typeface="Arial" panose="020B0604020202020204" pitchFamily="34" charset="0"/>
              </a:rPr>
              <a:t>进程</a:t>
            </a:r>
            <a:endParaRPr lang="zh-CN" altLang="en-US" sz="2800" b="1" strike="noStrike" noProof="1">
              <a:solidFill>
                <a:schemeClr val="bg2"/>
              </a:solidFill>
              <a:effectLst>
                <a:outerShdw blurRad="38100" dist="38100" dir="2700000" algn="tl">
                  <a:srgbClr val="000000"/>
                </a:outerShdw>
              </a:effectLst>
              <a:cs typeface="Arial" panose="020B0604020202020204" pitchFamily="34" charset="0"/>
            </a:endParaRPr>
          </a:p>
        </p:txBody>
      </p:sp>
      <p:sp>
        <p:nvSpPr>
          <p:cNvPr id="61454" name="文本框 8"/>
          <p:cNvSpPr txBox="1"/>
          <p:nvPr/>
        </p:nvSpPr>
        <p:spPr>
          <a:xfrm>
            <a:off x="492125" y="4171950"/>
            <a:ext cx="7502525" cy="644525"/>
          </a:xfrm>
          <a:prstGeom prst="rect">
            <a:avLst/>
          </a:prstGeom>
          <a:noFill/>
          <a:ln w="9525">
            <a:noFill/>
          </a:ln>
        </p:spPr>
        <p:txBody>
          <a:bodyPr wrap="square" anchor="t" anchorCtr="0">
            <a:spAutoFit/>
          </a:bodyPr>
          <a:p>
            <a:r>
              <a:rPr lang="zh-CN" altLang="en-US">
                <a:latin typeface="Times New Roman" panose="02020603050405020304" pitchFamily="2" charset="0"/>
                <a:ea typeface="华文中宋" panose="02010600040101010101" pitchFamily="2" charset="-122"/>
              </a:rPr>
              <a:t>进程不仅包括程序的指令和数据，而且包括程序计数器值、</a:t>
            </a:r>
            <a:r>
              <a:rPr lang="en-US" altLang="zh-CN">
                <a:latin typeface="Times New Roman" panose="02020603050405020304" pitchFamily="2" charset="0"/>
                <a:ea typeface="华文中宋" panose="02010600040101010101" pitchFamily="2" charset="-122"/>
              </a:rPr>
              <a:t>CPU</a:t>
            </a:r>
            <a:r>
              <a:rPr lang="zh-CN" altLang="en-US">
                <a:latin typeface="Times New Roman" panose="02020603050405020304" pitchFamily="2" charset="0"/>
                <a:ea typeface="华文中宋" panose="02010600040101010101" pitchFamily="2" charset="-122"/>
              </a:rPr>
              <a:t>的所有寄存器值以及存储临时数据的进程堆栈。</a:t>
            </a:r>
            <a:endParaRPr lang="zh-CN" altLang="en-US">
              <a:latin typeface="Arial" panose="020B0604020202020204" pitchFamily="34" charset="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zh-CN" altLang="en-US" sz="1800">
                <a:latin typeface="宋体" panose="02010600030101010101" pitchFamily="2" charset="-122"/>
              </a:rPr>
              <a:t>主要的进程标识</a:t>
            </a:r>
            <a:endParaRPr lang="zh-CN" altLang="en-US" sz="1800">
              <a:latin typeface="宋体" panose="02010600030101010101" pitchFamily="2" charset="-122"/>
            </a:endParaRPr>
          </a:p>
          <a:p>
            <a:pPr lvl="1" indent="-285750">
              <a:lnSpc>
                <a:spcPct val="90000"/>
              </a:lnSpc>
            </a:pPr>
            <a:r>
              <a:rPr lang="zh-CN" altLang="en-US" sz="1800">
                <a:latin typeface="宋体" panose="02010600030101010101" pitchFamily="2" charset="-122"/>
              </a:rPr>
              <a:t>进程号</a:t>
            </a:r>
            <a:r>
              <a:rPr lang="en-US" altLang="zh-CN" sz="1800">
                <a:latin typeface="宋体" panose="02010600030101010101" pitchFamily="2" charset="-122"/>
              </a:rPr>
              <a:t>(Process Identity Number</a:t>
            </a:r>
            <a:r>
              <a:rPr lang="zh-CN" altLang="en-US" sz="1800">
                <a:latin typeface="宋体" panose="02010600030101010101" pitchFamily="2" charset="-122"/>
              </a:rPr>
              <a:t>，</a:t>
            </a:r>
            <a:r>
              <a:rPr lang="en-US" altLang="zh-CN" sz="1800">
                <a:latin typeface="宋体" panose="02010600030101010101" pitchFamily="2" charset="-122"/>
              </a:rPr>
              <a:t>PID)</a:t>
            </a:r>
            <a:endParaRPr lang="en-US" altLang="zh-CN" sz="1800">
              <a:latin typeface="宋体" panose="02010600030101010101" pitchFamily="2" charset="-122"/>
            </a:endParaRPr>
          </a:p>
          <a:p>
            <a:pPr lvl="1" indent="-285750">
              <a:lnSpc>
                <a:spcPct val="90000"/>
              </a:lnSpc>
            </a:pPr>
            <a:r>
              <a:rPr lang="zh-CN" altLang="en-US" sz="1800">
                <a:latin typeface="宋体" panose="02010600030101010101" pitchFamily="2" charset="-122"/>
              </a:rPr>
              <a:t>父进程号</a:t>
            </a:r>
            <a:r>
              <a:rPr lang="en-US" altLang="zh-CN" sz="1800">
                <a:latin typeface="宋体" panose="02010600030101010101" pitchFamily="2" charset="-122"/>
              </a:rPr>
              <a:t>(Parent Process ID</a:t>
            </a:r>
            <a:r>
              <a:rPr lang="zh-CN" altLang="en-US" sz="1800">
                <a:latin typeface="宋体" panose="02010600030101010101" pitchFamily="2" charset="-122"/>
              </a:rPr>
              <a:t>，</a:t>
            </a:r>
            <a:r>
              <a:rPr lang="en-US" altLang="zh-CN" sz="1800">
                <a:latin typeface="宋体" panose="02010600030101010101" pitchFamily="2" charset="-122"/>
              </a:rPr>
              <a:t>PPID)</a:t>
            </a:r>
            <a:endParaRPr lang="en-US" altLang="zh-CN" sz="1800">
              <a:latin typeface="宋体" panose="02010600030101010101" pitchFamily="2" charset="-122"/>
            </a:endParaRPr>
          </a:p>
          <a:p>
            <a:pPr lvl="1" indent="-285750">
              <a:lnSpc>
                <a:spcPct val="90000"/>
              </a:lnSpc>
            </a:pPr>
            <a:endParaRPr lang="en-US" altLang="zh-CN" sz="1800">
              <a:latin typeface="宋体" panose="02010600030101010101" pitchFamily="2" charset="-122"/>
            </a:endParaRPr>
          </a:p>
          <a:p>
            <a:pPr lvl="0" indent="-342900">
              <a:lnSpc>
                <a:spcPct val="90000"/>
              </a:lnSpc>
            </a:pPr>
            <a:r>
              <a:rPr lang="en-US" altLang="zh-CN" sz="1800">
                <a:latin typeface="宋体" panose="02010600030101010101" pitchFamily="2" charset="-122"/>
              </a:rPr>
              <a:t>PID</a:t>
            </a:r>
            <a:r>
              <a:rPr lang="zh-CN" altLang="en-US" sz="1800">
                <a:latin typeface="宋体" panose="02010600030101010101" pitchFamily="2" charset="-122"/>
              </a:rPr>
              <a:t>唯一地标识一个进程</a:t>
            </a:r>
            <a:endParaRPr lang="zh-CN" altLang="en-US" sz="1800">
              <a:latin typeface="宋体" panose="02010600030101010101" pitchFamily="2" charset="-122"/>
            </a:endParaRPr>
          </a:p>
          <a:p>
            <a:pPr lvl="0" indent="-342900">
              <a:lnSpc>
                <a:spcPct val="90000"/>
              </a:lnSpc>
            </a:pPr>
            <a:endParaRPr lang="zh-CN" altLang="en-US" sz="1800">
              <a:latin typeface="宋体" panose="02010600030101010101" pitchFamily="2" charset="-122"/>
            </a:endParaRPr>
          </a:p>
          <a:p>
            <a:pPr lvl="0" indent="-342900">
              <a:lnSpc>
                <a:spcPct val="90000"/>
              </a:lnSpc>
            </a:pPr>
            <a:r>
              <a:rPr lang="en-US" altLang="zh-CN" sz="1800">
                <a:latin typeface="宋体" panose="02010600030101010101" pitchFamily="2" charset="-122"/>
                <a:sym typeface="Symbol" panose="05050102010706020507" charset="2"/>
              </a:rPr>
              <a:t>Linux</a:t>
            </a:r>
            <a:r>
              <a:rPr lang="zh-CN" altLang="en-US" sz="1800">
                <a:latin typeface="宋体" panose="02010600030101010101" pitchFamily="2" charset="-122"/>
                <a:sym typeface="Symbol" panose="05050102010706020507" charset="2"/>
              </a:rPr>
              <a:t>中的进程包含三个段</a:t>
            </a:r>
            <a:endParaRPr lang="zh-CN" altLang="en-US" sz="1800">
              <a:latin typeface="宋体" panose="02010600030101010101" pitchFamily="2" charset="-122"/>
              <a:sym typeface="Symbol" panose="05050102010706020507" charset="2"/>
            </a:endParaRPr>
          </a:p>
          <a:p>
            <a:pPr lvl="1" indent="-285750">
              <a:lnSpc>
                <a:spcPct val="90000"/>
              </a:lnSpc>
            </a:pPr>
            <a:r>
              <a:rPr lang="zh-CN" altLang="en-US" sz="1800">
                <a:latin typeface="宋体" panose="02010600030101010101" pitchFamily="2" charset="-122"/>
                <a:sym typeface="Symbol" panose="05050102010706020507" charset="2"/>
              </a:rPr>
              <a:t>“数据段”存放的是全局变量、常数以及动态数据分配的数据空间</a:t>
            </a:r>
            <a:r>
              <a:rPr lang="en-US" altLang="zh-CN" sz="1800">
                <a:latin typeface="宋体" panose="02010600030101010101" pitchFamily="2" charset="-122"/>
                <a:sym typeface="Symbol" panose="05050102010706020507" charset="2"/>
              </a:rPr>
              <a:t>(</a:t>
            </a:r>
            <a:r>
              <a:rPr lang="zh-CN" altLang="en-US" sz="1800">
                <a:latin typeface="宋体" panose="02010600030101010101" pitchFamily="2" charset="-122"/>
                <a:sym typeface="Symbol" panose="05050102010706020507" charset="2"/>
              </a:rPr>
              <a:t>如</a:t>
            </a:r>
            <a:r>
              <a:rPr lang="en-US" altLang="zh-CN" sz="1800">
                <a:latin typeface="宋体" panose="02010600030101010101" pitchFamily="2" charset="-122"/>
                <a:sym typeface="Symbol" panose="05050102010706020507" charset="2"/>
              </a:rPr>
              <a:t>malloc</a:t>
            </a:r>
            <a:r>
              <a:rPr lang="zh-CN" altLang="en-US" sz="1800">
                <a:latin typeface="宋体" panose="02010600030101010101" pitchFamily="2" charset="-122"/>
                <a:sym typeface="Symbol" panose="05050102010706020507" charset="2"/>
              </a:rPr>
              <a:t>函数取得的空间</a:t>
            </a:r>
            <a:r>
              <a:rPr lang="en-US" altLang="zh-CN" sz="1800">
                <a:latin typeface="宋体" panose="02010600030101010101" pitchFamily="2" charset="-122"/>
                <a:sym typeface="Symbol" panose="05050102010706020507" charset="2"/>
              </a:rPr>
              <a:t>)</a:t>
            </a:r>
            <a:r>
              <a:rPr lang="zh-CN" altLang="en-US" sz="1800">
                <a:latin typeface="宋体" panose="02010600030101010101" pitchFamily="2" charset="-122"/>
                <a:sym typeface="Symbol" panose="05050102010706020507" charset="2"/>
              </a:rPr>
              <a:t>等。</a:t>
            </a:r>
            <a:endParaRPr lang="zh-CN" altLang="en-US" sz="1800">
              <a:latin typeface="宋体" panose="02010600030101010101" pitchFamily="2" charset="-122"/>
              <a:sym typeface="Symbol" panose="05050102010706020507" charset="2"/>
            </a:endParaRPr>
          </a:p>
          <a:p>
            <a:pPr lvl="1" indent="-285750">
              <a:lnSpc>
                <a:spcPct val="90000"/>
              </a:lnSpc>
            </a:pPr>
            <a:r>
              <a:rPr lang="zh-CN" altLang="en-US" sz="1800">
                <a:latin typeface="宋体" panose="02010600030101010101" pitchFamily="2" charset="-122"/>
                <a:sym typeface="Symbol" panose="05050102010706020507" charset="2"/>
              </a:rPr>
              <a:t>“正文段”存放的是程序中的代码</a:t>
            </a:r>
            <a:endParaRPr lang="zh-CN" altLang="en-US" sz="1800">
              <a:latin typeface="宋体" panose="02010600030101010101" pitchFamily="2" charset="-122"/>
              <a:sym typeface="Symbol" panose="05050102010706020507" charset="2"/>
            </a:endParaRPr>
          </a:p>
          <a:p>
            <a:pPr lvl="1" indent="-285750">
              <a:lnSpc>
                <a:spcPct val="90000"/>
              </a:lnSpc>
            </a:pPr>
            <a:r>
              <a:rPr lang="zh-CN" altLang="en-US" sz="1800">
                <a:latin typeface="宋体" panose="02010600030101010101" pitchFamily="2" charset="-122"/>
                <a:sym typeface="Symbol" panose="05050102010706020507" charset="2"/>
              </a:rPr>
              <a:t>“堆栈段”存放的是函数的返回地址、函数的参数以及程序中的局部变量 </a:t>
            </a:r>
            <a:endParaRPr lang="zh-CN" altLang="en-US" sz="1800">
              <a:latin typeface="宋体" panose="02010600030101010101" pitchFamily="2" charset="-122"/>
              <a:sym typeface="Symbol" panose="05050102010706020507" charset="2"/>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lnSpc>
                <a:spcPct val="140000"/>
              </a:lnSpc>
              <a:spcBef>
                <a:spcPct val="0"/>
              </a:spcBef>
              <a:spcAft>
                <a:spcPct val="0"/>
              </a:spcAft>
            </a:pPr>
            <a:endParaRPr lang="zh-CN" altLang="en-US" sz="1800" dirty="0">
              <a:latin typeface="宋体" panose="02010600030101010101" pitchFamily="2" charset="-122"/>
              <a:sym typeface="Times New Roman" panose="02020603050405020304" pitchFamily="2" charset="0"/>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6349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zh-CN" altLang="en-US" sz="1800"/>
              <a:t>交互进程：该类进程是由</a:t>
            </a:r>
            <a:r>
              <a:rPr lang="en-US" altLang="zh-CN" sz="1800"/>
              <a:t>shell</a:t>
            </a:r>
            <a:r>
              <a:rPr lang="zh-CN" altLang="en-US" sz="1800"/>
              <a:t>控制和运行的。交互进程既可以在前台运行，也可以在后台运行。</a:t>
            </a:r>
            <a:endParaRPr lang="zh-CN" altLang="en-US" sz="1800"/>
          </a:p>
          <a:p>
            <a:pPr lvl="0" indent="-342900">
              <a:lnSpc>
                <a:spcPct val="90000"/>
              </a:lnSpc>
            </a:pPr>
            <a:endParaRPr lang="zh-CN" altLang="en-US" sz="1800"/>
          </a:p>
          <a:p>
            <a:pPr lvl="0" indent="-342900">
              <a:lnSpc>
                <a:spcPct val="90000"/>
              </a:lnSpc>
            </a:pPr>
            <a:r>
              <a:rPr lang="zh-CN" altLang="en-US" sz="1800"/>
              <a:t>批处理进程：该类进程不属于某个终端，它被提交到一个队列中以便顺序执行。</a:t>
            </a:r>
            <a:endParaRPr lang="zh-CN" altLang="en-US" sz="1800"/>
          </a:p>
          <a:p>
            <a:pPr lvl="0" indent="-342900">
              <a:lnSpc>
                <a:spcPct val="90000"/>
              </a:lnSpc>
            </a:pPr>
            <a:endParaRPr lang="zh-CN" altLang="en-US" sz="1800"/>
          </a:p>
          <a:p>
            <a:pPr lvl="0" indent="-342900">
              <a:lnSpc>
                <a:spcPct val="90000"/>
              </a:lnSpc>
            </a:pPr>
            <a:r>
              <a:rPr lang="zh-CN" altLang="en-US" sz="1800"/>
              <a:t>守护进程：该类进程在后台运行。它一般在</a:t>
            </a:r>
            <a:r>
              <a:rPr lang="en-US" altLang="zh-CN" sz="1800"/>
              <a:t>Linux</a:t>
            </a:r>
            <a:r>
              <a:rPr lang="zh-CN" altLang="en-US" sz="1800"/>
              <a:t>启动时开始执行，系统关闭时才结束。</a:t>
            </a:r>
            <a:endParaRPr lang="zh-CN" altLang="en-US" sz="1800"/>
          </a:p>
          <a:p>
            <a:pPr lvl="0" indent="-342900">
              <a:lnSpc>
                <a:spcPct val="90000"/>
              </a:lnSpc>
            </a:pPr>
            <a:endParaRPr lang="zh-CN" altLang="en-US" sz="1800">
              <a:latin typeface="宋体" panose="02010600030101010101" pitchFamily="2" charset="-122"/>
              <a:sym typeface="Symbol" panose="05050102010706020507" charset="2"/>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lnSpc>
                <a:spcPct val="140000"/>
              </a:lnSpc>
              <a:spcBef>
                <a:spcPct val="0"/>
              </a:spcBef>
              <a:spcAft>
                <a:spcPct val="0"/>
              </a:spcAft>
            </a:pPr>
            <a:endParaRPr lang="zh-CN" altLang="en-US" sz="1800" dirty="0">
              <a:latin typeface="宋体" panose="02010600030101010101" pitchFamily="2" charset="-122"/>
              <a:sym typeface="Times New Roman" panose="02020603050405020304" pitchFamily="2" charset="0"/>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6553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zh-CN" altLang="en-US" sz="1800">
                <a:latin typeface="宋体" panose="02010600030101010101" pitchFamily="2" charset="-122"/>
              </a:rPr>
              <a:t>运行态：此时进程或者正在运行，或者准备运行。</a:t>
            </a:r>
            <a:endParaRPr lang="zh-CN" altLang="en-US" sz="1800">
              <a:latin typeface="宋体" panose="02010600030101010101" pitchFamily="2" charset="-122"/>
            </a:endParaRPr>
          </a:p>
          <a:p>
            <a:pPr lvl="0" indent="-342900">
              <a:lnSpc>
                <a:spcPct val="90000"/>
              </a:lnSpc>
            </a:pPr>
            <a:endParaRPr lang="zh-CN" altLang="en-US" sz="1800">
              <a:latin typeface="宋体" panose="02010600030101010101" pitchFamily="2" charset="-122"/>
            </a:endParaRPr>
          </a:p>
          <a:p>
            <a:pPr lvl="0" indent="-342900">
              <a:lnSpc>
                <a:spcPct val="90000"/>
              </a:lnSpc>
            </a:pPr>
            <a:r>
              <a:rPr lang="zh-CN" altLang="en-US" sz="1800">
                <a:latin typeface="宋体" panose="02010600030101010101" pitchFamily="2" charset="-122"/>
              </a:rPr>
              <a:t>等待态：此时进程在等待一个事件的发生或某种系统资源。</a:t>
            </a:r>
            <a:endParaRPr lang="zh-CN" altLang="en-US" sz="1800">
              <a:latin typeface="宋体" panose="02010600030101010101" pitchFamily="2" charset="-122"/>
            </a:endParaRPr>
          </a:p>
          <a:p>
            <a:pPr lvl="2" indent="-228600">
              <a:lnSpc>
                <a:spcPct val="90000"/>
              </a:lnSpc>
              <a:buSzPct val="90000"/>
              <a:buFont typeface="Wingdings" panose="05000000000000000000" pitchFamily="2" charset="2"/>
              <a:buChar char="v"/>
            </a:pPr>
            <a:r>
              <a:rPr lang="zh-CN" altLang="en-US" sz="1800">
                <a:latin typeface="宋体" panose="02010600030101010101" pitchFamily="2" charset="-122"/>
              </a:rPr>
              <a:t>可中断</a:t>
            </a:r>
            <a:endParaRPr lang="zh-CN" altLang="en-US" sz="1800">
              <a:latin typeface="宋体" panose="02010600030101010101" pitchFamily="2" charset="-122"/>
            </a:endParaRPr>
          </a:p>
          <a:p>
            <a:pPr lvl="2" indent="-228600">
              <a:lnSpc>
                <a:spcPct val="90000"/>
              </a:lnSpc>
              <a:buSzPct val="90000"/>
              <a:buFont typeface="Wingdings" panose="05000000000000000000" pitchFamily="2" charset="2"/>
              <a:buChar char="v"/>
            </a:pPr>
            <a:r>
              <a:rPr lang="zh-CN" altLang="en-US" sz="1800">
                <a:latin typeface="宋体" panose="02010600030101010101" pitchFamily="2" charset="-122"/>
              </a:rPr>
              <a:t>不可中断</a:t>
            </a:r>
            <a:endParaRPr lang="zh-CN" altLang="en-US" sz="1800">
              <a:latin typeface="宋体" panose="02010600030101010101" pitchFamily="2" charset="-122"/>
            </a:endParaRPr>
          </a:p>
          <a:p>
            <a:pPr lvl="2" indent="-228600">
              <a:lnSpc>
                <a:spcPct val="90000"/>
              </a:lnSpc>
              <a:buSzPct val="90000"/>
              <a:buFont typeface="Wingdings" panose="05000000000000000000" pitchFamily="2" charset="2"/>
              <a:buChar char="v"/>
            </a:pPr>
            <a:endParaRPr lang="zh-CN" altLang="en-US" sz="1800">
              <a:latin typeface="宋体" panose="02010600030101010101" pitchFamily="2" charset="-122"/>
            </a:endParaRPr>
          </a:p>
          <a:p>
            <a:pPr lvl="0" indent="-342900">
              <a:lnSpc>
                <a:spcPct val="90000"/>
              </a:lnSpc>
            </a:pPr>
            <a:r>
              <a:rPr lang="zh-CN" altLang="en-US" sz="1800">
                <a:latin typeface="宋体" panose="02010600030101010101" pitchFamily="2" charset="-122"/>
              </a:rPr>
              <a:t>停止态：此时进程被暂停。</a:t>
            </a:r>
            <a:endParaRPr lang="zh-CN" altLang="en-US" sz="1800">
              <a:latin typeface="宋体" panose="02010600030101010101" pitchFamily="2" charset="-122"/>
            </a:endParaRPr>
          </a:p>
          <a:p>
            <a:pPr lvl="0" indent="-342900">
              <a:lnSpc>
                <a:spcPct val="90000"/>
              </a:lnSpc>
            </a:pPr>
            <a:endParaRPr lang="zh-CN" altLang="en-US" sz="1800">
              <a:latin typeface="宋体" panose="02010600030101010101" pitchFamily="2" charset="-122"/>
            </a:endParaRPr>
          </a:p>
          <a:p>
            <a:pPr lvl="0" indent="-342900">
              <a:lnSpc>
                <a:spcPct val="90000"/>
              </a:lnSpc>
            </a:pPr>
            <a:r>
              <a:rPr lang="zh-CN" altLang="en-US" sz="1800">
                <a:latin typeface="宋体" panose="02010600030101010101" pitchFamily="2" charset="-122"/>
              </a:rPr>
              <a:t>死亡态：这是一个已终止的进程，但还在进程向量数组中占有一个</a:t>
            </a:r>
            <a:r>
              <a:rPr lang="en-US" altLang="zh-CN" sz="1800">
                <a:latin typeface="宋体" panose="02010600030101010101" pitchFamily="2" charset="-122"/>
              </a:rPr>
              <a:t>task_struct</a:t>
            </a:r>
            <a:r>
              <a:rPr lang="zh-CN" altLang="en-US" sz="1800">
                <a:latin typeface="宋体" panose="02010600030101010101" pitchFamily="2" charset="-122"/>
              </a:rPr>
              <a:t>结构。</a:t>
            </a:r>
            <a:endParaRPr lang="zh-CN" altLang="en-US" sz="1800">
              <a:latin typeface="宋体" panose="02010600030101010101" pitchFamily="2" charset="-122"/>
            </a:endParaRPr>
          </a:p>
          <a:p>
            <a:pPr lvl="0" indent="-342900">
              <a:lnSpc>
                <a:spcPct val="90000"/>
              </a:lnSpc>
            </a:pPr>
            <a:endParaRPr lang="zh-CN" altLang="en-US" sz="1800"/>
          </a:p>
          <a:p>
            <a:pPr lvl="0" indent="-342900">
              <a:lnSpc>
                <a:spcPct val="90000"/>
              </a:lnSpc>
            </a:pPr>
            <a:endParaRPr lang="zh-CN" altLang="en-US" sz="1800">
              <a:latin typeface="宋体" panose="02010600030101010101" pitchFamily="2" charset="-122"/>
              <a:sym typeface="Symbol" panose="05050102010706020507" charset="2"/>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lnSpc>
                <a:spcPct val="140000"/>
              </a:lnSpc>
              <a:spcBef>
                <a:spcPct val="0"/>
              </a:spcBef>
              <a:spcAft>
                <a:spcPct val="0"/>
              </a:spcAft>
            </a:pPr>
            <a:endParaRPr lang="zh-CN" altLang="en-US" sz="1800" dirty="0">
              <a:latin typeface="宋体" panose="02010600030101010101" pitchFamily="2" charset="-122"/>
              <a:sym typeface="Times New Roman" panose="02020603050405020304" pitchFamily="2" charset="0"/>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6758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ct val="0"/>
              </a:spcBef>
              <a:spcAft>
                <a:spcPct val="0"/>
              </a:spcAft>
            </a:pPr>
            <a:r>
              <a:rPr lang="zh-CN" altLang="en-US" sz="1800" dirty="0">
                <a:latin typeface="宋体" panose="02010600030101010101" pitchFamily="2" charset="-122"/>
              </a:rPr>
              <a:t> </a:t>
            </a:r>
            <a:endParaRPr lang="zh-CN" altLang="en-US" sz="1800" dirty="0">
              <a:latin typeface="宋体" panose="02010600030101010101" pitchFamily="2" charset="-122"/>
            </a:endParaRPr>
          </a:p>
        </p:txBody>
      </p:sp>
      <p:sp>
        <p:nvSpPr>
          <p:cNvPr id="6963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进程状态</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69636" name="图片 104453"/>
          <p:cNvPicPr>
            <a:picLocks noChangeAspect="1"/>
          </p:cNvPicPr>
          <p:nvPr/>
        </p:nvPicPr>
        <p:blipFill>
          <a:blip r:embed="rId1"/>
          <a:stretch>
            <a:fillRect/>
          </a:stretch>
        </p:blipFill>
        <p:spPr>
          <a:xfrm>
            <a:off x="1331913" y="1131888"/>
            <a:ext cx="5551487" cy="3551237"/>
          </a:xfrm>
          <a:prstGeom prst="rect">
            <a:avLst/>
          </a:prstGeom>
          <a:noFill/>
          <a:ln w="9525">
            <a:noFill/>
          </a:ln>
        </p:spPr>
      </p:pic>
      <p:pic>
        <p:nvPicPr>
          <p:cNvPr id="69637" name="图片 104454"/>
          <p:cNvPicPr>
            <a:picLocks noChangeAspect="1"/>
          </p:cNvPicPr>
          <p:nvPr/>
        </p:nvPicPr>
        <p:blipFill>
          <a:blip r:embed="rId2"/>
          <a:stretch>
            <a:fillRect/>
          </a:stretch>
        </p:blipFill>
        <p:spPr>
          <a:xfrm>
            <a:off x="3708400" y="771525"/>
            <a:ext cx="781050" cy="342900"/>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zh-CN" altLang="en-US" sz="1800" dirty="0">
                <a:sym typeface="Symbol" panose="05050102010706020507" charset="2"/>
              </a:rPr>
              <a:t>进程的执行模式分为用户模式和内核模式 </a:t>
            </a:r>
            <a:endParaRPr lang="zh-CN" altLang="en-US" sz="1800" dirty="0">
              <a:sym typeface="Symbol" panose="05050102010706020507" charset="2"/>
            </a:endParaRPr>
          </a:p>
          <a:p>
            <a:pPr lvl="0" indent="-342900">
              <a:lnSpc>
                <a:spcPct val="90000"/>
              </a:lnSpc>
            </a:pPr>
            <a:endParaRPr lang="zh-CN" altLang="en-US" sz="1800"/>
          </a:p>
          <a:p>
            <a:pPr lvl="0" indent="-342900">
              <a:lnSpc>
                <a:spcPct val="90000"/>
              </a:lnSpc>
            </a:pPr>
            <a:endParaRPr lang="zh-CN" altLang="en-US" sz="1800">
              <a:latin typeface="宋体" panose="02010600030101010101" pitchFamily="2" charset="-122"/>
              <a:sym typeface="Symbol" panose="05050102010706020507" charset="2"/>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lnSpc>
                <a:spcPct val="140000"/>
              </a:lnSpc>
              <a:spcBef>
                <a:spcPct val="0"/>
              </a:spcBef>
              <a:spcAft>
                <a:spcPct val="0"/>
              </a:spcAft>
            </a:pPr>
            <a:endParaRPr lang="zh-CN" altLang="en-US" sz="1800" dirty="0">
              <a:latin typeface="宋体" panose="02010600030101010101" pitchFamily="2" charset="-122"/>
              <a:sym typeface="Times New Roman" panose="02020603050405020304" pitchFamily="2" charset="0"/>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7065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70660" name="Text Box 6"/>
          <p:cNvSpPr txBox="1"/>
          <p:nvPr/>
        </p:nvSpPr>
        <p:spPr>
          <a:xfrm>
            <a:off x="3003550" y="2994025"/>
            <a:ext cx="1409700" cy="157162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spcBef>
                <a:spcPct val="20000"/>
              </a:spcBef>
              <a:buClr>
                <a:srgbClr val="FF0000"/>
              </a:buClr>
            </a:pPr>
            <a:r>
              <a:rPr lang="zh-CN" altLang="en-US" sz="1400" b="1">
                <a:latin typeface="Times New Roman" panose="02020603050405020304" pitchFamily="2" charset="0"/>
                <a:ea typeface="宋体" panose="02010600030101010101" pitchFamily="2" charset="-122"/>
              </a:rPr>
              <a:t>内核进程</a:t>
            </a:r>
            <a:endParaRPr lang="zh-CN" altLang="en-US" sz="3200" b="1" i="1">
              <a:latin typeface="Times New Roman" panose="02020603050405020304" pitchFamily="2" charset="0"/>
              <a:ea typeface="宋体" panose="02010600030101010101" pitchFamily="2" charset="-122"/>
            </a:endParaRPr>
          </a:p>
        </p:txBody>
      </p:sp>
      <p:sp>
        <p:nvSpPr>
          <p:cNvPr id="70661" name="Text Box 10"/>
          <p:cNvSpPr txBox="1"/>
          <p:nvPr/>
        </p:nvSpPr>
        <p:spPr>
          <a:xfrm>
            <a:off x="1203325" y="2778125"/>
            <a:ext cx="1609725" cy="871538"/>
          </a:xfrm>
          <a:prstGeom prst="rect">
            <a:avLst/>
          </a:prstGeom>
          <a:solidFill>
            <a:srgbClr val="FFFFFF"/>
          </a:solidFill>
          <a:ln w="9525" cap="flat" cmpd="sng">
            <a:solidFill>
              <a:srgbClr val="FFFFFF"/>
            </a:solidFill>
            <a:prstDash val="solid"/>
            <a:miter/>
            <a:headEnd type="none" w="med" len="med"/>
            <a:tailEnd type="none" w="med" len="med"/>
          </a:ln>
        </p:spPr>
        <p:txBody>
          <a:bodyPr anchor="t" anchorCtr="0"/>
          <a:p>
            <a:pPr algn="just">
              <a:spcBef>
                <a:spcPct val="20000"/>
              </a:spcBef>
              <a:buClr>
                <a:srgbClr val="FF0000"/>
              </a:buClr>
              <a:buFont typeface="Arial" panose="020B0604020202020204" pitchFamily="34" charset="0"/>
              <a:buChar char="•"/>
            </a:pPr>
            <a:r>
              <a:rPr lang="zh-CN" altLang="en-US" sz="1400" b="1">
                <a:latin typeface="Times New Roman" panose="02020603050405020304" pitchFamily="2" charset="0"/>
                <a:ea typeface="宋体" panose="02010600030101010101" pitchFamily="2" charset="-122"/>
              </a:rPr>
              <a:t>中断或系统调用</a:t>
            </a:r>
            <a:endParaRPr lang="zh-CN" altLang="en-US" sz="3200" b="1" i="1">
              <a:latin typeface="Times New Roman" panose="02020603050405020304" pitchFamily="2" charset="0"/>
              <a:ea typeface="宋体" panose="02010600030101010101" pitchFamily="2" charset="-122"/>
            </a:endParaRPr>
          </a:p>
        </p:txBody>
      </p:sp>
      <p:sp>
        <p:nvSpPr>
          <p:cNvPr id="70662" name="Text Box 11"/>
          <p:cNvSpPr txBox="1"/>
          <p:nvPr/>
        </p:nvSpPr>
        <p:spPr>
          <a:xfrm>
            <a:off x="3003550" y="1409700"/>
            <a:ext cx="1406525" cy="157003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spcBef>
                <a:spcPct val="20000"/>
              </a:spcBef>
              <a:buClr>
                <a:srgbClr val="FF0000"/>
              </a:buClr>
            </a:pPr>
            <a:r>
              <a:rPr lang="zh-CN" altLang="en-US" sz="1400" b="1">
                <a:latin typeface="Times New Roman" panose="02020603050405020304" pitchFamily="2" charset="0"/>
                <a:ea typeface="宋体" panose="02010600030101010101" pitchFamily="2" charset="-122"/>
              </a:rPr>
              <a:t>用户进程</a:t>
            </a:r>
            <a:endParaRPr lang="zh-CN" altLang="en-US" sz="1400" b="1" i="1">
              <a:latin typeface="Times New Roman" panose="02020603050405020304" pitchFamily="2" charset="0"/>
              <a:ea typeface="宋体" panose="02010600030101010101" pitchFamily="2" charset="-122"/>
            </a:endParaRPr>
          </a:p>
        </p:txBody>
      </p:sp>
      <p:sp>
        <p:nvSpPr>
          <p:cNvPr id="70663" name="Line 12"/>
          <p:cNvSpPr/>
          <p:nvPr/>
        </p:nvSpPr>
        <p:spPr>
          <a:xfrm>
            <a:off x="4154488" y="1409700"/>
            <a:ext cx="1587" cy="1570038"/>
          </a:xfrm>
          <a:prstGeom prst="line">
            <a:avLst/>
          </a:prstGeom>
          <a:ln w="9525" cap="rnd" cmpd="sng">
            <a:solidFill>
              <a:srgbClr val="000000"/>
            </a:solidFill>
            <a:prstDash val="sysDot"/>
            <a:round/>
            <a:headEnd type="none" w="med" len="med"/>
            <a:tailEnd type="triangl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70664" name="Line 13"/>
          <p:cNvSpPr/>
          <p:nvPr/>
        </p:nvSpPr>
        <p:spPr>
          <a:xfrm>
            <a:off x="4154488" y="2994025"/>
            <a:ext cx="0" cy="1570038"/>
          </a:xfrm>
          <a:prstGeom prst="line">
            <a:avLst/>
          </a:prstGeom>
          <a:ln w="9525" cap="flat" cmpd="sng">
            <a:solidFill>
              <a:srgbClr val="000000"/>
            </a:solidFill>
            <a:prstDash val="sysDot"/>
            <a:round/>
            <a:headEnd type="none" w="med" len="med"/>
            <a:tailEnd type="triangle" w="med" len="med"/>
          </a:ln>
        </p:spPr>
        <p:txBody>
          <a:bodyPr anchor="t" anchorCtr="0"/>
          <a:p>
            <a:endParaRPr lang="zh-CN" altLang="en-US">
              <a:latin typeface="Arial" panose="020B0604020202020204" pitchFamily="34" charset="0"/>
              <a:ea typeface="宋体" panose="02010600030101010101" pitchFamily="2" charset="-122"/>
            </a:endParaRPr>
          </a:p>
        </p:txBody>
      </p:sp>
      <p:grpSp>
        <p:nvGrpSpPr>
          <p:cNvPr id="70665" name="Group 10"/>
          <p:cNvGrpSpPr/>
          <p:nvPr/>
        </p:nvGrpSpPr>
        <p:grpSpPr>
          <a:xfrm>
            <a:off x="4803775" y="1912938"/>
            <a:ext cx="1608138" cy="2092325"/>
            <a:chOff x="3809" y="1972"/>
            <a:chExt cx="1013" cy="1318"/>
          </a:xfrm>
        </p:grpSpPr>
        <p:sp>
          <p:nvSpPr>
            <p:cNvPr id="70666" name="Text Box 14"/>
            <p:cNvSpPr txBox="1"/>
            <p:nvPr/>
          </p:nvSpPr>
          <p:spPr>
            <a:xfrm>
              <a:off x="3809" y="1972"/>
              <a:ext cx="1013" cy="439"/>
            </a:xfrm>
            <a:prstGeom prst="rect">
              <a:avLst/>
            </a:prstGeom>
            <a:solidFill>
              <a:srgbClr val="000080"/>
            </a:solidFill>
            <a:ln w="9525" cap="flat" cmpd="sng">
              <a:solidFill>
                <a:srgbClr val="FFFFFF"/>
              </a:solidFill>
              <a:prstDash val="solid"/>
              <a:miter/>
              <a:headEnd type="none" w="med" len="med"/>
              <a:tailEnd type="none" w="med" len="med"/>
            </a:ln>
          </p:spPr>
          <p:txBody>
            <a:bodyPr anchor="t" anchorCtr="0"/>
            <a:p>
              <a:pPr algn="just">
                <a:spcBef>
                  <a:spcPct val="20000"/>
                </a:spcBef>
                <a:buClr>
                  <a:srgbClr val="FF0000"/>
                </a:buClr>
                <a:buFont typeface="Arial" panose="020B0604020202020204" pitchFamily="34" charset="0"/>
                <a:buChar char="•"/>
              </a:pPr>
              <a:r>
                <a:rPr lang="zh-CN" altLang="en-US" b="1">
                  <a:solidFill>
                    <a:schemeClr val="bg2"/>
                  </a:solidFill>
                  <a:latin typeface="Times New Roman" panose="02020603050405020304" pitchFamily="2" charset="0"/>
                  <a:ea typeface="宋体" panose="02010600030101010101" pitchFamily="2" charset="-122"/>
                </a:rPr>
                <a:t>用户态</a:t>
              </a:r>
              <a:endParaRPr lang="zh-CN" altLang="en-US" sz="4000" b="1" i="1">
                <a:solidFill>
                  <a:schemeClr val="bg2"/>
                </a:solidFill>
                <a:latin typeface="Times New Roman" panose="02020603050405020304" pitchFamily="2" charset="0"/>
                <a:ea typeface="宋体" panose="02010600030101010101" pitchFamily="2" charset="-122"/>
              </a:endParaRPr>
            </a:p>
          </p:txBody>
        </p:sp>
        <p:sp>
          <p:nvSpPr>
            <p:cNvPr id="70667" name="Text Box 15"/>
            <p:cNvSpPr txBox="1"/>
            <p:nvPr/>
          </p:nvSpPr>
          <p:spPr>
            <a:xfrm>
              <a:off x="3809" y="2851"/>
              <a:ext cx="1012" cy="439"/>
            </a:xfrm>
            <a:prstGeom prst="rect">
              <a:avLst/>
            </a:prstGeom>
            <a:solidFill>
              <a:srgbClr val="003300"/>
            </a:solidFill>
            <a:ln w="9525" cap="flat" cmpd="sng">
              <a:solidFill>
                <a:srgbClr val="FFFFFF"/>
              </a:solidFill>
              <a:prstDash val="solid"/>
              <a:miter/>
              <a:headEnd type="none" w="med" len="med"/>
              <a:tailEnd type="none" w="med" len="med"/>
            </a:ln>
          </p:spPr>
          <p:txBody>
            <a:bodyPr anchor="t" anchorCtr="0"/>
            <a:p>
              <a:pPr algn="just">
                <a:spcBef>
                  <a:spcPct val="20000"/>
                </a:spcBef>
                <a:buClr>
                  <a:srgbClr val="FF0000"/>
                </a:buClr>
                <a:buFont typeface="Arial" panose="020B0604020202020204" pitchFamily="34" charset="0"/>
                <a:buChar char="•"/>
              </a:pPr>
              <a:r>
                <a:rPr lang="zh-CN" altLang="en-US" b="1">
                  <a:solidFill>
                    <a:schemeClr val="bg2"/>
                  </a:solidFill>
                  <a:latin typeface="Times New Roman" panose="02020603050405020304" pitchFamily="2" charset="0"/>
                  <a:ea typeface="宋体" panose="02010600030101010101" pitchFamily="2" charset="-122"/>
                </a:rPr>
                <a:t>内核态</a:t>
              </a:r>
              <a:endParaRPr lang="zh-CN" altLang="en-US" sz="4000" b="1" i="1">
                <a:solidFill>
                  <a:schemeClr val="bg2"/>
                </a:solidFill>
                <a:latin typeface="Times New Roman" panose="02020603050405020304" pitchFamily="2" charset="0"/>
                <a:ea typeface="宋体" panose="02010600030101010101" pitchFamily="2" charset="-122"/>
              </a:endParaRPr>
            </a:p>
          </p:txBody>
        </p:sp>
      </p:grpSp>
      <p:sp>
        <p:nvSpPr>
          <p:cNvPr id="70668" name="Line 16"/>
          <p:cNvSpPr/>
          <p:nvPr/>
        </p:nvSpPr>
        <p:spPr>
          <a:xfrm flipV="1">
            <a:off x="2914650" y="2978150"/>
            <a:ext cx="1609725" cy="1588"/>
          </a:xfrm>
          <a:prstGeom prst="line">
            <a:avLst/>
          </a:prstGeom>
          <a:ln w="9525" cap="flat" cmpd="sng">
            <a:solidFill>
              <a:srgbClr val="000000"/>
            </a:solidFill>
            <a:prstDash val="solid"/>
            <a:round/>
            <a:headEnd type="none" w="med" len="med"/>
            <a:tailEnd type="triangle" w="med" len="med"/>
          </a:ln>
        </p:spPr>
        <p:txBody>
          <a:bodyPr anchor="t" anchorCtr="0"/>
          <a:p>
            <a:endParaRPr lang="zh-CN" altLang="en-US">
              <a:latin typeface="Arial" panose="020B0604020202020204" pitchFamily="34"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zh-CN" altLang="en-US" sz="1800" dirty="0">
                <a:sym typeface="Symbol" panose="05050102010706020507" charset="2"/>
              </a:rPr>
              <a:t> </a:t>
            </a:r>
            <a:endParaRPr lang="zh-CN" altLang="en-US" sz="1800" dirty="0">
              <a:sym typeface="Symbol" panose="05050102010706020507" charset="2"/>
            </a:endParaRPr>
          </a:p>
          <a:p>
            <a:pPr lvl="0" indent="-342900">
              <a:lnSpc>
                <a:spcPct val="90000"/>
              </a:lnSpc>
            </a:pPr>
            <a:endParaRPr lang="zh-CN" altLang="en-US" sz="1800"/>
          </a:p>
          <a:p>
            <a:pPr lvl="0" indent="-342900">
              <a:lnSpc>
                <a:spcPct val="90000"/>
              </a:lnSpc>
            </a:pPr>
            <a:endParaRPr lang="zh-CN" altLang="en-US" sz="1800">
              <a:latin typeface="宋体" panose="02010600030101010101" pitchFamily="2" charset="-122"/>
              <a:sym typeface="Symbol" panose="05050102010706020507" charset="2"/>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lnSpc>
                <a:spcPct val="140000"/>
              </a:lnSpc>
              <a:spcBef>
                <a:spcPct val="0"/>
              </a:spcBef>
              <a:spcAft>
                <a:spcPct val="0"/>
              </a:spcAft>
            </a:pPr>
            <a:endParaRPr lang="zh-CN" altLang="en-US" sz="1800" dirty="0">
              <a:latin typeface="宋体" panose="02010600030101010101" pitchFamily="2" charset="-122"/>
              <a:sym typeface="Times New Roman" panose="02020603050405020304" pitchFamily="2" charset="0"/>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7270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72708" name="Object 10"/>
          <p:cNvGraphicFramePr>
            <a:graphicFrameLocks noGrp="1" noChangeAspect="1"/>
          </p:cNvGraphicFramePr>
          <p:nvPr/>
        </p:nvGraphicFramePr>
        <p:xfrm>
          <a:off x="250825" y="1230313"/>
          <a:ext cx="7807325" cy="3240087"/>
        </p:xfrm>
        <a:graphic>
          <a:graphicData uri="http://schemas.openxmlformats.org/presentationml/2006/ole">
            <mc:AlternateContent xmlns:mc="http://schemas.openxmlformats.org/markup-compatibility/2006">
              <mc:Choice xmlns:v="urn:schemas-microsoft-com:vml" Requires="v">
                <p:oleObj spid="_x0000_s3076" name="" r:id="rId1" imgW="6852285" imgH="2176145" progId="Visio.Drawing.11">
                  <p:embed/>
                </p:oleObj>
              </mc:Choice>
              <mc:Fallback>
                <p:oleObj name="" r:id="rId1" imgW="6852285" imgH="2176145" progId="Visio.Drawing.11">
                  <p:embed/>
                  <p:pic>
                    <p:nvPicPr>
                      <p:cNvPr id="0" name="图片 3075"/>
                      <p:cNvPicPr/>
                      <p:nvPr/>
                    </p:nvPicPr>
                    <p:blipFill>
                      <a:blip r:embed="rId2"/>
                      <a:stretch>
                        <a:fillRect/>
                      </a:stretch>
                    </p:blipFill>
                    <p:spPr>
                      <a:xfrm>
                        <a:off x="250825" y="1230313"/>
                        <a:ext cx="7807325" cy="3240087"/>
                      </a:xfrm>
                      <a:prstGeom prst="rect">
                        <a:avLst/>
                      </a:prstGeom>
                      <a:noFill/>
                      <a:ln w="38100">
                        <a:noFill/>
                        <a:miter/>
                      </a:ln>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zh-CN" altLang="en-US" sz="1800" dirty="0">
                <a:sym typeface="Symbol" panose="05050102010706020507" charset="2"/>
              </a:rPr>
              <a:t> </a:t>
            </a:r>
            <a:endParaRPr lang="zh-CN" altLang="en-US" sz="1800" dirty="0">
              <a:sym typeface="Symbol" panose="05050102010706020507" charset="2"/>
            </a:endParaRPr>
          </a:p>
          <a:p>
            <a:pPr lvl="0" indent="-342900">
              <a:lnSpc>
                <a:spcPct val="90000"/>
              </a:lnSpc>
            </a:pPr>
            <a:endParaRPr lang="zh-CN" altLang="en-US" sz="1800"/>
          </a:p>
          <a:p>
            <a:pPr lvl="0" indent="-342900">
              <a:lnSpc>
                <a:spcPct val="90000"/>
              </a:lnSpc>
            </a:pPr>
            <a:endParaRPr lang="zh-CN" altLang="en-US" sz="1800">
              <a:latin typeface="宋体" panose="02010600030101010101" pitchFamily="2" charset="-122"/>
              <a:sym typeface="Symbol" panose="05050102010706020507" charset="2"/>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lnSpc>
                <a:spcPct val="140000"/>
              </a:lnSpc>
              <a:spcBef>
                <a:spcPct val="0"/>
              </a:spcBef>
              <a:spcAft>
                <a:spcPct val="0"/>
              </a:spcAft>
            </a:pPr>
            <a:endParaRPr lang="zh-CN" altLang="en-US" sz="1800" dirty="0">
              <a:latin typeface="宋体" panose="02010600030101010101" pitchFamily="2" charset="-122"/>
              <a:sym typeface="Times New Roman" panose="02020603050405020304" pitchFamily="2" charset="0"/>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7475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74756" name="文本框 1"/>
          <p:cNvSpPr txBox="1"/>
          <p:nvPr/>
        </p:nvSpPr>
        <p:spPr>
          <a:xfrm>
            <a:off x="612775" y="1038225"/>
            <a:ext cx="6540500" cy="2860675"/>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启动进程</a:t>
            </a:r>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endParaRPr lang="en-US" altLang="zh-CN">
              <a:latin typeface="Arial" panose="020B0604020202020204" pitchFamily="34" charset="0"/>
              <a:ea typeface="宋体" panose="02010600030101010101" pitchFamily="2" charset="-122"/>
            </a:endParaRPr>
          </a:p>
          <a:p>
            <a:pPr lvl="1" indent="0"/>
            <a:r>
              <a:rPr lang="zh-CN" altLang="en-US">
                <a:latin typeface="Arial" panose="020B0604020202020204" pitchFamily="34" charset="0"/>
                <a:ea typeface="+mn-ea"/>
              </a:rPr>
              <a:t>手工启动</a:t>
            </a:r>
            <a:endParaRPr lang="zh-CN" altLang="en-US">
              <a:latin typeface="Arial" panose="020B0604020202020204" pitchFamily="34" charset="0"/>
              <a:ea typeface="+mn-ea"/>
            </a:endParaRPr>
          </a:p>
          <a:p>
            <a:pPr lvl="2" indent="0"/>
            <a:r>
              <a:rPr lang="zh-CN" altLang="en-US">
                <a:latin typeface="Arial" panose="020B0604020202020204" pitchFamily="34" charset="0"/>
                <a:ea typeface="+mn-ea"/>
              </a:rPr>
              <a:t>由用户输入命令直接启动进程</a:t>
            </a:r>
            <a:endParaRPr lang="zh-CN" altLang="en-US">
              <a:latin typeface="Arial" panose="020B0604020202020204" pitchFamily="34" charset="0"/>
              <a:ea typeface="+mn-ea"/>
            </a:endParaRPr>
          </a:p>
          <a:p>
            <a:pPr lvl="2" indent="0"/>
            <a:r>
              <a:rPr lang="zh-CN" altLang="en-US">
                <a:latin typeface="Arial" panose="020B0604020202020204" pitchFamily="34" charset="0"/>
                <a:ea typeface="+mn-ea"/>
              </a:rPr>
              <a:t>前台运行和后台运行</a:t>
            </a:r>
            <a:endParaRPr lang="zh-CN" altLang="en-US">
              <a:latin typeface="Arial" panose="020B0604020202020204" pitchFamily="34" charset="0"/>
              <a:ea typeface="+mn-ea"/>
            </a:endParaRPr>
          </a:p>
          <a:p>
            <a:pPr lvl="2" indent="0"/>
            <a:endParaRPr lang="zh-CN" altLang="en-US">
              <a:latin typeface="Arial" panose="020B0604020202020204" pitchFamily="34" charset="0"/>
              <a:ea typeface="+mn-ea"/>
            </a:endParaRPr>
          </a:p>
          <a:p>
            <a:pPr lvl="1" indent="0"/>
            <a:r>
              <a:rPr lang="zh-CN" altLang="en-US">
                <a:latin typeface="Arial" panose="020B0604020202020204" pitchFamily="34" charset="0"/>
                <a:ea typeface="+mn-ea"/>
              </a:rPr>
              <a:t>调度启动</a:t>
            </a:r>
            <a:endParaRPr lang="zh-CN" altLang="en-US">
              <a:latin typeface="Arial" panose="020B0604020202020204" pitchFamily="34" charset="0"/>
              <a:ea typeface="+mn-ea"/>
            </a:endParaRPr>
          </a:p>
          <a:p>
            <a:pPr lvl="2" indent="0"/>
            <a:r>
              <a:rPr lang="zh-CN" altLang="en-US">
                <a:latin typeface="Arial" panose="020B0604020202020204" pitchFamily="34" charset="0"/>
                <a:ea typeface="+mn-ea"/>
              </a:rPr>
              <a:t>系统根据用户事先的设定自行启动进程</a:t>
            </a:r>
            <a:endParaRPr lang="zh-CN" altLang="en-US">
              <a:latin typeface="Arial" panose="020B0604020202020204" pitchFamily="34" charset="0"/>
              <a:ea typeface="+mn-ea"/>
            </a:endParaRPr>
          </a:p>
          <a:p>
            <a:pPr lvl="2" indent="0"/>
            <a:r>
              <a:rPr lang="en-US" altLang="zh-CN">
                <a:latin typeface="Arial" panose="020B0604020202020204" pitchFamily="34" charset="0"/>
                <a:ea typeface="+mn-ea"/>
              </a:rPr>
              <a:t>at  </a:t>
            </a:r>
            <a:r>
              <a:rPr lang="zh-CN" altLang="en-US">
                <a:latin typeface="Arial" panose="020B0604020202020204" pitchFamily="34" charset="0"/>
                <a:ea typeface="+mn-ea"/>
              </a:rPr>
              <a:t>在指定时刻执行相关进程，</a:t>
            </a:r>
            <a:endParaRPr lang="zh-CN" altLang="en-US">
              <a:latin typeface="Arial" panose="020B0604020202020204" pitchFamily="34" charset="0"/>
              <a:ea typeface="+mn-ea"/>
            </a:endParaRPr>
          </a:p>
          <a:p>
            <a:pPr lvl="2" indent="0"/>
            <a:r>
              <a:rPr lang="en-US" altLang="zh-CN">
                <a:latin typeface="Arial" panose="020B0604020202020204" pitchFamily="34" charset="0"/>
                <a:ea typeface="+mn-ea"/>
              </a:rPr>
              <a:t>cron </a:t>
            </a:r>
            <a:r>
              <a:rPr lang="zh-CN" altLang="en-US">
                <a:latin typeface="Arial" panose="020B0604020202020204" pitchFamily="34" charset="0"/>
                <a:ea typeface="+mn-ea"/>
              </a:rPr>
              <a:t>周期性执行相关进程 </a:t>
            </a:r>
            <a:endParaRPr lang="zh-CN" altLang="en-US">
              <a:latin typeface="Arial" panose="020B0604020202020204" pitchFamily="34" charset="0"/>
              <a:ea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zh-CN" altLang="en-US" sz="1800" dirty="0">
                <a:sym typeface="Symbol" panose="05050102010706020507" charset="2"/>
              </a:rPr>
              <a:t> </a:t>
            </a:r>
            <a:endParaRPr lang="zh-CN" altLang="en-US" sz="1800" dirty="0">
              <a:sym typeface="Symbol" panose="05050102010706020507" charset="2"/>
            </a:endParaRPr>
          </a:p>
          <a:p>
            <a:pPr lvl="0" indent="-342900">
              <a:lnSpc>
                <a:spcPct val="90000"/>
              </a:lnSpc>
            </a:pPr>
            <a:endParaRPr lang="zh-CN" altLang="en-US" sz="1800"/>
          </a:p>
          <a:p>
            <a:pPr lvl="0" indent="-342900">
              <a:lnSpc>
                <a:spcPct val="90000"/>
              </a:lnSpc>
            </a:pPr>
            <a:endParaRPr lang="zh-CN" altLang="en-US" sz="1800">
              <a:latin typeface="宋体" panose="02010600030101010101" pitchFamily="2" charset="-122"/>
              <a:sym typeface="Symbol" panose="05050102010706020507" charset="2"/>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lnSpc>
                <a:spcPct val="140000"/>
              </a:lnSpc>
              <a:spcBef>
                <a:spcPct val="0"/>
              </a:spcBef>
              <a:spcAft>
                <a:spcPct val="0"/>
              </a:spcAft>
            </a:pPr>
            <a:endParaRPr lang="zh-CN" altLang="en-US" sz="1800" dirty="0">
              <a:latin typeface="宋体" panose="02010600030101010101" pitchFamily="2" charset="-122"/>
              <a:sym typeface="Times New Roman" panose="02020603050405020304" pitchFamily="2" charset="0"/>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7680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76804" name="文本框 1"/>
          <p:cNvSpPr txBox="1"/>
          <p:nvPr/>
        </p:nvSpPr>
        <p:spPr>
          <a:xfrm>
            <a:off x="612775" y="1038225"/>
            <a:ext cx="6540500" cy="3000375"/>
          </a:xfrm>
          <a:prstGeom prst="rect">
            <a:avLst/>
          </a:prstGeom>
          <a:noFill/>
          <a:ln w="9525">
            <a:noFill/>
          </a:ln>
        </p:spPr>
        <p:txBody>
          <a:bodyPr wrap="square" anchor="t" anchorCtr="0">
            <a:spAutoFit/>
          </a:bodyPr>
          <a:p>
            <a:pPr>
              <a:lnSpc>
                <a:spcPct val="150000"/>
              </a:lnSpc>
            </a:pPr>
            <a:r>
              <a:rPr lang="en-US" altLang="zh-CN" dirty="0" err="1">
                <a:latin typeface="Arial" panose="020B0604020202020204" pitchFamily="34" charset="0"/>
                <a:ea typeface="宋体" panose="02010600030101010101" pitchFamily="2" charset="-122"/>
                <a:sym typeface="Symbol" panose="05050102010706020507" charset="2"/>
              </a:rPr>
              <a:t>ps</a:t>
            </a:r>
            <a:r>
              <a:rPr lang="en-US" altLang="zh-CN" dirty="0">
                <a:latin typeface="Arial" panose="020B0604020202020204" pitchFamily="34" charset="0"/>
                <a:ea typeface="宋体" panose="02010600030101010101" pitchFamily="2" charset="-122"/>
                <a:sym typeface="Symbol" panose="05050102010706020507" charset="2"/>
              </a:rPr>
              <a:t>     </a:t>
            </a:r>
            <a:r>
              <a:rPr lang="zh-CN" altLang="en-US" dirty="0">
                <a:latin typeface="Arial" panose="020B0604020202020204" pitchFamily="34" charset="0"/>
                <a:ea typeface="宋体" panose="02010600030101010101" pitchFamily="2" charset="-122"/>
                <a:sym typeface="Symbol" panose="05050102010706020507" charset="2"/>
              </a:rPr>
              <a:t>查看系统中的进程</a:t>
            </a:r>
            <a:endParaRPr lang="zh-CN" altLang="en-US" dirty="0">
              <a:latin typeface="Arial" panose="020B0604020202020204" pitchFamily="34" charset="0"/>
              <a:ea typeface="宋体" panose="02010600030101010101" pitchFamily="2" charset="-122"/>
              <a:sym typeface="Symbol" panose="05050102010706020507" charset="2"/>
            </a:endParaRPr>
          </a:p>
          <a:p>
            <a:pPr>
              <a:lnSpc>
                <a:spcPct val="150000"/>
              </a:lnSpc>
            </a:pPr>
            <a:r>
              <a:rPr lang="en-US" altLang="zh-CN" dirty="0">
                <a:latin typeface="Arial" panose="020B0604020202020204" pitchFamily="34" charset="0"/>
                <a:ea typeface="宋体" panose="02010600030101010101" pitchFamily="2" charset="-122"/>
                <a:sym typeface="Symbol" panose="05050102010706020507" charset="2"/>
              </a:rPr>
              <a:t>top    </a:t>
            </a:r>
            <a:r>
              <a:rPr lang="zh-CN" altLang="en-US" dirty="0">
                <a:latin typeface="Arial" panose="020B0604020202020204" pitchFamily="34" charset="0"/>
                <a:ea typeface="宋体" panose="02010600030101010101" pitchFamily="2" charset="-122"/>
                <a:sym typeface="Symbol" panose="05050102010706020507" charset="2"/>
              </a:rPr>
              <a:t>动态显示系统中的进程</a:t>
            </a:r>
            <a:endParaRPr lang="zh-CN" altLang="en-US" dirty="0">
              <a:latin typeface="Arial" panose="020B0604020202020204" pitchFamily="34" charset="0"/>
              <a:ea typeface="宋体" panose="02010600030101010101" pitchFamily="2" charset="-122"/>
              <a:sym typeface="Symbol" panose="05050102010706020507" charset="2"/>
            </a:endParaRPr>
          </a:p>
          <a:p>
            <a:pPr>
              <a:lnSpc>
                <a:spcPct val="150000"/>
              </a:lnSpc>
            </a:pPr>
            <a:r>
              <a:rPr lang="en-US" altLang="zh-CN" dirty="0">
                <a:latin typeface="Arial" panose="020B0604020202020204" pitchFamily="34" charset="0"/>
                <a:ea typeface="宋体" panose="02010600030101010101" pitchFamily="2" charset="-122"/>
                <a:sym typeface="Symbol" panose="05050102010706020507" charset="2"/>
              </a:rPr>
              <a:t>nice   </a:t>
            </a:r>
            <a:r>
              <a:rPr lang="zh-CN" altLang="en-US" dirty="0">
                <a:latin typeface="Arial" panose="020B0604020202020204" pitchFamily="34" charset="0"/>
                <a:ea typeface="宋体" panose="02010600030101010101" pitchFamily="2" charset="-122"/>
                <a:sym typeface="Symbol" panose="05050102010706020507" charset="2"/>
              </a:rPr>
              <a:t>按用户指定的优先级运行进程</a:t>
            </a:r>
            <a:endParaRPr lang="zh-CN" altLang="en-US" dirty="0">
              <a:latin typeface="Arial" panose="020B0604020202020204" pitchFamily="34" charset="0"/>
              <a:ea typeface="宋体" panose="02010600030101010101" pitchFamily="2" charset="-122"/>
              <a:sym typeface="Symbol" panose="05050102010706020507" charset="2"/>
            </a:endParaRPr>
          </a:p>
          <a:p>
            <a:pPr>
              <a:lnSpc>
                <a:spcPct val="150000"/>
              </a:lnSpc>
            </a:pPr>
            <a:r>
              <a:rPr lang="en-US" altLang="zh-CN" dirty="0" err="1">
                <a:latin typeface="Arial" panose="020B0604020202020204" pitchFamily="34" charset="0"/>
                <a:ea typeface="宋体" panose="02010600030101010101" pitchFamily="2" charset="-122"/>
                <a:sym typeface="Symbol" panose="05050102010706020507" charset="2"/>
              </a:rPr>
              <a:t>renice</a:t>
            </a:r>
            <a:r>
              <a:rPr lang="en-US" altLang="zh-CN" dirty="0">
                <a:latin typeface="Arial" panose="020B0604020202020204" pitchFamily="34" charset="0"/>
                <a:ea typeface="宋体" panose="02010600030101010101" pitchFamily="2" charset="-122"/>
                <a:sym typeface="Symbol" panose="05050102010706020507" charset="2"/>
              </a:rPr>
              <a:t>   </a:t>
            </a:r>
            <a:r>
              <a:rPr lang="zh-CN" altLang="en-US" dirty="0">
                <a:latin typeface="Arial" panose="020B0604020202020204" pitchFamily="34" charset="0"/>
                <a:ea typeface="宋体" panose="02010600030101010101" pitchFamily="2" charset="-122"/>
                <a:sym typeface="Symbol" panose="05050102010706020507" charset="2"/>
              </a:rPr>
              <a:t>改变正在运行进程的优先级</a:t>
            </a:r>
            <a:endParaRPr lang="zh-CN" altLang="en-US" dirty="0">
              <a:latin typeface="Arial" panose="020B0604020202020204" pitchFamily="34" charset="0"/>
              <a:ea typeface="宋体" panose="02010600030101010101" pitchFamily="2" charset="-122"/>
              <a:sym typeface="Symbol" panose="05050102010706020507" charset="2"/>
            </a:endParaRPr>
          </a:p>
          <a:p>
            <a:pPr>
              <a:lnSpc>
                <a:spcPct val="150000"/>
              </a:lnSpc>
            </a:pPr>
            <a:r>
              <a:rPr lang="en-US" altLang="zh-CN" dirty="0">
                <a:latin typeface="Arial" panose="020B0604020202020204" pitchFamily="34" charset="0"/>
                <a:ea typeface="宋体" panose="02010600030101010101" pitchFamily="2" charset="-122"/>
                <a:sym typeface="Symbol" panose="05050102010706020507" charset="2"/>
              </a:rPr>
              <a:t>kill   </a:t>
            </a:r>
            <a:r>
              <a:rPr lang="zh-CN" altLang="en-US" dirty="0">
                <a:latin typeface="Arial" panose="020B0604020202020204" pitchFamily="34" charset="0"/>
                <a:ea typeface="宋体" panose="02010600030101010101" pitchFamily="2" charset="-122"/>
                <a:sym typeface="Symbol" panose="05050102010706020507" charset="2"/>
              </a:rPr>
              <a:t>结束进程</a:t>
            </a:r>
            <a:r>
              <a:rPr lang="en-US" altLang="zh-CN" dirty="0">
                <a:latin typeface="Arial" panose="020B0604020202020204" pitchFamily="34" charset="0"/>
                <a:ea typeface="宋体" panose="02010600030101010101" pitchFamily="2" charset="-122"/>
                <a:sym typeface="Symbol" panose="05050102010706020507" charset="2"/>
              </a:rPr>
              <a:t>(</a:t>
            </a:r>
            <a:r>
              <a:rPr lang="zh-CN" altLang="en-US" dirty="0">
                <a:latin typeface="Arial" panose="020B0604020202020204" pitchFamily="34" charset="0"/>
                <a:ea typeface="宋体" panose="02010600030101010101" pitchFamily="2" charset="-122"/>
                <a:sym typeface="Symbol" panose="05050102010706020507" charset="2"/>
              </a:rPr>
              <a:t>包括后台进程</a:t>
            </a:r>
            <a:r>
              <a:rPr lang="en-US" altLang="zh-CN" dirty="0">
                <a:latin typeface="Arial" panose="020B0604020202020204" pitchFamily="34" charset="0"/>
                <a:ea typeface="宋体" panose="02010600030101010101" pitchFamily="2" charset="-122"/>
                <a:sym typeface="Symbol" panose="05050102010706020507" charset="2"/>
              </a:rPr>
              <a:t>)</a:t>
            </a:r>
            <a:endParaRPr lang="en-US" altLang="zh-CN" dirty="0">
              <a:latin typeface="Arial" panose="020B0604020202020204" pitchFamily="34" charset="0"/>
              <a:ea typeface="宋体" panose="02010600030101010101" pitchFamily="2" charset="-122"/>
              <a:sym typeface="Symbol" panose="05050102010706020507" charset="2"/>
            </a:endParaRPr>
          </a:p>
          <a:p>
            <a:pPr>
              <a:lnSpc>
                <a:spcPct val="150000"/>
              </a:lnSpc>
            </a:pPr>
            <a:r>
              <a:rPr lang="en-US" altLang="zh-CN" dirty="0" err="1">
                <a:latin typeface="Arial" panose="020B0604020202020204" pitchFamily="34" charset="0"/>
                <a:ea typeface="宋体" panose="02010600030101010101" pitchFamily="2" charset="-122"/>
                <a:sym typeface="Symbol" panose="05050102010706020507" charset="2"/>
              </a:rPr>
              <a:t>bg</a:t>
            </a:r>
            <a:r>
              <a:rPr lang="en-US" altLang="zh-CN" dirty="0">
                <a:latin typeface="Arial" panose="020B0604020202020204" pitchFamily="34" charset="0"/>
                <a:ea typeface="宋体" panose="02010600030101010101" pitchFamily="2" charset="-122"/>
                <a:sym typeface="Symbol" panose="05050102010706020507" charset="2"/>
              </a:rPr>
              <a:t>  </a:t>
            </a:r>
            <a:r>
              <a:rPr lang="zh-CN" altLang="en-US" dirty="0">
                <a:latin typeface="Arial" panose="020B0604020202020204" pitchFamily="34" charset="0"/>
                <a:ea typeface="宋体" panose="02010600030101010101" pitchFamily="2" charset="-122"/>
                <a:sym typeface="Symbol" panose="05050102010706020507" charset="2"/>
              </a:rPr>
              <a:t>将挂起的进程在后台执行</a:t>
            </a:r>
            <a:endParaRPr lang="zh-CN" altLang="en-US" dirty="0">
              <a:latin typeface="Arial" panose="020B0604020202020204" pitchFamily="34" charset="0"/>
              <a:ea typeface="宋体" panose="02010600030101010101" pitchFamily="2" charset="-122"/>
              <a:sym typeface="Symbol" panose="05050102010706020507" charset="2"/>
            </a:endParaRPr>
          </a:p>
          <a:p>
            <a:pPr>
              <a:lnSpc>
                <a:spcPct val="150000"/>
              </a:lnSpc>
            </a:pPr>
            <a:r>
              <a:rPr lang="en-US" altLang="zh-CN" dirty="0" err="1">
                <a:latin typeface="Arial" panose="020B0604020202020204" pitchFamily="34" charset="0"/>
                <a:ea typeface="宋体" panose="02010600030101010101" pitchFamily="2" charset="-122"/>
                <a:sym typeface="Symbol" panose="05050102010706020507" charset="2"/>
              </a:rPr>
              <a:t>fg</a:t>
            </a:r>
            <a:r>
              <a:rPr lang="en-US" altLang="zh-CN" dirty="0">
                <a:latin typeface="Arial" panose="020B0604020202020204" pitchFamily="34" charset="0"/>
                <a:ea typeface="宋体" panose="02010600030101010101" pitchFamily="2" charset="-122"/>
                <a:sym typeface="Symbol" panose="05050102010706020507" charset="2"/>
              </a:rPr>
              <a:t>  </a:t>
            </a:r>
            <a:r>
              <a:rPr lang="zh-CN" altLang="en-US" dirty="0">
                <a:latin typeface="Arial" panose="020B0604020202020204" pitchFamily="34" charset="0"/>
                <a:ea typeface="宋体" panose="02010600030101010101" pitchFamily="2" charset="-122"/>
                <a:sym typeface="Symbol" panose="05050102010706020507" charset="2"/>
              </a:rPr>
              <a:t>把后台运行的进程放到前台运行</a:t>
            </a:r>
            <a:endParaRPr lang="zh-CN" altLang="en-US">
              <a:latin typeface="Arial" panose="020B0604020202020204" pitchFamily="34" charset="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40000"/>
              </a:lnSpc>
              <a:spcBef>
                <a:spcPct val="0"/>
              </a:spcBef>
              <a:spcAft>
                <a:spcPct val="0"/>
              </a:spcAft>
            </a:pPr>
            <a:r>
              <a:rPr lang="zh-CN" altLang="en-US" sz="1800" dirty="0">
                <a:latin typeface="宋体" panose="02010600030101010101" pitchFamily="2" charset="-122"/>
                <a:sym typeface="宋体" panose="02010600030101010101" pitchFamily="2" charset="-122"/>
              </a:rPr>
              <a:t> </a:t>
            </a:r>
            <a:endParaRPr lang="zh-CN" altLang="en-US" sz="18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7885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fork</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78852" name="图片 105477"/>
          <p:cNvPicPr>
            <a:picLocks noChangeAspect="1"/>
          </p:cNvPicPr>
          <p:nvPr/>
        </p:nvPicPr>
        <p:blipFill>
          <a:blip r:embed="rId1"/>
          <a:stretch>
            <a:fillRect/>
          </a:stretch>
        </p:blipFill>
        <p:spPr>
          <a:xfrm>
            <a:off x="1187450" y="987425"/>
            <a:ext cx="6527800" cy="3600450"/>
          </a:xfrm>
          <a:prstGeom prst="rect">
            <a:avLst/>
          </a:prstGeom>
          <a:noFill/>
          <a:ln w="9525">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fork</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lnSpc>
                <a:spcPct val="90000"/>
              </a:lnSpc>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79875" name="内容占位符 106500"/>
          <p:cNvPicPr>
            <a:picLocks noChangeAspect="1"/>
          </p:cNvPicPr>
          <p:nvPr>
            <p:ph sz="quarter"/>
          </p:nvPr>
        </p:nvPicPr>
        <p:blipFill>
          <a:blip r:embed="rId1"/>
          <a:stretch>
            <a:fillRect/>
          </a:stretch>
        </p:blipFill>
        <p:spPr>
          <a:xfrm>
            <a:off x="1331913" y="771525"/>
            <a:ext cx="5545137" cy="3914775"/>
          </a:xfrm>
          <a:prstGeom prst="rect">
            <a:avLst/>
          </a:prstGeom>
          <a:noFill/>
          <a:ln w="9525">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fork</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lnSpc>
                <a:spcPct val="90000"/>
              </a:lnSpc>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80899" name="文本框 1"/>
          <p:cNvSpPr txBox="1"/>
          <p:nvPr/>
        </p:nvSpPr>
        <p:spPr>
          <a:xfrm>
            <a:off x="593725" y="1057275"/>
            <a:ext cx="8010525" cy="2860675"/>
          </a:xfrm>
          <a:prstGeom prst="rect">
            <a:avLst/>
          </a:prstGeom>
          <a:noFill/>
          <a:ln w="9525">
            <a:noFill/>
          </a:ln>
        </p:spPr>
        <p:txBody>
          <a:bodyPr wrap="square" anchor="t" anchorCtr="0">
            <a:spAutoFit/>
          </a:bodyPr>
          <a:p>
            <a:pPr>
              <a:lnSpc>
                <a:spcPct val="200000"/>
              </a:lnSpc>
            </a:pPr>
            <a:r>
              <a:rPr lang="zh-CN" altLang="en-US" dirty="0">
                <a:latin typeface="Arial" panose="020B0604020202020204" pitchFamily="34" charset="0"/>
                <a:ea typeface="宋体" panose="02010600030101010101" pitchFamily="2" charset="-122"/>
                <a:sym typeface="Symbol" panose="05050102010706020507" charset="2"/>
              </a:rPr>
              <a:t>由于</a:t>
            </a:r>
            <a:r>
              <a:rPr lang="en-US" altLang="zh-CN" dirty="0">
                <a:latin typeface="Arial" panose="020B0604020202020204" pitchFamily="34" charset="0"/>
                <a:ea typeface="宋体" panose="02010600030101010101" pitchFamily="2" charset="-122"/>
                <a:sym typeface="Symbol" panose="05050102010706020507" charset="2"/>
              </a:rPr>
              <a:t>fork</a:t>
            </a:r>
            <a:r>
              <a:rPr lang="zh-CN" altLang="en-US" dirty="0">
                <a:latin typeface="Arial" panose="020B0604020202020204" pitchFamily="34" charset="0"/>
                <a:ea typeface="宋体" panose="02010600030101010101" pitchFamily="2" charset="-122"/>
                <a:sym typeface="Symbol" panose="05050102010706020507" charset="2"/>
              </a:rPr>
              <a:t>完整地拷贝了父进程的整个地址空间，因此执行速度是比较慢的。为了提高效率，</a:t>
            </a:r>
            <a:r>
              <a:rPr lang="en-US" altLang="zh-CN" dirty="0">
                <a:latin typeface="Arial" panose="020B0604020202020204" pitchFamily="34" charset="0"/>
                <a:ea typeface="宋体" panose="02010600030101010101" pitchFamily="2" charset="-122"/>
                <a:sym typeface="Symbol" panose="05050102010706020507" charset="2"/>
              </a:rPr>
              <a:t>Unix</a:t>
            </a:r>
            <a:r>
              <a:rPr lang="zh-CN" altLang="en-US" dirty="0">
                <a:latin typeface="Arial" panose="020B0604020202020204" pitchFamily="34" charset="0"/>
                <a:ea typeface="宋体" panose="02010600030101010101" pitchFamily="2" charset="-122"/>
                <a:sym typeface="Symbol" panose="05050102010706020507" charset="2"/>
              </a:rPr>
              <a:t>系统设计者创建了</a:t>
            </a:r>
            <a:r>
              <a:rPr lang="en-US" altLang="zh-CN" dirty="0" err="1">
                <a:latin typeface="Arial" panose="020B0604020202020204" pitchFamily="34" charset="0"/>
                <a:ea typeface="宋体" panose="02010600030101010101" pitchFamily="2" charset="-122"/>
                <a:sym typeface="Symbol" panose="05050102010706020507" charset="2"/>
              </a:rPr>
              <a:t>vfork</a:t>
            </a:r>
            <a:r>
              <a:rPr lang="zh-CN" altLang="en-US" dirty="0">
                <a:latin typeface="Arial" panose="020B0604020202020204" pitchFamily="34" charset="0"/>
                <a:ea typeface="宋体" panose="02010600030101010101" pitchFamily="2" charset="-122"/>
                <a:sym typeface="Symbol" panose="05050102010706020507" charset="2"/>
              </a:rPr>
              <a:t>。</a:t>
            </a:r>
            <a:r>
              <a:rPr lang="en-US" altLang="zh-CN" dirty="0" err="1">
                <a:latin typeface="Arial" panose="020B0604020202020204" pitchFamily="34" charset="0"/>
                <a:ea typeface="宋体" panose="02010600030101010101" pitchFamily="2" charset="-122"/>
                <a:sym typeface="Symbol" panose="05050102010706020507" charset="2"/>
              </a:rPr>
              <a:t>vfork</a:t>
            </a:r>
            <a:r>
              <a:rPr lang="zh-CN" altLang="en-US" dirty="0">
                <a:latin typeface="Arial" panose="020B0604020202020204" pitchFamily="34" charset="0"/>
                <a:ea typeface="宋体" panose="02010600030101010101" pitchFamily="2" charset="-122"/>
                <a:sym typeface="Symbol" panose="05050102010706020507" charset="2"/>
              </a:rPr>
              <a:t>也创建新进程，但不产生父进程的副本。它通过允许父子进程可访问相同物理内存从而伪装了对进程地址空间的真实拷贝，当子进程需要改变内存中数据时才拷贝父进程。这就是著名的</a:t>
            </a:r>
            <a:r>
              <a:rPr lang="zh-CN" altLang="en-US" dirty="0">
                <a:latin typeface="华文楷体" panose="02010600040101010101" pitchFamily="2" charset="-122"/>
                <a:ea typeface="宋体" panose="02010600030101010101" pitchFamily="2" charset="-122"/>
                <a:sym typeface="Symbol" panose="05050102010706020507" charset="2"/>
              </a:rPr>
              <a:t>“</a:t>
            </a:r>
            <a:r>
              <a:rPr lang="zh-CN" altLang="en-US" dirty="0">
                <a:latin typeface="Arial" panose="020B0604020202020204" pitchFamily="34" charset="0"/>
                <a:ea typeface="宋体" panose="02010600030101010101" pitchFamily="2" charset="-122"/>
                <a:sym typeface="Symbol" panose="05050102010706020507" charset="2"/>
              </a:rPr>
              <a:t>写操作时拷贝</a:t>
            </a:r>
            <a:r>
              <a:rPr lang="zh-CN" altLang="en-US" dirty="0">
                <a:latin typeface="华文楷体" panose="02010600040101010101" pitchFamily="2" charset="-122"/>
                <a:ea typeface="宋体" panose="02010600030101010101" pitchFamily="2" charset="-122"/>
                <a:sym typeface="Symbol" panose="05050102010706020507" charset="2"/>
              </a:rPr>
              <a:t>”</a:t>
            </a:r>
            <a:r>
              <a:rPr lang="en-US" altLang="zh-CN" dirty="0">
                <a:latin typeface="Arial" panose="020B0604020202020204" pitchFamily="34" charset="0"/>
                <a:ea typeface="宋体" panose="02010600030101010101" pitchFamily="2" charset="-122"/>
                <a:sym typeface="Symbol" panose="05050102010706020507" charset="2"/>
              </a:rPr>
              <a:t>(copy-on-write)</a:t>
            </a:r>
            <a:r>
              <a:rPr lang="zh-CN" altLang="en-US" dirty="0">
                <a:latin typeface="Arial" panose="020B0604020202020204" pitchFamily="34" charset="0"/>
                <a:ea typeface="宋体" panose="02010600030101010101" pitchFamily="2" charset="-122"/>
                <a:sym typeface="Symbol" panose="05050102010706020507" charset="2"/>
              </a:rPr>
              <a:t>技术</a:t>
            </a:r>
            <a:endParaRPr lang="zh-CN" altLang="en-US">
              <a:latin typeface="Arial" panose="020B0604020202020204" pitchFamily="34" charset="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exec函数族</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81923" name="内容占位符 107524"/>
          <p:cNvPicPr>
            <a:picLocks noChangeAspect="1"/>
          </p:cNvPicPr>
          <p:nvPr>
            <p:ph sz="quarter"/>
          </p:nvPr>
        </p:nvPicPr>
        <p:blipFill>
          <a:blip r:embed="rId1"/>
          <a:stretch>
            <a:fillRect/>
          </a:stretch>
        </p:blipFill>
        <p:spPr>
          <a:xfrm>
            <a:off x="520700" y="842963"/>
            <a:ext cx="7137400" cy="4030662"/>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90000"/>
              </a:lnSpc>
            </a:pPr>
            <a:r>
              <a:rPr lang="en-US" altLang="zh-CN" sz="1800">
                <a:sym typeface="Symbol" panose="05050102010706020507" charset="2"/>
              </a:rPr>
              <a:t>fork</a:t>
            </a:r>
            <a:r>
              <a:rPr lang="zh-CN" altLang="en-US" sz="1800">
                <a:sym typeface="Symbol" panose="05050102010706020507" charset="2"/>
              </a:rPr>
              <a:t>函数用于创建一个子进程，该子进程几乎拷贝了父进程的全部内容。</a:t>
            </a:r>
            <a:endParaRPr lang="zh-CN" altLang="en-US" sz="1800">
              <a:sym typeface="Symbol" panose="05050102010706020507" charset="2"/>
            </a:endParaRPr>
          </a:p>
          <a:p>
            <a:pPr lvl="0" indent="-342900" algn="just">
              <a:lnSpc>
                <a:spcPct val="90000"/>
              </a:lnSpc>
            </a:pPr>
            <a:endParaRPr lang="zh-CN" altLang="en-US" sz="1800">
              <a:sym typeface="Symbol" panose="05050102010706020507" charset="2"/>
            </a:endParaRPr>
          </a:p>
          <a:p>
            <a:pPr lvl="0" indent="-342900" algn="just">
              <a:lnSpc>
                <a:spcPct val="90000"/>
              </a:lnSpc>
            </a:pPr>
            <a:r>
              <a:rPr lang="en-US" altLang="zh-CN" sz="1800">
                <a:sym typeface="Symbol" panose="05050102010706020507" charset="2"/>
              </a:rPr>
              <a:t>exec</a:t>
            </a:r>
            <a:r>
              <a:rPr lang="zh-CN" altLang="en-US" sz="1800">
                <a:sym typeface="Symbol" panose="05050102010706020507" charset="2"/>
              </a:rPr>
              <a:t>函数族提供了一种在进程中启动另一个程序执行的方法。它可以根据指定的文件名或目录名找到可执行文件，并用它来取代原调用进程的数据段、代码段和堆栈段。在执行完之后，原调用进程的内容除了进程号外，其他全部都被替换了。</a:t>
            </a:r>
            <a:endParaRPr lang="zh-CN" altLang="en-US" sz="1800">
              <a:sym typeface="Symbol" panose="05050102010706020507" charset="2"/>
            </a:endParaRPr>
          </a:p>
          <a:p>
            <a:pPr lvl="0" indent="-342900" algn="just">
              <a:lnSpc>
                <a:spcPct val="90000"/>
              </a:lnSpc>
            </a:pPr>
            <a:endParaRPr lang="zh-CN" altLang="en-US" sz="1800">
              <a:sym typeface="Symbol" panose="05050102010706020507" charset="2"/>
            </a:endParaRPr>
          </a:p>
          <a:p>
            <a:pPr lvl="0" indent="-342900" algn="just">
              <a:lnSpc>
                <a:spcPct val="90000"/>
              </a:lnSpc>
            </a:pPr>
            <a:r>
              <a:rPr lang="zh-CN" altLang="en-US" sz="1800">
                <a:sym typeface="Symbol" panose="05050102010706020507" charset="2"/>
              </a:rPr>
              <a:t>可执行文件既可以是二进制文件，也可以是任何</a:t>
            </a:r>
            <a:r>
              <a:rPr lang="en-US" altLang="zh-CN" sz="1800">
                <a:sym typeface="Symbol" panose="05050102010706020507" charset="2"/>
              </a:rPr>
              <a:t>Linux</a:t>
            </a:r>
            <a:r>
              <a:rPr lang="zh-CN" altLang="en-US" sz="1800">
                <a:sym typeface="Symbol" panose="05050102010706020507" charset="2"/>
              </a:rPr>
              <a:t>下可执行的脚本文件。</a:t>
            </a:r>
            <a:endParaRPr lang="zh-CN" altLang="en-US" sz="1800">
              <a:sym typeface="Symbol" panose="05050102010706020507" charset="2"/>
            </a:endParaRPr>
          </a:p>
          <a:p>
            <a:pPr lvl="0" indent="-342900" algn="just">
              <a:lnSpc>
                <a:spcPct val="90000"/>
              </a:lnSpc>
            </a:pPr>
            <a:endParaRPr lang="zh-CN" altLang="en-US" sz="1800">
              <a:latin typeface="宋体" panose="02010600030101010101" pitchFamily="2" charset="-122"/>
              <a:sym typeface="Symbol" panose="05050102010706020507" charset="2"/>
            </a:endParaRPr>
          </a:p>
          <a:p>
            <a:pPr lvl="0" indent="-342900" algn="just">
              <a:lnSpc>
                <a:spcPct val="90000"/>
              </a:lnSpc>
            </a:pPr>
            <a:r>
              <a:rPr lang="zh-CN" altLang="en-US" sz="1800">
                <a:latin typeface="宋体" panose="02010600030101010101" pitchFamily="2" charset="-122"/>
                <a:sym typeface="Symbol" panose="05050102010706020507" charset="2"/>
              </a:rPr>
              <a:t>当进程认为自己不能再为系统和用户做出任何贡献了时就可以调用</a:t>
            </a:r>
            <a:r>
              <a:rPr lang="en-US" altLang="zh-CN" sz="1800">
                <a:latin typeface="宋体" panose="02010600030101010101" pitchFamily="2" charset="-122"/>
                <a:sym typeface="Symbol" panose="05050102010706020507" charset="2"/>
              </a:rPr>
              <a:t>exec</a:t>
            </a:r>
            <a:r>
              <a:rPr lang="zh-CN" altLang="en-US" sz="1800">
                <a:latin typeface="宋体" panose="02010600030101010101" pitchFamily="2" charset="-122"/>
                <a:sym typeface="Symbol" panose="05050102010706020507" charset="2"/>
              </a:rPr>
              <a:t>函数，让自己执行新的程序</a:t>
            </a:r>
            <a:endParaRPr lang="zh-CN" altLang="en-US" sz="1800">
              <a:latin typeface="宋体" panose="02010600030101010101" pitchFamily="2" charset="-122"/>
              <a:sym typeface="Symbol" panose="05050102010706020507" charset="2"/>
            </a:endParaRPr>
          </a:p>
          <a:p>
            <a:pPr lvl="0" indent="-342900" algn="just">
              <a:lnSpc>
                <a:spcPct val="90000"/>
              </a:lnSpc>
            </a:pPr>
            <a:r>
              <a:rPr lang="zh-CN" altLang="en-US" sz="1800">
                <a:latin typeface="宋体" panose="02010600030101010101" pitchFamily="2" charset="-122"/>
                <a:sym typeface="Symbol" panose="05050102010706020507" charset="2"/>
              </a:rPr>
              <a:t>如果某个进程想同时执行另一个程序，它就可以调用</a:t>
            </a:r>
            <a:r>
              <a:rPr lang="en-US" altLang="zh-CN" sz="1800">
                <a:latin typeface="宋体" panose="02010600030101010101" pitchFamily="2" charset="-122"/>
                <a:sym typeface="Symbol" panose="05050102010706020507" charset="2"/>
              </a:rPr>
              <a:t>fork</a:t>
            </a:r>
            <a:r>
              <a:rPr lang="zh-CN" altLang="en-US" sz="1800">
                <a:latin typeface="宋体" panose="02010600030101010101" pitchFamily="2" charset="-122"/>
                <a:sym typeface="Symbol" panose="05050102010706020507" charset="2"/>
              </a:rPr>
              <a:t>函数创建子进程，然后在子进程中调用任何一个</a:t>
            </a:r>
            <a:r>
              <a:rPr lang="en-US" altLang="zh-CN" sz="1800">
                <a:latin typeface="宋体" panose="02010600030101010101" pitchFamily="2" charset="-122"/>
                <a:sym typeface="Symbol" panose="05050102010706020507" charset="2"/>
              </a:rPr>
              <a:t>exec</a:t>
            </a:r>
            <a:r>
              <a:rPr lang="zh-CN" altLang="en-US" sz="1800">
                <a:latin typeface="宋体" panose="02010600030101010101" pitchFamily="2" charset="-122"/>
                <a:sym typeface="Symbol" panose="05050102010706020507" charset="2"/>
              </a:rPr>
              <a:t>函数。这样看起来就好像通过执行应用程序而产生了一个新进程一样</a:t>
            </a:r>
            <a:endParaRPr lang="zh-CN" altLang="en-US" sz="1800" dirty="0">
              <a:latin typeface="宋体" panose="02010600030101010101" pitchFamily="2" charset="-122"/>
              <a:sym typeface="宋体" panose="02010600030101010101" pitchFamily="2" charset="-122"/>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lnSpc>
                <a:spcPct val="90000"/>
              </a:lnSpc>
              <a:spcBef>
                <a:spcPct val="0"/>
              </a:spcBef>
              <a:spcAft>
                <a:spcPct val="0"/>
              </a:spcAft>
            </a:pPr>
            <a:endParaRPr lang="zh-CN" altLang="en-US" sz="1800" dirty="0">
              <a:latin typeface="宋体" panose="02010600030101010101" pitchFamily="2" charset="-122"/>
            </a:endParaRPr>
          </a:p>
        </p:txBody>
      </p:sp>
      <p:sp>
        <p:nvSpPr>
          <p:cNvPr id="8294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exec函数族</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lnSpc>
                <a:spcPct val="90000"/>
              </a:lnSpc>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90000"/>
              </a:lnSpc>
            </a:pPr>
            <a:r>
              <a:rPr lang="zh-CN" altLang="en-US" sz="1800" b="1" dirty="0">
                <a:sym typeface="Symbol" panose="05050102010706020507" charset="2"/>
              </a:rPr>
              <a:t>可执行文件查找方式</a:t>
            </a:r>
            <a:endParaRPr lang="zh-CN" altLang="en-US" sz="1800" b="1" dirty="0">
              <a:sym typeface="Symbol" panose="05050102010706020507" charset="2"/>
            </a:endParaRPr>
          </a:p>
          <a:p>
            <a:pPr lvl="1" indent="-285750" algn="just">
              <a:lnSpc>
                <a:spcPct val="90000"/>
              </a:lnSpc>
            </a:pPr>
            <a:r>
              <a:rPr lang="zh-CN" altLang="en-US" sz="1800" dirty="0">
                <a:latin typeface="宋体" panose="02010600030101010101" pitchFamily="2" charset="-122"/>
                <a:sym typeface="宋体" panose="02010600030101010101" pitchFamily="2" charset="-122"/>
              </a:rPr>
              <a:t>表中的前四个函数的查找方式都是指定完整的文件目录路径，而最后两个函数</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以</a:t>
            </a:r>
            <a:r>
              <a:rPr lang="en-US" altLang="zh-CN" sz="1800" dirty="0">
                <a:latin typeface="宋体" panose="02010600030101010101" pitchFamily="2" charset="-122"/>
                <a:sym typeface="宋体" panose="02010600030101010101" pitchFamily="2" charset="-122"/>
              </a:rPr>
              <a:t>p</a:t>
            </a:r>
            <a:r>
              <a:rPr lang="zh-CN" altLang="en-US" sz="1800" dirty="0">
                <a:latin typeface="宋体" panose="02010600030101010101" pitchFamily="2" charset="-122"/>
                <a:sym typeface="宋体" panose="02010600030101010101" pitchFamily="2" charset="-122"/>
              </a:rPr>
              <a:t>结尾的函数</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可以只给出文件名，系统会自动从环境变量“</a:t>
            </a:r>
            <a:r>
              <a:rPr lang="en-US" altLang="zh-CN" sz="1800" dirty="0">
                <a:latin typeface="宋体" panose="02010600030101010101" pitchFamily="2" charset="-122"/>
                <a:sym typeface="宋体" panose="02010600030101010101" pitchFamily="2" charset="-122"/>
              </a:rPr>
              <a:t>$PATH”</a:t>
            </a:r>
            <a:r>
              <a:rPr lang="zh-CN" altLang="en-US" sz="1800" dirty="0">
                <a:latin typeface="宋体" panose="02010600030101010101" pitchFamily="2" charset="-122"/>
                <a:sym typeface="宋体" panose="02010600030101010101" pitchFamily="2" charset="-122"/>
              </a:rPr>
              <a:t>所包含的路径中进行查找。</a:t>
            </a:r>
            <a:endParaRPr lang="zh-CN" altLang="en-US" sz="1800" dirty="0">
              <a:latin typeface="宋体" panose="02010600030101010101" pitchFamily="2" charset="-122"/>
              <a:sym typeface="宋体" panose="02010600030101010101" pitchFamily="2" charset="-122"/>
            </a:endParaRPr>
          </a:p>
          <a:p>
            <a:pPr lvl="0" indent="-342900" algn="just">
              <a:lnSpc>
                <a:spcPct val="90000"/>
              </a:lnSpc>
            </a:pPr>
            <a:r>
              <a:rPr lang="zh-CN" altLang="en-US" sz="1800" b="1" dirty="0">
                <a:latin typeface="宋体" panose="02010600030101010101" pitchFamily="2" charset="-122"/>
                <a:sym typeface="宋体" panose="02010600030101010101" pitchFamily="2" charset="-122"/>
              </a:rPr>
              <a:t>参数表传递方式</a:t>
            </a:r>
            <a:endParaRPr lang="zh-CN" altLang="en-US" sz="1800" b="1" dirty="0">
              <a:latin typeface="宋体" panose="02010600030101010101" pitchFamily="2" charset="-122"/>
              <a:sym typeface="宋体" panose="02010600030101010101" pitchFamily="2" charset="-122"/>
            </a:endParaRPr>
          </a:p>
          <a:p>
            <a:pPr lvl="1" indent="-285750">
              <a:lnSpc>
                <a:spcPct val="90000"/>
              </a:lnSpc>
            </a:pPr>
            <a:r>
              <a:rPr lang="zh-CN" altLang="en-US" sz="1800" dirty="0">
                <a:latin typeface="宋体" panose="02010600030101010101" pitchFamily="2" charset="-122"/>
                <a:sym typeface="宋体" panose="02010600030101010101" pitchFamily="2" charset="-122"/>
              </a:rPr>
              <a:t>两种方式：逐个列举或是将所有参数通过指针数组传递</a:t>
            </a:r>
            <a:endParaRPr lang="zh-CN" altLang="en-US" sz="1800" dirty="0">
              <a:latin typeface="宋体" panose="02010600030101010101" pitchFamily="2" charset="-122"/>
              <a:sym typeface="宋体" panose="02010600030101010101" pitchFamily="2" charset="-122"/>
            </a:endParaRPr>
          </a:p>
          <a:p>
            <a:pPr lvl="1" indent="-285750">
              <a:lnSpc>
                <a:spcPct val="90000"/>
              </a:lnSpc>
            </a:pPr>
            <a:r>
              <a:rPr lang="zh-CN" altLang="en-US" sz="1800" dirty="0">
                <a:latin typeface="宋体" panose="02010600030101010101" pitchFamily="2" charset="-122"/>
                <a:sym typeface="宋体" panose="02010600030101010101" pitchFamily="2" charset="-122"/>
              </a:rPr>
              <a:t>以函数名的第五位字母来区分，字母为“</a:t>
            </a:r>
            <a:r>
              <a:rPr lang="en-US" altLang="zh-CN" sz="1800" dirty="0">
                <a:latin typeface="宋体" panose="02010600030101010101" pitchFamily="2" charset="-122"/>
                <a:sym typeface="宋体" panose="02010600030101010101" pitchFamily="2" charset="-122"/>
              </a:rPr>
              <a:t>l”(list)</a:t>
            </a:r>
            <a:r>
              <a:rPr lang="zh-CN" altLang="en-US" sz="1800" dirty="0">
                <a:latin typeface="宋体" panose="02010600030101010101" pitchFamily="2" charset="-122"/>
                <a:sym typeface="宋体" panose="02010600030101010101" pitchFamily="2" charset="-122"/>
              </a:rPr>
              <a:t>的表示逐个列举的方式；字母为“</a:t>
            </a:r>
            <a:r>
              <a:rPr lang="en-US" altLang="zh-CN" sz="1800" dirty="0">
                <a:latin typeface="宋体" panose="02010600030101010101" pitchFamily="2" charset="-122"/>
                <a:sym typeface="宋体" panose="02010600030101010101" pitchFamily="2" charset="-122"/>
              </a:rPr>
              <a:t>v”(vertor)</a:t>
            </a:r>
            <a:r>
              <a:rPr lang="zh-CN" altLang="en-US" sz="1800" dirty="0">
                <a:latin typeface="宋体" panose="02010600030101010101" pitchFamily="2" charset="-122"/>
                <a:sym typeface="宋体" panose="02010600030101010101" pitchFamily="2" charset="-122"/>
              </a:rPr>
              <a:t>的表示将所有参数构造成指针数组传递，其语法为</a:t>
            </a:r>
            <a:r>
              <a:rPr lang="en-US" altLang="zh-CN" sz="1800" dirty="0">
                <a:latin typeface="宋体" panose="02010600030101010101" pitchFamily="2" charset="-122"/>
                <a:sym typeface="宋体" panose="02010600030101010101" pitchFamily="2" charset="-122"/>
              </a:rPr>
              <a:t>char *const argv[]</a:t>
            </a:r>
            <a:endParaRPr lang="en-US" altLang="zh-CN" sz="1800" dirty="0">
              <a:latin typeface="宋体" panose="02010600030101010101" pitchFamily="2" charset="-122"/>
              <a:sym typeface="宋体" panose="02010600030101010101" pitchFamily="2" charset="-122"/>
            </a:endParaRPr>
          </a:p>
          <a:p>
            <a:pPr lvl="0" indent="-342900" algn="just">
              <a:lnSpc>
                <a:spcPct val="90000"/>
              </a:lnSpc>
            </a:pPr>
            <a:r>
              <a:rPr lang="zh-CN" altLang="en-US" sz="1800" b="1" dirty="0">
                <a:latin typeface="宋体" panose="02010600030101010101" pitchFamily="2" charset="-122"/>
                <a:sym typeface="宋体" panose="02010600030101010101" pitchFamily="2" charset="-122"/>
              </a:rPr>
              <a:t>环境变量的使用</a:t>
            </a:r>
            <a:endParaRPr lang="zh-CN" altLang="en-US" sz="1800" b="1" dirty="0">
              <a:latin typeface="宋体" panose="02010600030101010101" pitchFamily="2" charset="-122"/>
              <a:sym typeface="宋体" panose="02010600030101010101" pitchFamily="2" charset="-122"/>
            </a:endParaRPr>
          </a:p>
          <a:p>
            <a:pPr lvl="1" indent="-285750">
              <a:lnSpc>
                <a:spcPct val="90000"/>
              </a:lnSpc>
            </a:pPr>
            <a:r>
              <a:rPr lang="en-US" altLang="zh-CN" sz="1800" dirty="0">
                <a:latin typeface="宋体" panose="02010600030101010101" pitchFamily="2" charset="-122"/>
                <a:sym typeface="宋体" panose="02010600030101010101" pitchFamily="2" charset="-122"/>
              </a:rPr>
              <a:t>exec</a:t>
            </a:r>
            <a:r>
              <a:rPr lang="zh-CN" altLang="en-US" sz="1800" dirty="0">
                <a:latin typeface="宋体" panose="02010600030101010101" pitchFamily="2" charset="-122"/>
                <a:sym typeface="宋体" panose="02010600030101010101" pitchFamily="2" charset="-122"/>
              </a:rPr>
              <a:t>函数族可以默认使用系统的环境变量，也可以传入指定的环境变量。这里，以“</a:t>
            </a:r>
            <a:r>
              <a:rPr lang="en-US" altLang="zh-CN" sz="1800" dirty="0">
                <a:latin typeface="宋体" panose="02010600030101010101" pitchFamily="2" charset="-122"/>
                <a:sym typeface="宋体" panose="02010600030101010101" pitchFamily="2" charset="-122"/>
              </a:rPr>
              <a:t>e”(Enviromen)</a:t>
            </a:r>
            <a:r>
              <a:rPr lang="zh-CN" altLang="en-US" sz="1800" dirty="0">
                <a:latin typeface="宋体" panose="02010600030101010101" pitchFamily="2" charset="-122"/>
                <a:sym typeface="宋体" panose="02010600030101010101" pitchFamily="2" charset="-122"/>
              </a:rPr>
              <a:t>结尾的两个函数</a:t>
            </a:r>
            <a:r>
              <a:rPr lang="en-US" altLang="zh-CN" sz="1800" dirty="0">
                <a:latin typeface="宋体" panose="02010600030101010101" pitchFamily="2" charset="-122"/>
                <a:sym typeface="宋体" panose="02010600030101010101" pitchFamily="2" charset="-122"/>
              </a:rPr>
              <a:t>execle</a:t>
            </a:r>
            <a:r>
              <a:rPr lang="zh-CN" altLang="en-US" sz="1800" dirty="0">
                <a:latin typeface="宋体" panose="02010600030101010101" pitchFamily="2" charset="-122"/>
                <a:sym typeface="宋体" panose="02010600030101010101" pitchFamily="2" charset="-122"/>
              </a:rPr>
              <a:t>、</a:t>
            </a:r>
            <a:r>
              <a:rPr lang="en-US" altLang="zh-CN" sz="1800" dirty="0">
                <a:latin typeface="宋体" panose="02010600030101010101" pitchFamily="2" charset="-122"/>
                <a:sym typeface="宋体" panose="02010600030101010101" pitchFamily="2" charset="-122"/>
              </a:rPr>
              <a:t>execve</a:t>
            </a:r>
            <a:r>
              <a:rPr lang="zh-CN" altLang="en-US" sz="1800" dirty="0">
                <a:latin typeface="宋体" panose="02010600030101010101" pitchFamily="2" charset="-122"/>
                <a:sym typeface="宋体" panose="02010600030101010101" pitchFamily="2" charset="-122"/>
              </a:rPr>
              <a:t>就可以在</a:t>
            </a:r>
            <a:r>
              <a:rPr lang="en-US" altLang="zh-CN" sz="1800" dirty="0">
                <a:latin typeface="宋体" panose="02010600030101010101" pitchFamily="2" charset="-122"/>
                <a:sym typeface="宋体" panose="02010600030101010101" pitchFamily="2" charset="-122"/>
              </a:rPr>
              <a:t>envp[]</a:t>
            </a:r>
            <a:r>
              <a:rPr lang="zh-CN" altLang="en-US" sz="1800" dirty="0">
                <a:latin typeface="宋体" panose="02010600030101010101" pitchFamily="2" charset="-122"/>
                <a:sym typeface="宋体" panose="02010600030101010101" pitchFamily="2" charset="-122"/>
              </a:rPr>
              <a:t>中传递当前进程所使用的环境变量</a:t>
            </a:r>
            <a:endParaRPr lang="zh-CN" altLang="en-US" sz="1800" dirty="0">
              <a:latin typeface="宋体" panose="02010600030101010101" pitchFamily="2" charset="-122"/>
              <a:sym typeface="宋体" panose="02010600030101010101" pitchFamily="2" charset="-122"/>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lnSpc>
                <a:spcPct val="90000"/>
              </a:lnSpc>
              <a:spcBef>
                <a:spcPct val="0"/>
              </a:spcBef>
              <a:spcAft>
                <a:spcPct val="0"/>
              </a:spcAft>
            </a:pPr>
            <a:endParaRPr lang="zh-CN" altLang="en-US" sz="1800" dirty="0">
              <a:latin typeface="宋体" panose="02010600030101010101" pitchFamily="2" charset="-122"/>
            </a:endParaRPr>
          </a:p>
        </p:txBody>
      </p:sp>
      <p:sp>
        <p:nvSpPr>
          <p:cNvPr id="8397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exec函数族</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lnSpc>
                <a:spcPct val="90000"/>
              </a:lnSpc>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40000"/>
              </a:lnSpc>
              <a:spcBef>
                <a:spcPct val="0"/>
              </a:spcBef>
              <a:spcAft>
                <a:spcPct val="0"/>
              </a:spcAft>
            </a:pPr>
            <a:endParaRPr lang="en-US" altLang="zh-CN" sz="1800">
              <a:latin typeface="宋体" panose="02010600030101010101" pitchFamily="2" charset="-122"/>
              <a:sym typeface="宋体" panose="02010600030101010101" pitchFamily="2" charset="-122"/>
            </a:endParaRPr>
          </a:p>
          <a:p>
            <a:pPr lvl="0" indent="-342900">
              <a:lnSpc>
                <a:spcPct val="90000"/>
              </a:lnSpc>
              <a:spcBef>
                <a:spcPct val="0"/>
              </a:spcBef>
              <a:spcAft>
                <a:spcPct val="0"/>
              </a:spcAft>
            </a:pPr>
            <a:endParaRPr lang="en-US" altLang="zh-CN" sz="1800">
              <a:latin typeface="宋体" panose="02010600030101010101" pitchFamily="2" charset="-122"/>
            </a:endParaRPr>
          </a:p>
        </p:txBody>
      </p:sp>
      <p:sp>
        <p:nvSpPr>
          <p:cNvPr id="8499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exit 和 _exit</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lnSpc>
                <a:spcPct val="90000"/>
              </a:lnSpc>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84996" name="图片 109573"/>
          <p:cNvPicPr>
            <a:picLocks noChangeAspect="1"/>
          </p:cNvPicPr>
          <p:nvPr/>
        </p:nvPicPr>
        <p:blipFill>
          <a:blip r:embed="rId1"/>
          <a:stretch>
            <a:fillRect/>
          </a:stretch>
        </p:blipFill>
        <p:spPr>
          <a:xfrm>
            <a:off x="766763" y="933450"/>
            <a:ext cx="6564312" cy="3792538"/>
          </a:xfrm>
          <a:prstGeom prst="rect">
            <a:avLst/>
          </a:prstGeom>
          <a:noFill/>
          <a:ln w="9525">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40000"/>
              </a:lnSpc>
              <a:spcBef>
                <a:spcPct val="0"/>
              </a:spcBef>
              <a:spcAft>
                <a:spcPct val="0"/>
              </a:spcAft>
            </a:pPr>
            <a:endParaRPr lang="en-US" altLang="zh-CN" sz="1800">
              <a:latin typeface="宋体" panose="02010600030101010101" pitchFamily="2" charset="-122"/>
              <a:sym typeface="宋体" panose="02010600030101010101" pitchFamily="2" charset="-122"/>
            </a:endParaRPr>
          </a:p>
          <a:p>
            <a:pPr lvl="0" indent="-342900">
              <a:lnSpc>
                <a:spcPct val="90000"/>
              </a:lnSpc>
              <a:spcBef>
                <a:spcPct val="0"/>
              </a:spcBef>
              <a:spcAft>
                <a:spcPct val="0"/>
              </a:spcAft>
            </a:pPr>
            <a:endParaRPr lang="en-US" altLang="zh-CN" sz="1800">
              <a:latin typeface="宋体" panose="02010600030101010101" pitchFamily="2" charset="-122"/>
            </a:endParaRPr>
          </a:p>
        </p:txBody>
      </p:sp>
      <p:sp>
        <p:nvSpPr>
          <p:cNvPr id="8601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exit 和 _exit</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86020" name="图片 110597"/>
          <p:cNvPicPr>
            <a:picLocks noChangeAspect="1"/>
          </p:cNvPicPr>
          <p:nvPr/>
        </p:nvPicPr>
        <p:blipFill>
          <a:blip r:embed="rId1"/>
          <a:stretch>
            <a:fillRect/>
          </a:stretch>
        </p:blipFill>
        <p:spPr>
          <a:xfrm>
            <a:off x="2695575" y="933450"/>
            <a:ext cx="3752850" cy="3619500"/>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en-US" altLang="zh-CN" sz="1800" b="1"/>
              <a:t>_</a:t>
            </a:r>
            <a:r>
              <a:rPr lang="en-US" altLang="zh-CN" sz="1800"/>
              <a:t>exit()</a:t>
            </a:r>
            <a:r>
              <a:rPr lang="zh-CN" altLang="en-US" sz="1800"/>
              <a:t>函数的作用最为简单：直接使进程终止运行，清除其使用的内存空间，并销毁其在内核中的各种数据结构；</a:t>
            </a:r>
            <a:endParaRPr lang="zh-CN" altLang="en-US" sz="1800"/>
          </a:p>
          <a:p>
            <a:pPr lvl="0" indent="-342900">
              <a:lnSpc>
                <a:spcPct val="90000"/>
              </a:lnSpc>
            </a:pPr>
            <a:endParaRPr lang="zh-CN" altLang="en-US" sz="1800"/>
          </a:p>
          <a:p>
            <a:pPr lvl="0" indent="-342900">
              <a:lnSpc>
                <a:spcPct val="90000"/>
              </a:lnSpc>
            </a:pPr>
            <a:r>
              <a:rPr lang="en-US" altLang="zh-CN" sz="1800"/>
              <a:t>exit()</a:t>
            </a:r>
            <a:r>
              <a:rPr lang="zh-CN" altLang="en-US" sz="1800"/>
              <a:t>函数则在这些基础上作了一些包装，在执行退出之前加了若干道工序。</a:t>
            </a:r>
            <a:endParaRPr lang="zh-CN" altLang="en-US" sz="1800"/>
          </a:p>
          <a:p>
            <a:pPr lvl="0" indent="-342900">
              <a:lnSpc>
                <a:spcPct val="90000"/>
              </a:lnSpc>
            </a:pPr>
            <a:endParaRPr lang="zh-CN" altLang="en-US" sz="1800"/>
          </a:p>
          <a:p>
            <a:pPr lvl="0" indent="-342900">
              <a:lnSpc>
                <a:spcPct val="90000"/>
              </a:lnSpc>
            </a:pPr>
            <a:r>
              <a:rPr lang="en-US" altLang="zh-CN" sz="1800"/>
              <a:t>exit()</a:t>
            </a:r>
            <a:r>
              <a:rPr lang="zh-CN" altLang="en-US" sz="1800"/>
              <a:t>函数在调用</a:t>
            </a:r>
            <a:r>
              <a:rPr lang="en-US" altLang="zh-CN" sz="1800"/>
              <a:t>exit</a:t>
            </a:r>
            <a:r>
              <a:rPr lang="zh-CN" altLang="en-US" sz="1800"/>
              <a:t>系统调用之前要检查文件的打开情况，把文件缓冲区中的内容写回文件，就是图中的</a:t>
            </a:r>
            <a:r>
              <a:rPr lang="en-US" altLang="zh-CN" sz="1800"/>
              <a:t>"</a:t>
            </a:r>
            <a:r>
              <a:rPr lang="zh-CN" altLang="en-US" sz="1800"/>
              <a:t>清理</a:t>
            </a:r>
            <a:r>
              <a:rPr lang="en-US" altLang="zh-CN" sz="1800"/>
              <a:t>I/O</a:t>
            </a:r>
            <a:r>
              <a:rPr lang="zh-CN" altLang="en-US" sz="1800"/>
              <a:t>缓冲</a:t>
            </a:r>
            <a:r>
              <a:rPr lang="en-US" altLang="zh-CN" sz="1800"/>
              <a:t>"</a:t>
            </a:r>
            <a:r>
              <a:rPr lang="zh-CN" altLang="en-US" sz="1800"/>
              <a:t>一项。 </a:t>
            </a:r>
            <a:endParaRPr lang="zh-CN" altLang="en-US" sz="1800" dirty="0">
              <a:latin typeface="宋体" panose="02010600030101010101" pitchFamily="2" charset="-122"/>
              <a:sym typeface="宋体" panose="02010600030101010101" pitchFamily="2" charset="-122"/>
            </a:endParaRPr>
          </a:p>
          <a:p>
            <a:pPr lvl="0" indent="-342900">
              <a:lnSpc>
                <a:spcPct val="140000"/>
              </a:lnSpc>
              <a:spcBef>
                <a:spcPct val="0"/>
              </a:spcBef>
              <a:spcAft>
                <a:spcPct val="0"/>
              </a:spcAft>
            </a:pPr>
            <a:endParaRPr lang="zh-CN" altLang="en-US" sz="1800" dirty="0">
              <a:latin typeface="宋体" panose="02010600030101010101" pitchFamily="2" charset="-122"/>
              <a:sym typeface="宋体" panose="02010600030101010101" pitchFamily="2" charset="-122"/>
            </a:endParaRPr>
          </a:p>
          <a:p>
            <a:pPr lvl="0" indent="-342900">
              <a:lnSpc>
                <a:spcPct val="90000"/>
              </a:lnSpc>
              <a:spcBef>
                <a:spcPct val="0"/>
              </a:spcBef>
              <a:spcAft>
                <a:spcPct val="0"/>
              </a:spcAft>
            </a:pPr>
            <a:endParaRPr lang="zh-CN" altLang="en-US" sz="1800" dirty="0">
              <a:latin typeface="宋体" panose="02010600030101010101" pitchFamily="2" charset="-122"/>
            </a:endParaRPr>
          </a:p>
        </p:txBody>
      </p:sp>
      <p:sp>
        <p:nvSpPr>
          <p:cNvPr id="8704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 exit 和 _exit</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lnSpc>
                <a:spcPct val="90000"/>
              </a:lnSpc>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800" dirty="0">
                <a:sym typeface="Symbol" panose="05050102010706020507" charset="2"/>
              </a:rPr>
              <a:t>wait</a:t>
            </a:r>
            <a:r>
              <a:rPr lang="zh-CN" altLang="en-US" sz="1800" dirty="0">
                <a:sym typeface="Symbol" panose="05050102010706020507" charset="2"/>
              </a:rPr>
              <a:t>函数</a:t>
            </a:r>
            <a:endParaRPr lang="zh-CN" altLang="en-US" sz="1800" dirty="0">
              <a:sym typeface="Symbol" panose="05050102010706020507" charset="2"/>
            </a:endParaRPr>
          </a:p>
          <a:p>
            <a:pPr lvl="0" indent="-342900"/>
            <a:endParaRPr lang="zh-CN" altLang="en-US" sz="1800" dirty="0">
              <a:sym typeface="Symbol" panose="05050102010706020507" charset="2"/>
            </a:endParaRPr>
          </a:p>
          <a:p>
            <a:pPr lvl="0" indent="-342900">
              <a:buFont typeface="Wingdings 3" panose="05040102010807070707" pitchFamily="2" charset="2"/>
              <a:buNone/>
            </a:pPr>
            <a:r>
              <a:rPr lang="zh-CN" altLang="en-US" sz="1800" dirty="0">
                <a:sym typeface="Symbol" panose="05050102010706020507" charset="2"/>
              </a:rPr>
              <a:t>   调用该函数使进程阻塞，直到任一个子进程结束或者是该进程接收到了一个信号为止。如果该进程没有子进程或者其子进程已经结束，</a:t>
            </a:r>
            <a:r>
              <a:rPr lang="en-US" altLang="zh-CN" sz="1800" dirty="0">
                <a:sym typeface="Symbol" panose="05050102010706020507" charset="2"/>
              </a:rPr>
              <a:t>wait</a:t>
            </a:r>
            <a:r>
              <a:rPr lang="zh-CN" altLang="en-US" sz="1800" dirty="0">
                <a:sym typeface="Symbol" panose="05050102010706020507" charset="2"/>
              </a:rPr>
              <a:t>函数会立即返回。</a:t>
            </a:r>
            <a:endParaRPr lang="zh-CN" altLang="en-US" sz="1800" dirty="0">
              <a:sym typeface="Symbol" panose="05050102010706020507" charset="2"/>
            </a:endParaRPr>
          </a:p>
          <a:p>
            <a:pPr lvl="0" indent="-342900"/>
            <a:endParaRPr lang="zh-CN" altLang="en-US" sz="1800" dirty="0">
              <a:sym typeface="Symbol" panose="05050102010706020507" charset="2"/>
            </a:endParaRPr>
          </a:p>
          <a:p>
            <a:pPr lvl="0" indent="-342900"/>
            <a:r>
              <a:rPr lang="en-US" altLang="zh-CN" sz="1800" dirty="0">
                <a:sym typeface="Symbol" panose="05050102010706020507" charset="2"/>
              </a:rPr>
              <a:t>waitpid</a:t>
            </a:r>
            <a:r>
              <a:rPr lang="zh-CN" altLang="en-US" sz="1800" dirty="0">
                <a:sym typeface="Symbol" panose="05050102010706020507" charset="2"/>
              </a:rPr>
              <a:t>函数</a:t>
            </a:r>
            <a:endParaRPr lang="zh-CN" altLang="en-US" sz="1800" dirty="0">
              <a:sym typeface="Symbol" panose="05050102010706020507" charset="2"/>
            </a:endParaRPr>
          </a:p>
          <a:p>
            <a:pPr lvl="0" indent="-342900"/>
            <a:endParaRPr lang="zh-CN" altLang="en-US" sz="1800" dirty="0">
              <a:sym typeface="Symbol" panose="05050102010706020507" charset="2"/>
            </a:endParaRPr>
          </a:p>
          <a:p>
            <a:pPr lvl="0" indent="-342900">
              <a:buFont typeface="Wingdings 3" panose="05040102010807070707" pitchFamily="2" charset="2"/>
              <a:buNone/>
            </a:pPr>
            <a:r>
              <a:rPr lang="zh-CN" altLang="en-US" sz="1800" dirty="0">
                <a:sym typeface="Symbol" panose="05050102010706020507" charset="2"/>
              </a:rPr>
              <a:t>   功能和</a:t>
            </a:r>
            <a:r>
              <a:rPr lang="en-US" altLang="zh-CN" sz="1800" dirty="0">
                <a:sym typeface="Symbol" panose="05050102010706020507" charset="2"/>
              </a:rPr>
              <a:t>wait</a:t>
            </a:r>
            <a:r>
              <a:rPr lang="zh-CN" altLang="en-US" sz="1800" dirty="0">
                <a:sym typeface="Symbol" panose="05050102010706020507" charset="2"/>
              </a:rPr>
              <a:t>函数类似。可以指定等待某个子进程结束以及等待的方式（阻塞或非阻塞）</a:t>
            </a:r>
            <a:endParaRPr lang="zh-CN" altLang="en-US" sz="18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8806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wait 和 waitpid</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endParaRPr lang="en-US" altLang="zh-CN" sz="1800">
              <a:sym typeface="Symbol" panose="05050102010706020507" charset="2"/>
            </a:endParaRPr>
          </a:p>
          <a:p>
            <a:pPr lvl="0" indent="-342900">
              <a:spcBef>
                <a:spcPct val="0"/>
              </a:spcBef>
              <a:spcAft>
                <a:spcPct val="0"/>
              </a:spcAft>
            </a:pPr>
            <a:endParaRPr lang="en-US" altLang="zh-CN" sz="1800">
              <a:latin typeface="宋体" panose="02010600030101010101" pitchFamily="2" charset="-122"/>
            </a:endParaRPr>
          </a:p>
        </p:txBody>
      </p:sp>
      <p:sp>
        <p:nvSpPr>
          <p:cNvPr id="8909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wait 和 waitpid</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89092" name="图片 114693"/>
          <p:cNvPicPr>
            <a:picLocks noChangeAspect="1"/>
          </p:cNvPicPr>
          <p:nvPr/>
        </p:nvPicPr>
        <p:blipFill>
          <a:blip r:embed="rId1"/>
          <a:stretch>
            <a:fillRect/>
          </a:stretch>
        </p:blipFill>
        <p:spPr>
          <a:xfrm>
            <a:off x="1116013" y="915988"/>
            <a:ext cx="6264275" cy="3752850"/>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进程系统调用 -- wait 和 waitpid</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90115" name="图片 115717"/>
          <p:cNvPicPr>
            <a:picLocks noChangeAspect="1"/>
          </p:cNvPicPr>
          <p:nvPr/>
        </p:nvPicPr>
        <p:blipFill>
          <a:blip r:embed="rId1"/>
          <a:stretch>
            <a:fillRect/>
          </a:stretch>
        </p:blipFill>
        <p:spPr>
          <a:xfrm>
            <a:off x="1835150" y="844550"/>
            <a:ext cx="5495925" cy="3979863"/>
          </a:xfrm>
          <a:prstGeom prst="rect">
            <a:avLst/>
          </a:prstGeom>
          <a:noFill/>
          <a:ln w="9525">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40000"/>
              </a:lnSpc>
              <a:spcBef>
                <a:spcPct val="0"/>
              </a:spcBef>
              <a:spcAft>
                <a:spcPct val="0"/>
              </a:spcAft>
            </a:pPr>
            <a:r>
              <a:rPr lang="en-US" altLang="zh-CN" sz="1800" dirty="0">
                <a:latin typeface="宋体" panose="02010600030101010101" pitchFamily="2" charset="-122"/>
              </a:rPr>
              <a:t>linux 进程</a:t>
            </a:r>
            <a:r>
              <a:rPr lang="zh-CN" altLang="en-US" sz="1800" dirty="0">
                <a:latin typeface="宋体" panose="02010600030101010101" pitchFamily="2" charset="-122"/>
              </a:rPr>
              <a:t>及相关系统调用</a:t>
            </a:r>
            <a:endParaRPr lang="en-US" altLang="zh-CN" sz="1800" dirty="0">
              <a:latin typeface="宋体" panose="02010600030101010101" pitchFamily="2" charset="-122"/>
            </a:endParaRPr>
          </a:p>
          <a:p>
            <a:pPr lvl="0" indent="-342900">
              <a:lnSpc>
                <a:spcPct val="140000"/>
              </a:lnSpc>
              <a:spcBef>
                <a:spcPct val="0"/>
              </a:spcBef>
              <a:spcAft>
                <a:spcPct val="0"/>
              </a:spcAft>
            </a:pPr>
            <a:r>
              <a:rPr lang="en-US" altLang="zh-CN" sz="1800" dirty="0">
                <a:solidFill>
                  <a:srgbClr val="FF3300"/>
                </a:solidFill>
                <a:latin typeface="宋体" panose="02010600030101010101" pitchFamily="2" charset="-122"/>
              </a:rPr>
              <a:t>守护进程</a:t>
            </a:r>
            <a:endParaRPr lang="en-US" altLang="zh-CN" sz="1800" dirty="0">
              <a:solidFill>
                <a:srgbClr val="FF3300"/>
              </a:solidFill>
              <a:latin typeface="宋体" panose="02010600030101010101" pitchFamily="2" charset="-122"/>
            </a:endParaRPr>
          </a:p>
          <a:p>
            <a:pPr lvl="0" indent="-342900">
              <a:lnSpc>
                <a:spcPct val="140000"/>
              </a:lnSpc>
              <a:spcBef>
                <a:spcPct val="0"/>
              </a:spcBef>
              <a:spcAft>
                <a:spcPct val="0"/>
              </a:spcAft>
            </a:pPr>
            <a:r>
              <a:rPr lang="en-US" altLang="zh-CN" sz="1800" dirty="0">
                <a:latin typeface="宋体" panose="02010600030101010101" pitchFamily="2" charset="-122"/>
              </a:rPr>
              <a:t>进程间通信(共享内存、消息队列、管道、IPC对象</a:t>
            </a:r>
            <a:r>
              <a:rPr lang="zh-CN" altLang="en-US" sz="1800" dirty="0">
                <a:latin typeface="宋体" panose="02010600030101010101" pitchFamily="2" charset="-122"/>
              </a:rPr>
              <a:t>、信号</a:t>
            </a:r>
            <a:r>
              <a:rPr lang="en-US" altLang="zh-CN" sz="1800" dirty="0">
                <a:latin typeface="宋体" panose="02010600030101010101" pitchFamily="2" charset="-122"/>
              </a:rPr>
              <a:t>)</a:t>
            </a:r>
            <a:endParaRPr lang="en-US" altLang="zh-CN" sz="1800" dirty="0">
              <a:latin typeface="宋体" panose="02010600030101010101" pitchFamily="2" charset="-122"/>
            </a:endParaRPr>
          </a:p>
          <a:p>
            <a:pPr lvl="0" indent="-342900">
              <a:lnSpc>
                <a:spcPct val="140000"/>
              </a:lnSpc>
              <a:spcBef>
                <a:spcPct val="0"/>
              </a:spcBef>
              <a:spcAft>
                <a:spcPct val="0"/>
              </a:spcAft>
            </a:pPr>
            <a:r>
              <a:rPr lang="en-US" altLang="zh-CN" sz="1800" dirty="0">
                <a:latin typeface="宋体" panose="02010600030101010101" pitchFamily="2" charset="-122"/>
              </a:rPr>
              <a:t>线程</a:t>
            </a:r>
            <a:endParaRPr lang="en-US" altLang="zh-CN" sz="1800" dirty="0">
              <a:latin typeface="宋体" panose="02010600030101010101" pitchFamily="2" charset="-122"/>
            </a:endParaRPr>
          </a:p>
          <a:p>
            <a:pPr lvl="0" indent="-342900">
              <a:lnSpc>
                <a:spcPct val="140000"/>
              </a:lnSpc>
              <a:spcBef>
                <a:spcPct val="0"/>
              </a:spcBef>
              <a:spcAft>
                <a:spcPct val="0"/>
              </a:spcAft>
            </a:pPr>
            <a:r>
              <a:rPr lang="en-US" altLang="zh-CN" sz="1800" dirty="0">
                <a:latin typeface="宋体" panose="02010600030101010101" pitchFamily="2" charset="-122"/>
              </a:rPr>
              <a:t>线程间</a:t>
            </a:r>
            <a:r>
              <a:rPr lang="zh-CN" altLang="en-US" sz="1800" dirty="0">
                <a:latin typeface="宋体" panose="02010600030101010101" pitchFamily="2" charset="-122"/>
              </a:rPr>
              <a:t>同步和互斥  </a:t>
            </a:r>
            <a:endParaRPr lang="zh-CN" altLang="en-US" sz="1800" dirty="0">
              <a:latin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9113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课程目标</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800" dirty="0">
                <a:sym typeface="Symbol" panose="05050102010706020507" charset="2"/>
              </a:rPr>
              <a:t>守护进程，也就是通常所说的</a:t>
            </a:r>
            <a:r>
              <a:rPr lang="en-US" altLang="zh-CN" sz="1800" dirty="0">
                <a:sym typeface="Symbol" panose="05050102010706020507" charset="2"/>
              </a:rPr>
              <a:t>Daemon</a:t>
            </a:r>
            <a:r>
              <a:rPr lang="zh-CN" altLang="en-US" sz="1800" dirty="0">
                <a:sym typeface="Symbol" panose="05050102010706020507" charset="2"/>
              </a:rPr>
              <a:t>进程，是</a:t>
            </a:r>
            <a:r>
              <a:rPr lang="en-US" altLang="zh-CN" sz="1800" dirty="0">
                <a:sym typeface="Symbol" panose="05050102010706020507" charset="2"/>
              </a:rPr>
              <a:t>Linux</a:t>
            </a:r>
            <a:r>
              <a:rPr lang="zh-CN" altLang="en-US" sz="1800" dirty="0">
                <a:sym typeface="Symbol" panose="05050102010706020507" charset="2"/>
              </a:rPr>
              <a:t>中的后台服务进程。它是一个生存期较长的进程，通常独立于控制终端并且周期性的执行某种任务或等待处理某些发生的事件</a:t>
            </a:r>
            <a:endParaRPr lang="zh-CN" altLang="en-US" sz="1800" dirty="0">
              <a:sym typeface="Symbol" panose="05050102010706020507" charset="2"/>
            </a:endParaRPr>
          </a:p>
          <a:p>
            <a:pPr lvl="0" indent="-342900"/>
            <a:endParaRPr lang="zh-CN" altLang="en-US" sz="1800" dirty="0">
              <a:sym typeface="Symbol" panose="05050102010706020507" charset="2"/>
            </a:endParaRPr>
          </a:p>
          <a:p>
            <a:pPr lvl="0" indent="-342900">
              <a:lnSpc>
                <a:spcPct val="80000"/>
              </a:lnSpc>
            </a:pPr>
            <a:r>
              <a:rPr lang="en-US" altLang="zh-CN" sz="1800" dirty="0">
                <a:sym typeface="Symbol" panose="05050102010706020507" charset="2"/>
              </a:rPr>
              <a:t>Linux</a:t>
            </a:r>
            <a:r>
              <a:rPr lang="zh-CN" altLang="en-US" sz="1800" dirty="0">
                <a:sym typeface="Symbol" panose="05050102010706020507" charset="2"/>
              </a:rPr>
              <a:t>系统有很多守护进程，大多数服务都是用守护进程实现的。</a:t>
            </a:r>
            <a:endParaRPr lang="zh-CN" altLang="en-US" sz="1800" dirty="0">
              <a:sym typeface="Symbol" panose="05050102010706020507" charset="2"/>
            </a:endParaRPr>
          </a:p>
          <a:p>
            <a:pPr lvl="0" indent="-342900">
              <a:lnSpc>
                <a:spcPct val="80000"/>
              </a:lnSpc>
            </a:pPr>
            <a:endParaRPr lang="zh-CN" altLang="en-US" sz="1800" dirty="0">
              <a:sym typeface="Symbol" panose="05050102010706020507" charset="2"/>
            </a:endParaRPr>
          </a:p>
          <a:p>
            <a:pPr lvl="0" indent="-342900">
              <a:lnSpc>
                <a:spcPct val="80000"/>
              </a:lnSpc>
            </a:pPr>
            <a:r>
              <a:rPr lang="zh-CN" altLang="en-US" sz="1800" dirty="0">
                <a:sym typeface="Symbol" panose="05050102010706020507" charset="2"/>
              </a:rPr>
              <a:t>在Linux中，每一个系统与用户进行交流的界面称为终端。从该终端开始运行的进程都会依附于这个终端，这个终端称为这些进程的控制终端。当控制终端被关闭时，相应的进程都会被自动关闭。</a:t>
            </a:r>
            <a:endParaRPr lang="zh-CN" altLang="en-US" sz="1800" dirty="0">
              <a:sym typeface="Symbol" panose="05050102010706020507" charset="2"/>
            </a:endParaRPr>
          </a:p>
          <a:p>
            <a:pPr lvl="0" indent="-342900">
              <a:lnSpc>
                <a:spcPct val="80000"/>
              </a:lnSpc>
            </a:pPr>
            <a:endParaRPr lang="zh-CN" altLang="en-US" sz="1800" dirty="0">
              <a:sym typeface="Symbol" panose="05050102010706020507" charset="2"/>
            </a:endParaRPr>
          </a:p>
          <a:p>
            <a:pPr lvl="0" indent="-342900">
              <a:lnSpc>
                <a:spcPct val="80000"/>
              </a:lnSpc>
            </a:pPr>
            <a:r>
              <a:rPr lang="zh-CN" altLang="en-US" sz="1800" dirty="0">
                <a:sym typeface="Symbol" panose="05050102010706020507" charset="2"/>
              </a:rPr>
              <a:t>守护进程能够突破这种限制，它从开始运行，直到整个系统关闭才会退出。如果想让某个进程不会因为用户或终端的变化而受到影响，就必须把这个进程变成一个守护进程。</a:t>
            </a:r>
            <a:endParaRPr lang="zh-CN" altLang="en-US" sz="1800" dirty="0">
              <a:sym typeface="Symbol" panose="05050102010706020507" charset="2"/>
            </a:endParaRPr>
          </a:p>
          <a:p>
            <a:pPr lvl="0" indent="-342900"/>
            <a:endParaRPr lang="zh-CN" altLang="en-US" sz="18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9216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 -- 守护进程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50000"/>
              </a:lnSpc>
            </a:pPr>
            <a:r>
              <a:rPr lang="zh-CN" altLang="en-US" sz="1800" dirty="0">
                <a:sym typeface="Symbol" panose="05050102010706020507" charset="2"/>
              </a:rPr>
              <a:t> </a:t>
            </a:r>
            <a:endParaRPr lang="zh-CN" altLang="en-US" sz="18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9318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 -- 守护进程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93188" name="Picture 6" descr="图片2"/>
          <p:cNvPicPr>
            <a:picLocks noChangeAspect="1"/>
          </p:cNvPicPr>
          <p:nvPr/>
        </p:nvPicPr>
        <p:blipFill>
          <a:blip r:embed="rId1"/>
          <a:stretch>
            <a:fillRect/>
          </a:stretch>
        </p:blipFill>
        <p:spPr>
          <a:xfrm>
            <a:off x="971550" y="844550"/>
            <a:ext cx="5472113" cy="3892550"/>
          </a:xfrm>
          <a:prstGeom prst="rect">
            <a:avLst/>
          </a:prstGeom>
          <a:noFill/>
          <a:ln w="9525">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80000"/>
              </a:lnSpc>
            </a:pPr>
            <a:r>
              <a:rPr lang="zh-CN" altLang="en-US" sz="1800" dirty="0">
                <a:sym typeface="Symbol" panose="05050102010706020507" charset="2"/>
              </a:rPr>
              <a:t>进程组</a:t>
            </a:r>
            <a:endParaRPr lang="zh-CN" altLang="en-US" sz="1800" dirty="0">
              <a:sym typeface="Symbol" panose="05050102010706020507" charset="2"/>
            </a:endParaRPr>
          </a:p>
          <a:p>
            <a:pPr lvl="0" indent="-342900">
              <a:lnSpc>
                <a:spcPct val="80000"/>
              </a:lnSpc>
            </a:pPr>
            <a:endParaRPr lang="zh-CN" altLang="en-US" sz="1800" dirty="0">
              <a:sym typeface="Symbol" panose="05050102010706020507" charset="2"/>
            </a:endParaRPr>
          </a:p>
          <a:p>
            <a:pPr lvl="1" indent="-285750">
              <a:lnSpc>
                <a:spcPct val="80000"/>
              </a:lnSpc>
            </a:pPr>
            <a:r>
              <a:rPr lang="zh-CN" altLang="en-US" sz="1800" dirty="0">
                <a:sym typeface="Symbol" panose="05050102010706020507" charset="2"/>
              </a:rPr>
              <a:t>进程组是一个或多个进程的集合。进程组由进程组</a:t>
            </a:r>
            <a:r>
              <a:rPr lang="en-US" altLang="zh-CN" sz="1800" dirty="0">
                <a:sym typeface="Symbol" panose="05050102010706020507" charset="2"/>
              </a:rPr>
              <a:t>ID</a:t>
            </a:r>
            <a:r>
              <a:rPr lang="zh-CN" altLang="en-US" sz="1800" dirty="0">
                <a:sym typeface="Symbol" panose="05050102010706020507" charset="2"/>
              </a:rPr>
              <a:t>来唯一标识。</a:t>
            </a:r>
            <a:endParaRPr lang="zh-CN" altLang="en-US" sz="1800" dirty="0">
              <a:sym typeface="Symbol" panose="05050102010706020507" charset="2"/>
            </a:endParaRPr>
          </a:p>
          <a:p>
            <a:pPr lvl="1" indent="-285750">
              <a:lnSpc>
                <a:spcPct val="80000"/>
              </a:lnSpc>
            </a:pPr>
            <a:endParaRPr lang="zh-CN" altLang="en-US" sz="1800" dirty="0">
              <a:sym typeface="Symbol" panose="05050102010706020507" charset="2"/>
            </a:endParaRPr>
          </a:p>
          <a:p>
            <a:pPr lvl="1" indent="-285750">
              <a:lnSpc>
                <a:spcPct val="80000"/>
              </a:lnSpc>
            </a:pPr>
            <a:r>
              <a:rPr lang="zh-CN" altLang="en-US" sz="1800" dirty="0">
                <a:sym typeface="Symbol" panose="05050102010706020507" charset="2"/>
              </a:rPr>
              <a:t>每个进程组都有一个组长进程，进程组</a:t>
            </a:r>
            <a:r>
              <a:rPr lang="en-US" altLang="zh-CN" sz="1800" dirty="0">
                <a:sym typeface="Symbol" panose="05050102010706020507" charset="2"/>
              </a:rPr>
              <a:t>ID</a:t>
            </a:r>
            <a:r>
              <a:rPr lang="zh-CN" altLang="en-US" sz="1800" dirty="0">
                <a:sym typeface="Symbol" panose="05050102010706020507" charset="2"/>
              </a:rPr>
              <a:t>就是组长进程的进程号。</a:t>
            </a:r>
            <a:endParaRPr lang="zh-CN" altLang="en-US" sz="1800" dirty="0">
              <a:sym typeface="Symbol" panose="05050102010706020507" charset="2"/>
            </a:endParaRPr>
          </a:p>
          <a:p>
            <a:pPr lvl="1" indent="-285750">
              <a:lnSpc>
                <a:spcPct val="80000"/>
              </a:lnSpc>
            </a:pPr>
            <a:endParaRPr lang="zh-CN" altLang="en-US" sz="1800" dirty="0">
              <a:sym typeface="Symbol" panose="05050102010706020507" charset="2"/>
            </a:endParaRPr>
          </a:p>
          <a:p>
            <a:pPr lvl="0" indent="-342900">
              <a:lnSpc>
                <a:spcPct val="80000"/>
              </a:lnSpc>
            </a:pPr>
            <a:r>
              <a:rPr lang="zh-CN" altLang="en-US" sz="1800" dirty="0">
                <a:sym typeface="Symbol" panose="05050102010706020507" charset="2"/>
              </a:rPr>
              <a:t>会话期</a:t>
            </a:r>
            <a:endParaRPr lang="zh-CN" altLang="en-US" sz="1800" dirty="0">
              <a:sym typeface="Symbol" panose="05050102010706020507" charset="2"/>
            </a:endParaRPr>
          </a:p>
          <a:p>
            <a:pPr lvl="0" indent="-342900">
              <a:lnSpc>
                <a:spcPct val="80000"/>
              </a:lnSpc>
            </a:pPr>
            <a:endParaRPr lang="zh-CN" altLang="en-US" sz="1800" dirty="0">
              <a:sym typeface="Symbol" panose="05050102010706020507" charset="2"/>
            </a:endParaRPr>
          </a:p>
          <a:p>
            <a:pPr lvl="1" indent="-285750">
              <a:lnSpc>
                <a:spcPct val="80000"/>
              </a:lnSpc>
            </a:pPr>
            <a:r>
              <a:rPr lang="zh-CN" altLang="en-US" sz="1800" dirty="0">
                <a:sym typeface="Symbol" panose="05050102010706020507" charset="2"/>
              </a:rPr>
              <a:t>会话组是一个或多个进程组的集合 </a:t>
            </a:r>
            <a:endParaRPr lang="zh-CN" altLang="en-US" sz="18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9421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 -- 守护进程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50000"/>
              </a:lnSpc>
            </a:pPr>
            <a:r>
              <a:rPr lang="zh-CN" altLang="en-US" sz="1800" dirty="0">
                <a:sym typeface="Symbol" panose="05050102010706020507" charset="2"/>
              </a:rPr>
              <a:t> </a:t>
            </a:r>
            <a:endParaRPr lang="zh-CN" altLang="en-US" sz="18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9523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 -- 守护进程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95236" name="Picture 3" descr="会话 进程组 终端"/>
          <p:cNvPicPr>
            <a:picLocks noChangeAspect="1"/>
          </p:cNvPicPr>
          <p:nvPr/>
        </p:nvPicPr>
        <p:blipFill>
          <a:blip r:embed="rId1"/>
          <a:stretch>
            <a:fillRect/>
          </a:stretch>
        </p:blipFill>
        <p:spPr>
          <a:xfrm>
            <a:off x="539750" y="771525"/>
            <a:ext cx="6902450" cy="4081463"/>
          </a:xfrm>
          <a:prstGeom prst="rect">
            <a:avLst/>
          </a:prstGeom>
          <a:noFill/>
          <a:ln w="9525">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2400" dirty="0">
                <a:latin typeface="宋体" panose="02010600030101010101" pitchFamily="2" charset="-122"/>
                <a:sym typeface="宋体" panose="02010600030101010101" pitchFamily="2" charset="-122"/>
              </a:rPr>
              <a:t>setsid</a:t>
            </a:r>
            <a:r>
              <a:rPr lang="zh-CN" altLang="en-US" sz="2400" dirty="0">
                <a:latin typeface="宋体" panose="02010600030101010101" pitchFamily="2" charset="-122"/>
                <a:sym typeface="宋体" panose="02010600030101010101" pitchFamily="2" charset="-122"/>
              </a:rPr>
              <a:t>函数作用</a:t>
            </a:r>
            <a:r>
              <a:rPr lang="zh-CN" altLang="en-US" sz="1800" dirty="0">
                <a:sym typeface="Symbol" panose="05050102010706020507" charset="2"/>
              </a:rPr>
              <a:t> </a:t>
            </a:r>
            <a:endParaRPr lang="zh-CN" altLang="en-US" sz="1400" dirty="0">
              <a:sym typeface="Symbol" panose="05050102010706020507" charset="2"/>
            </a:endParaRPr>
          </a:p>
          <a:p>
            <a:pPr lvl="1" indent="-285750"/>
            <a:r>
              <a:rPr lang="en-US" altLang="zh-CN" sz="2000" dirty="0">
                <a:latin typeface="宋体" panose="02010600030101010101" pitchFamily="2" charset="-122"/>
                <a:sym typeface="宋体" panose="02010600030101010101" pitchFamily="2" charset="-122"/>
              </a:rPr>
              <a:t>setsid</a:t>
            </a:r>
            <a:r>
              <a:rPr lang="zh-CN" altLang="en-US" sz="2000" dirty="0">
                <a:latin typeface="宋体" panose="02010600030101010101" pitchFamily="2" charset="-122"/>
                <a:sym typeface="宋体" panose="02010600030101010101" pitchFamily="2" charset="-122"/>
              </a:rPr>
              <a:t>函数用于创建一个新的会话，并使得当前进程成为新会话组的组长</a:t>
            </a:r>
            <a:endParaRPr lang="zh-CN" altLang="en-US" sz="2000" dirty="0">
              <a:latin typeface="宋体" panose="02010600030101010101" pitchFamily="2" charset="-122"/>
              <a:sym typeface="宋体" panose="02010600030101010101" pitchFamily="2" charset="-122"/>
            </a:endParaRPr>
          </a:p>
          <a:p>
            <a:pPr lvl="1" indent="-285750"/>
            <a:r>
              <a:rPr lang="en-US" altLang="zh-CN" sz="2000" dirty="0">
                <a:latin typeface="宋体" panose="02010600030101010101" pitchFamily="2" charset="-122"/>
                <a:sym typeface="宋体" panose="02010600030101010101" pitchFamily="2" charset="-122"/>
              </a:rPr>
              <a:t>setsid</a:t>
            </a:r>
            <a:r>
              <a:rPr lang="zh-CN" altLang="en-US" sz="2000" dirty="0">
                <a:latin typeface="宋体" panose="02010600030101010101" pitchFamily="2" charset="-122"/>
                <a:sym typeface="宋体" panose="02010600030101010101" pitchFamily="2" charset="-122"/>
              </a:rPr>
              <a:t>函数能够使进程完全独立出来，从而脱离控制终端对进程的控制。</a:t>
            </a:r>
            <a:endParaRPr lang="zh-CN" altLang="en-US" sz="2000" dirty="0">
              <a:latin typeface="宋体" panose="02010600030101010101" pitchFamily="2" charset="-122"/>
              <a:sym typeface="宋体" panose="02010600030101010101" pitchFamily="2" charset="-122"/>
            </a:endParaRPr>
          </a:p>
          <a:p>
            <a:pPr lvl="0" indent="-342900"/>
            <a:r>
              <a:rPr lang="en-US" altLang="zh-CN" sz="2000" dirty="0">
                <a:latin typeface="宋体" panose="02010600030101010101" pitchFamily="2" charset="-122"/>
                <a:sym typeface="宋体" panose="02010600030101010101" pitchFamily="2" charset="-122"/>
              </a:rPr>
              <a:t>chdir</a:t>
            </a:r>
            <a:r>
              <a:rPr lang="zh-CN" altLang="en-US" sz="2000" dirty="0">
                <a:latin typeface="宋体" panose="02010600030101010101" pitchFamily="2" charset="-122"/>
                <a:sym typeface="宋体" panose="02010600030101010101" pitchFamily="2" charset="-122"/>
              </a:rPr>
              <a:t>函数可以改变进程当前工作目录</a:t>
            </a:r>
            <a:endParaRPr lang="zh-CN" altLang="en-US" sz="2000" dirty="0">
              <a:latin typeface="宋体" panose="02010600030101010101" pitchFamily="2" charset="-122"/>
              <a:sym typeface="宋体" panose="02010600030101010101" pitchFamily="2" charset="-122"/>
            </a:endParaRPr>
          </a:p>
          <a:p>
            <a:pPr lvl="0" indent="-342900"/>
            <a:r>
              <a:rPr lang="zh-CN" altLang="en-US" sz="2000" dirty="0">
                <a:latin typeface="宋体" panose="02010600030101010101" pitchFamily="2" charset="-122"/>
                <a:sym typeface="宋体" panose="02010600030101010101" pitchFamily="2" charset="-122"/>
              </a:rPr>
              <a:t>通常的使用方法为</a:t>
            </a:r>
            <a:r>
              <a:rPr lang="en-US" altLang="zh-CN" sz="2000" dirty="0">
                <a:latin typeface="宋体" panose="02010600030101010101" pitchFamily="2" charset="-122"/>
                <a:sym typeface="宋体" panose="02010600030101010101" pitchFamily="2" charset="-122"/>
              </a:rPr>
              <a:t>umask(0) </a:t>
            </a:r>
            <a:endParaRPr lang="en-US" altLang="zh-CN" sz="2000" dirty="0">
              <a:latin typeface="宋体" panose="02010600030101010101" pitchFamily="2" charset="-122"/>
              <a:sym typeface="宋体" panose="02010600030101010101" pitchFamily="2" charset="-122"/>
            </a:endParaRPr>
          </a:p>
          <a:p>
            <a:pPr lvl="0" indent="-342900"/>
            <a:r>
              <a:rPr lang="zh-CN" altLang="en-US" sz="2000" dirty="0">
                <a:latin typeface="宋体" panose="02010600030101010101" pitchFamily="2" charset="-122"/>
                <a:sym typeface="宋体" panose="02010600030101010101" pitchFamily="2" charset="-122"/>
              </a:rPr>
              <a:t>关闭文件描述符</a:t>
            </a:r>
            <a:endParaRPr lang="en-US" altLang="zh-CN" sz="2000" dirty="0">
              <a:latin typeface="宋体" panose="02010600030101010101" pitchFamily="2" charset="-122"/>
              <a:sym typeface="宋体" panose="02010600030101010101" pitchFamily="2" charset="-122"/>
            </a:endParaRPr>
          </a:p>
          <a:p>
            <a:pPr lvl="0" indent="-342900">
              <a:buFont typeface="Wingdings 3" panose="05040102010807070707" pitchFamily="2" charset="2"/>
              <a:buNone/>
            </a:pPr>
            <a:r>
              <a:rPr lang="zh-CN" altLang="en-US" sz="2000" dirty="0">
                <a:latin typeface="宋体" panose="02010600030101010101" pitchFamily="2" charset="-122"/>
                <a:sym typeface="宋体" panose="02010600030101010101" pitchFamily="2" charset="-122"/>
              </a:rPr>
              <a:t>	</a:t>
            </a:r>
            <a:r>
              <a:rPr lang="en-US" altLang="zh-CN" sz="2000" dirty="0">
                <a:latin typeface="宋体" panose="02010600030101010101" pitchFamily="2" charset="-122"/>
                <a:sym typeface="宋体" panose="02010600030101010101" pitchFamily="2" charset="-122"/>
              </a:rPr>
              <a:t>fdtablesize = getdtablesize();</a:t>
            </a:r>
            <a:endParaRPr lang="en-US" altLang="zh-CN" sz="2000" dirty="0">
              <a:latin typeface="宋体" panose="02010600030101010101" pitchFamily="2" charset="-122"/>
              <a:sym typeface="宋体" panose="02010600030101010101" pitchFamily="2" charset="-122"/>
            </a:endParaRPr>
          </a:p>
          <a:p>
            <a:pPr lvl="0" indent="-342900">
              <a:buFont typeface="Wingdings 3" panose="05040102010807070707" pitchFamily="2" charset="2"/>
              <a:buNone/>
            </a:pPr>
            <a:r>
              <a:rPr lang="en-US" altLang="zh-CN" sz="2000" dirty="0">
                <a:latin typeface="宋体" panose="02010600030101010101" pitchFamily="2" charset="-122"/>
                <a:sym typeface="宋体" panose="02010600030101010101" pitchFamily="2" charset="-122"/>
              </a:rPr>
              <a:t>   for (fd = 0; fd &lt; fdtablesize; fd++)</a:t>
            </a:r>
            <a:br>
              <a:rPr lang="en-US" altLang="zh-CN" sz="2000" dirty="0">
                <a:latin typeface="宋体" panose="02010600030101010101" pitchFamily="2" charset="-122"/>
                <a:sym typeface="宋体" panose="02010600030101010101" pitchFamily="2" charset="-122"/>
              </a:rPr>
            </a:br>
            <a:r>
              <a:rPr lang="en-US" altLang="zh-CN" sz="2000" dirty="0">
                <a:latin typeface="宋体" panose="02010600030101010101" pitchFamily="2" charset="-122"/>
                <a:sym typeface="宋体" panose="02010600030101010101" pitchFamily="2" charset="-122"/>
              </a:rPr>
              <a:t>　　close(fd); </a:t>
            </a:r>
            <a:endParaRPr lang="en-US" altLang="zh-CN" sz="2000" dirty="0">
              <a:latin typeface="宋体" panose="02010600030101010101" pitchFamily="2" charset="-122"/>
              <a:sym typeface="宋体" panose="02010600030101010101" pitchFamily="2" charset="-122"/>
            </a:endParaRPr>
          </a:p>
          <a:p>
            <a:pPr lvl="0" indent="-342900">
              <a:lnSpc>
                <a:spcPct val="150000"/>
              </a:lnSpc>
            </a:pPr>
            <a:endParaRPr lang="zh-CN" altLang="en-US" sz="32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9625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 -- 守护进程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40000"/>
              </a:lnSpc>
              <a:spcBef>
                <a:spcPct val="0"/>
              </a:spcBef>
              <a:spcAft>
                <a:spcPct val="0"/>
              </a:spcAft>
            </a:pPr>
            <a:r>
              <a:rPr lang="en-US" altLang="zh-CN" sz="1800" dirty="0">
                <a:latin typeface="宋体" panose="02010600030101010101" pitchFamily="2" charset="-122"/>
              </a:rPr>
              <a:t>linux 进程</a:t>
            </a:r>
            <a:r>
              <a:rPr lang="zh-CN" altLang="en-US" sz="1800" dirty="0">
                <a:latin typeface="宋体" panose="02010600030101010101" pitchFamily="2" charset="-122"/>
              </a:rPr>
              <a:t>及相关系统调用</a:t>
            </a:r>
            <a:endParaRPr lang="en-US" altLang="zh-CN" sz="1800" dirty="0">
              <a:latin typeface="宋体" panose="02010600030101010101" pitchFamily="2" charset="-122"/>
            </a:endParaRPr>
          </a:p>
          <a:p>
            <a:pPr lvl="0" indent="-342900">
              <a:lnSpc>
                <a:spcPct val="140000"/>
              </a:lnSpc>
              <a:spcBef>
                <a:spcPct val="0"/>
              </a:spcBef>
              <a:spcAft>
                <a:spcPct val="0"/>
              </a:spcAft>
            </a:pPr>
            <a:r>
              <a:rPr lang="en-US" altLang="zh-CN" sz="1800" dirty="0">
                <a:latin typeface="宋体" panose="02010600030101010101" pitchFamily="2" charset="-122"/>
              </a:rPr>
              <a:t>守护进程</a:t>
            </a:r>
            <a:endParaRPr lang="en-US" altLang="zh-CN" sz="1800" dirty="0">
              <a:latin typeface="宋体" panose="02010600030101010101" pitchFamily="2" charset="-122"/>
            </a:endParaRPr>
          </a:p>
          <a:p>
            <a:pPr lvl="0" indent="-342900">
              <a:lnSpc>
                <a:spcPct val="140000"/>
              </a:lnSpc>
              <a:spcBef>
                <a:spcPct val="0"/>
              </a:spcBef>
              <a:spcAft>
                <a:spcPct val="0"/>
              </a:spcAft>
            </a:pPr>
            <a:r>
              <a:rPr lang="en-US" altLang="zh-CN" sz="1800" dirty="0">
                <a:solidFill>
                  <a:srgbClr val="FF3300"/>
                </a:solidFill>
                <a:latin typeface="宋体" panose="02010600030101010101" pitchFamily="2" charset="-122"/>
              </a:rPr>
              <a:t>线程</a:t>
            </a:r>
            <a:endParaRPr lang="en-US" altLang="zh-CN" sz="1800" dirty="0">
              <a:latin typeface="宋体" panose="02010600030101010101" pitchFamily="2" charset="-122"/>
            </a:endParaRPr>
          </a:p>
          <a:p>
            <a:pPr lvl="0" indent="-342900">
              <a:lnSpc>
                <a:spcPct val="140000"/>
              </a:lnSpc>
              <a:spcBef>
                <a:spcPct val="0"/>
              </a:spcBef>
              <a:spcAft>
                <a:spcPct val="0"/>
              </a:spcAft>
            </a:pPr>
            <a:r>
              <a:rPr lang="en-US" altLang="zh-CN" sz="1800" dirty="0">
                <a:latin typeface="宋体" panose="02010600030101010101" pitchFamily="2" charset="-122"/>
              </a:rPr>
              <a:t>线程间</a:t>
            </a:r>
            <a:r>
              <a:rPr lang="zh-CN" altLang="en-US" sz="1800" dirty="0">
                <a:latin typeface="宋体" panose="02010600030101010101" pitchFamily="2" charset="-122"/>
              </a:rPr>
              <a:t>同步和互斥</a:t>
            </a:r>
            <a:endParaRPr lang="en-US" altLang="zh-CN" sz="1800" dirty="0">
              <a:latin typeface="宋体" panose="02010600030101010101" pitchFamily="2" charset="-122"/>
            </a:endParaRPr>
          </a:p>
          <a:p>
            <a:pPr lvl="0" indent="-342900">
              <a:lnSpc>
                <a:spcPct val="140000"/>
              </a:lnSpc>
              <a:spcBef>
                <a:spcPct val="0"/>
              </a:spcBef>
              <a:spcAft>
                <a:spcPct val="0"/>
              </a:spcAft>
            </a:pPr>
            <a:r>
              <a:rPr lang="en-US" altLang="zh-CN" sz="1800" dirty="0">
                <a:latin typeface="宋体" panose="02010600030101010101" pitchFamily="2" charset="-122"/>
              </a:rPr>
              <a:t>进程间通信(共享内存、消息队列、管道、IPC对象</a:t>
            </a:r>
            <a:r>
              <a:rPr lang="zh-CN" altLang="en-US" sz="1800" dirty="0">
                <a:latin typeface="宋体" panose="02010600030101010101" pitchFamily="2" charset="-122"/>
              </a:rPr>
              <a:t>、信号</a:t>
            </a:r>
            <a:r>
              <a:rPr lang="en-US" altLang="zh-CN" sz="1800" dirty="0">
                <a:latin typeface="宋体" panose="02010600030101010101" pitchFamily="2" charset="-122"/>
              </a:rPr>
              <a:t>)</a:t>
            </a:r>
            <a:endParaRPr lang="en-US" altLang="zh-CN" sz="1800" dirty="0">
              <a:solidFill>
                <a:srgbClr val="FF3300"/>
              </a:solidFill>
              <a:latin typeface="宋体" panose="02010600030101010101" pitchFamily="2" charset="-122"/>
            </a:endParaRPr>
          </a:p>
          <a:p>
            <a:pPr lvl="0" indent="-342900">
              <a:lnSpc>
                <a:spcPct val="140000"/>
              </a:lnSpc>
              <a:spcBef>
                <a:spcPct val="0"/>
              </a:spcBef>
              <a:spcAft>
                <a:spcPct val="0"/>
              </a:spcAft>
            </a:pPr>
            <a:r>
              <a:rPr lang="zh-CN" altLang="en-US" sz="1800" dirty="0">
                <a:latin typeface="宋体" panose="02010600030101010101" pitchFamily="2" charset="-122"/>
              </a:rPr>
              <a:t>  </a:t>
            </a:r>
            <a:endParaRPr lang="zh-CN" altLang="en-US" sz="1800" dirty="0">
              <a:latin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9728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课程目标</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80000"/>
              </a:lnSpc>
            </a:pPr>
            <a:r>
              <a:rPr lang="zh-CN" altLang="en-US" sz="2000">
                <a:ea typeface="微软雅黑" panose="020B0503020204020204" pitchFamily="2" charset="-122"/>
                <a:sym typeface="Symbol" panose="05050102010706020507" charset="2"/>
              </a:rPr>
              <a:t>每个用户进程有自己的地址空间</a:t>
            </a:r>
            <a:endParaRPr lang="zh-CN" altLang="en-US" sz="2000">
              <a:ea typeface="微软雅黑" panose="020B0503020204020204" pitchFamily="2" charset="-122"/>
              <a:sym typeface="Symbol" panose="05050102010706020507" charset="2"/>
            </a:endParaRPr>
          </a:p>
          <a:p>
            <a:pPr lvl="0" indent="-342900">
              <a:lnSpc>
                <a:spcPct val="80000"/>
              </a:lnSpc>
            </a:pPr>
            <a:endParaRPr lang="zh-CN" altLang="en-US" sz="2000">
              <a:sym typeface="Symbol" panose="05050102010706020507" charset="2"/>
            </a:endParaRPr>
          </a:p>
          <a:p>
            <a:pPr lvl="0" indent="-342900">
              <a:lnSpc>
                <a:spcPct val="80000"/>
              </a:lnSpc>
            </a:pPr>
            <a:r>
              <a:rPr lang="zh-CN" altLang="en-US" sz="2000">
                <a:sym typeface="Symbol" panose="05050102010706020507" charset="2"/>
              </a:rPr>
              <a:t>系统为每个用户进程创建一个</a:t>
            </a:r>
            <a:r>
              <a:rPr lang="en-US" altLang="zh-CN" sz="2000">
                <a:sym typeface="Symbol" panose="05050102010706020507" charset="2"/>
              </a:rPr>
              <a:t>task</a:t>
            </a:r>
            <a:r>
              <a:rPr lang="en-US" altLang="zh-CN" sz="2000">
                <a:latin typeface="宋体" panose="02010600030101010101" pitchFamily="2" charset="-122"/>
                <a:sym typeface="Symbol" panose="05050102010706020507" charset="2"/>
              </a:rPr>
              <a:t>_</a:t>
            </a:r>
            <a:r>
              <a:rPr lang="en-US" altLang="zh-CN" sz="2000">
                <a:sym typeface="Symbol" panose="05050102010706020507" charset="2"/>
              </a:rPr>
              <a:t>struct</a:t>
            </a:r>
            <a:r>
              <a:rPr lang="zh-CN" altLang="en-US" sz="2000">
                <a:sym typeface="Symbol" panose="05050102010706020507" charset="2"/>
              </a:rPr>
              <a:t>来描述该进程</a:t>
            </a:r>
            <a:endParaRPr lang="zh-CN" altLang="en-US" sz="2000">
              <a:sym typeface="Symbol" panose="05050102010706020507" charset="2"/>
            </a:endParaRPr>
          </a:p>
          <a:p>
            <a:pPr marL="914400" lvl="2" indent="0">
              <a:lnSpc>
                <a:spcPct val="80000"/>
              </a:lnSpc>
              <a:buFont typeface="Wingdings" panose="05000000000000000000" pitchFamily="2" charset="2"/>
              <a:buNone/>
            </a:pPr>
            <a:r>
              <a:rPr lang="zh-CN" altLang="en-US" sz="2000">
                <a:sym typeface="Symbol" panose="05050102010706020507" charset="2"/>
              </a:rPr>
              <a:t>该结构体中包含了一个指针指向该进</a:t>
            </a:r>
            <a:endParaRPr lang="zh-CN" altLang="en-US" sz="2000">
              <a:sym typeface="Symbol" panose="05050102010706020507" charset="2"/>
            </a:endParaRPr>
          </a:p>
          <a:p>
            <a:pPr marL="914400" lvl="2" indent="0">
              <a:lnSpc>
                <a:spcPct val="80000"/>
              </a:lnSpc>
              <a:buFont typeface="Wingdings" panose="05000000000000000000" pitchFamily="2" charset="2"/>
              <a:buNone/>
            </a:pPr>
            <a:r>
              <a:rPr lang="zh-CN" altLang="en-US" sz="2000">
                <a:sym typeface="Symbol" panose="05050102010706020507" charset="2"/>
              </a:rPr>
              <a:t>程的虚拟地址空间映射表</a:t>
            </a:r>
            <a:endParaRPr lang="zh-CN" altLang="en-US" sz="2000">
              <a:solidFill>
                <a:srgbClr val="FF0000"/>
              </a:solidFill>
              <a:sym typeface="Symbol" panose="05050102010706020507" charset="2"/>
            </a:endParaRPr>
          </a:p>
          <a:p>
            <a:pPr lvl="0" indent="-342900">
              <a:lnSpc>
                <a:spcPct val="80000"/>
              </a:lnSpc>
            </a:pPr>
            <a:r>
              <a:rPr lang="zh-CN" altLang="en-US" sz="2000">
                <a:sym typeface="Symbol" panose="05050102010706020507" charset="2"/>
              </a:rPr>
              <a:t>实际上</a:t>
            </a:r>
            <a:r>
              <a:rPr lang="en-US" altLang="zh-CN" sz="2000">
                <a:sym typeface="Symbol" panose="05050102010706020507" charset="2"/>
              </a:rPr>
              <a:t>task</a:t>
            </a:r>
            <a:r>
              <a:rPr lang="en-US" altLang="zh-CN" sz="2000">
                <a:latin typeface="宋体" panose="02010600030101010101" pitchFamily="2" charset="-122"/>
                <a:sym typeface="Symbol" panose="05050102010706020507" charset="2"/>
              </a:rPr>
              <a:t>_</a:t>
            </a:r>
            <a:r>
              <a:rPr lang="en-US" altLang="zh-CN" sz="2000">
                <a:sym typeface="Symbol" panose="05050102010706020507" charset="2"/>
              </a:rPr>
              <a:t>struct </a:t>
            </a:r>
            <a:r>
              <a:rPr lang="zh-CN" altLang="en-US" sz="2000">
                <a:sym typeface="Symbol" panose="05050102010706020507" charset="2"/>
              </a:rPr>
              <a:t>和地址空间映射表一起用来表示一个进程</a:t>
            </a:r>
            <a:endParaRPr lang="zh-CN" altLang="en-US" sz="2000">
              <a:sym typeface="Symbol" panose="05050102010706020507" charset="2"/>
            </a:endParaRPr>
          </a:p>
          <a:p>
            <a:pPr lvl="0" indent="-342900">
              <a:lnSpc>
                <a:spcPct val="80000"/>
              </a:lnSpc>
            </a:pPr>
            <a:endParaRPr lang="zh-CN" altLang="en-US" sz="2000">
              <a:sym typeface="Symbol" panose="05050102010706020507" charset="2"/>
            </a:endParaRPr>
          </a:p>
          <a:p>
            <a:pPr lvl="0" indent="-342900">
              <a:lnSpc>
                <a:spcPct val="80000"/>
              </a:lnSpc>
              <a:buFont typeface="Wingdings 3" panose="05040102010807070707" pitchFamily="2" charset="2"/>
              <a:buNone/>
            </a:pPr>
            <a:r>
              <a:rPr lang="zh-CN" altLang="en-US" sz="2000"/>
              <a:t>由于进程的地址空间是私有的，因此在进程间上下文切换时，系统开销比较大</a:t>
            </a:r>
            <a:endParaRPr lang="zh-CN" altLang="en-US" sz="2000"/>
          </a:p>
          <a:p>
            <a:pPr lvl="0" indent="-342900">
              <a:lnSpc>
                <a:spcPct val="80000"/>
              </a:lnSpc>
              <a:buFont typeface="Wingdings 3" panose="05040102010807070707" pitchFamily="2" charset="2"/>
              <a:buNone/>
            </a:pPr>
            <a:r>
              <a:rPr lang="zh-CN" altLang="en-US" sz="2000"/>
              <a:t>为了提高系统的性能，许多操作系统规范里引入了轻量级进程的概念，也被称为线程</a:t>
            </a:r>
            <a:endParaRPr lang="zh-CN" altLang="en-US" sz="2000"/>
          </a:p>
          <a:p>
            <a:pPr lvl="0" indent="-342900">
              <a:lnSpc>
                <a:spcPct val="80000"/>
              </a:lnSpc>
              <a:buFont typeface="Wingdings 3" panose="05040102010807070707" pitchFamily="2" charset="2"/>
              <a:buNone/>
            </a:pPr>
            <a:r>
              <a:rPr lang="zh-CN" altLang="en-US" sz="2000"/>
              <a:t>通常线程指的是共享进程地址空间的多个任务</a:t>
            </a:r>
            <a:endParaRPr lang="zh-CN" altLang="en-US" sz="2000"/>
          </a:p>
          <a:p>
            <a:pPr lvl="0" indent="-342900">
              <a:lnSpc>
                <a:spcPct val="80000"/>
              </a:lnSpc>
              <a:buFont typeface="Wingdings 3" panose="05040102010807070707" pitchFamily="2" charset="2"/>
              <a:buNone/>
            </a:pPr>
            <a:endParaRPr lang="zh-CN" altLang="en-US" sz="2000">
              <a:sym typeface="Symbol" panose="05050102010706020507" charset="2"/>
            </a:endParaRPr>
          </a:p>
          <a:p>
            <a:pPr lvl="0" indent="-342900" algn="just">
              <a:lnSpc>
                <a:spcPct val="90000"/>
              </a:lnSpc>
            </a:pPr>
            <a:endParaRPr lang="zh-CN" altLang="en-US" sz="2000" dirty="0"/>
          </a:p>
          <a:p>
            <a:pPr lvl="0" indent="-342900">
              <a:lnSpc>
                <a:spcPct val="130000"/>
              </a:lnSpc>
            </a:pPr>
            <a:endParaRPr lang="zh-CN" altLang="en-US" sz="20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9830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80000"/>
              </a:lnSpc>
            </a:pPr>
            <a:r>
              <a:rPr lang="zh-CN" altLang="en-US" sz="2000"/>
              <a:t>通常线程指的是共享相同地址空间的多个任务</a:t>
            </a:r>
            <a:endParaRPr lang="zh-CN" altLang="en-US" sz="2000"/>
          </a:p>
          <a:p>
            <a:pPr lvl="0" indent="-342900">
              <a:lnSpc>
                <a:spcPct val="80000"/>
              </a:lnSpc>
            </a:pPr>
            <a:endParaRPr lang="zh-CN" altLang="en-US" sz="2000" dirty="0"/>
          </a:p>
          <a:p>
            <a:pPr lvl="0" indent="-342900">
              <a:lnSpc>
                <a:spcPct val="80000"/>
              </a:lnSpc>
            </a:pPr>
            <a:r>
              <a:rPr lang="zh-CN" altLang="en-US" sz="2000">
                <a:sym typeface="宋体" panose="02010600030101010101" pitchFamily="2" charset="-122"/>
              </a:rPr>
              <a:t>多线程通过第三方的线程库来实现</a:t>
            </a:r>
            <a:endParaRPr lang="zh-CN" altLang="en-US" sz="2400" dirty="0">
              <a:sym typeface="宋体" panose="02010600030101010101" pitchFamily="2" charset="-122"/>
            </a:endParaRPr>
          </a:p>
          <a:p>
            <a:pPr lvl="0" indent="-342900">
              <a:lnSpc>
                <a:spcPct val="80000"/>
              </a:lnSpc>
            </a:pPr>
            <a:endParaRPr lang="zh-CN" altLang="en-US" sz="2000" dirty="0">
              <a:sym typeface="宋体" panose="02010600030101010101" pitchFamily="2" charset="-122"/>
            </a:endParaRPr>
          </a:p>
          <a:p>
            <a:pPr lvl="0" indent="-342900">
              <a:lnSpc>
                <a:spcPct val="80000"/>
              </a:lnSpc>
            </a:pPr>
            <a:r>
              <a:rPr lang="zh-CN" altLang="en-US" sz="2000"/>
              <a:t>使用多线程的好处</a:t>
            </a:r>
            <a:endParaRPr lang="zh-CN" altLang="en-US" sz="2000"/>
          </a:p>
          <a:p>
            <a:pPr lvl="1" indent="-285750">
              <a:lnSpc>
                <a:spcPct val="150000"/>
              </a:lnSpc>
            </a:pPr>
            <a:r>
              <a:rPr lang="zh-CN" altLang="en-US" sz="2000"/>
              <a:t>   大大提高了任务切换的效率</a:t>
            </a:r>
            <a:endParaRPr lang="zh-CN" altLang="en-US" sz="2000"/>
          </a:p>
          <a:p>
            <a:pPr lvl="1" indent="-285750">
              <a:lnSpc>
                <a:spcPct val="150000"/>
              </a:lnSpc>
            </a:pPr>
            <a:r>
              <a:rPr lang="zh-CN" altLang="en-US" sz="2000"/>
              <a:t>   避免了额外的</a:t>
            </a:r>
            <a:r>
              <a:rPr lang="en-US" altLang="zh-CN" sz="2000"/>
              <a:t>TLB &amp; cache</a:t>
            </a:r>
            <a:r>
              <a:rPr lang="zh-CN" altLang="en-US" sz="2000"/>
              <a:t>的刷新</a:t>
            </a:r>
            <a:endParaRPr lang="zh-CN" altLang="en-US" sz="2000">
              <a:sym typeface="Symbol" panose="05050102010706020507" charset="2"/>
            </a:endParaRPr>
          </a:p>
          <a:p>
            <a:pPr lvl="0" indent="-342900" algn="just">
              <a:lnSpc>
                <a:spcPct val="90000"/>
              </a:lnSpc>
            </a:pPr>
            <a:endParaRPr lang="zh-CN" altLang="en-US" sz="2000" dirty="0"/>
          </a:p>
          <a:p>
            <a:pPr lvl="0" indent="-342900">
              <a:lnSpc>
                <a:spcPct val="130000"/>
              </a:lnSpc>
            </a:pPr>
            <a:endParaRPr lang="zh-CN" altLang="en-US" sz="20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9933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2000" dirty="0"/>
              <a:t>一个进程中的多个线程共享以下资源</a:t>
            </a:r>
            <a:endParaRPr lang="zh-CN" altLang="en-US" sz="2000" dirty="0"/>
          </a:p>
          <a:p>
            <a:pPr lvl="1" indent="-285750">
              <a:lnSpc>
                <a:spcPct val="150000"/>
              </a:lnSpc>
            </a:pPr>
            <a:r>
              <a:rPr lang="zh-CN" altLang="en-US" sz="1600" dirty="0"/>
              <a:t>可执行的指令</a:t>
            </a:r>
            <a:endParaRPr lang="zh-CN" altLang="en-US" sz="1600" dirty="0"/>
          </a:p>
          <a:p>
            <a:pPr lvl="1" indent="-285750">
              <a:lnSpc>
                <a:spcPct val="150000"/>
              </a:lnSpc>
            </a:pPr>
            <a:r>
              <a:rPr lang="zh-CN" altLang="en-US" sz="1600" dirty="0"/>
              <a:t>静态数据</a:t>
            </a:r>
            <a:endParaRPr lang="zh-CN" altLang="en-US" sz="1600" dirty="0"/>
          </a:p>
          <a:p>
            <a:pPr lvl="1" indent="-285750">
              <a:lnSpc>
                <a:spcPct val="150000"/>
              </a:lnSpc>
            </a:pPr>
            <a:r>
              <a:rPr lang="zh-CN" altLang="en-US" sz="1600" dirty="0"/>
              <a:t>进程中打开的文件描述符</a:t>
            </a:r>
            <a:endParaRPr lang="zh-CN" altLang="en-US" sz="1600" dirty="0"/>
          </a:p>
          <a:p>
            <a:pPr lvl="1" indent="-285750">
              <a:lnSpc>
                <a:spcPct val="150000"/>
              </a:lnSpc>
            </a:pPr>
            <a:r>
              <a:rPr lang="zh-CN" altLang="en-US" sz="1600" dirty="0"/>
              <a:t>信号处理函数</a:t>
            </a:r>
            <a:endParaRPr lang="zh-CN" altLang="en-US" sz="1600" dirty="0"/>
          </a:p>
          <a:p>
            <a:pPr lvl="1" indent="-285750">
              <a:lnSpc>
                <a:spcPct val="150000"/>
              </a:lnSpc>
            </a:pPr>
            <a:r>
              <a:rPr lang="zh-CN" altLang="en-US" sz="1600" dirty="0"/>
              <a:t>当前工作目录</a:t>
            </a:r>
            <a:endParaRPr lang="zh-CN" altLang="en-US" sz="1600" dirty="0"/>
          </a:p>
          <a:p>
            <a:pPr lvl="1" indent="-285750">
              <a:lnSpc>
                <a:spcPct val="150000"/>
              </a:lnSpc>
            </a:pPr>
            <a:r>
              <a:rPr lang="zh-CN" altLang="en-US" sz="1600" dirty="0"/>
              <a:t>用户</a:t>
            </a:r>
            <a:r>
              <a:rPr lang="en-US" altLang="zh-CN" sz="1600" dirty="0"/>
              <a:t>ID</a:t>
            </a:r>
            <a:endParaRPr lang="en-US" altLang="zh-CN" sz="1600" dirty="0"/>
          </a:p>
          <a:p>
            <a:pPr lvl="1" indent="-285750">
              <a:lnSpc>
                <a:spcPct val="150000"/>
              </a:lnSpc>
            </a:pPr>
            <a:r>
              <a:rPr lang="zh-CN" altLang="en-US" sz="1600" dirty="0"/>
              <a:t>用户组</a:t>
            </a:r>
            <a:r>
              <a:rPr lang="en-US" altLang="zh-CN" sz="1600" dirty="0"/>
              <a:t>ID</a:t>
            </a:r>
            <a:endParaRPr lang="en-US" altLang="zh-CN" sz="1600" dirty="0"/>
          </a:p>
          <a:p>
            <a:pPr lvl="0" indent="-342900">
              <a:lnSpc>
                <a:spcPct val="130000"/>
              </a:lnSpc>
            </a:pPr>
            <a:endParaRPr lang="zh-CN" altLang="en-US" sz="20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0035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2000" dirty="0"/>
              <a:t>每个线程私有的资源如下</a:t>
            </a:r>
            <a:endParaRPr lang="zh-CN" altLang="en-US" sz="2000" dirty="0"/>
          </a:p>
          <a:p>
            <a:pPr marL="457200" lvl="1" indent="0">
              <a:lnSpc>
                <a:spcPct val="150000"/>
              </a:lnSpc>
              <a:buNone/>
            </a:pPr>
            <a:r>
              <a:rPr lang="zh-CN" altLang="en-US" sz="1600" dirty="0"/>
              <a:t>线程</a:t>
            </a:r>
            <a:r>
              <a:rPr lang="en-US" altLang="zh-CN" sz="1600" dirty="0"/>
              <a:t>ID (TID)</a:t>
            </a:r>
            <a:endParaRPr lang="en-US" altLang="zh-CN" sz="1600" dirty="0"/>
          </a:p>
          <a:p>
            <a:pPr marL="457200" lvl="1" indent="0">
              <a:lnSpc>
                <a:spcPct val="150000"/>
              </a:lnSpc>
              <a:buNone/>
            </a:pPr>
            <a:r>
              <a:rPr lang="en-US" altLang="zh-CN" sz="1600" dirty="0"/>
              <a:t>PC(</a:t>
            </a:r>
            <a:r>
              <a:rPr lang="zh-CN" altLang="en-US" sz="1600" dirty="0"/>
              <a:t>程序计数器</a:t>
            </a:r>
            <a:r>
              <a:rPr lang="en-US" altLang="zh-CN" sz="1600" dirty="0"/>
              <a:t>)</a:t>
            </a:r>
            <a:r>
              <a:rPr lang="zh-CN" altLang="en-US" sz="1600" dirty="0"/>
              <a:t>和相关寄存器</a:t>
            </a:r>
            <a:endParaRPr lang="zh-CN" altLang="en-US" sz="1600" dirty="0"/>
          </a:p>
          <a:p>
            <a:pPr marL="457200" lvl="1" indent="0">
              <a:lnSpc>
                <a:spcPct val="150000"/>
              </a:lnSpc>
              <a:buNone/>
            </a:pPr>
            <a:r>
              <a:rPr lang="zh-CN" altLang="en-US" sz="1600" dirty="0"/>
              <a:t>堆栈</a:t>
            </a:r>
            <a:endParaRPr lang="zh-CN" altLang="en-US" sz="1600" dirty="0"/>
          </a:p>
          <a:p>
            <a:pPr lvl="2" indent="-228600">
              <a:lnSpc>
                <a:spcPct val="150000"/>
              </a:lnSpc>
            </a:pPr>
            <a:r>
              <a:rPr lang="zh-CN" altLang="en-US" sz="1600" dirty="0"/>
              <a:t>局部变量</a:t>
            </a:r>
            <a:endParaRPr lang="zh-CN" altLang="en-US" sz="1600" dirty="0"/>
          </a:p>
          <a:p>
            <a:pPr lvl="2" indent="-228600">
              <a:lnSpc>
                <a:spcPct val="150000"/>
              </a:lnSpc>
            </a:pPr>
            <a:r>
              <a:rPr lang="zh-CN" altLang="en-US" sz="1600" dirty="0"/>
              <a:t>返回地址</a:t>
            </a:r>
            <a:endParaRPr lang="zh-CN" altLang="en-US" sz="1600" dirty="0"/>
          </a:p>
          <a:p>
            <a:pPr marL="457200" lvl="1" indent="0">
              <a:lnSpc>
                <a:spcPct val="150000"/>
              </a:lnSpc>
              <a:buNone/>
            </a:pPr>
            <a:r>
              <a:rPr lang="zh-CN" altLang="en-US" sz="1600" dirty="0"/>
              <a:t>错误号 </a:t>
            </a:r>
            <a:r>
              <a:rPr lang="en-US" altLang="zh-CN" sz="1600" dirty="0"/>
              <a:t>(</a:t>
            </a:r>
            <a:r>
              <a:rPr lang="en-US" altLang="zh-CN" sz="1600" dirty="0" err="1"/>
              <a:t>errno</a:t>
            </a:r>
            <a:r>
              <a:rPr lang="en-US" altLang="zh-CN" sz="1600" dirty="0"/>
              <a:t>)</a:t>
            </a:r>
            <a:endParaRPr lang="en-US" altLang="zh-CN" sz="1600" dirty="0"/>
          </a:p>
          <a:p>
            <a:pPr marL="457200" lvl="1" indent="0">
              <a:lnSpc>
                <a:spcPct val="150000"/>
              </a:lnSpc>
              <a:buNone/>
            </a:pPr>
            <a:r>
              <a:rPr lang="zh-CN" altLang="en-US" sz="1600" dirty="0"/>
              <a:t>信号掩码和优先级</a:t>
            </a:r>
            <a:endParaRPr lang="zh-CN" altLang="en-US" sz="1600" dirty="0"/>
          </a:p>
          <a:p>
            <a:pPr marL="457200" lvl="1" indent="0">
              <a:lnSpc>
                <a:spcPct val="150000"/>
              </a:lnSpc>
              <a:buNone/>
            </a:pPr>
            <a:r>
              <a:rPr lang="zh-CN" altLang="en-US" sz="1600" dirty="0"/>
              <a:t>执行状态和属性</a:t>
            </a:r>
            <a:endParaRPr lang="zh-CN" altLang="en-US" sz="2000" dirty="0"/>
          </a:p>
          <a:p>
            <a:pPr lvl="0" indent="-342900">
              <a:lnSpc>
                <a:spcPct val="130000"/>
              </a:lnSpc>
            </a:pPr>
            <a:endParaRPr lang="zh-CN" altLang="en-US" sz="20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0137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lvl="0" indent="-342900" fontAlgn="base">
              <a:lnSpc>
                <a:spcPct val="130000"/>
              </a:lnSpc>
            </a:pPr>
            <a:r>
              <a:rPr lang="zh-CN" altLang="en-US" sz="1400" strike="noStrike" noProof="1">
                <a:sym typeface="+mn-ea"/>
              </a:rPr>
              <a:t>线程库中提供了如下基本操作</a:t>
            </a:r>
            <a:endParaRPr lang="zh-CN" altLang="en-US" sz="1400" strike="noStrike" noProof="1"/>
          </a:p>
          <a:p>
            <a:pPr marL="457200" lvl="1" indent="0" fontAlgn="base">
              <a:lnSpc>
                <a:spcPct val="150000"/>
              </a:lnSpc>
              <a:buNone/>
            </a:pPr>
            <a:r>
              <a:rPr lang="zh-CN" altLang="en-US" sz="1400" strike="noStrike" noProof="1">
                <a:sym typeface="+mn-ea"/>
              </a:rPr>
              <a:t>创建线程</a:t>
            </a:r>
            <a:endParaRPr lang="zh-CN" altLang="en-US" sz="1400" strike="noStrike" noProof="1"/>
          </a:p>
          <a:p>
            <a:pPr marL="457200" lvl="1" indent="0" fontAlgn="base">
              <a:lnSpc>
                <a:spcPct val="150000"/>
              </a:lnSpc>
              <a:buNone/>
            </a:pPr>
            <a:r>
              <a:rPr lang="zh-CN" altLang="en-US" sz="1400" strike="noStrike" noProof="1">
                <a:sym typeface="+mn-ea"/>
              </a:rPr>
              <a:t>删除线程</a:t>
            </a:r>
            <a:endParaRPr lang="zh-CN" altLang="en-US" sz="1400" strike="noStrike" noProof="1"/>
          </a:p>
          <a:p>
            <a:pPr marL="457200" lvl="1" indent="0" fontAlgn="base">
              <a:lnSpc>
                <a:spcPct val="150000"/>
              </a:lnSpc>
              <a:buNone/>
            </a:pPr>
            <a:r>
              <a:rPr lang="zh-CN" altLang="en-US" sz="1400" strike="noStrike" noProof="1">
                <a:sym typeface="+mn-ea"/>
              </a:rPr>
              <a:t>控制线程</a:t>
            </a:r>
            <a:endParaRPr lang="zh-CN" altLang="en-US" sz="1400" strike="noStrike" noProof="1"/>
          </a:p>
          <a:p>
            <a:pPr fontAlgn="base">
              <a:lnSpc>
                <a:spcPct val="150000"/>
              </a:lnSpc>
            </a:pPr>
            <a:r>
              <a:rPr lang="zh-CN" altLang="en-US" sz="1400" strike="noStrike" noProof="1">
                <a:sym typeface="+mn-ea"/>
              </a:rPr>
              <a:t>线程间同步和互斥机制</a:t>
            </a:r>
            <a:endParaRPr lang="zh-CN" altLang="en-US" sz="1400" strike="noStrike" noProof="1"/>
          </a:p>
          <a:p>
            <a:pPr marL="457200" lvl="1" indent="0" fontAlgn="base">
              <a:lnSpc>
                <a:spcPct val="150000"/>
              </a:lnSpc>
              <a:buNone/>
            </a:pPr>
            <a:r>
              <a:rPr lang="zh-CN" altLang="en-US" sz="1400" strike="noStrike" noProof="1">
                <a:sym typeface="+mn-ea"/>
              </a:rPr>
              <a:t>信号量</a:t>
            </a:r>
            <a:endParaRPr lang="zh-CN" altLang="en-US" sz="1400" strike="noStrike" noProof="1"/>
          </a:p>
          <a:p>
            <a:pPr marL="457200" lvl="1" indent="0" fontAlgn="base">
              <a:lnSpc>
                <a:spcPct val="150000"/>
              </a:lnSpc>
              <a:buNone/>
            </a:pPr>
            <a:r>
              <a:rPr lang="zh-CN" altLang="en-US" sz="1400" strike="noStrike" noProof="1">
                <a:sym typeface="+mn-ea"/>
              </a:rPr>
              <a:t>互斥锁</a:t>
            </a:r>
            <a:endParaRPr lang="zh-CN" altLang="en-US" sz="1400" strike="noStrike" noProof="1"/>
          </a:p>
          <a:p>
            <a:pPr marL="457200" lvl="1" indent="0" fontAlgn="base">
              <a:lnSpc>
                <a:spcPct val="150000"/>
              </a:lnSpc>
              <a:buNone/>
            </a:pPr>
            <a:r>
              <a:rPr lang="zh-CN" altLang="en-US" sz="1400" strike="noStrike" noProof="1">
                <a:sym typeface="+mn-ea"/>
              </a:rPr>
              <a:t>条件变量</a:t>
            </a:r>
            <a:endParaRPr lang="zh-CN" altLang="en-US" sz="1400" strike="noStrike" noProof="1"/>
          </a:p>
          <a:p>
            <a:pPr marL="0" indent="0" fontAlgn="base">
              <a:buFont typeface="Wingdings" panose="05000000000000000000" pitchFamily="2" charset="2"/>
              <a:buNone/>
            </a:pPr>
            <a:r>
              <a:rPr lang="zh-CN" altLang="en-US" sz="1600" strike="noStrike" noProof="1" dirty="0">
                <a:sym typeface="Symbol" panose="05050102010706020507" charset="2"/>
              </a:rPr>
              <a:t>  </a:t>
            </a:r>
            <a:r>
              <a:rPr lang="zh-CN" altLang="en-US" sz="1600" strike="noStrike" noProof="1" dirty="0">
                <a:solidFill>
                  <a:srgbClr val="FF0000"/>
                </a:solidFill>
                <a:sym typeface="Symbol" panose="05050102010706020507" charset="2"/>
              </a:rPr>
              <a:t>编译多线程程序    </a:t>
            </a:r>
            <a:endParaRPr lang="zh-CN" altLang="en-US" sz="1600" strike="noStrike" noProof="1" dirty="0">
              <a:solidFill>
                <a:srgbClr val="FF0000"/>
              </a:solidFill>
              <a:sym typeface="Symbol" panose="05050102010706020507" charset="2"/>
            </a:endParaRPr>
          </a:p>
          <a:p>
            <a:pPr fontAlgn="base">
              <a:buFont typeface="Wingdings" panose="05000000000000000000" pitchFamily="2" charset="2"/>
              <a:buNone/>
            </a:pPr>
            <a:r>
              <a:rPr lang="zh-CN" altLang="en-US" sz="1600" strike="noStrike" noProof="1" dirty="0">
                <a:solidFill>
                  <a:srgbClr val="FF0000"/>
                </a:solidFill>
                <a:sym typeface="Symbol" panose="05050102010706020507" charset="2"/>
              </a:rPr>
              <a:t>   </a:t>
            </a:r>
            <a:r>
              <a:rPr lang="en-US" altLang="zh-CN" sz="1600" strike="noStrike" noProof="1" dirty="0">
                <a:solidFill>
                  <a:srgbClr val="FF0000"/>
                </a:solidFill>
                <a:sym typeface="Symbol" panose="05050102010706020507" charset="2"/>
              </a:rPr>
              <a:t># </a:t>
            </a:r>
            <a:r>
              <a:rPr lang="en-US" altLang="zh-CN" sz="1600" strike="noStrike" noProof="1" dirty="0" err="1">
                <a:solidFill>
                  <a:srgbClr val="FF0000"/>
                </a:solidFill>
                <a:sym typeface="Symbol" panose="05050102010706020507" charset="2"/>
              </a:rPr>
              <a:t>gcc</a:t>
            </a:r>
            <a:r>
              <a:rPr lang="en-US" altLang="zh-CN" sz="1600" strike="noStrike" noProof="1" dirty="0">
                <a:solidFill>
                  <a:srgbClr val="FF0000"/>
                </a:solidFill>
                <a:sym typeface="Symbol" panose="05050102010706020507" charset="2"/>
              </a:rPr>
              <a:t>  -o  sample  </a:t>
            </a:r>
            <a:r>
              <a:rPr lang="en-US" altLang="zh-CN" sz="1600" strike="noStrike" noProof="1" dirty="0" err="1">
                <a:solidFill>
                  <a:srgbClr val="FF0000"/>
                </a:solidFill>
                <a:sym typeface="Symbol" panose="05050102010706020507" charset="2"/>
              </a:rPr>
              <a:t>sample.c</a:t>
            </a:r>
            <a:r>
              <a:rPr lang="en-US" altLang="zh-CN" sz="1600" strike="noStrike" noProof="1" dirty="0">
                <a:solidFill>
                  <a:srgbClr val="FF0000"/>
                </a:solidFill>
                <a:sym typeface="Symbol" panose="05050102010706020507" charset="2"/>
              </a:rPr>
              <a:t>  -</a:t>
            </a:r>
            <a:r>
              <a:rPr lang="en-US" altLang="zh-CN" sz="1600" strike="noStrike" noProof="1" dirty="0" err="1">
                <a:solidFill>
                  <a:srgbClr val="FF0000"/>
                </a:solidFill>
                <a:sym typeface="Symbol" panose="05050102010706020507" charset="2"/>
              </a:rPr>
              <a:t>lpthread</a:t>
            </a:r>
            <a:r>
              <a:rPr lang="en-US" altLang="zh-CN" sz="1600" strike="noStrike" noProof="1" dirty="0">
                <a:solidFill>
                  <a:srgbClr val="FF0000"/>
                </a:solidFill>
                <a:sym typeface="Symbol" panose="05050102010706020507" charset="2"/>
              </a:rPr>
              <a:t>  -D_REENTRANT</a:t>
            </a:r>
            <a:endParaRPr lang="en-US" altLang="zh-CN" sz="1600" strike="noStrike" noProof="1" dirty="0">
              <a:solidFill>
                <a:srgbClr val="FF0000"/>
              </a:solidFill>
              <a:sym typeface="Symbol" panose="05050102010706020507" charset="2"/>
            </a:endParaRPr>
          </a:p>
          <a:p>
            <a:pPr fontAlgn="base">
              <a:buFont typeface="Wingdings" panose="05000000000000000000" pitchFamily="2" charset="2"/>
              <a:buNone/>
            </a:pPr>
            <a:r>
              <a:rPr lang="en-US" altLang="zh-CN" sz="1600" strike="noStrike" noProof="1" dirty="0">
                <a:solidFill>
                  <a:srgbClr val="FF0000"/>
                </a:solidFill>
                <a:sym typeface="Symbol" panose="05050102010706020507" charset="2"/>
              </a:rPr>
              <a:t>    -</a:t>
            </a:r>
            <a:r>
              <a:rPr lang="en-US" altLang="zh-CN" sz="1600" strike="noStrike" noProof="1" dirty="0" err="1">
                <a:solidFill>
                  <a:srgbClr val="FF0000"/>
                </a:solidFill>
                <a:sym typeface="Symbol" panose="05050102010706020507" charset="2"/>
              </a:rPr>
              <a:t>lpthread</a:t>
            </a:r>
            <a:r>
              <a:rPr lang="en-US" altLang="zh-CN" sz="1600" strike="noStrike" noProof="1" dirty="0">
                <a:solidFill>
                  <a:srgbClr val="FF0000"/>
                </a:solidFill>
                <a:sym typeface="Symbol" panose="05050102010706020507" charset="2"/>
              </a:rPr>
              <a:t>  :  </a:t>
            </a:r>
            <a:r>
              <a:rPr lang="zh-CN" altLang="en-US" sz="1600" strike="noStrike" noProof="1" dirty="0">
                <a:solidFill>
                  <a:srgbClr val="FF0000"/>
                </a:solidFill>
                <a:sym typeface="Symbol" panose="05050102010706020507" charset="2"/>
              </a:rPr>
              <a:t>链接</a:t>
            </a:r>
            <a:r>
              <a:rPr lang="en-US" altLang="zh-CN" sz="1600" strike="noStrike" noProof="1" dirty="0" err="1">
                <a:solidFill>
                  <a:srgbClr val="FF0000"/>
                </a:solidFill>
                <a:sym typeface="Symbol" panose="05050102010706020507" charset="2"/>
              </a:rPr>
              <a:t>pthread</a:t>
            </a:r>
            <a:r>
              <a:rPr lang="zh-CN" altLang="en-US" sz="1600" strike="noStrike" noProof="1" dirty="0">
                <a:solidFill>
                  <a:srgbClr val="FF0000"/>
                </a:solidFill>
                <a:sym typeface="Symbol" panose="05050102010706020507" charset="2"/>
              </a:rPr>
              <a:t>库   </a:t>
            </a:r>
            <a:r>
              <a:rPr lang="en-US" altLang="zh-CN" sz="1600" strike="noStrike" noProof="1" dirty="0">
                <a:solidFill>
                  <a:srgbClr val="FF0000"/>
                </a:solidFill>
                <a:sym typeface="Symbol" panose="05050102010706020507" charset="2"/>
              </a:rPr>
              <a:t>-D_REENTRANT : </a:t>
            </a:r>
            <a:r>
              <a:rPr lang="zh-CN" altLang="en-US" sz="1600" strike="noStrike" noProof="1" dirty="0">
                <a:solidFill>
                  <a:srgbClr val="FF0000"/>
                </a:solidFill>
                <a:sym typeface="Symbol" panose="05050102010706020507" charset="2"/>
              </a:rPr>
              <a:t>生成可重入代码  </a:t>
            </a:r>
            <a:endParaRPr lang="zh-CN" altLang="en-US" sz="1600" strike="noStrike" noProof="1" dirty="0">
              <a:solidFill>
                <a:srgbClr val="FF0000"/>
              </a:solidFill>
              <a:sym typeface="Symbol" panose="05050102010706020507" charset="2"/>
            </a:endParaRPr>
          </a:p>
          <a:p>
            <a:pPr lvl="0" indent="-342900" fontAlgn="base">
              <a:lnSpc>
                <a:spcPct val="150000"/>
              </a:lnSpc>
            </a:pPr>
            <a:endParaRPr lang="zh-CN" altLang="en-US" sz="1600" strike="noStrike" noProof="1" dirty="0">
              <a:solidFill>
                <a:srgbClr val="FF0000"/>
              </a:solidFill>
              <a:sym typeface="Symbol" panose="05050102010706020507" charset="2"/>
            </a:endParaRPr>
          </a:p>
          <a:p>
            <a:pPr lvl="0" indent="-342900" fontAlgn="base">
              <a:lnSpc>
                <a:spcPct val="90000"/>
              </a:lnSpc>
              <a:spcBef>
                <a:spcPct val="0"/>
              </a:spcBef>
              <a:spcAft>
                <a:spcPct val="0"/>
              </a:spcAft>
            </a:pPr>
            <a:endParaRPr lang="zh-CN" altLang="en-US" sz="1600" strike="noStrike" noProof="1" dirty="0">
              <a:solidFill>
                <a:srgbClr val="FF0000"/>
              </a:solidFill>
              <a:latin typeface="宋体" panose="02010600030101010101" pitchFamily="2" charset="-122"/>
              <a:sym typeface="Symbol" panose="05050102010706020507" charset="2"/>
            </a:endParaRPr>
          </a:p>
        </p:txBody>
      </p:sp>
      <p:sp>
        <p:nvSpPr>
          <p:cNvPr id="10240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0342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110595" name="Group 3"/>
          <p:cNvGraphicFramePr>
            <a:graphicFrameLocks noGrp="1"/>
          </p:cNvGraphicFramePr>
          <p:nvPr/>
        </p:nvGraphicFramePr>
        <p:xfrm>
          <a:off x="757238" y="933450"/>
          <a:ext cx="7629525" cy="3833813"/>
        </p:xfrm>
        <a:graphic>
          <a:graphicData uri="http://schemas.openxmlformats.org/drawingml/2006/table">
            <a:tbl>
              <a:tblPr/>
              <a:tblGrid>
                <a:gridCol w="1624330"/>
                <a:gridCol w="6005195"/>
              </a:tblGrid>
              <a:tr h="36576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所需头文件</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#include &lt;pthread.h&gt;</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r>
              <a:tr h="91440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函数原型</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int  pthread_create(pthread_t *thread,  const pthread_attr_t  </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      *attr,  void * (* routine)(void *),  void *arg)</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r>
              <a:tr h="365760">
                <a:tc rowSpan="3">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函数参数</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rgbClr val="755992"/>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thread</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：创建的线程</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331470">
                <a:tc vMerge="1">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attr</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：指定线程的属性，</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NULL</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表示使用缺省属性</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755992">
                        <a:alpha val="20000"/>
                      </a:srgbClr>
                    </a:solidFill>
                  </a:tcPr>
                </a:tc>
              </a:tr>
              <a:tr h="612140">
                <a:tc vMerge="1">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routine</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：线程执行的函数</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arg: </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传递给线程执行的函数的参数</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365760">
                <a:tc rowSpan="2">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函数返回值</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755992"/>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成功：</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0</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lang="zh-CN" altLang="en-US" sz="1800" b="1" smtClean="0">
                          <a:ln>
                            <a:noFill/>
                          </a:ln>
                          <a:effectLst/>
                          <a:latin typeface="Times New Roman" panose="02020603050405020304" pitchFamily="2" charset="0"/>
                          <a:ea typeface="宋体" panose="02010600030101010101" pitchFamily="2" charset="-122"/>
                          <a:sym typeface="+mn-ea"/>
                        </a:rPr>
                        <a:t>出错：</a:t>
                      </a:r>
                      <a:r>
                        <a:rPr lang="en-US" altLang="zh-CN" sz="1800" b="1" smtClean="0">
                          <a:ln>
                            <a:noFill/>
                          </a:ln>
                          <a:effectLst/>
                          <a:latin typeface="Times New Roman" panose="02020603050405020304" pitchFamily="2" charset="0"/>
                          <a:ea typeface="宋体" panose="02010600030101010101" pitchFamily="2" charset="-122"/>
                          <a:sym typeface="+mn-ea"/>
                        </a:rPr>
                        <a:t>-1</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sym typeface="+mn-ea"/>
                      </a:endParaRPr>
                    </a:p>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rgbClr val="755992"/>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755992"/>
                      </a:solidFill>
                      <a:prstDash val="solid"/>
                      <a:round/>
                      <a:headEnd type="none" w="med" len="med"/>
                      <a:tailEnd type="none" w="med" len="med"/>
                    </a:lnB>
                    <a:lnTlToBr>
                      <a:noFill/>
                    </a:lnTlToBr>
                    <a:lnBlToTr>
                      <a:noFill/>
                    </a:lnBlToTr>
                    <a:solidFill>
                      <a:srgbClr val="755992">
                        <a:alpha val="20000"/>
                      </a:srgbClr>
                    </a:solidFill>
                  </a:tcPr>
                </a:tc>
              </a:tr>
              <a:tr h="541655">
                <a:tc vMerge="1">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90000"/>
              </a:lnSpc>
            </a:pPr>
            <a:endParaRPr lang="zh-CN" altLang="en-US" sz="2000" dirty="0"/>
          </a:p>
          <a:p>
            <a:pPr lvl="0" indent="-342900">
              <a:lnSpc>
                <a:spcPct val="130000"/>
              </a:lnSpc>
            </a:pPr>
            <a:endParaRPr lang="zh-CN" altLang="en-US" sz="20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0445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等待线程退出</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2" name="Group 3"/>
          <p:cNvGraphicFramePr>
            <a:graphicFrameLocks noGrp="1"/>
          </p:cNvGraphicFramePr>
          <p:nvPr/>
        </p:nvGraphicFramePr>
        <p:xfrm>
          <a:off x="355600" y="933450"/>
          <a:ext cx="7859713" cy="3398838"/>
        </p:xfrm>
        <a:graphic>
          <a:graphicData uri="http://schemas.openxmlformats.org/drawingml/2006/table">
            <a:tbl>
              <a:tblPr/>
              <a:tblGrid>
                <a:gridCol w="1439545"/>
                <a:gridCol w="6419850"/>
              </a:tblGrid>
              <a:tr h="640080">
                <a:tc>
                  <a:txBody>
                    <a:bodyPr/>
                    <a:lstStyle/>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所需头文件</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c>
                  <a:txBody>
                    <a:bodyPr/>
                    <a:lstStyle/>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#include &lt;pthread.h&gt;</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r>
              <a:tr h="494665">
                <a:tc>
                  <a:txBody>
                    <a:bodyPr/>
                    <a:lstStyle/>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函数原型</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c>
                  <a:txBody>
                    <a:bodyPr/>
                    <a:lstStyle/>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int  pthread_join(pthread_t thread,  void **value_ptr) </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r>
              <a:tr h="365760">
                <a:tc rowSpan="3">
                  <a:txBody>
                    <a:bodyPr/>
                    <a:lstStyle/>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函数参数</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rgbClr val="755992"/>
                      </a:solidFill>
                      <a:prstDash val="solid"/>
                      <a:round/>
                      <a:headEnd type="none" w="med" len="med"/>
                      <a:tailEnd type="none" w="med" len="med"/>
                    </a:lnB>
                    <a:lnTlToBr>
                      <a:noFill/>
                    </a:lnTlToBr>
                    <a:lnBlToTr>
                      <a:noFill/>
                    </a:lnBlToTr>
                    <a:noFill/>
                  </a:tcPr>
                </a:tc>
                <a:tc>
                  <a:txBody>
                    <a:bodyPr/>
                    <a:lstStyle/>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thread</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：要等待的线程</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488315">
                <a:tc vMerge="1">
                  <a:tcPr/>
                </a:tc>
                <a:tc>
                  <a:txBody>
                    <a:bodyPr/>
                    <a:lstStyle/>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value_ptr</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：指针*</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value_ptr</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指向线程返回的参数</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755992">
                        <a:alpha val="20000"/>
                      </a:srgbClr>
                    </a:solidFill>
                  </a:tcPr>
                </a:tc>
              </a:tr>
              <a:tr h="365760">
                <a:tc vMerge="1">
                  <a:tcPr/>
                </a:tc>
                <a:tc>
                  <a:txBody>
                    <a:bodyPr/>
                    <a:lstStyle/>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endParaRPr kumimoji="0" lang="zh-CN"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412750">
                <a:tc rowSpan="2">
                  <a:txBody>
                    <a:bodyPr/>
                    <a:lstStyle/>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函数返回值</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755992"/>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成功：</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rgbClr val="755992"/>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755992"/>
                      </a:solidFill>
                      <a:prstDash val="solid"/>
                      <a:round/>
                      <a:headEnd type="none" w="med" len="med"/>
                      <a:tailEnd type="none" w="med" len="med"/>
                    </a:lnB>
                    <a:lnTlToBr>
                      <a:noFill/>
                    </a:lnTlToBr>
                    <a:lnBlToTr>
                      <a:noFill/>
                    </a:lnBlToTr>
                    <a:solidFill>
                      <a:srgbClr val="755992">
                        <a:alpha val="20000"/>
                      </a:srgbClr>
                    </a:solidFill>
                  </a:tcPr>
                </a:tc>
              </a:tr>
              <a:tr h="631190">
                <a:tc vMerge="1">
                  <a:tcPr/>
                </a:tc>
                <a:tc>
                  <a:txBody>
                    <a:bodyPr/>
                    <a:lstStyle/>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出错：</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90000"/>
              </a:lnSpc>
            </a:pPr>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0547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线程退出</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114691" name="Group 3"/>
          <p:cNvGraphicFramePr>
            <a:graphicFrameLocks noGrp="1"/>
          </p:cNvGraphicFramePr>
          <p:nvPr/>
        </p:nvGraphicFramePr>
        <p:xfrm>
          <a:off x="611188" y="1341438"/>
          <a:ext cx="7859713" cy="2089150"/>
        </p:xfrm>
        <a:graphic>
          <a:graphicData uri="http://schemas.openxmlformats.org/drawingml/2006/table">
            <a:tbl>
              <a:tblPr/>
              <a:tblGrid>
                <a:gridCol w="1439545"/>
                <a:gridCol w="6419850"/>
              </a:tblGrid>
              <a:tr h="287338">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所需头文件</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#include &lt;pthread.h&gt;</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r>
              <a:tr h="36830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函数原型</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int  pthread_exit(void *value_ptr) </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r>
              <a:tr h="619125">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函数参数</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rgbClr val="755992"/>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value_ptr</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：线程退出时返回的值</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369888">
                <a:tc rowSpan="2">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函数返回值</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755992"/>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成功：</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rgbClr val="755992"/>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755992"/>
                      </a:solidFill>
                      <a:prstDash val="solid"/>
                      <a:round/>
                      <a:headEnd type="none" w="med" len="med"/>
                      <a:tailEnd type="none" w="med" len="med"/>
                    </a:lnB>
                    <a:lnTlToBr>
                      <a:noFill/>
                    </a:lnTlToBr>
                    <a:lnBlToTr>
                      <a:noFill/>
                    </a:lnBlToTr>
                    <a:solidFill>
                      <a:srgbClr val="755992">
                        <a:alpha val="20000"/>
                      </a:srgbClr>
                    </a:solidFill>
                  </a:tcPr>
                </a:tc>
              </a:tr>
              <a:tr h="360363">
                <a:tc vMerge="1">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出错：</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a:t>多线程共享同一个进程的地址空间</a:t>
            </a:r>
            <a:endParaRPr lang="zh-CN" altLang="en-US" sz="2000"/>
          </a:p>
          <a:p>
            <a:pPr lvl="0" indent="-342900">
              <a:lnSpc>
                <a:spcPct val="90000"/>
              </a:lnSpc>
              <a:buNone/>
            </a:pPr>
            <a:endParaRPr lang="zh-CN" altLang="en-US" sz="2000"/>
          </a:p>
          <a:p>
            <a:pPr lvl="0" indent="-342900">
              <a:lnSpc>
                <a:spcPct val="90000"/>
              </a:lnSpc>
              <a:buNone/>
            </a:pPr>
            <a:r>
              <a:rPr lang="zh-CN" altLang="en-US" sz="2000"/>
              <a:t>优点：线程间很容易进行通信</a:t>
            </a:r>
            <a:endParaRPr lang="zh-CN" altLang="en-US" sz="2000"/>
          </a:p>
          <a:p>
            <a:pPr lvl="0" indent="-342900">
              <a:lnSpc>
                <a:spcPct val="90000"/>
              </a:lnSpc>
              <a:buNone/>
            </a:pPr>
            <a:r>
              <a:rPr lang="en-US" altLang="zh-CN" sz="2000"/>
              <a:t>	</a:t>
            </a:r>
            <a:r>
              <a:rPr lang="zh-CN" altLang="en-US" sz="2000"/>
              <a:t>通过全局变量实现数据共享和交换</a:t>
            </a:r>
            <a:endParaRPr lang="zh-CN" altLang="en-US" sz="2000"/>
          </a:p>
          <a:p>
            <a:pPr lvl="0" indent="-342900">
              <a:lnSpc>
                <a:spcPct val="90000"/>
              </a:lnSpc>
              <a:buNone/>
            </a:pPr>
            <a:endParaRPr lang="zh-CN" altLang="en-US" sz="2000"/>
          </a:p>
          <a:p>
            <a:pPr lvl="0" indent="-342900">
              <a:lnSpc>
                <a:spcPct val="90000"/>
              </a:lnSpc>
              <a:buNone/>
            </a:pPr>
            <a:r>
              <a:rPr lang="zh-CN" altLang="en-US" sz="2000"/>
              <a:t>缺点：多个线程同时访问共享对象</a:t>
            </a:r>
            <a:endParaRPr lang="zh-CN" altLang="en-US" sz="2000"/>
          </a:p>
          <a:p>
            <a:pPr lvl="0" indent="-342900">
              <a:buFont typeface="Wingdings 3" panose="05040102010807070707" pitchFamily="2" charset="2"/>
              <a:buNone/>
            </a:pPr>
            <a:r>
              <a:rPr lang="zh-CN" altLang="en-US" sz="2000"/>
              <a:t>　　　　时需要引入同步和互斥机制</a:t>
            </a:r>
            <a:endParaRPr lang="zh-CN" altLang="en-US" sz="2000"/>
          </a:p>
          <a:p>
            <a:pPr lvl="0" indent="-342900" algn="just">
              <a:lnSpc>
                <a:spcPct val="90000"/>
              </a:lnSpc>
            </a:pPr>
            <a:endParaRPr lang="en-US" altLang="zh-CN" sz="2000" dirty="0"/>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0649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同步与互斥</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lnSpc>
                <a:spcPct val="90000"/>
              </a:lnSpc>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lvl="0" indent="-342900" algn="just" fontAlgn="base">
              <a:lnSpc>
                <a:spcPct val="90000"/>
              </a:lnSpc>
            </a:pPr>
            <a:r>
              <a:rPr lang="zh-CN" altLang="en-US" sz="1800" strike="noStrike" noProof="1" dirty="0">
                <a:sym typeface="+mn-ea"/>
              </a:rPr>
              <a:t>同步</a:t>
            </a:r>
            <a:r>
              <a:rPr lang="en-US" altLang="zh-CN" sz="1800" strike="noStrike" noProof="1" dirty="0">
                <a:sym typeface="+mn-ea"/>
              </a:rPr>
              <a:t>(synchronization)</a:t>
            </a:r>
            <a:r>
              <a:rPr lang="zh-CN" altLang="en-US" sz="1800" strike="noStrike" noProof="1" dirty="0">
                <a:sym typeface="+mn-ea"/>
              </a:rPr>
              <a:t>指的是多个任务</a:t>
            </a:r>
            <a:r>
              <a:rPr lang="en-US" altLang="zh-CN" sz="1800" strike="noStrike" noProof="1" dirty="0">
                <a:sym typeface="+mn-ea"/>
              </a:rPr>
              <a:t>(</a:t>
            </a:r>
            <a:r>
              <a:rPr lang="zh-CN" altLang="en-US" sz="1800" strike="noStrike" noProof="1" dirty="0">
                <a:sym typeface="+mn-ea"/>
              </a:rPr>
              <a:t>线程</a:t>
            </a:r>
            <a:r>
              <a:rPr lang="en-US" altLang="zh-CN" sz="1800" strike="noStrike" noProof="1" dirty="0">
                <a:sym typeface="+mn-ea"/>
              </a:rPr>
              <a:t>)</a:t>
            </a:r>
            <a:r>
              <a:rPr lang="zh-CN" altLang="en-US" sz="1800" strike="noStrike" noProof="1" dirty="0">
                <a:sym typeface="+mn-ea"/>
              </a:rPr>
              <a:t>按照约定的顺序相互配合完成一件事情</a:t>
            </a:r>
            <a:endParaRPr lang="zh-CN" altLang="en-US" sz="1800" strike="noStrike" noProof="1"/>
          </a:p>
          <a:p>
            <a:pPr lvl="0" indent="-342900" algn="just" fontAlgn="base">
              <a:lnSpc>
                <a:spcPct val="90000"/>
              </a:lnSpc>
            </a:pPr>
            <a:r>
              <a:rPr lang="en-US" altLang="zh-CN" sz="1800" strike="noStrike" noProof="1" dirty="0">
                <a:sym typeface="+mn-ea"/>
              </a:rPr>
              <a:t>1968</a:t>
            </a:r>
            <a:r>
              <a:rPr lang="zh-CN" altLang="en-US" sz="1800" strike="noStrike" noProof="1" dirty="0">
                <a:sym typeface="+mn-ea"/>
              </a:rPr>
              <a:t>年，</a:t>
            </a:r>
            <a:r>
              <a:rPr lang="en-US" altLang="zh-CN" sz="1800" strike="noStrike" noProof="1" dirty="0" err="1">
                <a:sym typeface="+mn-ea"/>
              </a:rPr>
              <a:t>Edsgar</a:t>
            </a:r>
            <a:r>
              <a:rPr lang="en-US" altLang="zh-CN" sz="1800" strike="noStrike" noProof="1" dirty="0">
                <a:sym typeface="+mn-ea"/>
              </a:rPr>
              <a:t> </a:t>
            </a:r>
            <a:r>
              <a:rPr lang="en-US" altLang="zh-CN" sz="1800" strike="noStrike" noProof="1" dirty="0" err="1">
                <a:sym typeface="+mn-ea"/>
              </a:rPr>
              <a:t>Dijkstra</a:t>
            </a:r>
            <a:r>
              <a:rPr lang="zh-CN" altLang="en-US" sz="1800" strike="noStrike" noProof="1" dirty="0">
                <a:sym typeface="+mn-ea"/>
              </a:rPr>
              <a:t>基于信号量的概念</a:t>
            </a:r>
            <a:endParaRPr lang="zh-CN" altLang="en-US" sz="1800" strike="noStrike" noProof="1" dirty="0">
              <a:sym typeface="+mn-ea"/>
            </a:endParaRPr>
          </a:p>
          <a:p>
            <a:pPr marL="0" lvl="0" indent="0" algn="just" fontAlgn="base">
              <a:lnSpc>
                <a:spcPct val="90000"/>
              </a:lnSpc>
              <a:buNone/>
            </a:pPr>
            <a:r>
              <a:rPr lang="zh-CN" altLang="en-US" sz="1800" strike="noStrike" noProof="1" dirty="0">
                <a:sym typeface="+mn-ea"/>
              </a:rPr>
              <a:t>      提出了一种同步机制</a:t>
            </a:r>
            <a:endParaRPr lang="zh-CN" altLang="en-US" sz="1800" strike="noStrike" noProof="1" dirty="0">
              <a:sym typeface="+mn-ea"/>
            </a:endParaRPr>
          </a:p>
          <a:p>
            <a:pPr marL="0" lvl="0" indent="0" algn="just" fontAlgn="base">
              <a:lnSpc>
                <a:spcPct val="90000"/>
              </a:lnSpc>
              <a:buNone/>
            </a:pPr>
            <a:endParaRPr lang="en-US" altLang="zh-CN" sz="2000" strike="noStrike" noProof="1" dirty="0"/>
          </a:p>
          <a:p>
            <a:pPr lvl="0" indent="-342900" fontAlgn="base">
              <a:lnSpc>
                <a:spcPct val="90000"/>
              </a:lnSpc>
              <a:spcBef>
                <a:spcPct val="0"/>
              </a:spcBef>
              <a:spcAft>
                <a:spcPct val="0"/>
              </a:spcAft>
            </a:pPr>
            <a:r>
              <a:rPr lang="zh-CN" altLang="en-US" sz="1800" strike="noStrike" noProof="1" dirty="0">
                <a:sym typeface="+mn-ea"/>
              </a:rPr>
              <a:t>由信号量来决定线程是继续运行还是阻塞等待</a:t>
            </a:r>
            <a:endParaRPr lang="zh-CN" altLang="en-US" sz="1800" strike="noStrike" noProof="1" dirty="0">
              <a:sym typeface="+mn-ea"/>
            </a:endParaRPr>
          </a:p>
          <a:p>
            <a:pPr fontAlgn="base">
              <a:buFont typeface="Wingdings 3" panose="05040102010807070707" pitchFamily="2" charset="2"/>
              <a:buNone/>
            </a:pPr>
            <a:r>
              <a:rPr lang="zh-CN" altLang="en-US" sz="1800" strike="noStrike" noProof="1">
                <a:sym typeface="+mn-ea"/>
              </a:rPr>
              <a:t>      信号量代表某一类资源，其值表示系统中该资源的数量</a:t>
            </a:r>
            <a:endParaRPr lang="zh-CN" altLang="en-US" sz="1800" strike="noStrike" noProof="1"/>
          </a:p>
          <a:p>
            <a:pPr fontAlgn="base">
              <a:buFont typeface="Wingdings 3" panose="05040102010807070707" pitchFamily="2" charset="2"/>
              <a:buNone/>
            </a:pPr>
            <a:r>
              <a:rPr lang="zh-CN" altLang="en-US" sz="1800" strike="noStrike" noProof="1">
                <a:sym typeface="+mn-ea"/>
              </a:rPr>
              <a:t>      信号量是一个受保护的变量，只能通过三种操作来访问</a:t>
            </a:r>
            <a:endParaRPr lang="zh-CN" altLang="en-US" sz="1800" strike="noStrike" noProof="1"/>
          </a:p>
          <a:p>
            <a:pPr lvl="1" fontAlgn="base">
              <a:lnSpc>
                <a:spcPct val="150000"/>
              </a:lnSpc>
            </a:pPr>
            <a:r>
              <a:rPr lang="zh-CN" altLang="en-US" sz="1800" strike="noStrike" noProof="1">
                <a:sym typeface="+mn-ea"/>
              </a:rPr>
              <a:t>初始化</a:t>
            </a:r>
            <a:endParaRPr lang="zh-CN" altLang="en-US" sz="1800" strike="noStrike" noProof="1"/>
          </a:p>
          <a:p>
            <a:pPr lvl="1" fontAlgn="base">
              <a:lnSpc>
                <a:spcPct val="150000"/>
              </a:lnSpc>
            </a:pPr>
            <a:r>
              <a:rPr lang="zh-CN" altLang="en-US" sz="1800" strike="noStrike" noProof="1">
                <a:sym typeface="+mn-ea"/>
              </a:rPr>
              <a:t>Ｐ操作</a:t>
            </a:r>
            <a:r>
              <a:rPr lang="en-US" altLang="zh-CN" sz="1800" strike="noStrike" noProof="1">
                <a:sym typeface="+mn-ea"/>
              </a:rPr>
              <a:t>(</a:t>
            </a:r>
            <a:r>
              <a:rPr lang="zh-CN" altLang="en-US" sz="1800" strike="noStrike" noProof="1">
                <a:sym typeface="+mn-ea"/>
              </a:rPr>
              <a:t>申请资源</a:t>
            </a:r>
            <a:r>
              <a:rPr lang="en-US" altLang="zh-CN" sz="1800" strike="noStrike" noProof="1">
                <a:sym typeface="+mn-ea"/>
              </a:rPr>
              <a:t>)</a:t>
            </a:r>
            <a:endParaRPr lang="en-US" altLang="zh-CN" sz="1800" strike="noStrike" noProof="1"/>
          </a:p>
          <a:p>
            <a:pPr lvl="1" fontAlgn="base">
              <a:lnSpc>
                <a:spcPct val="150000"/>
              </a:lnSpc>
            </a:pPr>
            <a:r>
              <a:rPr lang="zh-CN" altLang="en-US" sz="1800" strike="noStrike" noProof="1">
                <a:sym typeface="+mn-ea"/>
              </a:rPr>
              <a:t>Ｖ操作</a:t>
            </a:r>
            <a:r>
              <a:rPr lang="en-US" altLang="zh-CN" sz="1800" strike="noStrike" noProof="1">
                <a:sym typeface="+mn-ea"/>
              </a:rPr>
              <a:t>(</a:t>
            </a:r>
            <a:r>
              <a:rPr lang="zh-CN" altLang="en-US" sz="1800" strike="noStrike" noProof="1">
                <a:sym typeface="+mn-ea"/>
              </a:rPr>
              <a:t>释放资源</a:t>
            </a:r>
            <a:r>
              <a:rPr lang="en-US" altLang="zh-CN" sz="1800" strike="noStrike" noProof="1">
                <a:sym typeface="+mn-ea"/>
              </a:rPr>
              <a:t>)</a:t>
            </a:r>
            <a:endParaRPr lang="en-US" altLang="zh-CN" sz="1800" strike="noStrike" noProof="1"/>
          </a:p>
          <a:p>
            <a:pPr fontAlgn="base">
              <a:buFont typeface="Wingdings 3" panose="05040102010807070707" pitchFamily="2" charset="2"/>
              <a:buNone/>
            </a:pPr>
            <a:r>
              <a:rPr lang="zh-CN" altLang="en-US" sz="1800" strike="noStrike" noProof="1">
                <a:sym typeface="+mn-ea"/>
              </a:rPr>
              <a:t>      信号量的值为非负整数</a:t>
            </a:r>
            <a:endParaRPr lang="zh-CN" altLang="en-US" sz="1600" strike="noStrike" noProof="1"/>
          </a:p>
          <a:p>
            <a:pPr fontAlgn="base">
              <a:buFont typeface="Wingdings 3" panose="05040102010807070707" pitchFamily="2" charset="2"/>
              <a:buNone/>
            </a:pPr>
            <a:endParaRPr lang="zh-CN" altLang="en-US" sz="1600" strike="noStrike" noProof="1" dirty="0"/>
          </a:p>
          <a:p>
            <a:pPr lvl="0" indent="-342900" fontAlgn="base">
              <a:lnSpc>
                <a:spcPct val="90000"/>
              </a:lnSpc>
              <a:spcBef>
                <a:spcPct val="0"/>
              </a:spcBef>
              <a:spcAft>
                <a:spcPct val="0"/>
              </a:spcAft>
            </a:pPr>
            <a:endParaRPr lang="zh-CN" altLang="en-US" sz="1600" strike="noStrike" noProof="1" dirty="0">
              <a:latin typeface="宋体" panose="02010600030101010101" pitchFamily="2" charset="-122"/>
            </a:endParaRPr>
          </a:p>
        </p:txBody>
      </p:sp>
      <p:sp>
        <p:nvSpPr>
          <p:cNvPr id="10752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同步</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07523" name="图片 1"/>
          <p:cNvPicPr>
            <a:picLocks noChangeAspect="1"/>
          </p:cNvPicPr>
          <p:nvPr/>
        </p:nvPicPr>
        <p:blipFill>
          <a:blip r:embed="rId1"/>
          <a:stretch>
            <a:fillRect/>
          </a:stretch>
        </p:blipFill>
        <p:spPr>
          <a:xfrm>
            <a:off x="7661275" y="1628775"/>
            <a:ext cx="942975" cy="2143125"/>
          </a:xfrm>
          <a:prstGeom prst="rect">
            <a:avLst/>
          </a:prstGeom>
          <a:noFill/>
          <a:ln w="9525">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spcBef>
                <a:spcPct val="0"/>
              </a:spcBef>
              <a:spcAft>
                <a:spcPct val="0"/>
              </a:spcAft>
            </a:pPr>
            <a:r>
              <a:rPr lang="en-US" altLang="zh-CN" sz="1600" dirty="0">
                <a:latin typeface="宋体" panose="02010600030101010101" pitchFamily="2" charset="-122"/>
              </a:rPr>
              <a:t> </a:t>
            </a:r>
            <a:r>
              <a:rPr lang="zh-CN" altLang="en-US" sz="1600"/>
              <a:t>Ｐ</a:t>
            </a:r>
            <a:r>
              <a:rPr lang="en-US" altLang="zh-CN" sz="1600"/>
              <a:t>(</a:t>
            </a:r>
            <a:r>
              <a:rPr lang="zh-CN" altLang="en-US" sz="1600"/>
              <a:t>Ｓ</a:t>
            </a:r>
            <a:r>
              <a:rPr lang="en-US" altLang="zh-CN" sz="1600"/>
              <a:t>) </a:t>
            </a:r>
            <a:r>
              <a:rPr lang="zh-CN" altLang="en-US" sz="1600"/>
              <a:t>含义如下</a:t>
            </a:r>
            <a:r>
              <a:rPr lang="en-US" altLang="zh-CN" sz="1600"/>
              <a:t>:</a:t>
            </a:r>
            <a:endParaRPr lang="en-US" altLang="zh-CN" sz="1600"/>
          </a:p>
          <a:p>
            <a:pPr lvl="0" indent="-342900">
              <a:buFont typeface="Wingdings 3" panose="05040102010807070707" pitchFamily="2" charset="2"/>
              <a:buNone/>
            </a:pPr>
            <a:r>
              <a:rPr lang="en-US" altLang="zh-CN" sz="1600"/>
              <a:t>     if  (</a:t>
            </a:r>
            <a:r>
              <a:rPr lang="zh-CN" altLang="en-US" sz="1600"/>
              <a:t>信号量的值大于</a:t>
            </a:r>
            <a:r>
              <a:rPr lang="en-US" altLang="zh-CN" sz="1600"/>
              <a:t>0) {   </a:t>
            </a:r>
            <a:r>
              <a:rPr lang="zh-CN" altLang="en-US" sz="1600"/>
              <a:t>申请资源的任务继续运行；</a:t>
            </a:r>
            <a:endParaRPr lang="zh-CN" altLang="en-US" sz="1600"/>
          </a:p>
          <a:p>
            <a:pPr lvl="0" indent="-342900">
              <a:buFont typeface="Wingdings 3" panose="05040102010807070707" pitchFamily="2" charset="2"/>
              <a:buNone/>
            </a:pPr>
            <a:r>
              <a:rPr lang="zh-CN" altLang="en-US" sz="1600"/>
              <a:t>                                                信号量的值减一；</a:t>
            </a:r>
            <a:r>
              <a:rPr lang="en-US" altLang="zh-CN" sz="1600"/>
              <a:t>}</a:t>
            </a:r>
            <a:endParaRPr lang="en-US" altLang="zh-CN" sz="1600"/>
          </a:p>
          <a:p>
            <a:pPr lvl="0" indent="-342900">
              <a:buFont typeface="Wingdings 3" panose="05040102010807070707" pitchFamily="2" charset="2"/>
              <a:buNone/>
            </a:pPr>
            <a:r>
              <a:rPr lang="en-US" altLang="zh-CN" sz="1600"/>
              <a:t>     else {   </a:t>
            </a:r>
            <a:r>
              <a:rPr lang="zh-CN" altLang="en-US" sz="1600"/>
              <a:t>申请资源的任务阻塞；</a:t>
            </a:r>
            <a:r>
              <a:rPr lang="en-US" altLang="zh-CN" sz="1600"/>
              <a:t>} </a:t>
            </a:r>
            <a:endParaRPr lang="en-US" altLang="zh-CN" sz="1600"/>
          </a:p>
          <a:p>
            <a:pPr lvl="0" indent="-342900">
              <a:buFont typeface="Wingdings 3" panose="05040102010807070707" pitchFamily="2" charset="2"/>
              <a:buNone/>
            </a:pPr>
            <a:endParaRPr lang="en-US" altLang="zh-CN" sz="1600"/>
          </a:p>
          <a:p>
            <a:pPr lvl="0" indent="-342900">
              <a:buFont typeface="Wingdings 3" panose="05040102010807070707" pitchFamily="2" charset="2"/>
              <a:buNone/>
            </a:pPr>
            <a:endParaRPr lang="en-US" altLang="zh-CN" sz="1600"/>
          </a:p>
          <a:p>
            <a:pPr lvl="0" indent="-342900">
              <a:lnSpc>
                <a:spcPct val="90000"/>
              </a:lnSpc>
              <a:spcBef>
                <a:spcPct val="0"/>
              </a:spcBef>
              <a:spcAft>
                <a:spcPct val="0"/>
              </a:spcAft>
            </a:pPr>
            <a:r>
              <a:rPr lang="en-US" altLang="zh-CN" sz="1600"/>
              <a:t>V(</a:t>
            </a:r>
            <a:r>
              <a:rPr lang="zh-CN" altLang="en-US" sz="1600"/>
              <a:t>Ｓ</a:t>
            </a:r>
            <a:r>
              <a:rPr lang="en-US" altLang="zh-CN" sz="1600"/>
              <a:t>) </a:t>
            </a:r>
            <a:r>
              <a:rPr lang="zh-CN" altLang="en-US" sz="1600"/>
              <a:t>含义如下</a:t>
            </a:r>
            <a:r>
              <a:rPr lang="en-US" altLang="zh-CN" sz="1600"/>
              <a:t>:</a:t>
            </a:r>
            <a:endParaRPr lang="en-US" altLang="zh-CN" sz="1600"/>
          </a:p>
          <a:p>
            <a:pPr lvl="0" indent="-342900">
              <a:buFont typeface="Wingdings 3" panose="05040102010807070707" pitchFamily="2" charset="2"/>
              <a:buNone/>
            </a:pPr>
            <a:r>
              <a:rPr lang="en-US" altLang="zh-CN" sz="1600"/>
              <a:t>     if  (</a:t>
            </a:r>
            <a:r>
              <a:rPr lang="zh-CN" altLang="en-US" sz="1600"/>
              <a:t>没有任务在等待该资源</a:t>
            </a:r>
            <a:r>
              <a:rPr lang="en-US" altLang="zh-CN" sz="1600"/>
              <a:t>) {   </a:t>
            </a:r>
            <a:r>
              <a:rPr lang="zh-CN" altLang="en-US" sz="1600"/>
              <a:t>信号量的值加一；</a:t>
            </a:r>
            <a:r>
              <a:rPr lang="en-US" altLang="zh-CN" sz="1600"/>
              <a:t>}</a:t>
            </a:r>
            <a:endParaRPr lang="en-US" altLang="zh-CN" sz="1600"/>
          </a:p>
          <a:p>
            <a:pPr lvl="0" indent="-342900">
              <a:buFont typeface="Wingdings 3" panose="05040102010807070707" pitchFamily="2" charset="2"/>
              <a:buNone/>
            </a:pPr>
            <a:r>
              <a:rPr lang="en-US" altLang="zh-CN" sz="1600"/>
              <a:t>     else {   </a:t>
            </a:r>
            <a:r>
              <a:rPr lang="zh-CN" altLang="en-US" sz="1600"/>
              <a:t>唤醒第一个等待的任务，让其继续运行</a:t>
            </a:r>
            <a:r>
              <a:rPr lang="en-US" altLang="zh-CN" sz="1600"/>
              <a:t>}</a:t>
            </a:r>
            <a:endParaRPr lang="en-US" altLang="zh-CN" sz="1600"/>
          </a:p>
          <a:p>
            <a:pPr lvl="0" indent="-342900">
              <a:lnSpc>
                <a:spcPct val="90000"/>
              </a:lnSpc>
              <a:spcBef>
                <a:spcPct val="0"/>
              </a:spcBef>
              <a:spcAft>
                <a:spcPct val="0"/>
              </a:spcAft>
            </a:pPr>
            <a:endParaRPr lang="en-US" altLang="zh-CN" sz="1600" dirty="0">
              <a:latin typeface="宋体" panose="02010600030101010101" pitchFamily="2" charset="-122"/>
            </a:endParaRPr>
          </a:p>
        </p:txBody>
      </p:sp>
      <p:sp>
        <p:nvSpPr>
          <p:cNvPr id="10854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同步</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90000"/>
              </a:lnSpc>
            </a:pPr>
            <a:r>
              <a:rPr lang="en-US" altLang="zh-CN" sz="1800" dirty="0" err="1"/>
              <a:t>posix</a:t>
            </a:r>
            <a:r>
              <a:rPr lang="zh-CN" altLang="en-US" sz="1800" dirty="0"/>
              <a:t>中定义了两类信号量：</a:t>
            </a:r>
            <a:endParaRPr lang="zh-CN" altLang="en-US" sz="1800" dirty="0"/>
          </a:p>
          <a:p>
            <a:pPr lvl="1" indent="-285750">
              <a:lnSpc>
                <a:spcPct val="150000"/>
              </a:lnSpc>
            </a:pPr>
            <a:r>
              <a:rPr lang="zh-CN" altLang="en-US" sz="1800" dirty="0"/>
              <a:t>无名信号量</a:t>
            </a:r>
            <a:r>
              <a:rPr lang="en-US" altLang="zh-CN" sz="1800" dirty="0"/>
              <a:t>(</a:t>
            </a:r>
            <a:r>
              <a:rPr lang="zh-CN" altLang="en-US" sz="1800" dirty="0"/>
              <a:t>基于内存的信号量</a:t>
            </a:r>
            <a:r>
              <a:rPr lang="en-US" altLang="zh-CN" sz="1800" dirty="0"/>
              <a:t>)</a:t>
            </a:r>
            <a:endParaRPr lang="en-US" altLang="zh-CN" sz="1800" dirty="0"/>
          </a:p>
          <a:p>
            <a:pPr lvl="1" indent="-285750">
              <a:lnSpc>
                <a:spcPct val="150000"/>
              </a:lnSpc>
            </a:pPr>
            <a:r>
              <a:rPr lang="zh-CN" altLang="en-US" sz="1800" dirty="0"/>
              <a:t>有名信号量</a:t>
            </a:r>
            <a:endParaRPr lang="en-US" altLang="zh-CN" sz="1800" dirty="0"/>
          </a:p>
          <a:p>
            <a:pPr lvl="0" indent="-342900" algn="just">
              <a:lnSpc>
                <a:spcPct val="90000"/>
              </a:lnSpc>
            </a:pPr>
            <a:r>
              <a:rPr lang="en-US" altLang="zh-CN" sz="1800"/>
              <a:t>pthread</a:t>
            </a:r>
            <a:r>
              <a:rPr lang="zh-CN" altLang="en-US" sz="1800"/>
              <a:t>库常用的信号量操作函数如下：</a:t>
            </a:r>
            <a:endParaRPr lang="zh-CN" altLang="en-US" sz="1800"/>
          </a:p>
          <a:p>
            <a:pPr lvl="1" indent="-285750">
              <a:lnSpc>
                <a:spcPct val="150000"/>
              </a:lnSpc>
            </a:pPr>
            <a:r>
              <a:rPr lang="en-US" altLang="zh-CN" sz="1800"/>
              <a:t>int  sem_init(sem_t *sem,  int pshared,  unsigned int value); </a:t>
            </a:r>
            <a:endParaRPr lang="en-US" altLang="zh-CN" sz="1800"/>
          </a:p>
          <a:p>
            <a:pPr lvl="1" indent="-285750">
              <a:lnSpc>
                <a:spcPct val="150000"/>
              </a:lnSpc>
            </a:pPr>
            <a:r>
              <a:rPr lang="en-US" altLang="zh-CN" sz="1800"/>
              <a:t>int sem_wait(sem_t *sem);   //  P</a:t>
            </a:r>
            <a:r>
              <a:rPr lang="zh-CN" altLang="en-US" sz="1800"/>
              <a:t>操作</a:t>
            </a:r>
            <a:endParaRPr lang="zh-CN" altLang="en-US" sz="1800"/>
          </a:p>
          <a:p>
            <a:pPr lvl="1" indent="-285750">
              <a:lnSpc>
                <a:spcPct val="150000"/>
              </a:lnSpc>
            </a:pPr>
            <a:r>
              <a:rPr lang="en-US" altLang="zh-CN" sz="1800"/>
              <a:t>int sem_post(sem_t *sem);  // V</a:t>
            </a:r>
            <a:r>
              <a:rPr lang="zh-CN" altLang="en-US" sz="1800"/>
              <a:t>操作 </a:t>
            </a:r>
            <a:endParaRPr lang="zh-CN" altLang="en-US" sz="1800"/>
          </a:p>
          <a:p>
            <a:pPr lvl="1" indent="-285750">
              <a:lnSpc>
                <a:spcPct val="150000"/>
              </a:lnSpc>
            </a:pPr>
            <a:r>
              <a:rPr lang="en-US" altLang="zh-CN" sz="1800"/>
              <a:t>int sem_trywait(sem_t *sem);</a:t>
            </a:r>
            <a:endParaRPr lang="en-US" altLang="zh-CN" sz="1800"/>
          </a:p>
          <a:p>
            <a:pPr lvl="1" indent="-285750">
              <a:lnSpc>
                <a:spcPct val="150000"/>
              </a:lnSpc>
            </a:pPr>
            <a:r>
              <a:rPr lang="en-US" altLang="zh-CN" sz="1800"/>
              <a:t>int sem_getvalue(sem_t *sem,  int *svalue);</a:t>
            </a:r>
            <a:endParaRPr lang="en-US" altLang="zh-CN" sz="1800"/>
          </a:p>
          <a:p>
            <a:pPr lvl="0" indent="-342900" algn="just">
              <a:lnSpc>
                <a:spcPct val="90000"/>
              </a:lnSpc>
            </a:pPr>
            <a:endParaRPr lang="en-US" altLang="zh-CN" sz="1800" dirty="0"/>
          </a:p>
          <a:p>
            <a:pPr lvl="0" indent="-342900">
              <a:lnSpc>
                <a:spcPct val="150000"/>
              </a:lnSpc>
            </a:pPr>
            <a:endParaRPr lang="zh-CN" altLang="en-US" sz="1800" dirty="0">
              <a:sym typeface="Symbol" panose="05050102010706020507" charset="2"/>
            </a:endParaRPr>
          </a:p>
          <a:p>
            <a:pPr lvl="0" indent="-342900">
              <a:lnSpc>
                <a:spcPct val="90000"/>
              </a:lnSpc>
              <a:spcBef>
                <a:spcPct val="0"/>
              </a:spcBef>
              <a:spcAft>
                <a:spcPct val="0"/>
              </a:spcAft>
            </a:pPr>
            <a:endParaRPr lang="zh-CN" altLang="en-US" sz="1800" dirty="0">
              <a:latin typeface="宋体" panose="02010600030101010101" pitchFamily="2" charset="-122"/>
            </a:endParaRPr>
          </a:p>
        </p:txBody>
      </p:sp>
      <p:sp>
        <p:nvSpPr>
          <p:cNvPr id="10957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同步</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90000"/>
              </a:lnSpc>
            </a:pPr>
            <a:endParaRPr lang="en-US" altLang="zh-CN" sz="2000"/>
          </a:p>
          <a:p>
            <a:pPr lvl="0" indent="-342900" algn="just">
              <a:lnSpc>
                <a:spcPct val="90000"/>
              </a:lnSpc>
            </a:pPr>
            <a:endParaRPr lang="en-US" altLang="zh-CN" sz="2000" dirty="0"/>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1059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同步</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135171" name="Group 3"/>
          <p:cNvGraphicFramePr>
            <a:graphicFrameLocks noGrp="1"/>
          </p:cNvGraphicFramePr>
          <p:nvPr/>
        </p:nvGraphicFramePr>
        <p:xfrm>
          <a:off x="611188" y="842963"/>
          <a:ext cx="7859713" cy="4197350"/>
        </p:xfrm>
        <a:graphic>
          <a:graphicData uri="http://schemas.openxmlformats.org/drawingml/2006/table">
            <a:tbl>
              <a:tblPr/>
              <a:tblGrid>
                <a:gridCol w="1439545"/>
                <a:gridCol w="6419850"/>
              </a:tblGrid>
              <a:tr h="64008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所需头文件</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#include &lt;semaphore.h&gt;</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r>
              <a:tr h="64008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函数原型</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int  sem_init(sem_t *sem,  int pshared,  unsigned int value)  </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 </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初始化信号量      </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r>
              <a:tr h="462280">
                <a:tc rowSpan="3">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函数参数</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rgbClr val="755992"/>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sem</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：初始化的信号量</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544830">
                <a:tc vMerge="1">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pshared</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：信号量共享的范围</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(0: </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线程间使用   非</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0:</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进程间使用</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755992">
                        <a:alpha val="20000"/>
                      </a:srgbClr>
                    </a:solidFill>
                  </a:tcPr>
                </a:tc>
              </a:tr>
              <a:tr h="640080">
                <a:tc vMerge="1">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value</a:t>
                      </a: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：信号量初值</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502285">
                <a:tc rowSpan="2">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函数返回值</a:t>
                      </a:r>
                      <a:endPar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755992"/>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成功：</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rgbClr val="755992"/>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755992"/>
                      </a:solidFill>
                      <a:prstDash val="solid"/>
                      <a:round/>
                      <a:headEnd type="none" w="med" len="med"/>
                      <a:tailEnd type="none" w="med" len="med"/>
                    </a:lnB>
                    <a:lnTlToBr>
                      <a:noFill/>
                    </a:lnTlToBr>
                    <a:lnBlToTr>
                      <a:noFill/>
                    </a:lnBlToTr>
                    <a:solidFill>
                      <a:srgbClr val="755992">
                        <a:alpha val="20000"/>
                      </a:srgbClr>
                    </a:solidFill>
                  </a:tcPr>
                </a:tc>
              </a:tr>
              <a:tr h="767715">
                <a:tc vMerge="1">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出错：</a:t>
                      </a:r>
                      <a:r>
                        <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90000"/>
              </a:lnSpc>
            </a:pPr>
            <a:endParaRPr lang="en-US" altLang="zh-CN" sz="2000"/>
          </a:p>
          <a:p>
            <a:pPr lvl="0" indent="-342900" algn="just">
              <a:lnSpc>
                <a:spcPct val="90000"/>
              </a:lnSpc>
            </a:pPr>
            <a:endParaRPr lang="en-US" altLang="zh-CN" sz="2000" dirty="0"/>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1161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同步</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11619" name="图片 1"/>
          <p:cNvPicPr>
            <a:picLocks noChangeAspect="1"/>
          </p:cNvPicPr>
          <p:nvPr/>
        </p:nvPicPr>
        <p:blipFill>
          <a:blip r:embed="rId1"/>
          <a:stretch>
            <a:fillRect/>
          </a:stretch>
        </p:blipFill>
        <p:spPr>
          <a:xfrm>
            <a:off x="825500" y="758825"/>
            <a:ext cx="6564313" cy="3956050"/>
          </a:xfrm>
          <a:prstGeom prst="rect">
            <a:avLst/>
          </a:prstGeom>
          <a:noFill/>
          <a:ln w="9525">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90000"/>
              </a:lnSpc>
            </a:pPr>
            <a:endParaRPr lang="en-US" altLang="zh-CN" sz="2000"/>
          </a:p>
          <a:p>
            <a:pPr lvl="0" indent="-342900" algn="just">
              <a:lnSpc>
                <a:spcPct val="90000"/>
              </a:lnSpc>
            </a:pPr>
            <a:r>
              <a:rPr lang="zh-CN" altLang="en-US" sz="2000"/>
              <a:t>引入互斥</a:t>
            </a:r>
            <a:r>
              <a:rPr lang="en-US" altLang="zh-CN" sz="2000"/>
              <a:t>(mutual exclusion)</a:t>
            </a:r>
            <a:r>
              <a:rPr lang="zh-CN" altLang="en-US" sz="2000"/>
              <a:t>锁的目的是用来保证共享数据操作的完整性。</a:t>
            </a:r>
            <a:endParaRPr lang="zh-CN" altLang="en-US" sz="2000"/>
          </a:p>
          <a:p>
            <a:pPr lvl="0" indent="-342900" algn="just">
              <a:lnSpc>
                <a:spcPct val="90000"/>
              </a:lnSpc>
            </a:pPr>
            <a:endParaRPr lang="zh-CN" altLang="en-US" sz="2000"/>
          </a:p>
          <a:p>
            <a:pPr lvl="0" indent="-342900" algn="just">
              <a:lnSpc>
                <a:spcPct val="90000"/>
              </a:lnSpc>
            </a:pPr>
            <a:r>
              <a:rPr lang="zh-CN" altLang="en-US" sz="2000"/>
              <a:t>互斥锁主要用来保护临界资源</a:t>
            </a:r>
            <a:endParaRPr lang="zh-CN" altLang="en-US" sz="2000"/>
          </a:p>
          <a:p>
            <a:pPr lvl="0" indent="-342900" algn="just">
              <a:lnSpc>
                <a:spcPct val="90000"/>
              </a:lnSpc>
            </a:pPr>
            <a:endParaRPr lang="zh-CN" altLang="en-US" sz="2000"/>
          </a:p>
          <a:p>
            <a:pPr lvl="0" indent="-342900" algn="just">
              <a:lnSpc>
                <a:spcPct val="90000"/>
              </a:lnSpc>
            </a:pPr>
            <a:r>
              <a:rPr lang="zh-CN" altLang="en-US" sz="2000"/>
              <a:t>每个临界资源都由一个互斥锁来保护，任何时刻最多只能有一个线程能访问该资源</a:t>
            </a:r>
            <a:endParaRPr lang="zh-CN" altLang="en-US" sz="2000"/>
          </a:p>
          <a:p>
            <a:pPr lvl="1" indent="-285750">
              <a:lnSpc>
                <a:spcPct val="150000"/>
              </a:lnSpc>
            </a:pPr>
            <a:endParaRPr lang="zh-CN" altLang="en-US" sz="2000"/>
          </a:p>
          <a:p>
            <a:pPr lvl="0" indent="-342900" algn="just">
              <a:lnSpc>
                <a:spcPct val="90000"/>
              </a:lnSpc>
            </a:pPr>
            <a:r>
              <a:rPr lang="zh-CN" altLang="en-US" sz="2000"/>
              <a:t>线程必须先获得互斥锁才能访问临界资源，访问完资源后释放该锁。如果无法获得锁，线程会阻塞直到获得锁为止</a:t>
            </a:r>
            <a:endParaRPr lang="en-US" altLang="zh-CN" sz="2000" dirty="0"/>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1264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互斥</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90000"/>
              </a:lnSpc>
            </a:pPr>
            <a:endParaRPr lang="en-US" altLang="zh-CN" sz="2000" dirty="0"/>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1366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互斥</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13667" name="图片 1"/>
          <p:cNvPicPr>
            <a:picLocks noChangeAspect="1"/>
          </p:cNvPicPr>
          <p:nvPr/>
        </p:nvPicPr>
        <p:blipFill>
          <a:blip r:embed="rId1"/>
          <a:stretch>
            <a:fillRect/>
          </a:stretch>
        </p:blipFill>
        <p:spPr>
          <a:xfrm>
            <a:off x="912813" y="1104900"/>
            <a:ext cx="6392862" cy="3429000"/>
          </a:xfrm>
          <a:prstGeom prst="rect">
            <a:avLst/>
          </a:prstGeom>
          <a:noFill/>
          <a:ln w="9525">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90000"/>
              </a:lnSpc>
            </a:pPr>
            <a:endParaRPr lang="en-US" altLang="zh-CN" sz="2000" dirty="0"/>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1469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线程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互斥</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149507" name="Group 3"/>
          <p:cNvGraphicFramePr>
            <a:graphicFrameLocks noGrp="1"/>
          </p:cNvGraphicFramePr>
          <p:nvPr/>
        </p:nvGraphicFramePr>
        <p:xfrm>
          <a:off x="611188" y="933450"/>
          <a:ext cx="7860030" cy="1920875"/>
        </p:xfrm>
        <a:graphic>
          <a:graphicData uri="http://schemas.openxmlformats.org/drawingml/2006/table">
            <a:tbl>
              <a:tblPr/>
              <a:tblGrid>
                <a:gridCol w="1440180"/>
                <a:gridCol w="6419850"/>
              </a:tblGrid>
              <a:tr h="33528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所需头文件</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#include &lt;pthread.h&gt;</a:t>
                      </a:r>
                      <a:endPar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r>
              <a:tr h="57912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函数原型</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int  pthread_mutex_lock(pthread_mutex_t *mutex)   </a:t>
                      </a:r>
                      <a:endPar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 // </a:t>
                      </a: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申请互斥锁     </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r>
              <a:tr h="33528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函数参数</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rgbClr val="755992"/>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mutex</a:t>
                      </a: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：互斥锁</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335280">
                <a:tc rowSpan="2">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函数返回值</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755992"/>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成功：</a:t>
                      </a: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0</a:t>
                      </a:r>
                      <a:endPar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rgbClr val="755992"/>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755992"/>
                      </a:solidFill>
                      <a:prstDash val="solid"/>
                      <a:round/>
                      <a:headEnd type="none" w="med" len="med"/>
                      <a:tailEnd type="none" w="med" len="med"/>
                    </a:lnB>
                    <a:lnTlToBr>
                      <a:noFill/>
                    </a:lnTlToBr>
                    <a:lnBlToTr>
                      <a:noFill/>
                    </a:lnBlToTr>
                    <a:solidFill>
                      <a:srgbClr val="755992">
                        <a:alpha val="20000"/>
                      </a:srgbClr>
                    </a:solidFill>
                  </a:tcPr>
                </a:tc>
              </a:tr>
              <a:tr h="335280">
                <a:tc vMerge="1">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出错：</a:t>
                      </a: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-1</a:t>
                      </a:r>
                      <a:endPar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49527" name="Group 23"/>
          <p:cNvGraphicFramePr>
            <a:graphicFrameLocks noGrp="1"/>
          </p:cNvGraphicFramePr>
          <p:nvPr/>
        </p:nvGraphicFramePr>
        <p:xfrm>
          <a:off x="611188" y="2936875"/>
          <a:ext cx="7859713" cy="2112963"/>
        </p:xfrm>
        <a:graphic>
          <a:graphicData uri="http://schemas.openxmlformats.org/drawingml/2006/table">
            <a:tbl>
              <a:tblPr/>
              <a:tblGrid>
                <a:gridCol w="1439863"/>
                <a:gridCol w="6419850"/>
              </a:tblGrid>
              <a:tr h="36576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所需头文件</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#include &lt;pthread.h&gt;</a:t>
                      </a:r>
                      <a:endPar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755992"/>
                      </a:solidFill>
                      <a:prstDash val="solid"/>
                      <a:round/>
                      <a:headEnd type="none" w="med" len="med"/>
                      <a:tailEnd type="none" w="med" len="med"/>
                    </a:lnB>
                    <a:lnTlToBr>
                      <a:noFill/>
                    </a:lnTlToBr>
                    <a:lnBlToTr>
                      <a:noFill/>
                    </a:lnBlToTr>
                    <a:noFill/>
                  </a:tcPr>
                </a:tc>
              </a:tr>
              <a:tr h="547688">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函数原型</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int  pthread_mutex_unlock(pthread_mutex_t *mutex)   </a:t>
                      </a:r>
                      <a:endPar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 // </a:t>
                      </a: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释放互斥锁     </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a:noFill/>
                    </a:lnB>
                    <a:lnTlToBr>
                      <a:noFill/>
                    </a:lnTlToBr>
                    <a:lnBlToTr>
                      <a:noFill/>
                    </a:lnBlToTr>
                    <a:solidFill>
                      <a:srgbClr val="755992">
                        <a:alpha val="20000"/>
                      </a:srgbClr>
                    </a:solidFill>
                  </a:tcPr>
                </a:tc>
              </a:tr>
              <a:tr h="40005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函数参数</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rgbClr val="755992"/>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mutex</a:t>
                      </a: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：互斥锁</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433388">
                <a:tc rowSpan="2">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函数返回值</a:t>
                      </a:r>
                      <a:endPar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755992"/>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成功：</a:t>
                      </a: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0</a:t>
                      </a:r>
                      <a:endPar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w="12700" cap="flat" cmpd="sng" algn="ctr">
                      <a:solidFill>
                        <a:srgbClr val="755992"/>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755992"/>
                      </a:solidFill>
                      <a:prstDash val="solid"/>
                      <a:round/>
                      <a:headEnd type="none" w="med" len="med"/>
                      <a:tailEnd type="none" w="med" len="med"/>
                    </a:lnB>
                    <a:lnTlToBr>
                      <a:noFill/>
                    </a:lnTlToBr>
                    <a:lnBlToTr>
                      <a:noFill/>
                    </a:lnBlToTr>
                    <a:solidFill>
                      <a:srgbClr val="755992">
                        <a:alpha val="20000"/>
                      </a:srgbClr>
                    </a:solidFill>
                  </a:tcPr>
                </a:tc>
              </a:tr>
              <a:tr h="330200">
                <a:tc vMerge="1">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出错：</a:t>
                      </a:r>
                      <a:r>
                        <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-1</a:t>
                      </a:r>
                      <a:endParaRPr kumimoji="0" lang="en-US" altLang="zh-CN" sz="1600" b="1"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rgbClr val="75599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20000"/>
              </a:lnSpc>
            </a:pPr>
            <a:r>
              <a:rPr lang="zh-CN" altLang="en-US" sz="2000" dirty="0">
                <a:latin typeface="宋体" panose="02010600030101010101" pitchFamily="2" charset="-122"/>
                <a:sym typeface="宋体" panose="02010600030101010101" pitchFamily="2" charset="-122"/>
              </a:rPr>
              <a:t>无名管道</a:t>
            </a:r>
            <a:endParaRPr lang="zh-CN" altLang="en-US" sz="2000" dirty="0">
              <a:latin typeface="宋体" panose="02010600030101010101" pitchFamily="2" charset="-122"/>
              <a:sym typeface="宋体" panose="02010600030101010101" pitchFamily="2" charset="-122"/>
            </a:endParaRPr>
          </a:p>
          <a:p>
            <a:pPr lvl="0" indent="-342900">
              <a:lnSpc>
                <a:spcPct val="120000"/>
              </a:lnSpc>
            </a:pPr>
            <a:r>
              <a:rPr lang="zh-CN" altLang="en-US" sz="2000" dirty="0">
                <a:latin typeface="宋体" panose="02010600030101010101" pitchFamily="2" charset="-122"/>
                <a:sym typeface="宋体" panose="02010600030101010101" pitchFamily="2" charset="-122"/>
              </a:rPr>
              <a:t>有名管道</a:t>
            </a:r>
            <a:endParaRPr lang="zh-CN" altLang="en-US" sz="2000" dirty="0">
              <a:latin typeface="宋体" panose="02010600030101010101" pitchFamily="2" charset="-122"/>
              <a:sym typeface="宋体" panose="02010600030101010101" pitchFamily="2" charset="-122"/>
            </a:endParaRPr>
          </a:p>
          <a:p>
            <a:pPr lvl="0" indent="-342900">
              <a:lnSpc>
                <a:spcPct val="120000"/>
              </a:lnSpc>
            </a:pPr>
            <a:r>
              <a:rPr lang="zh-CN" altLang="en-US" sz="2000" dirty="0">
                <a:latin typeface="宋体" panose="02010600030101010101" pitchFamily="2" charset="-122"/>
                <a:sym typeface="宋体" panose="02010600030101010101" pitchFamily="2" charset="-122"/>
              </a:rPr>
              <a:t>信号</a:t>
            </a:r>
            <a:endParaRPr lang="zh-CN" altLang="en-US" sz="2000" dirty="0">
              <a:latin typeface="宋体" panose="02010600030101010101" pitchFamily="2" charset="-122"/>
              <a:sym typeface="宋体" panose="02010600030101010101" pitchFamily="2" charset="-122"/>
            </a:endParaRPr>
          </a:p>
          <a:p>
            <a:pPr lvl="0" indent="-342900">
              <a:lnSpc>
                <a:spcPct val="120000"/>
              </a:lnSpc>
            </a:pPr>
            <a:r>
              <a:rPr lang="zh-CN" altLang="en-US" sz="2000" dirty="0">
                <a:latin typeface="宋体" panose="02010600030101010101" pitchFamily="2" charset="-122"/>
                <a:sym typeface="宋体" panose="02010600030101010101" pitchFamily="2" charset="-122"/>
              </a:rPr>
              <a:t>共享内存</a:t>
            </a:r>
            <a:endParaRPr lang="zh-CN" altLang="en-US" sz="2000" dirty="0">
              <a:latin typeface="宋体" panose="02010600030101010101" pitchFamily="2" charset="-122"/>
              <a:sym typeface="宋体" panose="02010600030101010101" pitchFamily="2" charset="-122"/>
            </a:endParaRPr>
          </a:p>
          <a:p>
            <a:pPr lvl="0" indent="-342900">
              <a:lnSpc>
                <a:spcPct val="120000"/>
              </a:lnSpc>
            </a:pPr>
            <a:r>
              <a:rPr lang="zh-CN" altLang="en-US" sz="2000" dirty="0">
                <a:latin typeface="宋体" panose="02010600030101010101" pitchFamily="2" charset="-122"/>
                <a:sym typeface="宋体" panose="02010600030101010101" pitchFamily="2" charset="-122"/>
              </a:rPr>
              <a:t>消息队列</a:t>
            </a:r>
            <a:endParaRPr lang="zh-CN" altLang="en-US" sz="2000" dirty="0">
              <a:latin typeface="宋体" panose="02010600030101010101" pitchFamily="2" charset="-122"/>
              <a:sym typeface="宋体" panose="02010600030101010101" pitchFamily="2" charset="-122"/>
            </a:endParaRPr>
          </a:p>
          <a:p>
            <a:pPr lvl="0" indent="-342900">
              <a:lnSpc>
                <a:spcPct val="120000"/>
              </a:lnSpc>
            </a:pPr>
            <a:r>
              <a:rPr lang="zh-CN" altLang="en-US" sz="2000" dirty="0">
                <a:latin typeface="宋体" panose="02010600030101010101" pitchFamily="2" charset="-122"/>
                <a:sym typeface="宋体" panose="02010600030101010101" pitchFamily="2" charset="-122"/>
              </a:rPr>
              <a:t>信号量</a:t>
            </a:r>
            <a:endParaRPr lang="en-US" altLang="zh-CN" sz="2000" dirty="0">
              <a:latin typeface="宋体" panose="02010600030101010101" pitchFamily="2" charset="-122"/>
              <a:sym typeface="宋体" panose="02010600030101010101" pitchFamily="2" charset="-122"/>
            </a:endParaRPr>
          </a:p>
          <a:p>
            <a:pPr lvl="0" indent="-342900">
              <a:lnSpc>
                <a:spcPct val="150000"/>
              </a:lnSpc>
            </a:pPr>
            <a:endParaRPr lang="zh-CN" altLang="en-US" sz="32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11571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 -- 进程间通信</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Font typeface="Wingdings 3" panose="05040102010807070707" pitchFamily="2" charset="2"/>
              <a:buNone/>
            </a:pPr>
            <a:r>
              <a:rPr lang="en-US" altLang="zh-CN" sz="2000"/>
              <a:t> UNIX</a:t>
            </a:r>
            <a:r>
              <a:rPr lang="zh-CN" altLang="en-US" sz="2000"/>
              <a:t>平台进程通信方式</a:t>
            </a:r>
            <a:endParaRPr lang="zh-CN" altLang="en-US" sz="2000"/>
          </a:p>
          <a:p>
            <a:pPr lvl="0" indent="-342900">
              <a:lnSpc>
                <a:spcPct val="90000"/>
              </a:lnSpc>
              <a:buFont typeface="Wingdings 3" panose="05040102010807070707" pitchFamily="2" charset="2"/>
              <a:buNone/>
            </a:pPr>
            <a:endParaRPr lang="zh-CN" altLang="en-US" sz="2000"/>
          </a:p>
          <a:p>
            <a:pPr lvl="0" indent="-342900">
              <a:lnSpc>
                <a:spcPct val="90000"/>
              </a:lnSpc>
              <a:buFont typeface="Wingdings 3" panose="05040102010807070707" pitchFamily="2" charset="2"/>
              <a:buNone/>
            </a:pPr>
            <a:r>
              <a:rPr lang="zh-CN" altLang="en-US" sz="2000"/>
              <a:t>        早期进程间通信方式</a:t>
            </a:r>
            <a:endParaRPr lang="zh-CN" altLang="en-US" sz="2000"/>
          </a:p>
          <a:p>
            <a:pPr lvl="1" indent="-285750">
              <a:lnSpc>
                <a:spcPct val="90000"/>
              </a:lnSpc>
            </a:pPr>
            <a:r>
              <a:rPr lang="en-US" altLang="zh-CN" sz="2000"/>
              <a:t>AT&amp;T</a:t>
            </a:r>
            <a:r>
              <a:rPr lang="zh-CN" altLang="en-US" sz="2000"/>
              <a:t>的贝尔实验室，对</a:t>
            </a:r>
            <a:r>
              <a:rPr lang="en-US" altLang="zh-CN" sz="2000"/>
              <a:t>Unix</a:t>
            </a:r>
            <a:r>
              <a:rPr lang="zh-CN" altLang="en-US" sz="2000"/>
              <a:t>早期的进程间通信进行了改进和扩充，形成了“</a:t>
            </a:r>
            <a:r>
              <a:rPr lang="en-US" altLang="zh-CN" sz="2000"/>
              <a:t>system V IPC”</a:t>
            </a:r>
            <a:r>
              <a:rPr lang="zh-CN" altLang="en-US" sz="2000"/>
              <a:t>，其通信进程主要局限在单个计算机内</a:t>
            </a:r>
            <a:endParaRPr lang="zh-CN" altLang="en-US" sz="2000"/>
          </a:p>
          <a:p>
            <a:pPr lvl="1" indent="-285750">
              <a:lnSpc>
                <a:spcPct val="90000"/>
              </a:lnSpc>
            </a:pPr>
            <a:r>
              <a:rPr lang="en-US" altLang="zh-CN" sz="2000"/>
              <a:t>BSD(</a:t>
            </a:r>
            <a:r>
              <a:rPr lang="zh-CN" altLang="en-US" sz="2000"/>
              <a:t>加州大学伯克利分校的伯克利软件发布中心</a:t>
            </a:r>
            <a:r>
              <a:rPr lang="en-US" altLang="zh-CN" sz="2000"/>
              <a:t>)</a:t>
            </a:r>
            <a:r>
              <a:rPr lang="zh-CN" altLang="en-US" sz="2000"/>
              <a:t>，跳过了该限制，形成了基于套接字</a:t>
            </a:r>
            <a:r>
              <a:rPr lang="en-US" altLang="zh-CN" sz="2000"/>
              <a:t>(socket)</a:t>
            </a:r>
            <a:r>
              <a:rPr lang="zh-CN" altLang="en-US" sz="2000"/>
              <a:t>的进程间通信机制</a:t>
            </a:r>
            <a:endParaRPr lang="zh-CN" altLang="en-US" sz="2000"/>
          </a:p>
          <a:p>
            <a:pPr lvl="1" indent="-285750">
              <a:lnSpc>
                <a:spcPct val="90000"/>
              </a:lnSpc>
            </a:pPr>
            <a:endParaRPr lang="zh-CN" altLang="en-US" sz="2000"/>
          </a:p>
          <a:p>
            <a:pPr lvl="0" indent="-342900">
              <a:lnSpc>
                <a:spcPct val="90000"/>
              </a:lnSpc>
            </a:pPr>
            <a:r>
              <a:rPr lang="en-US" altLang="zh-CN" sz="2000"/>
              <a:t>Linux</a:t>
            </a:r>
            <a:r>
              <a:rPr lang="zh-CN" altLang="en-US" sz="2000"/>
              <a:t>继承了上述所有的通信方式</a:t>
            </a:r>
            <a:endParaRPr lang="zh-CN" altLang="en-US" sz="2000"/>
          </a:p>
          <a:p>
            <a:pPr lvl="0" indent="-342900">
              <a:spcBef>
                <a:spcPct val="0"/>
              </a:spcBef>
              <a:spcAft>
                <a:spcPct val="0"/>
              </a:spcAft>
            </a:pPr>
            <a:endParaRPr lang="zh-CN" altLang="en-US" sz="1800" dirty="0">
              <a:latin typeface="宋体" panose="02010600030101010101" pitchFamily="2" charset="-122"/>
            </a:endParaRPr>
          </a:p>
        </p:txBody>
      </p:sp>
      <p:sp>
        <p:nvSpPr>
          <p:cNvPr id="11673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 -- 进程间通信</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85000"/>
              </a:lnSpc>
            </a:pPr>
            <a:r>
              <a:rPr lang="en-US" altLang="zh-CN" sz="2000">
                <a:sym typeface="宋体" panose="02010600030101010101" pitchFamily="2" charset="-122"/>
              </a:rPr>
              <a:t> </a:t>
            </a:r>
            <a:r>
              <a:rPr lang="zh-CN" altLang="en-US" sz="2000" dirty="0"/>
              <a:t>常用的进程间通信方式 </a:t>
            </a:r>
            <a:endParaRPr lang="zh-CN" altLang="en-US" sz="2000" dirty="0"/>
          </a:p>
          <a:p>
            <a:pPr lvl="0" indent="-342900">
              <a:lnSpc>
                <a:spcPct val="85000"/>
              </a:lnSpc>
            </a:pPr>
            <a:endParaRPr lang="zh-CN" altLang="en-US" sz="2000" dirty="0"/>
          </a:p>
          <a:p>
            <a:pPr lvl="1" indent="-285750">
              <a:lnSpc>
                <a:spcPct val="85000"/>
              </a:lnSpc>
            </a:pPr>
            <a:r>
              <a:rPr lang="zh-CN" altLang="en-US" sz="2000" b="1" dirty="0">
                <a:solidFill>
                  <a:srgbClr val="3333CC"/>
                </a:solidFill>
              </a:rPr>
              <a:t>传统的进程间通信方式</a:t>
            </a:r>
            <a:endParaRPr lang="zh-CN" altLang="en-US" sz="2000" b="1" dirty="0">
              <a:solidFill>
                <a:srgbClr val="3333CC"/>
              </a:solidFill>
            </a:endParaRPr>
          </a:p>
          <a:p>
            <a:pPr lvl="1" indent="-285750">
              <a:lnSpc>
                <a:spcPct val="85000"/>
              </a:lnSpc>
              <a:buFont typeface="Wingdings 3" panose="05040102010807070707" pitchFamily="2" charset="2"/>
              <a:buNone/>
            </a:pPr>
            <a:r>
              <a:rPr lang="zh-CN" altLang="en-US" sz="2000" dirty="0"/>
              <a:t>	无名管道</a:t>
            </a:r>
            <a:r>
              <a:rPr lang="en-US" altLang="zh-CN" sz="2000" dirty="0"/>
              <a:t>(pipe)</a:t>
            </a:r>
            <a:r>
              <a:rPr lang="zh-CN" altLang="en-US" sz="2000" dirty="0"/>
              <a:t>、有名管道</a:t>
            </a:r>
            <a:r>
              <a:rPr lang="en-US" altLang="zh-CN" sz="2000" dirty="0"/>
              <a:t>(</a:t>
            </a:r>
            <a:r>
              <a:rPr lang="en-US" altLang="zh-CN" sz="2000" dirty="0" err="1"/>
              <a:t>fifo</a:t>
            </a:r>
            <a:r>
              <a:rPr lang="en-US" altLang="zh-CN" sz="2000" dirty="0"/>
              <a:t>)</a:t>
            </a:r>
            <a:r>
              <a:rPr lang="zh-CN" altLang="en-US" sz="2000" dirty="0"/>
              <a:t>和信号</a:t>
            </a:r>
            <a:r>
              <a:rPr lang="en-US" altLang="zh-CN" sz="2000" dirty="0"/>
              <a:t>(signal)</a:t>
            </a:r>
            <a:endParaRPr lang="en-US" altLang="zh-CN" sz="2000" dirty="0"/>
          </a:p>
          <a:p>
            <a:pPr lvl="1" indent="-285750">
              <a:lnSpc>
                <a:spcPct val="85000"/>
              </a:lnSpc>
              <a:buFont typeface="Wingdings 3" panose="05040102010807070707" pitchFamily="2" charset="2"/>
              <a:buNone/>
            </a:pPr>
            <a:endParaRPr lang="en-US" altLang="zh-CN" sz="2000" dirty="0"/>
          </a:p>
          <a:p>
            <a:pPr lvl="1" indent="-285750">
              <a:lnSpc>
                <a:spcPct val="85000"/>
              </a:lnSpc>
            </a:pPr>
            <a:r>
              <a:rPr lang="en-US" altLang="zh-CN" sz="2000" b="1" dirty="0">
                <a:solidFill>
                  <a:srgbClr val="3333CC"/>
                </a:solidFill>
              </a:rPr>
              <a:t>System V IPC</a:t>
            </a:r>
            <a:r>
              <a:rPr lang="zh-CN" altLang="en-US" sz="2000" b="1" dirty="0">
                <a:solidFill>
                  <a:srgbClr val="3333CC"/>
                </a:solidFill>
              </a:rPr>
              <a:t>对象</a:t>
            </a:r>
            <a:endParaRPr lang="zh-CN" altLang="en-US" sz="2000" b="1" dirty="0">
              <a:solidFill>
                <a:srgbClr val="3333CC"/>
              </a:solidFill>
            </a:endParaRPr>
          </a:p>
          <a:p>
            <a:pPr lvl="1" indent="-285750">
              <a:lnSpc>
                <a:spcPct val="85000"/>
              </a:lnSpc>
              <a:buFont typeface="Wingdings 3" panose="05040102010807070707" pitchFamily="2" charset="2"/>
              <a:buNone/>
            </a:pPr>
            <a:r>
              <a:rPr lang="zh-CN" altLang="en-US" sz="2000" dirty="0"/>
              <a:t>   共享内存</a:t>
            </a:r>
            <a:r>
              <a:rPr lang="en-US" altLang="zh-CN" sz="2000" dirty="0"/>
              <a:t>(share memory)</a:t>
            </a:r>
            <a:r>
              <a:rPr lang="zh-CN" altLang="en-US" sz="2000" dirty="0"/>
              <a:t>、消息队列</a:t>
            </a:r>
            <a:r>
              <a:rPr lang="en-US" altLang="zh-CN" sz="2000" dirty="0"/>
              <a:t>(message queue)</a:t>
            </a:r>
            <a:r>
              <a:rPr lang="zh-CN" altLang="en-US" sz="2000" dirty="0"/>
              <a:t>和信号灯</a:t>
            </a:r>
            <a:r>
              <a:rPr lang="en-US" altLang="zh-CN" sz="2000" dirty="0"/>
              <a:t>(semaphore)</a:t>
            </a:r>
            <a:endParaRPr lang="en-US" altLang="zh-CN" sz="2000" dirty="0"/>
          </a:p>
          <a:p>
            <a:pPr lvl="1" indent="-285750">
              <a:lnSpc>
                <a:spcPct val="85000"/>
              </a:lnSpc>
              <a:buFont typeface="Wingdings 3" panose="05040102010807070707" pitchFamily="2" charset="2"/>
              <a:buNone/>
            </a:pPr>
            <a:endParaRPr lang="en-US" altLang="zh-CN" sz="2000" dirty="0"/>
          </a:p>
          <a:p>
            <a:pPr lvl="1" indent="-285750">
              <a:lnSpc>
                <a:spcPct val="85000"/>
              </a:lnSpc>
            </a:pPr>
            <a:r>
              <a:rPr lang="en-US" altLang="zh-CN" sz="2000" b="1" dirty="0">
                <a:solidFill>
                  <a:srgbClr val="3333CC"/>
                </a:solidFill>
              </a:rPr>
              <a:t>BSD</a:t>
            </a:r>
            <a:endParaRPr lang="en-US" altLang="zh-CN" sz="2000" b="1" dirty="0">
              <a:solidFill>
                <a:srgbClr val="3333CC"/>
              </a:solidFill>
            </a:endParaRPr>
          </a:p>
          <a:p>
            <a:pPr lvl="1" indent="-285750">
              <a:lnSpc>
                <a:spcPct val="85000"/>
              </a:lnSpc>
              <a:buFont typeface="Wingdings 3" panose="05040102010807070707" pitchFamily="2" charset="2"/>
              <a:buNone/>
            </a:pPr>
            <a:r>
              <a:rPr lang="en-US" altLang="zh-CN" sz="2000" dirty="0"/>
              <a:t>	</a:t>
            </a:r>
            <a:r>
              <a:rPr lang="zh-CN" altLang="en-US" sz="2000" dirty="0"/>
              <a:t>套接字</a:t>
            </a:r>
            <a:r>
              <a:rPr lang="en-US" altLang="zh-CN" sz="2000" dirty="0"/>
              <a:t>(socket)</a:t>
            </a:r>
            <a:endParaRPr lang="zh-CN" altLang="en-US" sz="1800" dirty="0">
              <a:latin typeface="宋体" panose="02010600030101010101" pitchFamily="2" charset="-122"/>
            </a:endParaRPr>
          </a:p>
        </p:txBody>
      </p:sp>
      <p:sp>
        <p:nvSpPr>
          <p:cNvPr id="11776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 -- 进程间通信</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85000"/>
              </a:lnSpc>
            </a:pPr>
            <a:r>
              <a:rPr lang="en-US" altLang="zh-CN" sz="2000">
                <a:sym typeface="宋体" panose="02010600030101010101" pitchFamily="2" charset="-122"/>
              </a:rPr>
              <a:t> </a:t>
            </a:r>
            <a:endParaRPr lang="zh-CN" altLang="en-US" sz="1800" dirty="0">
              <a:latin typeface="宋体" panose="02010600030101010101" pitchFamily="2" charset="-122"/>
            </a:endParaRPr>
          </a:p>
        </p:txBody>
      </p:sp>
      <p:sp>
        <p:nvSpPr>
          <p:cNvPr id="11878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 -- 无名管道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18788" name="图片 1"/>
          <p:cNvPicPr>
            <a:picLocks noChangeAspect="1"/>
          </p:cNvPicPr>
          <p:nvPr/>
        </p:nvPicPr>
        <p:blipFill>
          <a:blip r:embed="rId1"/>
          <a:stretch>
            <a:fillRect/>
          </a:stretch>
        </p:blipFill>
        <p:spPr>
          <a:xfrm>
            <a:off x="1384300" y="1279525"/>
            <a:ext cx="4648200" cy="2960688"/>
          </a:xfrm>
          <a:prstGeom prst="rect">
            <a:avLst/>
          </a:prstGeom>
          <a:noFill/>
          <a:ln w="9525">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文本占位符 1"/>
          <p:cNvSpPr>
            <a:spLocks noGrp="1"/>
          </p:cNvSpPr>
          <p:nvPr>
            <p:ph sz="quarter"/>
          </p:nvPr>
        </p:nvSpPr>
        <p:spPr>
          <a:xfrm>
            <a:off x="396875" y="1204913"/>
            <a:ext cx="3455988" cy="3363912"/>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spcBef>
                <a:spcPct val="0"/>
              </a:spcBef>
              <a:spcAft>
                <a:spcPct val="0"/>
              </a:spcAft>
            </a:pPr>
            <a:r>
              <a:rPr lang="zh-CN" altLang="en-US" sz="1800" dirty="0">
                <a:latin typeface="宋体" panose="02010600030101010101" pitchFamily="2" charset="-122"/>
              </a:rPr>
              <a:t>只能用于亲缘间进程通信</a:t>
            </a:r>
            <a:endParaRPr lang="zh-CN" altLang="en-US" sz="1800" dirty="0">
              <a:latin typeface="宋体" panose="02010600030101010101" pitchFamily="2" charset="-122"/>
            </a:endParaRPr>
          </a:p>
          <a:p>
            <a:pPr lvl="0" indent="-342900">
              <a:spcBef>
                <a:spcPct val="0"/>
              </a:spcBef>
              <a:spcAft>
                <a:spcPct val="0"/>
              </a:spcAft>
            </a:pPr>
            <a:r>
              <a:rPr lang="zh-CN" altLang="en-US" sz="1800" dirty="0">
                <a:latin typeface="宋体" panose="02010600030101010101" pitchFamily="2" charset="-122"/>
              </a:rPr>
              <a:t>半双工的通讯模式</a:t>
            </a:r>
            <a:endParaRPr lang="zh-CN" altLang="en-US" sz="1800" dirty="0">
              <a:latin typeface="宋体" panose="02010600030101010101" pitchFamily="2" charset="-122"/>
            </a:endParaRPr>
          </a:p>
          <a:p>
            <a:pPr lvl="0" indent="-342900">
              <a:spcBef>
                <a:spcPct val="0"/>
              </a:spcBef>
              <a:spcAft>
                <a:spcPct val="0"/>
              </a:spcAft>
            </a:pPr>
            <a:r>
              <a:rPr lang="zh-CN" altLang="en-US" sz="1800" dirty="0">
                <a:latin typeface="宋体" panose="02010600030101010101" pitchFamily="2" charset="-122"/>
              </a:rPr>
              <a:t>管道可以看成是一种特殊的文件，读写操作可以使用文件I/O的read和write等函数，但是它不属于任何文件系统，并且只存储在内存中。</a:t>
            </a:r>
            <a:endParaRPr lang="zh-CN" altLang="en-US" sz="1800" dirty="0">
              <a:latin typeface="宋体" panose="02010600030101010101" pitchFamily="2" charset="-122"/>
            </a:endParaRPr>
          </a:p>
          <a:p>
            <a:pPr lvl="0" indent="-342900">
              <a:spcBef>
                <a:spcPct val="0"/>
              </a:spcBef>
              <a:spcAft>
                <a:spcPct val="0"/>
              </a:spcAft>
            </a:pPr>
            <a:r>
              <a:rPr lang="zh-CN" altLang="en-US" sz="1800" dirty="0">
                <a:latin typeface="宋体" panose="02010600030101010101" pitchFamily="2" charset="-122"/>
              </a:rPr>
              <a:t> </a:t>
            </a:r>
            <a:endParaRPr lang="zh-CN" altLang="en-US" sz="1800" dirty="0">
              <a:latin typeface="宋体" panose="02010600030101010101" pitchFamily="2" charset="-122"/>
            </a:endParaRPr>
          </a:p>
        </p:txBody>
      </p:sp>
      <p:sp>
        <p:nvSpPr>
          <p:cNvPr id="11981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无名管道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19812" name="图片 123909"/>
          <p:cNvPicPr>
            <a:picLocks noChangeAspect="1"/>
          </p:cNvPicPr>
          <p:nvPr/>
        </p:nvPicPr>
        <p:blipFill>
          <a:blip r:embed="rId1"/>
          <a:stretch>
            <a:fillRect/>
          </a:stretch>
        </p:blipFill>
        <p:spPr>
          <a:xfrm>
            <a:off x="3852863" y="1331913"/>
            <a:ext cx="5041900" cy="3911600"/>
          </a:xfrm>
          <a:prstGeom prst="rect">
            <a:avLst/>
          </a:prstGeom>
          <a:noFill/>
          <a:ln w="9525">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2000" dirty="0">
                <a:sym typeface="Symbol" panose="05050102010706020507" charset="2"/>
              </a:rPr>
              <a:t>管道是基于文件描述符的通信方式。当一个管道建立时，它会创建两个文件描述符</a:t>
            </a:r>
            <a:r>
              <a:rPr lang="en-US" altLang="zh-CN" sz="2000" dirty="0">
                <a:sym typeface="Symbol" panose="05050102010706020507" charset="2"/>
              </a:rPr>
              <a:t>fd[0]</a:t>
            </a:r>
            <a:r>
              <a:rPr lang="zh-CN" altLang="en-US" sz="2000" dirty="0">
                <a:sym typeface="Symbol" panose="05050102010706020507" charset="2"/>
              </a:rPr>
              <a:t>和</a:t>
            </a:r>
            <a:r>
              <a:rPr lang="en-US" altLang="zh-CN" sz="2000" dirty="0">
                <a:sym typeface="Symbol" panose="05050102010706020507" charset="2"/>
              </a:rPr>
              <a:t>fd[1]</a:t>
            </a:r>
            <a:r>
              <a:rPr lang="zh-CN" altLang="en-US" sz="2000" dirty="0">
                <a:sym typeface="Symbol" panose="05050102010706020507" charset="2"/>
              </a:rPr>
              <a:t>。其中</a:t>
            </a:r>
            <a:r>
              <a:rPr lang="en-US" altLang="zh-CN" sz="2000" dirty="0">
                <a:sym typeface="Symbol" panose="05050102010706020507" charset="2"/>
              </a:rPr>
              <a:t>fd[0]</a:t>
            </a:r>
            <a:r>
              <a:rPr lang="zh-CN" altLang="en-US" sz="2000" dirty="0">
                <a:sym typeface="Symbol" panose="05050102010706020507" charset="2"/>
              </a:rPr>
              <a:t>固定用于读管道，而</a:t>
            </a:r>
            <a:r>
              <a:rPr lang="en-US" altLang="zh-CN" sz="2000" dirty="0">
                <a:sym typeface="Symbol" panose="05050102010706020507" charset="2"/>
              </a:rPr>
              <a:t>fd[1]</a:t>
            </a:r>
            <a:r>
              <a:rPr lang="zh-CN" altLang="en-US" sz="2000" dirty="0">
                <a:sym typeface="Symbol" panose="05050102010706020507" charset="2"/>
              </a:rPr>
              <a:t>固定用于写管道。</a:t>
            </a:r>
            <a:endParaRPr lang="zh-CN" altLang="en-US" sz="2000" dirty="0">
              <a:sym typeface="Symbol" panose="05050102010706020507" charset="2"/>
            </a:endParaRPr>
          </a:p>
          <a:p>
            <a:pPr lvl="0" indent="-342900">
              <a:spcBef>
                <a:spcPct val="0"/>
              </a:spcBef>
              <a:spcAft>
                <a:spcPct val="0"/>
              </a:spcAft>
            </a:pPr>
            <a:endParaRPr lang="zh-CN" altLang="en-US" sz="2400" dirty="0">
              <a:sym typeface="Symbol" panose="05050102010706020507" charset="2"/>
            </a:endParaRPr>
          </a:p>
        </p:txBody>
      </p:sp>
      <p:sp>
        <p:nvSpPr>
          <p:cNvPr id="12083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无名管道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20836" name="图片 124933"/>
          <p:cNvPicPr>
            <a:picLocks noChangeAspect="1"/>
          </p:cNvPicPr>
          <p:nvPr/>
        </p:nvPicPr>
        <p:blipFill>
          <a:blip r:embed="rId1"/>
          <a:stretch>
            <a:fillRect/>
          </a:stretch>
        </p:blipFill>
        <p:spPr>
          <a:xfrm>
            <a:off x="2268538" y="2211388"/>
            <a:ext cx="3265487" cy="1990725"/>
          </a:xfrm>
          <a:prstGeom prst="rect">
            <a:avLst/>
          </a:prstGeom>
          <a:noFill/>
          <a:ln w="9525">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80000"/>
              </a:lnSpc>
            </a:pPr>
            <a:r>
              <a:rPr lang="zh-CN" altLang="en-US" sz="2000" dirty="0">
                <a:sym typeface="Symbol" panose="05050102010706020507" charset="2"/>
              </a:rPr>
              <a:t>当管道中无数据时，读操作会阻塞</a:t>
            </a:r>
            <a:endParaRPr lang="zh-CN" altLang="en-US" sz="2000" dirty="0">
              <a:sym typeface="Symbol" panose="05050102010706020507" charset="2"/>
            </a:endParaRPr>
          </a:p>
          <a:p>
            <a:pPr lvl="0" indent="-342900">
              <a:lnSpc>
                <a:spcPct val="80000"/>
              </a:lnSpc>
            </a:pPr>
            <a:endParaRPr lang="zh-CN" altLang="en-US" sz="2000" dirty="0">
              <a:sym typeface="Symbol" panose="05050102010706020507" charset="2"/>
            </a:endParaRPr>
          </a:p>
          <a:p>
            <a:pPr lvl="0" indent="-342900">
              <a:lnSpc>
                <a:spcPct val="80000"/>
              </a:lnSpc>
            </a:pPr>
            <a:r>
              <a:rPr lang="zh-CN" altLang="en-US" sz="2000" dirty="0">
                <a:sym typeface="Symbol" panose="05050102010706020507" charset="2"/>
              </a:rPr>
              <a:t>向管道中写入数据时，</a:t>
            </a:r>
            <a:r>
              <a:rPr lang="en-US" altLang="zh-CN" sz="2000" dirty="0" err="1">
                <a:sym typeface="Symbol" panose="05050102010706020507" charset="2"/>
              </a:rPr>
              <a:t>linux</a:t>
            </a:r>
            <a:r>
              <a:rPr lang="zh-CN" altLang="en-US" sz="2000" dirty="0">
                <a:sym typeface="Symbol" panose="05050102010706020507" charset="2"/>
              </a:rPr>
              <a:t>将不保证写入的原子性，管道缓冲区一有空闲区域，写进程就会试图向管道写入数据。如果读进程不读走管道缓冲区中的数据，那么写操作将会一直阻塞。</a:t>
            </a:r>
            <a:endParaRPr lang="zh-CN" altLang="en-US" sz="2000" dirty="0">
              <a:sym typeface="Symbol" panose="05050102010706020507" charset="2"/>
            </a:endParaRPr>
          </a:p>
          <a:p>
            <a:pPr lvl="0" indent="-342900">
              <a:lnSpc>
                <a:spcPct val="80000"/>
              </a:lnSpc>
            </a:pPr>
            <a:endParaRPr lang="zh-CN" altLang="en-US" sz="2000" dirty="0">
              <a:sym typeface="Symbol" panose="05050102010706020507" charset="2"/>
            </a:endParaRPr>
          </a:p>
          <a:p>
            <a:pPr lvl="0" indent="-342900">
              <a:lnSpc>
                <a:spcPct val="80000"/>
              </a:lnSpc>
            </a:pPr>
            <a:r>
              <a:rPr lang="zh-CN" altLang="en-US" sz="2000" dirty="0">
                <a:sym typeface="Symbol" panose="05050102010706020507" charset="2"/>
              </a:rPr>
              <a:t>只有在管道的读端存在时，向管道中写入数据才有意义。否则，向管道中写入数据的进程将收到内核传来的</a:t>
            </a:r>
            <a:r>
              <a:rPr lang="en-US" altLang="zh-CN" sz="2000">
                <a:sym typeface="Symbol" panose="05050102010706020507" charset="2"/>
              </a:rPr>
              <a:t>SIGPIPE</a:t>
            </a:r>
            <a:r>
              <a:rPr lang="zh-CN" altLang="en-US" sz="2000" dirty="0">
                <a:sym typeface="Symbol" panose="05050102010706020507" charset="2"/>
              </a:rPr>
              <a:t>信号</a:t>
            </a:r>
            <a:r>
              <a:rPr lang="en-US" altLang="zh-CN" sz="2000" dirty="0">
                <a:sym typeface="Symbol" panose="05050102010706020507" charset="2"/>
              </a:rPr>
              <a:t>(</a:t>
            </a:r>
            <a:r>
              <a:rPr lang="zh-CN" altLang="en-US" sz="2000" dirty="0">
                <a:sym typeface="Symbol" panose="05050102010706020507" charset="2"/>
              </a:rPr>
              <a:t>通常</a:t>
            </a:r>
            <a:r>
              <a:rPr lang="en-US" altLang="zh-CN" sz="2000" dirty="0">
                <a:sym typeface="Symbol" panose="05050102010706020507" charset="2"/>
              </a:rPr>
              <a:t>Broken pipe</a:t>
            </a:r>
            <a:r>
              <a:rPr lang="zh-CN" altLang="en-US" sz="2000" dirty="0">
                <a:sym typeface="Symbol" panose="05050102010706020507" charset="2"/>
              </a:rPr>
              <a:t>错误</a:t>
            </a:r>
            <a:r>
              <a:rPr lang="en-US" altLang="zh-CN" sz="2000" dirty="0">
                <a:sym typeface="Symbol" panose="05050102010706020507" charset="2"/>
              </a:rPr>
              <a:t>)</a:t>
            </a:r>
            <a:r>
              <a:rPr lang="zh-CN" altLang="en-US" sz="2000" dirty="0">
                <a:sym typeface="Symbol" panose="05050102010706020507" charset="2"/>
              </a:rPr>
              <a:t>。</a:t>
            </a:r>
            <a:endParaRPr lang="zh-CN" altLang="en-US" sz="2000" dirty="0">
              <a:sym typeface="Symbol" panose="05050102010706020507" charset="2"/>
            </a:endParaRPr>
          </a:p>
          <a:p>
            <a:pPr lvl="0" indent="-342900">
              <a:spcBef>
                <a:spcPct val="0"/>
              </a:spcBef>
              <a:spcAft>
                <a:spcPct val="0"/>
              </a:spcAft>
            </a:pPr>
            <a:endParaRPr lang="zh-CN" altLang="en-US" sz="2400" dirty="0">
              <a:sym typeface="Symbol" panose="05050102010706020507" charset="2"/>
            </a:endParaRPr>
          </a:p>
        </p:txBody>
      </p:sp>
      <p:sp>
        <p:nvSpPr>
          <p:cNvPr id="12185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无名管道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2000" dirty="0">
                <a:latin typeface="宋体" panose="02010600030101010101" pitchFamily="2" charset="-122"/>
                <a:sym typeface="宋体" panose="02010600030101010101" pitchFamily="2" charset="-122"/>
              </a:rPr>
              <a:t>有名管道可以使互不相关的两个进程互相通信。有名管道可以通过路径名来指出，并且在文件系统中可见</a:t>
            </a:r>
            <a:r>
              <a:rPr lang="zh-CN" altLang="en-US" sz="2000" dirty="0">
                <a:latin typeface="宋体" panose="02010600030101010101" pitchFamily="2" charset="-122"/>
                <a:sym typeface="宋体" panose="02010600030101010101" pitchFamily="2" charset="-122"/>
              </a:rPr>
              <a:t>。</a:t>
            </a:r>
            <a:r>
              <a:rPr lang="zh-CN" altLang="en-US" sz="2000" dirty="0">
                <a:sym typeface="Symbol" panose="05050102010706020507" charset="2"/>
              </a:rPr>
              <a:t>进程通过文件</a:t>
            </a:r>
            <a:r>
              <a:rPr lang="en-US" altLang="zh-CN" sz="2000" dirty="0">
                <a:sym typeface="Symbol" panose="05050102010706020507" charset="2"/>
              </a:rPr>
              <a:t>IO</a:t>
            </a:r>
            <a:r>
              <a:rPr lang="zh-CN" altLang="en-US" sz="2000" dirty="0">
                <a:sym typeface="Symbol" panose="05050102010706020507" charset="2"/>
              </a:rPr>
              <a:t>来操作有名管道。有名管道遵循先进先出规则。不支持如</a:t>
            </a:r>
            <a:r>
              <a:rPr lang="en-US" altLang="zh-CN" sz="2000" dirty="0">
                <a:sym typeface="Symbol" panose="05050102010706020507" charset="2"/>
              </a:rPr>
              <a:t>lseek() </a:t>
            </a:r>
            <a:r>
              <a:rPr lang="zh-CN" altLang="en-US" sz="2000" dirty="0">
                <a:sym typeface="Symbol" panose="05050102010706020507" charset="2"/>
              </a:rPr>
              <a:t>操作 。</a:t>
            </a:r>
            <a:endParaRPr lang="zh-CN" altLang="en-US" sz="2000" dirty="0">
              <a:sym typeface="Symbol" panose="05050102010706020507" charset="2"/>
            </a:endParaRPr>
          </a:p>
          <a:p>
            <a:pPr lvl="0" indent="-342900"/>
            <a:r>
              <a:rPr lang="zh-CN" altLang="en-US" sz="2000" dirty="0">
                <a:sym typeface="Symbol" panose="05050102010706020507" charset="2"/>
              </a:rPr>
              <a:t>有名管道：单工</a:t>
            </a:r>
            <a:endParaRPr lang="zh-CN" altLang="en-US" sz="2000" dirty="0">
              <a:sym typeface="Symbol" panose="05050102010706020507" charset="2"/>
            </a:endParaRPr>
          </a:p>
          <a:p>
            <a:pPr lvl="0" indent="-342900"/>
            <a:endParaRPr lang="en-US" altLang="zh-CN" sz="2000" dirty="0">
              <a:latin typeface="宋体" panose="02010600030101010101" pitchFamily="2" charset="-122"/>
              <a:sym typeface="宋体" panose="02010600030101010101" pitchFamily="2" charset="-122"/>
            </a:endParaRPr>
          </a:p>
          <a:p>
            <a:pPr lvl="0" indent="-342900"/>
            <a:endParaRPr lang="en-US" altLang="zh-CN" sz="2000" dirty="0">
              <a:latin typeface="宋体" panose="02010600030101010101" pitchFamily="2" charset="-122"/>
              <a:sym typeface="宋体" panose="02010600030101010101" pitchFamily="2" charset="-122"/>
            </a:endParaRPr>
          </a:p>
          <a:p>
            <a:pPr lvl="0" indent="-342900">
              <a:lnSpc>
                <a:spcPct val="150000"/>
              </a:lnSpc>
            </a:pPr>
            <a:endParaRPr lang="zh-CN" altLang="en-US" sz="32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12288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有名管道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22884" name="图片 125957"/>
          <p:cNvPicPr>
            <a:picLocks noChangeAspect="1"/>
          </p:cNvPicPr>
          <p:nvPr/>
        </p:nvPicPr>
        <p:blipFill>
          <a:blip r:embed="rId1"/>
          <a:stretch>
            <a:fillRect/>
          </a:stretch>
        </p:blipFill>
        <p:spPr>
          <a:xfrm>
            <a:off x="1397000" y="2498725"/>
            <a:ext cx="5865813" cy="2533650"/>
          </a:xfrm>
          <a:prstGeom prst="rect">
            <a:avLst/>
          </a:prstGeom>
          <a:noFill/>
          <a:ln w="9525">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endParaRPr lang="zh-CN" altLang="en-US" sz="2000" dirty="0">
              <a:sym typeface="Symbol" panose="05050102010706020507" charset="2"/>
            </a:endParaRPr>
          </a:p>
          <a:p>
            <a:pPr lvl="0" indent="-342900"/>
            <a:endParaRPr lang="en-US" altLang="zh-CN" sz="2000" dirty="0">
              <a:latin typeface="宋体" panose="02010600030101010101" pitchFamily="2" charset="-122"/>
              <a:sym typeface="宋体" panose="02010600030101010101" pitchFamily="2" charset="-122"/>
            </a:endParaRPr>
          </a:p>
          <a:p>
            <a:pPr lvl="0" indent="-342900"/>
            <a:endParaRPr lang="en-US" altLang="zh-CN" sz="2000" dirty="0">
              <a:latin typeface="宋体" panose="02010600030101010101" pitchFamily="2" charset="-122"/>
              <a:sym typeface="宋体" panose="02010600030101010101" pitchFamily="2" charset="-122"/>
            </a:endParaRPr>
          </a:p>
          <a:p>
            <a:pPr lvl="0" indent="-342900">
              <a:lnSpc>
                <a:spcPct val="150000"/>
              </a:lnSpc>
            </a:pPr>
            <a:endParaRPr lang="zh-CN" altLang="en-US" sz="32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12390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有名管道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189443" name="Group 3"/>
          <p:cNvGraphicFramePr>
            <a:graphicFrameLocks noGrp="1"/>
          </p:cNvGraphicFramePr>
          <p:nvPr/>
        </p:nvGraphicFramePr>
        <p:xfrm>
          <a:off x="374650" y="1412875"/>
          <a:ext cx="8229600" cy="2527935"/>
        </p:xfrm>
        <a:graphic>
          <a:graphicData uri="http://schemas.openxmlformats.org/drawingml/2006/table">
            <a:tbl>
              <a:tblPr/>
              <a:tblGrid>
                <a:gridCol w="1606550"/>
                <a:gridCol w="6623050"/>
              </a:tblGrid>
              <a:tr h="36576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EACCESS</a:t>
                      </a:r>
                      <a:endPar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参数</a:t>
                      </a:r>
                      <a:r>
                        <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filename</a:t>
                      </a:r>
                      <a:r>
                        <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所指定的目录路径无可执行的权限</a:t>
                      </a:r>
                      <a:endPar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830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EEXIST</a:t>
                      </a:r>
                      <a:endPar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参数</a:t>
                      </a:r>
                      <a:r>
                        <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filename</a:t>
                      </a:r>
                      <a:r>
                        <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所指定的文件已存在</a:t>
                      </a:r>
                      <a:endPar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4008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ENAMETOOLONG</a:t>
                      </a:r>
                      <a:endPar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参数</a:t>
                      </a:r>
                      <a:r>
                        <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filename</a:t>
                      </a:r>
                      <a:r>
                        <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的路径名称太长</a:t>
                      </a:r>
                      <a:endPar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830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ENOENT</a:t>
                      </a:r>
                      <a:endPar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参数</a:t>
                      </a:r>
                      <a:r>
                        <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filename</a:t>
                      </a:r>
                      <a:r>
                        <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包含的目录不存在</a:t>
                      </a:r>
                      <a:endPar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8300">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ENOSPC</a:t>
                      </a:r>
                      <a:endPar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文件系统的剩余空间不足</a:t>
                      </a:r>
                      <a:endPar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7195">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EROFS</a:t>
                      </a:r>
                      <a:endPar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273050" marR="0" lvl="0" indent="-273050" algn="l" defTabSz="914400" rtl="0" eaLnBrk="1" fontAlgn="base" latinLnBrk="0" hangingPunct="1">
                        <a:lnSpc>
                          <a:spcPct val="100000"/>
                        </a:lnSpc>
                        <a:spcBef>
                          <a:spcPct val="0"/>
                        </a:spcBef>
                        <a:spcAft>
                          <a:spcPct val="0"/>
                        </a:spcAft>
                        <a:buClr>
                          <a:schemeClr val="accent1"/>
                        </a:buClr>
                        <a:buSzPct val="76000"/>
                        <a:buFont typeface="Wingdings 3" panose="05040102010807070707" pitchFamily="2" charset="2"/>
                        <a:buNone/>
                      </a:pPr>
                      <a:r>
                        <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参数</a:t>
                      </a:r>
                      <a:r>
                        <a:rPr kumimoji="0" lang="en-US" altLang="zh-CN"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filename</a:t>
                      </a:r>
                      <a:r>
                        <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rPr>
                        <a:t>指定的文件存在于只读文件系统内</a:t>
                      </a:r>
                      <a:endParaRPr kumimoji="0" lang="zh-CN" altLang="en-US" sz="1800" b="1" i="0" u="none" strike="noStrike" cap="none" normalizeH="0" baseline="0" smtClean="0">
                        <a:ln>
                          <a:noFill/>
                        </a:ln>
                        <a:solidFill>
                          <a:schemeClr val="tx1"/>
                        </a:solidFill>
                        <a:effectLst/>
                        <a:latin typeface="微软雅黑" panose="020B0503020204020204"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endParaRPr lang="zh-CN" altLang="en-US" sz="2000" dirty="0">
              <a:sym typeface="Symbol" panose="05050102010706020507" charset="2"/>
            </a:endParaRPr>
          </a:p>
          <a:p>
            <a:pPr lvl="0" indent="-342900"/>
            <a:endParaRPr lang="en-US" altLang="zh-CN" sz="2000" dirty="0">
              <a:latin typeface="宋体" panose="02010600030101010101" pitchFamily="2" charset="-122"/>
              <a:sym typeface="宋体" panose="02010600030101010101" pitchFamily="2" charset="-122"/>
            </a:endParaRPr>
          </a:p>
          <a:p>
            <a:pPr lvl="0" indent="-342900"/>
            <a:endParaRPr lang="en-US" altLang="zh-CN" sz="2000" dirty="0">
              <a:latin typeface="宋体" panose="02010600030101010101" pitchFamily="2" charset="-122"/>
              <a:sym typeface="宋体" panose="02010600030101010101" pitchFamily="2" charset="-122"/>
            </a:endParaRPr>
          </a:p>
          <a:p>
            <a:pPr lvl="0" indent="-342900">
              <a:lnSpc>
                <a:spcPct val="150000"/>
              </a:lnSpc>
            </a:pPr>
            <a:endParaRPr lang="zh-CN" altLang="en-US" sz="3200" dirty="0">
              <a:latin typeface="宋体" panose="02010600030101010101" pitchFamily="2" charset="-122"/>
              <a:sym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12493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有名管道</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24932" name="Picture 3" descr="fifo_cs3"/>
          <p:cNvPicPr>
            <a:picLocks noChangeAspect="1"/>
          </p:cNvPicPr>
          <p:nvPr/>
        </p:nvPicPr>
        <p:blipFill>
          <a:blip r:embed="rId1"/>
          <a:stretch>
            <a:fillRect/>
          </a:stretch>
        </p:blipFill>
        <p:spPr>
          <a:xfrm>
            <a:off x="136525" y="876300"/>
            <a:ext cx="8620125" cy="4267200"/>
          </a:xfrm>
          <a:prstGeom prst="rect">
            <a:avLst/>
          </a:prstGeom>
          <a:noFill/>
          <a:ln w="9525">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zh-CN" altLang="en-US" sz="2000">
                <a:sym typeface="Symbol" panose="05050102010706020507" charset="2"/>
              </a:rPr>
              <a:t>信号是在软件层次上对中断机制的一种模拟，是一种异步通信方式</a:t>
            </a:r>
            <a:endParaRPr lang="zh-CN" altLang="en-US" sz="2000">
              <a:sym typeface="Symbol" panose="05050102010706020507" charset="2"/>
            </a:endParaRPr>
          </a:p>
          <a:p>
            <a:pPr lvl="0" indent="-342900">
              <a:lnSpc>
                <a:spcPct val="90000"/>
              </a:lnSpc>
            </a:pPr>
            <a:endParaRPr lang="zh-CN" altLang="en-US" sz="2000">
              <a:sym typeface="Symbol" panose="05050102010706020507" charset="2"/>
            </a:endParaRPr>
          </a:p>
          <a:p>
            <a:pPr lvl="0" indent="-342900">
              <a:lnSpc>
                <a:spcPct val="90000"/>
              </a:lnSpc>
            </a:pPr>
            <a:r>
              <a:rPr lang="zh-CN" altLang="en-US" sz="2000">
                <a:sym typeface="Symbol" panose="05050102010706020507" charset="2"/>
              </a:rPr>
              <a:t>信号可以直接进行用户空间进程和内核进程之间的交互，内核进程也可以利用它来通知用户空间进程发生了哪些系统事件。</a:t>
            </a:r>
            <a:endParaRPr lang="zh-CN" altLang="en-US" sz="2000">
              <a:sym typeface="Symbol" panose="05050102010706020507" charset="2"/>
            </a:endParaRPr>
          </a:p>
          <a:p>
            <a:pPr lvl="0" indent="-342900">
              <a:lnSpc>
                <a:spcPct val="90000"/>
              </a:lnSpc>
            </a:pPr>
            <a:endParaRPr lang="zh-CN" altLang="en-US" sz="2000">
              <a:sym typeface="Symbol" panose="05050102010706020507" charset="2"/>
            </a:endParaRPr>
          </a:p>
          <a:p>
            <a:pPr lvl="0" indent="-342900">
              <a:lnSpc>
                <a:spcPct val="90000"/>
              </a:lnSpc>
            </a:pPr>
            <a:r>
              <a:rPr lang="zh-CN" altLang="en-US" sz="2000">
                <a:sym typeface="Symbol" panose="05050102010706020507" charset="2"/>
              </a:rPr>
              <a:t>如果该进程当前并未处于执行态，则该信号就由内核保存起来，直到该进程恢复执行再传递给它；如果一个信号被进程设置为阻塞，则该信号的传递被延迟，直到其阻塞被取消时才被传递给进程 </a:t>
            </a:r>
            <a:endParaRPr lang="zh-CN" altLang="en-US" sz="2000">
              <a:sym typeface="Symbol" panose="05050102010706020507" charset="2"/>
            </a:endParaRPr>
          </a:p>
          <a:p>
            <a:pPr lvl="0" indent="-342900">
              <a:lnSpc>
                <a:spcPct val="150000"/>
              </a:lnSpc>
            </a:pPr>
            <a:endParaRPr lang="zh-CN" altLang="en-US" sz="3200">
              <a:sym typeface="Symbol" panose="05050102010706020507" charset="2"/>
            </a:endParaRPr>
          </a:p>
          <a:p>
            <a:pPr lvl="0" indent="-342900">
              <a:spcBef>
                <a:spcPct val="0"/>
              </a:spcBef>
              <a:spcAft>
                <a:spcPct val="0"/>
              </a:spcAft>
            </a:pPr>
            <a:endParaRPr lang="zh-CN" altLang="en-US" sz="1800">
              <a:latin typeface="宋体" panose="02010600030101010101" pitchFamily="2" charset="-122"/>
            </a:endParaRPr>
          </a:p>
        </p:txBody>
      </p:sp>
      <p:sp>
        <p:nvSpPr>
          <p:cNvPr id="12595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2000" dirty="0">
                <a:sym typeface="Symbol" panose="05050102010706020507" charset="2"/>
              </a:rPr>
              <a:t>信号处理方式：</a:t>
            </a:r>
            <a:endParaRPr lang="zh-CN" altLang="en-US" sz="2000" dirty="0">
              <a:sym typeface="Symbol" panose="05050102010706020507" charset="2"/>
            </a:endParaRPr>
          </a:p>
          <a:p>
            <a:pPr marL="1905" lvl="1" indent="455295"/>
            <a:r>
              <a:rPr lang="zh-CN" altLang="en-US" sz="1700" dirty="0">
                <a:sym typeface="Symbol" panose="05050102010706020507" charset="2"/>
              </a:rPr>
              <a:t>忽略信号：即对信号不做任何动作，SIGKILL和SIGSTOP不能忽略</a:t>
            </a:r>
            <a:endParaRPr lang="zh-CN" altLang="en-US" sz="1700" dirty="0">
              <a:sym typeface="Symbol" panose="05050102010706020507" charset="2"/>
            </a:endParaRPr>
          </a:p>
          <a:p>
            <a:pPr marL="1905" lvl="1" indent="455295"/>
            <a:r>
              <a:rPr lang="zh-CN" altLang="en-US" sz="1700" dirty="0">
                <a:sym typeface="Symbol" panose="05050102010706020507" charset="2"/>
              </a:rPr>
              <a:t>捕捉信号：定义信号处理函数，当信号发生时，执行相应处理函数</a:t>
            </a:r>
            <a:endParaRPr lang="zh-CN" altLang="en-US" sz="1700" dirty="0">
              <a:sym typeface="Symbol" panose="05050102010706020507" charset="2"/>
            </a:endParaRPr>
          </a:p>
          <a:p>
            <a:pPr marL="1905" lvl="1" indent="455295"/>
            <a:r>
              <a:rPr lang="zh-CN" altLang="en-US" sz="1700" dirty="0">
                <a:sym typeface="Symbol" panose="05050102010706020507" charset="2"/>
              </a:rPr>
              <a:t>执行默认操作：linux对每种信号都规定了默认操作，如下表(部分)：</a:t>
            </a:r>
            <a:endParaRPr lang="zh-CN" altLang="en-US" sz="17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2697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26980" name="图片 128005"/>
          <p:cNvPicPr>
            <a:picLocks noChangeAspect="1"/>
          </p:cNvPicPr>
          <p:nvPr/>
        </p:nvPicPr>
        <p:blipFill>
          <a:blip r:embed="rId1"/>
          <a:stretch>
            <a:fillRect/>
          </a:stretch>
        </p:blipFill>
        <p:spPr>
          <a:xfrm>
            <a:off x="1619250" y="2284413"/>
            <a:ext cx="5876925" cy="2362200"/>
          </a:xfrm>
          <a:prstGeom prst="rect">
            <a:avLst/>
          </a:prstGeom>
          <a:noFill/>
          <a:ln w="9525">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endParaRPr lang="zh-CN" altLang="en-US" sz="17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2800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28004" name="Picture 3" descr="singal处理流程"/>
          <p:cNvPicPr>
            <a:picLocks noChangeAspect="1"/>
          </p:cNvPicPr>
          <p:nvPr/>
        </p:nvPicPr>
        <p:blipFill>
          <a:blip r:embed="rId1"/>
          <a:stretch>
            <a:fillRect/>
          </a:stretch>
        </p:blipFill>
        <p:spPr>
          <a:xfrm>
            <a:off x="460375" y="842963"/>
            <a:ext cx="7226300" cy="3965575"/>
          </a:xfrm>
          <a:prstGeom prst="rect">
            <a:avLst/>
          </a:prstGeom>
          <a:noFill/>
          <a:ln w="9525">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2000" dirty="0">
                <a:sym typeface="Symbol" panose="05050102010706020507" charset="2"/>
              </a:rPr>
              <a:t>alarm()</a:t>
            </a:r>
            <a:r>
              <a:rPr lang="zh-CN" altLang="en-US" sz="2000" dirty="0">
                <a:sym typeface="Symbol" panose="05050102010706020507" charset="2"/>
              </a:rPr>
              <a:t>和</a:t>
            </a:r>
            <a:r>
              <a:rPr lang="en-US" altLang="zh-CN" sz="2000" dirty="0">
                <a:sym typeface="Symbol" panose="05050102010706020507" charset="2"/>
              </a:rPr>
              <a:t>pause()</a:t>
            </a:r>
            <a:endParaRPr lang="en-US" altLang="zh-CN" sz="2000" dirty="0">
              <a:sym typeface="Symbol" panose="05050102010706020507" charset="2"/>
            </a:endParaRPr>
          </a:p>
          <a:p>
            <a:pPr lvl="0" indent="-342900"/>
            <a:endParaRPr lang="zh-CN" altLang="en-US" sz="2000" dirty="0">
              <a:sym typeface="Symbol" panose="05050102010706020507" charset="2"/>
            </a:endParaRPr>
          </a:p>
          <a:p>
            <a:pPr lvl="0" indent="-342900"/>
            <a:r>
              <a:rPr lang="en-US" altLang="zh-CN" sz="2000" dirty="0">
                <a:sym typeface="Symbol" panose="05050102010706020507" charset="2"/>
              </a:rPr>
              <a:t>alarm()</a:t>
            </a:r>
            <a:r>
              <a:rPr lang="zh-CN" altLang="en-US" sz="2000" dirty="0">
                <a:sym typeface="Symbol" panose="05050102010706020507" charset="2"/>
              </a:rPr>
              <a:t>也称为闹钟函数，它可以在进程中设置一个定时器。当定时器指定的时间到时，内核就向进程发送</a:t>
            </a:r>
            <a:r>
              <a:rPr lang="en-US" altLang="zh-CN" sz="2000" dirty="0">
                <a:sym typeface="Symbol" panose="05050102010706020507" charset="2"/>
              </a:rPr>
              <a:t>SIGALRM</a:t>
            </a:r>
            <a:r>
              <a:rPr lang="zh-CN" altLang="en-US" sz="2000" dirty="0">
                <a:sym typeface="Symbol" panose="05050102010706020507" charset="2"/>
              </a:rPr>
              <a:t>信号。</a:t>
            </a:r>
            <a:endParaRPr lang="zh-CN" altLang="en-US" sz="2000" dirty="0">
              <a:sym typeface="Symbol" panose="05050102010706020507" charset="2"/>
            </a:endParaRPr>
          </a:p>
          <a:p>
            <a:pPr lvl="0" indent="-342900"/>
            <a:endParaRPr lang="zh-CN" altLang="en-US" sz="2000" dirty="0">
              <a:sym typeface="Symbol" panose="05050102010706020507" charset="2"/>
            </a:endParaRPr>
          </a:p>
          <a:p>
            <a:pPr lvl="0" indent="-342900"/>
            <a:endParaRPr lang="zh-CN" altLang="en-US" sz="2000" dirty="0">
              <a:sym typeface="Symbol" panose="05050102010706020507" charset="2"/>
            </a:endParaRPr>
          </a:p>
          <a:p>
            <a:pPr lvl="0" indent="-342900"/>
            <a:endParaRPr lang="zh-CN" altLang="en-US" sz="2000" dirty="0">
              <a:sym typeface="Symbol" panose="05050102010706020507" charset="2"/>
            </a:endParaRPr>
          </a:p>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2902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29028" name="图片 1"/>
          <p:cNvPicPr>
            <a:picLocks noChangeAspect="1"/>
          </p:cNvPicPr>
          <p:nvPr/>
        </p:nvPicPr>
        <p:blipFill>
          <a:blip r:embed="rId1"/>
          <a:stretch>
            <a:fillRect/>
          </a:stretch>
        </p:blipFill>
        <p:spPr>
          <a:xfrm>
            <a:off x="1149350" y="2503488"/>
            <a:ext cx="5999163" cy="2009775"/>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2000" dirty="0">
                <a:sym typeface="Symbol" panose="05050102010706020507" charset="2"/>
              </a:rPr>
              <a:t>alarm()</a:t>
            </a:r>
            <a:r>
              <a:rPr lang="zh-CN" altLang="en-US" sz="2000" dirty="0">
                <a:sym typeface="Symbol" panose="05050102010706020507" charset="2"/>
              </a:rPr>
              <a:t>和</a:t>
            </a:r>
            <a:r>
              <a:rPr lang="en-US" altLang="zh-CN" sz="2000" dirty="0">
                <a:sym typeface="Symbol" panose="05050102010706020507" charset="2"/>
              </a:rPr>
              <a:t>pause()</a:t>
            </a:r>
            <a:endParaRPr lang="zh-CN" altLang="en-US" sz="2000" dirty="0">
              <a:sym typeface="Symbol" panose="05050102010706020507" charset="2"/>
            </a:endParaRPr>
          </a:p>
          <a:p>
            <a:pPr lvl="0" indent="-342900"/>
            <a:r>
              <a:rPr lang="en-US" altLang="zh-CN" sz="2000" dirty="0">
                <a:sym typeface="Symbol" panose="05050102010706020507" charset="2"/>
              </a:rPr>
              <a:t>pause()</a:t>
            </a:r>
            <a:r>
              <a:rPr lang="zh-CN" altLang="en-US" sz="2000" dirty="0">
                <a:sym typeface="Symbol" panose="05050102010706020507" charset="2"/>
              </a:rPr>
              <a:t>函数是用于将调用进程挂起直到收到信号为止。</a:t>
            </a:r>
            <a:endParaRPr lang="zh-CN" altLang="en-US" sz="2000" dirty="0">
              <a:sym typeface="Symbol" panose="05050102010706020507" charset="2"/>
            </a:endParaRPr>
          </a:p>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3005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30052" name="图片 1"/>
          <p:cNvPicPr>
            <a:picLocks noChangeAspect="1"/>
          </p:cNvPicPr>
          <p:nvPr/>
        </p:nvPicPr>
        <p:blipFill>
          <a:blip r:embed="rId1"/>
          <a:stretch>
            <a:fillRect/>
          </a:stretch>
        </p:blipFill>
        <p:spPr>
          <a:xfrm>
            <a:off x="1566863" y="1809750"/>
            <a:ext cx="6010275" cy="1524000"/>
          </a:xfrm>
          <a:prstGeom prst="rect">
            <a:avLst/>
          </a:prstGeom>
          <a:noFill/>
          <a:ln w="9525">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2000" dirty="0">
                <a:sym typeface="Symbol" panose="05050102010706020507" charset="2"/>
              </a:rPr>
              <a:t>kill() 和signal()</a:t>
            </a:r>
            <a:endParaRPr lang="zh-CN" altLang="en-US" sz="2000" dirty="0">
              <a:sym typeface="Symbol" panose="05050102010706020507" charset="2"/>
            </a:endParaRPr>
          </a:p>
          <a:p>
            <a:pPr lvl="0" indent="-342900"/>
            <a:r>
              <a:rPr lang="en-US" altLang="zh-CN" sz="2000" dirty="0">
                <a:latin typeface="宋体" panose="02010600030101010101" pitchFamily="2" charset="-122"/>
                <a:sym typeface="宋体" panose="02010600030101010101" pitchFamily="2" charset="-122"/>
              </a:rPr>
              <a:t>kill</a:t>
            </a:r>
            <a:r>
              <a:rPr lang="zh-CN" altLang="en-US" sz="2000" dirty="0">
                <a:latin typeface="宋体" panose="02010600030101010101" pitchFamily="2" charset="-122"/>
                <a:sym typeface="宋体" panose="02010600030101010101" pitchFamily="2" charset="-122"/>
              </a:rPr>
              <a:t>函数同读者熟知的</a:t>
            </a:r>
            <a:r>
              <a:rPr lang="en-US" altLang="zh-CN" sz="2000" dirty="0">
                <a:latin typeface="宋体" panose="02010600030101010101" pitchFamily="2" charset="-122"/>
                <a:sym typeface="宋体" panose="02010600030101010101" pitchFamily="2" charset="-122"/>
              </a:rPr>
              <a:t>kill</a:t>
            </a:r>
            <a:r>
              <a:rPr lang="zh-CN" altLang="en-US" sz="2000" dirty="0">
                <a:latin typeface="宋体" panose="02010600030101010101" pitchFamily="2" charset="-122"/>
                <a:sym typeface="宋体" panose="02010600030101010101" pitchFamily="2" charset="-122"/>
              </a:rPr>
              <a:t>系统命令一样，可以发送信号给进程或进程组</a:t>
            </a:r>
            <a:r>
              <a:rPr lang="en-US" altLang="zh-CN" sz="2000" dirty="0">
                <a:latin typeface="宋体" panose="02010600030101010101" pitchFamily="2" charset="-122"/>
                <a:sym typeface="宋体" panose="02010600030101010101" pitchFamily="2" charset="-122"/>
              </a:rPr>
              <a:t>(</a:t>
            </a:r>
            <a:r>
              <a:rPr lang="zh-CN" altLang="en-US" sz="2000" dirty="0">
                <a:latin typeface="宋体" panose="02010600030101010101" pitchFamily="2" charset="-122"/>
                <a:sym typeface="宋体" panose="02010600030101010101" pitchFamily="2" charset="-122"/>
              </a:rPr>
              <a:t>实际上，</a:t>
            </a:r>
            <a:r>
              <a:rPr lang="en-US" altLang="zh-CN" sz="2000" dirty="0">
                <a:latin typeface="宋体" panose="02010600030101010101" pitchFamily="2" charset="-122"/>
                <a:sym typeface="宋体" panose="02010600030101010101" pitchFamily="2" charset="-122"/>
              </a:rPr>
              <a:t>kill</a:t>
            </a:r>
            <a:r>
              <a:rPr lang="zh-CN" altLang="en-US" sz="2000" dirty="0">
                <a:latin typeface="宋体" panose="02010600030101010101" pitchFamily="2" charset="-122"/>
                <a:sym typeface="宋体" panose="02010600030101010101" pitchFamily="2" charset="-122"/>
              </a:rPr>
              <a:t>系统命令只是</a:t>
            </a:r>
            <a:r>
              <a:rPr lang="en-US" altLang="zh-CN" sz="2000" dirty="0">
                <a:latin typeface="宋体" panose="02010600030101010101" pitchFamily="2" charset="-122"/>
                <a:sym typeface="宋体" panose="02010600030101010101" pitchFamily="2" charset="-122"/>
              </a:rPr>
              <a:t>kill</a:t>
            </a:r>
            <a:r>
              <a:rPr lang="zh-CN" altLang="en-US" sz="2000" dirty="0">
                <a:latin typeface="宋体" panose="02010600030101010101" pitchFamily="2" charset="-122"/>
                <a:sym typeface="宋体" panose="02010600030101010101" pitchFamily="2" charset="-122"/>
              </a:rPr>
              <a:t>函数的一个用户接口</a:t>
            </a:r>
            <a:r>
              <a:rPr lang="en-US" altLang="zh-CN" sz="2000" dirty="0">
                <a:latin typeface="宋体" panose="02010600030101010101" pitchFamily="2" charset="-122"/>
                <a:sym typeface="宋体" panose="02010600030101010101" pitchFamily="2" charset="-122"/>
              </a:rPr>
              <a:t>)</a:t>
            </a:r>
            <a:r>
              <a:rPr lang="zh-CN" altLang="en-US" sz="2000" dirty="0">
                <a:latin typeface="宋体" panose="02010600030101010101" pitchFamily="2" charset="-122"/>
                <a:sym typeface="宋体" panose="02010600030101010101" pitchFamily="2" charset="-122"/>
              </a:rPr>
              <a:t>。</a:t>
            </a:r>
            <a:endParaRPr lang="zh-CN" altLang="en-US" sz="2000" dirty="0">
              <a:latin typeface="宋体" panose="02010600030101010101" pitchFamily="2" charset="-122"/>
              <a:sym typeface="宋体" panose="02010600030101010101" pitchFamily="2" charset="-122"/>
            </a:endParaRPr>
          </a:p>
          <a:p>
            <a:pPr marL="1905" lvl="1" indent="455295"/>
            <a:r>
              <a:rPr lang="en-US" altLang="zh-CN" sz="2000" dirty="0">
                <a:latin typeface="宋体" panose="02010600030101010101" pitchFamily="2" charset="-122"/>
                <a:sym typeface="宋体" panose="02010600030101010101" pitchFamily="2" charset="-122"/>
              </a:rPr>
              <a:t>kill –l </a:t>
            </a:r>
            <a:r>
              <a:rPr lang="zh-CN" altLang="en-US" sz="2000" dirty="0">
                <a:latin typeface="宋体" panose="02010600030101010101" pitchFamily="2" charset="-122"/>
                <a:sym typeface="宋体" panose="02010600030101010101" pitchFamily="2" charset="-122"/>
              </a:rPr>
              <a:t>命令查看系统支持的信号列表</a:t>
            </a:r>
            <a:endParaRPr lang="zh-CN" altLang="en-US" sz="2000" dirty="0">
              <a:latin typeface="宋体" panose="02010600030101010101" pitchFamily="2" charset="-122"/>
              <a:sym typeface="宋体" panose="02010600030101010101" pitchFamily="2" charset="-122"/>
            </a:endParaRPr>
          </a:p>
          <a:p>
            <a:pPr marL="1905" lvl="1" indent="455295"/>
            <a:r>
              <a:rPr lang="en-US" altLang="zh-CN" sz="2000" dirty="0">
                <a:latin typeface="宋体" panose="02010600030101010101" pitchFamily="2" charset="-122"/>
                <a:sym typeface="宋体" panose="02010600030101010101" pitchFamily="2" charset="-122"/>
              </a:rPr>
              <a:t>raise</a:t>
            </a:r>
            <a:r>
              <a:rPr lang="zh-CN" altLang="en-US" sz="2000" dirty="0">
                <a:latin typeface="宋体" panose="02010600030101010101" pitchFamily="2" charset="-122"/>
                <a:sym typeface="宋体" panose="02010600030101010101" pitchFamily="2" charset="-122"/>
              </a:rPr>
              <a:t>函数允许进程向自己发送信号</a:t>
            </a:r>
            <a:endParaRPr lang="zh-CN" altLang="en-US" sz="2000" dirty="0">
              <a:latin typeface="宋体" panose="02010600030101010101" pitchFamily="2" charset="-122"/>
              <a:sym typeface="宋体" panose="02010600030101010101" pitchFamily="2" charset="-122"/>
            </a:endParaRPr>
          </a:p>
          <a:p>
            <a:pPr lvl="0" indent="-342900"/>
            <a:endParaRPr lang="zh-CN" altLang="en-US" sz="2000" dirty="0">
              <a:latin typeface="宋体" panose="02010600030101010101" pitchFamily="2" charset="-122"/>
              <a:sym typeface="宋体" panose="02010600030101010101" pitchFamily="2" charset="-122"/>
            </a:endParaRPr>
          </a:p>
          <a:p>
            <a:pPr lvl="0" indent="-342900"/>
            <a:r>
              <a:rPr lang="zh-CN" altLang="en-US" sz="2000" dirty="0">
                <a:sym typeface="Symbol" panose="05050102010706020507" charset="2"/>
              </a:rPr>
              <a:t>信号处理的主要方法有两种</a:t>
            </a:r>
            <a:endParaRPr lang="zh-CN" altLang="en-US" sz="2000" dirty="0">
              <a:sym typeface="Symbol" panose="05050102010706020507" charset="2"/>
            </a:endParaRPr>
          </a:p>
          <a:p>
            <a:pPr marL="1905" lvl="1" indent="455295"/>
            <a:r>
              <a:rPr lang="zh-CN" altLang="en-US" sz="1700" dirty="0">
                <a:sym typeface="Symbol" panose="05050102010706020507" charset="2"/>
              </a:rPr>
              <a:t>使用简单的</a:t>
            </a:r>
            <a:r>
              <a:rPr lang="en-US" altLang="zh-CN" sz="1700" dirty="0">
                <a:sym typeface="Symbol" panose="05050102010706020507" charset="2"/>
              </a:rPr>
              <a:t>signal()</a:t>
            </a:r>
            <a:r>
              <a:rPr lang="zh-CN" altLang="en-US" sz="1700" dirty="0">
                <a:sym typeface="Symbol" panose="05050102010706020507" charset="2"/>
              </a:rPr>
              <a:t>函数,需指定要处理的信号和处理函数</a:t>
            </a:r>
            <a:endParaRPr lang="zh-CN" altLang="en-US" sz="1700" dirty="0">
              <a:sym typeface="Symbol" panose="05050102010706020507" charset="2"/>
            </a:endParaRPr>
          </a:p>
          <a:p>
            <a:pPr marL="1905" lvl="1" indent="455295"/>
            <a:r>
              <a:rPr lang="zh-CN" altLang="en-US" sz="1700" dirty="0">
                <a:sym typeface="Symbol" panose="05050102010706020507" charset="2"/>
              </a:rPr>
              <a:t>使用信号集函数族 </a:t>
            </a:r>
            <a:endParaRPr lang="zh-CN" altLang="en-US" sz="1700" dirty="0">
              <a:sym typeface="Symbol" panose="05050102010706020507" charset="2"/>
            </a:endParaRPr>
          </a:p>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3107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700" dirty="0">
                <a:sym typeface="Symbol" panose="05050102010706020507" charset="2"/>
              </a:rPr>
              <a:t> </a:t>
            </a:r>
            <a:endParaRPr lang="zh-CN" altLang="en-US" sz="1700" dirty="0">
              <a:sym typeface="Symbol" panose="05050102010706020507" charset="2"/>
            </a:endParaRPr>
          </a:p>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3209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32100" name="图片 1"/>
          <p:cNvPicPr>
            <a:picLocks noChangeAspect="1"/>
          </p:cNvPicPr>
          <p:nvPr/>
        </p:nvPicPr>
        <p:blipFill>
          <a:blip r:embed="rId1"/>
          <a:stretch>
            <a:fillRect/>
          </a:stretch>
        </p:blipFill>
        <p:spPr>
          <a:xfrm>
            <a:off x="1031875" y="933450"/>
            <a:ext cx="6264275" cy="3833813"/>
          </a:xfrm>
          <a:prstGeom prst="rect">
            <a:avLst/>
          </a:prstGeom>
          <a:noFill/>
          <a:ln w="9525">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700" dirty="0">
                <a:sym typeface="Symbol" panose="05050102010706020507" charset="2"/>
              </a:rPr>
              <a:t> </a:t>
            </a:r>
            <a:endParaRPr lang="zh-CN" altLang="en-US" sz="1700" dirty="0">
              <a:sym typeface="Symbol" panose="05050102010706020507" charset="2"/>
            </a:endParaRPr>
          </a:p>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3312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33124" name="图片 2"/>
          <p:cNvPicPr>
            <a:picLocks noChangeAspect="1"/>
          </p:cNvPicPr>
          <p:nvPr/>
        </p:nvPicPr>
        <p:blipFill>
          <a:blip r:embed="rId1"/>
          <a:stretch>
            <a:fillRect/>
          </a:stretch>
        </p:blipFill>
        <p:spPr>
          <a:xfrm>
            <a:off x="1062038" y="957263"/>
            <a:ext cx="6391275" cy="3581400"/>
          </a:xfrm>
          <a:prstGeom prst="rect">
            <a:avLst/>
          </a:prstGeom>
          <a:noFill/>
          <a:ln w="9525">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400" dirty="0">
                <a:sym typeface="Symbol" panose="05050102010706020507" charset="2"/>
              </a:rPr>
              <a:t> </a:t>
            </a:r>
            <a:endParaRPr lang="zh-CN" altLang="en-US" sz="14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3414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共享内存</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34148" name="图片 131077"/>
          <p:cNvPicPr>
            <a:picLocks noChangeAspect="1"/>
          </p:cNvPicPr>
          <p:nvPr/>
        </p:nvPicPr>
        <p:blipFill>
          <a:blip r:embed="rId1"/>
          <a:stretch>
            <a:fillRect/>
          </a:stretch>
        </p:blipFill>
        <p:spPr>
          <a:xfrm>
            <a:off x="1223963" y="1314450"/>
            <a:ext cx="6694487" cy="2514600"/>
          </a:xfrm>
          <a:prstGeom prst="rect">
            <a:avLst/>
          </a:prstGeom>
          <a:noFill/>
          <a:ln w="9525">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2000">
                <a:sym typeface="Symbol" panose="05050102010706020507" charset="2"/>
              </a:rPr>
              <a:t>共享内存是一种最为高效的进程间通信方式，进程可以直接读写内核</a:t>
            </a:r>
            <a:r>
              <a:rPr lang="zh-CN" altLang="en-US" sz="2000">
                <a:sym typeface="Symbol" panose="05050102010706020507" charset="2"/>
              </a:rPr>
              <a:t>内存，而不需要任何数据的拷贝</a:t>
            </a:r>
            <a:endParaRPr lang="zh-CN" altLang="en-US" sz="2000">
              <a:sym typeface="Symbol" panose="05050102010706020507" charset="2"/>
            </a:endParaRPr>
          </a:p>
          <a:p>
            <a:pPr lvl="0" indent="-342900"/>
            <a:endParaRPr lang="zh-CN" altLang="en-US" sz="2000">
              <a:sym typeface="Symbol" panose="05050102010706020507" charset="2"/>
            </a:endParaRPr>
          </a:p>
          <a:p>
            <a:pPr lvl="0" indent="-342900"/>
            <a:r>
              <a:rPr lang="zh-CN" altLang="en-US" sz="2000">
                <a:sym typeface="Symbol" panose="05050102010706020507" charset="2"/>
              </a:rPr>
              <a:t>为了在多个进程间交换信息，内核专门留出了一块内存区，可以由需要访问的进程将其映射到自己的私有地址空间</a:t>
            </a:r>
            <a:endParaRPr lang="zh-CN" altLang="en-US" sz="2000">
              <a:sym typeface="Symbol" panose="05050102010706020507" charset="2"/>
            </a:endParaRPr>
          </a:p>
          <a:p>
            <a:pPr lvl="0" indent="-342900"/>
            <a:endParaRPr lang="zh-CN" altLang="en-US" sz="2000">
              <a:sym typeface="Symbol" panose="05050102010706020507" charset="2"/>
            </a:endParaRPr>
          </a:p>
          <a:p>
            <a:pPr lvl="0" indent="-342900"/>
            <a:r>
              <a:rPr lang="zh-CN" altLang="en-US" sz="2000">
                <a:sym typeface="Symbol" panose="05050102010706020507" charset="2"/>
              </a:rPr>
              <a:t>由于多个进程共享一段内存，因此也需要依靠某种同步机制，如互斥锁和信号量等</a:t>
            </a:r>
            <a:endParaRPr lang="zh-CN" altLang="en-US" sz="2000">
              <a:sym typeface="Symbol" panose="05050102010706020507" charset="2"/>
            </a:endParaRPr>
          </a:p>
          <a:p>
            <a:pPr lvl="0" indent="-342900">
              <a:spcBef>
                <a:spcPct val="0"/>
              </a:spcBef>
              <a:spcAft>
                <a:spcPct val="0"/>
              </a:spcAft>
            </a:pPr>
            <a:endParaRPr lang="zh-CN" altLang="en-US" sz="1800">
              <a:latin typeface="宋体" panose="02010600030101010101" pitchFamily="2" charset="-122"/>
            </a:endParaRPr>
          </a:p>
        </p:txBody>
      </p:sp>
      <p:sp>
        <p:nvSpPr>
          <p:cNvPr id="13517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共享内存</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2000" dirty="0">
                <a:sym typeface="Symbol" panose="05050102010706020507" charset="2"/>
              </a:rPr>
              <a:t>共享内存操作步骤：</a:t>
            </a:r>
            <a:endParaRPr lang="zh-CN" altLang="en-US" sz="2000" dirty="0">
              <a:sym typeface="Symbol" panose="05050102010706020507" charset="2"/>
            </a:endParaRPr>
          </a:p>
          <a:p>
            <a:pPr marL="1905" lvl="1" indent="455295">
              <a:lnSpc>
                <a:spcPct val="130000"/>
              </a:lnSpc>
            </a:pPr>
            <a:r>
              <a:rPr lang="zh-CN" altLang="en-US" sz="1700" dirty="0">
                <a:sym typeface="Symbol" panose="05050102010706020507" charset="2"/>
              </a:rPr>
              <a:t>创建/打开共享内存</a:t>
            </a:r>
            <a:endParaRPr lang="zh-CN" altLang="en-US" sz="1700" dirty="0">
              <a:sym typeface="Symbol" panose="05050102010706020507" charset="2"/>
            </a:endParaRPr>
          </a:p>
          <a:p>
            <a:pPr marL="1905" lvl="1" indent="455295">
              <a:lnSpc>
                <a:spcPct val="130000"/>
              </a:lnSpc>
            </a:pPr>
            <a:r>
              <a:rPr lang="zh-CN" altLang="en-US" sz="1700" dirty="0">
                <a:sym typeface="Symbol" panose="05050102010706020507" charset="2"/>
              </a:rPr>
              <a:t>映射共享内存，即把指定的共享内存映射到进程的地址空间用于访问</a:t>
            </a:r>
            <a:endParaRPr lang="zh-CN" altLang="en-US" sz="1700" dirty="0">
              <a:sym typeface="Symbol" panose="05050102010706020507" charset="2"/>
            </a:endParaRPr>
          </a:p>
          <a:p>
            <a:pPr marL="1905" lvl="1" indent="455295">
              <a:lnSpc>
                <a:spcPct val="130000"/>
              </a:lnSpc>
            </a:pPr>
            <a:r>
              <a:rPr lang="zh-CN" altLang="en-US" sz="1700" dirty="0">
                <a:sym typeface="Symbol" panose="05050102010706020507" charset="2"/>
              </a:rPr>
              <a:t>撤销共享内存映射</a:t>
            </a:r>
            <a:endParaRPr lang="zh-CN" altLang="en-US" sz="1700" dirty="0">
              <a:sym typeface="Symbol" panose="05050102010706020507" charset="2"/>
            </a:endParaRPr>
          </a:p>
          <a:p>
            <a:pPr marL="1905" lvl="1" indent="455295">
              <a:lnSpc>
                <a:spcPct val="130000"/>
              </a:lnSpc>
            </a:pPr>
            <a:r>
              <a:rPr lang="zh-CN" altLang="en-US" sz="1700" dirty="0">
                <a:sym typeface="Symbol" panose="05050102010706020507" charset="2"/>
              </a:rPr>
              <a:t>删除共享内存对象</a:t>
            </a:r>
            <a:endParaRPr lang="zh-CN" altLang="en-US" sz="1700" dirty="0">
              <a:sym typeface="Symbol" panose="05050102010706020507" charset="2"/>
            </a:endParaRPr>
          </a:p>
          <a:p>
            <a:pPr lvl="0" indent="-342900"/>
            <a:endParaRPr lang="zh-CN" altLang="en-US" sz="2000" dirty="0">
              <a:sym typeface="Symbol" panose="05050102010706020507" charset="2"/>
            </a:endParaRPr>
          </a:p>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3619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共享内存</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2000" dirty="0">
                <a:sym typeface="Symbol" panose="05050102010706020507" charset="2"/>
              </a:rPr>
              <a:t> </a:t>
            </a:r>
            <a:endParaRPr lang="zh-CN" altLang="en-US" sz="1700" dirty="0">
              <a:sym typeface="Symbol" panose="05050102010706020507" charset="2"/>
            </a:endParaRPr>
          </a:p>
          <a:p>
            <a:pPr lvl="0" indent="-342900"/>
            <a:endParaRPr lang="zh-CN" altLang="en-US" sz="2000" dirty="0">
              <a:sym typeface="Symbol" panose="05050102010706020507" charset="2"/>
            </a:endParaRPr>
          </a:p>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3721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共享内存</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37220" name="图片 134149"/>
          <p:cNvPicPr>
            <a:picLocks noChangeAspect="1"/>
          </p:cNvPicPr>
          <p:nvPr/>
        </p:nvPicPr>
        <p:blipFill>
          <a:blip r:embed="rId1"/>
          <a:stretch>
            <a:fillRect/>
          </a:stretch>
        </p:blipFill>
        <p:spPr>
          <a:xfrm>
            <a:off x="1403350" y="915988"/>
            <a:ext cx="6038850" cy="3579812"/>
          </a:xfrm>
          <a:prstGeom prst="rect">
            <a:avLst/>
          </a:prstGeom>
          <a:noFill/>
          <a:ln w="9525">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2000" dirty="0">
                <a:sym typeface="Symbol" panose="05050102010706020507" charset="2"/>
              </a:rPr>
              <a:t> </a:t>
            </a:r>
            <a:endParaRPr lang="zh-CN" altLang="en-US" sz="1700" dirty="0">
              <a:sym typeface="Symbol" panose="05050102010706020507" charset="2"/>
            </a:endParaRPr>
          </a:p>
          <a:p>
            <a:pPr lvl="0" indent="-342900"/>
            <a:endParaRPr lang="zh-CN" altLang="en-US" sz="2000" dirty="0">
              <a:sym typeface="Symbol" panose="05050102010706020507" charset="2"/>
            </a:endParaRPr>
          </a:p>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3824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共享内存</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38244" name="图片 135173"/>
          <p:cNvPicPr>
            <a:picLocks noChangeAspect="1"/>
          </p:cNvPicPr>
          <p:nvPr/>
        </p:nvPicPr>
        <p:blipFill>
          <a:blip r:embed="rId1"/>
          <a:stretch>
            <a:fillRect/>
          </a:stretch>
        </p:blipFill>
        <p:spPr>
          <a:xfrm>
            <a:off x="1403350" y="915988"/>
            <a:ext cx="6086475" cy="3513137"/>
          </a:xfrm>
          <a:prstGeom prst="rect">
            <a:avLst/>
          </a:prstGeom>
          <a:noFill/>
          <a:ln w="9525">
            <a:noFill/>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2000" dirty="0">
                <a:sym typeface="Symbol" panose="05050102010706020507" charset="2"/>
              </a:rPr>
              <a:t> </a:t>
            </a:r>
            <a:endParaRPr lang="zh-CN" altLang="en-US" sz="1700" dirty="0">
              <a:sym typeface="Symbol" panose="05050102010706020507" charset="2"/>
            </a:endParaRPr>
          </a:p>
          <a:p>
            <a:pPr lvl="0" indent="-342900"/>
            <a:endParaRPr lang="zh-CN" altLang="en-US" sz="2000" dirty="0">
              <a:sym typeface="Symbol" panose="05050102010706020507" charset="2"/>
            </a:endParaRPr>
          </a:p>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3926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共享内存</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39268" name="图片 136197"/>
          <p:cNvPicPr>
            <a:picLocks noChangeAspect="1"/>
          </p:cNvPicPr>
          <p:nvPr/>
        </p:nvPicPr>
        <p:blipFill>
          <a:blip r:embed="rId1"/>
          <a:stretch>
            <a:fillRect/>
          </a:stretch>
        </p:blipFill>
        <p:spPr>
          <a:xfrm>
            <a:off x="1581150" y="971550"/>
            <a:ext cx="5981700" cy="3200400"/>
          </a:xfrm>
          <a:prstGeom prst="rect">
            <a:avLst/>
          </a:prstGeom>
          <a:noFill/>
          <a:ln w="9525">
            <a:noFill/>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4029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共享内存</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40292" name="图片 138245"/>
          <p:cNvPicPr>
            <a:picLocks noChangeAspect="1"/>
          </p:cNvPicPr>
          <p:nvPr/>
        </p:nvPicPr>
        <p:blipFill>
          <a:blip r:embed="rId1"/>
          <a:stretch>
            <a:fillRect/>
          </a:stretch>
        </p:blipFill>
        <p:spPr>
          <a:xfrm>
            <a:off x="1547813" y="771525"/>
            <a:ext cx="5886450" cy="3895725"/>
          </a:xfrm>
          <a:prstGeom prst="rect">
            <a:avLst/>
          </a:prstGeom>
          <a:noFill/>
          <a:ln w="9525">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4131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消息队列</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41316" name="图片 139269"/>
          <p:cNvPicPr>
            <a:picLocks noChangeAspect="1"/>
          </p:cNvPicPr>
          <p:nvPr/>
        </p:nvPicPr>
        <p:blipFill>
          <a:blip r:embed="rId1"/>
          <a:stretch>
            <a:fillRect/>
          </a:stretch>
        </p:blipFill>
        <p:spPr>
          <a:xfrm>
            <a:off x="1187450" y="1276350"/>
            <a:ext cx="6162675" cy="2627313"/>
          </a:xfrm>
          <a:prstGeom prst="rect">
            <a:avLst/>
          </a:prstGeom>
          <a:noFill/>
          <a:ln w="9525">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110000"/>
              </a:lnSpc>
            </a:pPr>
            <a:r>
              <a:rPr lang="zh-CN" altLang="en-US" sz="2000" dirty="0">
                <a:sym typeface="Symbol" panose="05050102010706020507" charset="2"/>
              </a:rPr>
              <a:t>消息队列的操作包括创建或打开消息队列、添加消息、读取消息和控制消息队列</a:t>
            </a:r>
            <a:endParaRPr lang="zh-CN" altLang="en-US" sz="2000" dirty="0">
              <a:sym typeface="Symbol" panose="05050102010706020507" charset="2"/>
            </a:endParaRPr>
          </a:p>
          <a:p>
            <a:pPr lvl="0" indent="-342900" algn="just">
              <a:lnSpc>
                <a:spcPct val="110000"/>
              </a:lnSpc>
            </a:pPr>
            <a:r>
              <a:rPr lang="zh-CN" altLang="en-US" sz="2000" dirty="0">
                <a:sym typeface="Symbol" panose="05050102010706020507" charset="2"/>
              </a:rPr>
              <a:t>创建或打开消息队列使用的函数是</a:t>
            </a:r>
            <a:r>
              <a:rPr lang="en-US" altLang="zh-CN" sz="2000" dirty="0">
                <a:sym typeface="Symbol" panose="05050102010706020507" charset="2"/>
              </a:rPr>
              <a:t>msgget</a:t>
            </a:r>
            <a:r>
              <a:rPr lang="zh-CN" altLang="en-US" sz="2000" dirty="0">
                <a:sym typeface="Symbol" panose="05050102010706020507" charset="2"/>
              </a:rPr>
              <a:t>，这里创建的消息队列的数量会受到系统消息队列数量的限制</a:t>
            </a:r>
            <a:endParaRPr lang="zh-CN" altLang="en-US" sz="2000" dirty="0">
              <a:sym typeface="Symbol" panose="05050102010706020507" charset="2"/>
            </a:endParaRPr>
          </a:p>
          <a:p>
            <a:pPr lvl="0" indent="-342900" algn="just">
              <a:lnSpc>
                <a:spcPct val="110000"/>
              </a:lnSpc>
            </a:pPr>
            <a:r>
              <a:rPr lang="zh-CN" altLang="en-US" sz="2000" dirty="0">
                <a:sym typeface="Symbol" panose="05050102010706020507" charset="2"/>
              </a:rPr>
              <a:t>添加消息使用的函数是</a:t>
            </a:r>
            <a:r>
              <a:rPr lang="en-US" altLang="zh-CN" sz="2000" dirty="0">
                <a:sym typeface="Symbol" panose="05050102010706020507" charset="2"/>
              </a:rPr>
              <a:t>msgsnd</a:t>
            </a:r>
            <a:r>
              <a:rPr lang="zh-CN" altLang="en-US" sz="2000" dirty="0">
                <a:sym typeface="Symbol" panose="05050102010706020507" charset="2"/>
              </a:rPr>
              <a:t>，按照类型把消息添加到已打开的消息队列末尾</a:t>
            </a:r>
            <a:endParaRPr lang="zh-CN" altLang="en-US" sz="2000" dirty="0">
              <a:sym typeface="Symbol" panose="05050102010706020507" charset="2"/>
            </a:endParaRPr>
          </a:p>
          <a:p>
            <a:pPr lvl="0" indent="-342900" algn="just">
              <a:lnSpc>
                <a:spcPct val="110000"/>
              </a:lnSpc>
            </a:pPr>
            <a:r>
              <a:rPr lang="zh-CN" altLang="en-US" sz="2000" dirty="0">
                <a:sym typeface="Symbol" panose="05050102010706020507" charset="2"/>
              </a:rPr>
              <a:t>读取消息使用的函数是</a:t>
            </a:r>
            <a:r>
              <a:rPr lang="en-US" altLang="zh-CN" sz="2000" dirty="0">
                <a:sym typeface="Symbol" panose="05050102010706020507" charset="2"/>
              </a:rPr>
              <a:t>msgrcv</a:t>
            </a:r>
            <a:r>
              <a:rPr lang="zh-CN" altLang="en-US" sz="2000" dirty="0">
                <a:sym typeface="Symbol" panose="05050102010706020507" charset="2"/>
              </a:rPr>
              <a:t>，可以按照类型把消息从消息队列中取走</a:t>
            </a:r>
            <a:endParaRPr lang="zh-CN" altLang="en-US" sz="2000" dirty="0">
              <a:sym typeface="Symbol" panose="05050102010706020507" charset="2"/>
            </a:endParaRPr>
          </a:p>
          <a:p>
            <a:pPr lvl="0" indent="-342900" algn="just">
              <a:lnSpc>
                <a:spcPct val="110000"/>
              </a:lnSpc>
            </a:pPr>
            <a:r>
              <a:rPr lang="zh-CN" altLang="en-US" sz="2000" dirty="0">
                <a:sym typeface="Symbol" panose="05050102010706020507" charset="2"/>
              </a:rPr>
              <a:t>控制消息队列使用的函数是</a:t>
            </a:r>
            <a:r>
              <a:rPr lang="en-US" altLang="zh-CN" sz="2000" dirty="0">
                <a:sym typeface="Symbol" panose="05050102010706020507" charset="2"/>
              </a:rPr>
              <a:t>msgctl</a:t>
            </a:r>
            <a:r>
              <a:rPr lang="zh-CN" altLang="en-US" sz="2000" dirty="0">
                <a:sym typeface="Symbol" panose="05050102010706020507" charset="2"/>
              </a:rPr>
              <a:t>，它可以完成多项功能。</a:t>
            </a:r>
            <a:endParaRPr lang="zh-CN" altLang="en-US" sz="2000" dirty="0">
              <a:sym typeface="Symbol" panose="05050102010706020507" charset="2"/>
            </a:endParaRPr>
          </a:p>
          <a:p>
            <a:pPr lvl="0" indent="-342900">
              <a:lnSpc>
                <a:spcPct val="130000"/>
              </a:lnSpc>
            </a:pPr>
            <a:endParaRPr lang="zh-CN" altLang="en-US" sz="20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4233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消息队列</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4336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消息队列</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43364" name="图片 141317"/>
          <p:cNvPicPr>
            <a:picLocks noChangeAspect="1"/>
          </p:cNvPicPr>
          <p:nvPr/>
        </p:nvPicPr>
        <p:blipFill>
          <a:blip r:embed="rId1"/>
          <a:stretch>
            <a:fillRect/>
          </a:stretch>
        </p:blipFill>
        <p:spPr>
          <a:xfrm>
            <a:off x="1476375" y="915988"/>
            <a:ext cx="6113463" cy="3608387"/>
          </a:xfrm>
          <a:prstGeom prst="rect">
            <a:avLst/>
          </a:prstGeom>
          <a:noFill/>
          <a:ln w="9525">
            <a:noFill/>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4438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消息队列</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44388" name="图片 142341"/>
          <p:cNvPicPr>
            <a:picLocks noChangeAspect="1"/>
          </p:cNvPicPr>
          <p:nvPr/>
        </p:nvPicPr>
        <p:blipFill>
          <a:blip r:embed="rId1"/>
          <a:stretch>
            <a:fillRect/>
          </a:stretch>
        </p:blipFill>
        <p:spPr>
          <a:xfrm>
            <a:off x="1835150" y="915988"/>
            <a:ext cx="5191125" cy="3741737"/>
          </a:xfrm>
          <a:prstGeom prst="rect">
            <a:avLst/>
          </a:prstGeom>
          <a:noFill/>
          <a:ln w="9525">
            <a:noFill/>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4541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消息队列</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45412" name="图片 143365"/>
          <p:cNvPicPr>
            <a:picLocks noChangeAspect="1"/>
          </p:cNvPicPr>
          <p:nvPr/>
        </p:nvPicPr>
        <p:blipFill>
          <a:blip r:embed="rId1"/>
          <a:stretch>
            <a:fillRect/>
          </a:stretch>
        </p:blipFill>
        <p:spPr>
          <a:xfrm>
            <a:off x="1692275" y="987425"/>
            <a:ext cx="5667375" cy="3695700"/>
          </a:xfrm>
          <a:prstGeom prst="rect">
            <a:avLst/>
          </a:prstGeom>
          <a:noFill/>
          <a:ln w="9525">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2000" dirty="0">
                <a:sym typeface="Symbol" panose="05050102010706020507" charset="2"/>
              </a:rPr>
              <a:t> </a:t>
            </a:r>
            <a:endParaRPr lang="zh-CN" altLang="en-US" sz="1700" dirty="0">
              <a:sym typeface="Symbol" panose="05050102010706020507" charset="2"/>
            </a:endParaRPr>
          </a:p>
          <a:p>
            <a:pPr lvl="0" indent="-342900"/>
            <a:endParaRPr lang="zh-CN" altLang="en-US" sz="2000" dirty="0">
              <a:sym typeface="Symbol" panose="05050102010706020507" charset="2"/>
            </a:endParaRPr>
          </a:p>
          <a:p>
            <a:pPr lvl="0" indent="-342900"/>
            <a:r>
              <a:rPr lang="zh-CN" altLang="en-US" sz="2000" dirty="0">
                <a:sym typeface="Symbol" panose="05050102010706020507" charset="2"/>
              </a:rPr>
              <a:t> </a:t>
            </a:r>
            <a:endParaRPr lang="zh-CN" altLang="en-US" sz="2000" dirty="0">
              <a:sym typeface="Symbol" panose="05050102010706020507" charset="2"/>
            </a:endParaRPr>
          </a:p>
          <a:p>
            <a:pPr lvl="0" indent="-342900">
              <a:lnSpc>
                <a:spcPct val="150000"/>
              </a:lnSpc>
            </a:pPr>
            <a:endParaRPr lang="zh-CN" altLang="en-US" sz="3200" dirty="0">
              <a:sym typeface="Symbol" panose="05050102010706020507" charset="2"/>
            </a:endParaRPr>
          </a:p>
          <a:p>
            <a:pPr lvl="0" indent="-342900">
              <a:spcBef>
                <a:spcPct val="0"/>
              </a:spcBef>
              <a:spcAft>
                <a:spcPct val="0"/>
              </a:spcAft>
            </a:pPr>
            <a:endParaRPr lang="zh-CN" altLang="en-US" sz="1800" dirty="0">
              <a:latin typeface="宋体" panose="02010600030101010101" pitchFamily="2" charset="-122"/>
            </a:endParaRPr>
          </a:p>
        </p:txBody>
      </p:sp>
      <p:sp>
        <p:nvSpPr>
          <p:cNvPr id="14643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消息队列</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46436" name="图片 144389"/>
          <p:cNvPicPr>
            <a:picLocks noChangeAspect="1"/>
          </p:cNvPicPr>
          <p:nvPr/>
        </p:nvPicPr>
        <p:blipFill>
          <a:blip r:embed="rId1"/>
          <a:stretch>
            <a:fillRect/>
          </a:stretch>
        </p:blipFill>
        <p:spPr>
          <a:xfrm>
            <a:off x="1619250" y="915988"/>
            <a:ext cx="5762625" cy="3589337"/>
          </a:xfrm>
          <a:prstGeom prst="rect">
            <a:avLst/>
          </a:prstGeom>
          <a:noFill/>
          <a:ln w="9525">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1800" dirty="0">
                <a:ea typeface="微软雅黑" panose="020B0503020204020204" pitchFamily="2" charset="-122"/>
              </a:rPr>
              <a:t>信号灯</a:t>
            </a:r>
            <a:r>
              <a:rPr lang="en-US" altLang="zh-CN" sz="1800" dirty="0">
                <a:ea typeface="微软雅黑" panose="020B0503020204020204" pitchFamily="2" charset="-122"/>
              </a:rPr>
              <a:t>(semaphore)</a:t>
            </a:r>
            <a:r>
              <a:rPr lang="zh-CN" altLang="en-US" sz="1800" dirty="0">
                <a:ea typeface="微软雅黑" panose="020B0503020204020204" pitchFamily="2" charset="-122"/>
              </a:rPr>
              <a:t>，也叫信号量。它是不同进程间或一个给定进程内部不同线程间同步的机制。</a:t>
            </a:r>
            <a:endParaRPr lang="zh-CN" altLang="en-US" sz="1800" dirty="0">
              <a:ea typeface="微软雅黑" panose="020B0503020204020204" pitchFamily="2" charset="-122"/>
            </a:endParaRPr>
          </a:p>
          <a:p>
            <a:pPr lvl="0" indent="-342900">
              <a:lnSpc>
                <a:spcPct val="130000"/>
              </a:lnSpc>
            </a:pPr>
            <a:endParaRPr lang="zh-CN" altLang="en-US" sz="1800" dirty="0">
              <a:ea typeface="微软雅黑" panose="020B0503020204020204" pitchFamily="2" charset="-122"/>
            </a:endParaRPr>
          </a:p>
          <a:p>
            <a:pPr lvl="0" indent="-342900">
              <a:lnSpc>
                <a:spcPct val="90000"/>
              </a:lnSpc>
            </a:pPr>
            <a:r>
              <a:rPr lang="zh-CN" altLang="en-US" sz="2000" dirty="0">
                <a:ea typeface="微软雅黑" panose="020B0503020204020204" pitchFamily="2" charset="-122"/>
              </a:rPr>
              <a:t>二值信号灯：值为</a:t>
            </a:r>
            <a:r>
              <a:rPr lang="en-US" altLang="zh-CN" sz="2000" dirty="0">
                <a:ea typeface="微软雅黑" panose="020B0503020204020204" pitchFamily="2" charset="-122"/>
              </a:rPr>
              <a:t>0</a:t>
            </a:r>
            <a:r>
              <a:rPr lang="zh-CN" altLang="en-US" sz="2000" dirty="0">
                <a:ea typeface="微软雅黑" panose="020B0503020204020204" pitchFamily="2" charset="-122"/>
              </a:rPr>
              <a:t>或</a:t>
            </a:r>
            <a:r>
              <a:rPr lang="en-US" altLang="zh-CN" sz="2000" dirty="0">
                <a:ea typeface="微软雅黑" panose="020B0503020204020204" pitchFamily="2" charset="-122"/>
              </a:rPr>
              <a:t>1</a:t>
            </a:r>
            <a:r>
              <a:rPr lang="zh-CN" altLang="en-US" sz="2000" dirty="0">
                <a:ea typeface="微软雅黑" panose="020B0503020204020204" pitchFamily="2" charset="-122"/>
              </a:rPr>
              <a:t>。与互斥锁类似，资源可用时值为</a:t>
            </a:r>
            <a:r>
              <a:rPr lang="en-US" altLang="zh-CN" sz="2000" dirty="0">
                <a:ea typeface="微软雅黑" panose="020B0503020204020204" pitchFamily="2" charset="-122"/>
              </a:rPr>
              <a:t>1</a:t>
            </a:r>
            <a:r>
              <a:rPr lang="zh-CN" altLang="en-US" sz="2000" dirty="0">
                <a:ea typeface="微软雅黑" panose="020B0503020204020204" pitchFamily="2" charset="-122"/>
              </a:rPr>
              <a:t>，不可用时值为</a:t>
            </a:r>
            <a:r>
              <a:rPr lang="en-US" altLang="zh-CN" sz="2000" dirty="0">
                <a:ea typeface="微软雅黑" panose="020B0503020204020204" pitchFamily="2" charset="-122"/>
              </a:rPr>
              <a:t>0</a:t>
            </a:r>
            <a:r>
              <a:rPr lang="zh-CN" altLang="en-US" sz="2000" dirty="0">
                <a:ea typeface="微软雅黑" panose="020B0503020204020204" pitchFamily="2" charset="-122"/>
              </a:rPr>
              <a:t>。</a:t>
            </a:r>
            <a:endParaRPr lang="zh-CN" altLang="en-US" sz="2000" dirty="0">
              <a:ea typeface="微软雅黑" panose="020B0503020204020204" pitchFamily="2" charset="-122"/>
            </a:endParaRPr>
          </a:p>
          <a:p>
            <a:pPr lvl="0" indent="-342900">
              <a:lnSpc>
                <a:spcPct val="90000"/>
              </a:lnSpc>
            </a:pPr>
            <a:endParaRPr lang="zh-CN" altLang="en-US" sz="2000" dirty="0">
              <a:ea typeface="微软雅黑" panose="020B0503020204020204" pitchFamily="2" charset="-122"/>
            </a:endParaRPr>
          </a:p>
          <a:p>
            <a:pPr lvl="0" indent="-342900">
              <a:lnSpc>
                <a:spcPct val="90000"/>
              </a:lnSpc>
            </a:pPr>
            <a:r>
              <a:rPr lang="zh-CN" altLang="en-US" sz="2000" dirty="0">
                <a:ea typeface="微软雅黑" panose="020B0503020204020204" pitchFamily="2" charset="-122"/>
              </a:rPr>
              <a:t>计数信号灯：值在</a:t>
            </a:r>
            <a:r>
              <a:rPr lang="en-US" altLang="zh-CN" sz="2000" dirty="0">
                <a:ea typeface="微软雅黑" panose="020B0503020204020204" pitchFamily="2" charset="-122"/>
              </a:rPr>
              <a:t>0</a:t>
            </a:r>
            <a:r>
              <a:rPr lang="zh-CN" altLang="en-US" sz="2000" dirty="0">
                <a:ea typeface="微软雅黑" panose="020B0503020204020204" pitchFamily="2" charset="-122"/>
              </a:rPr>
              <a:t>到</a:t>
            </a:r>
            <a:r>
              <a:rPr lang="en-US" altLang="zh-CN" sz="2000" dirty="0">
                <a:ea typeface="微软雅黑" panose="020B0503020204020204" pitchFamily="2" charset="-122"/>
              </a:rPr>
              <a:t>n</a:t>
            </a:r>
            <a:r>
              <a:rPr lang="zh-CN" altLang="en-US" sz="2000" dirty="0">
                <a:ea typeface="微软雅黑" panose="020B0503020204020204" pitchFamily="2" charset="-122"/>
              </a:rPr>
              <a:t>之间。用来统计资源，其值代表可用资源数</a:t>
            </a:r>
            <a:endParaRPr lang="zh-CN" altLang="en-US" sz="2000" dirty="0">
              <a:ea typeface="微软雅黑" panose="020B0503020204020204" pitchFamily="2" charset="-122"/>
            </a:endParaRPr>
          </a:p>
          <a:p>
            <a:pPr lvl="0" indent="-342900">
              <a:lnSpc>
                <a:spcPct val="90000"/>
              </a:lnSpc>
            </a:pPr>
            <a:endParaRPr lang="zh-CN" altLang="en-US" sz="2000" dirty="0">
              <a:ea typeface="微软雅黑" panose="020B0503020204020204" pitchFamily="2" charset="-122"/>
            </a:endParaRPr>
          </a:p>
          <a:p>
            <a:pPr lvl="0" indent="-342900">
              <a:lnSpc>
                <a:spcPct val="90000"/>
              </a:lnSpc>
            </a:pPr>
            <a:r>
              <a:rPr lang="zh-CN" altLang="en-US" sz="2000" dirty="0">
                <a:ea typeface="微软雅黑" panose="020B0503020204020204" pitchFamily="2" charset="-122"/>
              </a:rPr>
              <a:t>等待操作是等待信号灯的值变为大于</a:t>
            </a:r>
            <a:r>
              <a:rPr lang="en-US" altLang="zh-CN" sz="2000" dirty="0">
                <a:ea typeface="微软雅黑" panose="020B0503020204020204" pitchFamily="2" charset="-122"/>
              </a:rPr>
              <a:t>0</a:t>
            </a:r>
            <a:r>
              <a:rPr lang="zh-CN" altLang="en-US" sz="2000" dirty="0">
                <a:ea typeface="微软雅黑" panose="020B0503020204020204" pitchFamily="2" charset="-122"/>
              </a:rPr>
              <a:t>，然后将其减</a:t>
            </a:r>
            <a:r>
              <a:rPr lang="en-US" altLang="zh-CN" sz="2000" dirty="0">
                <a:ea typeface="微软雅黑" panose="020B0503020204020204" pitchFamily="2" charset="-122"/>
              </a:rPr>
              <a:t>1</a:t>
            </a:r>
            <a:r>
              <a:rPr lang="zh-CN" altLang="en-US" sz="2000" dirty="0">
                <a:ea typeface="微软雅黑" panose="020B0503020204020204" pitchFamily="2" charset="-122"/>
              </a:rPr>
              <a:t>；而释放操作则相反，用来唤醒等待资源的进程或者线程</a:t>
            </a:r>
            <a:endParaRPr lang="zh-CN" altLang="en-US" sz="2000" dirty="0">
              <a:ea typeface="微软雅黑" panose="020B0503020204020204" pitchFamily="2" charset="-122"/>
            </a:endParaRPr>
          </a:p>
          <a:p>
            <a:pPr lvl="0" indent="-342900">
              <a:lnSpc>
                <a:spcPct val="90000"/>
              </a:lnSpc>
            </a:pPr>
            <a:endParaRPr lang="zh-CN" altLang="en-US" sz="2000" dirty="0">
              <a:ea typeface="微软雅黑" panose="020B0503020204020204" pitchFamily="2" charset="-122"/>
            </a:endParaRPr>
          </a:p>
          <a:p>
            <a:pPr lvl="0" indent="-342900">
              <a:lnSpc>
                <a:spcPct val="90000"/>
              </a:lnSpc>
            </a:pPr>
            <a:r>
              <a:rPr lang="zh-CN" altLang="en-US" sz="1800" dirty="0">
                <a:sym typeface="Symbol" panose="05050102010706020507" charset="2"/>
              </a:rPr>
              <a:t> </a:t>
            </a:r>
            <a:endParaRPr lang="zh-CN" altLang="en-US" sz="18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47459"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信号量</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1800" dirty="0">
                <a:ea typeface="微软雅黑" panose="020B0503020204020204" pitchFamily="2" charset="-122"/>
              </a:rPr>
              <a:t> </a:t>
            </a:r>
            <a:endParaRPr lang="zh-CN" altLang="en-US" sz="2000" dirty="0">
              <a:ea typeface="微软雅黑" panose="020B0503020204020204" pitchFamily="2" charset="-122"/>
            </a:endParaRPr>
          </a:p>
          <a:p>
            <a:pPr lvl="0" indent="-342900"/>
            <a:endParaRPr lang="zh-CN" altLang="en-US" sz="2000" dirty="0">
              <a:ea typeface="微软雅黑" panose="020B0503020204020204" pitchFamily="2" charset="-122"/>
            </a:endParaRPr>
          </a:p>
          <a:p>
            <a:pPr lvl="0" indent="-342900"/>
            <a:r>
              <a:rPr lang="zh-CN" altLang="en-US" sz="1800" dirty="0">
                <a:sym typeface="Symbol" panose="05050102010706020507" charset="2"/>
              </a:rPr>
              <a:t> </a:t>
            </a:r>
            <a:endParaRPr lang="zh-CN" altLang="en-US" sz="18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spcBef>
                <a:spcPct val="0"/>
              </a:spcBef>
              <a:spcAft>
                <a:spcPct val="0"/>
              </a:spcAft>
            </a:pPr>
            <a:endParaRPr lang="zh-CN" altLang="en-US" sz="1600" dirty="0">
              <a:latin typeface="宋体" panose="02010600030101010101" pitchFamily="2" charset="-122"/>
            </a:endParaRPr>
          </a:p>
        </p:txBody>
      </p:sp>
      <p:sp>
        <p:nvSpPr>
          <p:cNvPr id="148483"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信号量</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48484" name="图片 146437"/>
          <p:cNvPicPr>
            <a:picLocks noChangeAspect="1"/>
          </p:cNvPicPr>
          <p:nvPr/>
        </p:nvPicPr>
        <p:blipFill>
          <a:blip r:embed="rId1"/>
          <a:stretch>
            <a:fillRect/>
          </a:stretch>
        </p:blipFill>
        <p:spPr>
          <a:xfrm>
            <a:off x="1476375" y="844550"/>
            <a:ext cx="6075363" cy="3760788"/>
          </a:xfrm>
          <a:prstGeom prst="rect">
            <a:avLst/>
          </a:prstGeom>
          <a:noFill/>
          <a:ln w="9525">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1800" dirty="0">
                <a:ea typeface="微软雅黑" panose="020B0503020204020204" pitchFamily="2" charset="-122"/>
              </a:rPr>
              <a:t> </a:t>
            </a:r>
            <a:endParaRPr lang="zh-CN" altLang="en-US" sz="2000" dirty="0">
              <a:ea typeface="微软雅黑" panose="020B0503020204020204" pitchFamily="2" charset="-122"/>
            </a:endParaRPr>
          </a:p>
          <a:p>
            <a:pPr lvl="0" indent="-342900"/>
            <a:endParaRPr lang="zh-CN" altLang="en-US" sz="2000" dirty="0">
              <a:ea typeface="微软雅黑" panose="020B0503020204020204" pitchFamily="2" charset="-122"/>
            </a:endParaRPr>
          </a:p>
          <a:p>
            <a:pPr lvl="0" indent="-342900"/>
            <a:r>
              <a:rPr lang="zh-CN" altLang="en-US" sz="1800" dirty="0">
                <a:sym typeface="Symbol" panose="05050102010706020507" charset="2"/>
              </a:rPr>
              <a:t> </a:t>
            </a:r>
            <a:endParaRPr lang="zh-CN" altLang="en-US" sz="18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spcBef>
                <a:spcPct val="0"/>
              </a:spcBef>
              <a:spcAft>
                <a:spcPct val="0"/>
              </a:spcAft>
            </a:pPr>
            <a:endParaRPr lang="zh-CN" altLang="en-US" sz="1600" dirty="0">
              <a:latin typeface="宋体" panose="02010600030101010101" pitchFamily="2" charset="-122"/>
            </a:endParaRPr>
          </a:p>
        </p:txBody>
      </p:sp>
      <p:sp>
        <p:nvSpPr>
          <p:cNvPr id="149507"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信号量</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49508" name="图片 147461"/>
          <p:cNvPicPr>
            <a:picLocks noChangeAspect="1"/>
          </p:cNvPicPr>
          <p:nvPr/>
        </p:nvPicPr>
        <p:blipFill>
          <a:blip r:embed="rId1"/>
          <a:stretch>
            <a:fillRect/>
          </a:stretch>
        </p:blipFill>
        <p:spPr>
          <a:xfrm>
            <a:off x="1476375" y="915988"/>
            <a:ext cx="5694363" cy="3703637"/>
          </a:xfrm>
          <a:prstGeom prst="rect">
            <a:avLst/>
          </a:prstGeom>
          <a:noFill/>
          <a:ln w="9525">
            <a:noFill/>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1800" dirty="0">
                <a:ea typeface="微软雅黑" panose="020B0503020204020204" pitchFamily="2" charset="-122"/>
              </a:rPr>
              <a:t> </a:t>
            </a:r>
            <a:endParaRPr lang="zh-CN" altLang="en-US" sz="2000" dirty="0">
              <a:ea typeface="微软雅黑" panose="020B0503020204020204" pitchFamily="2" charset="-122"/>
            </a:endParaRPr>
          </a:p>
          <a:p>
            <a:pPr lvl="0" indent="-342900"/>
            <a:endParaRPr lang="zh-CN" altLang="en-US" sz="2000" dirty="0">
              <a:ea typeface="微软雅黑" panose="020B0503020204020204" pitchFamily="2" charset="-122"/>
            </a:endParaRPr>
          </a:p>
          <a:p>
            <a:pPr lvl="0" indent="-342900"/>
            <a:r>
              <a:rPr lang="zh-CN" altLang="en-US" sz="1800" dirty="0">
                <a:sym typeface="Symbol" panose="05050102010706020507" charset="2"/>
              </a:rPr>
              <a:t> </a:t>
            </a:r>
            <a:endParaRPr lang="zh-CN" altLang="en-US" sz="18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spcBef>
                <a:spcPct val="0"/>
              </a:spcBef>
              <a:spcAft>
                <a:spcPct val="0"/>
              </a:spcAft>
            </a:pPr>
            <a:endParaRPr lang="zh-CN" altLang="en-US" sz="1600" dirty="0">
              <a:latin typeface="宋体" panose="02010600030101010101" pitchFamily="2" charset="-122"/>
            </a:endParaRPr>
          </a:p>
        </p:txBody>
      </p:sp>
      <p:sp>
        <p:nvSpPr>
          <p:cNvPr id="150531"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 信号量</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150532" name="图片 148485"/>
          <p:cNvPicPr>
            <a:picLocks noChangeAspect="1"/>
          </p:cNvPicPr>
          <p:nvPr/>
        </p:nvPicPr>
        <p:blipFill>
          <a:blip r:embed="rId1"/>
          <a:stretch>
            <a:fillRect/>
          </a:stretch>
        </p:blipFill>
        <p:spPr>
          <a:xfrm>
            <a:off x="1547813" y="844550"/>
            <a:ext cx="5743575" cy="3656013"/>
          </a:xfrm>
          <a:prstGeom prst="rect">
            <a:avLst/>
          </a:prstGeom>
          <a:noFill/>
          <a:ln w="9525">
            <a:noFill/>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gn="just">
              <a:lnSpc>
                <a:spcPct val="90000"/>
              </a:lnSpc>
            </a:pPr>
            <a:r>
              <a:rPr lang="zh-CN" altLang="en-US" sz="2000" dirty="0">
                <a:sym typeface="Symbol" panose="05050102010706020507" charset="2"/>
              </a:rPr>
              <a:t> </a:t>
            </a:r>
            <a:r>
              <a:rPr lang="en-US" altLang="zh-CN" sz="2000" dirty="0"/>
              <a:t>pipe:  </a:t>
            </a:r>
            <a:r>
              <a:rPr lang="zh-CN" altLang="en-US" sz="2000" dirty="0"/>
              <a:t>具有亲缘关系的进程间，半双工，数据在内存中</a:t>
            </a:r>
            <a:endParaRPr lang="zh-CN" altLang="en-US" sz="2000" dirty="0"/>
          </a:p>
          <a:p>
            <a:pPr lvl="0" indent="-342900">
              <a:lnSpc>
                <a:spcPct val="80000"/>
              </a:lnSpc>
            </a:pPr>
            <a:endParaRPr lang="zh-CN" altLang="en-US" sz="2000" dirty="0"/>
          </a:p>
          <a:p>
            <a:pPr lvl="0" indent="-342900">
              <a:lnSpc>
                <a:spcPct val="80000"/>
              </a:lnSpc>
            </a:pPr>
            <a:r>
              <a:rPr lang="en-US" altLang="zh-CN" sz="2000" dirty="0"/>
              <a:t>fifo:   </a:t>
            </a:r>
            <a:r>
              <a:rPr lang="zh-CN" altLang="en-US" sz="2000" dirty="0"/>
              <a:t>可用于任意进程间，单工，有文件名，数据在内存</a:t>
            </a:r>
            <a:endParaRPr lang="zh-CN" altLang="en-US" sz="2000" dirty="0"/>
          </a:p>
          <a:p>
            <a:pPr lvl="0" indent="-342900">
              <a:lnSpc>
                <a:spcPct val="80000"/>
              </a:lnSpc>
            </a:pPr>
            <a:endParaRPr lang="zh-CN" altLang="en-US" sz="2000" dirty="0"/>
          </a:p>
          <a:p>
            <a:pPr lvl="0" indent="-342900">
              <a:lnSpc>
                <a:spcPct val="80000"/>
              </a:lnSpc>
            </a:pPr>
            <a:r>
              <a:rPr lang="en-US" altLang="zh-CN" sz="2000" dirty="0"/>
              <a:t>signal:  </a:t>
            </a:r>
            <a:r>
              <a:rPr lang="zh-CN" altLang="en-US" sz="2000" dirty="0"/>
              <a:t>唯一的异步通信方式</a:t>
            </a:r>
            <a:endParaRPr lang="zh-CN" altLang="en-US" sz="2000" dirty="0"/>
          </a:p>
          <a:p>
            <a:pPr lvl="0" indent="-342900">
              <a:lnSpc>
                <a:spcPct val="80000"/>
              </a:lnSpc>
            </a:pPr>
            <a:endParaRPr lang="zh-CN" altLang="en-US" sz="2000" dirty="0"/>
          </a:p>
          <a:p>
            <a:pPr lvl="0" indent="-342900">
              <a:lnSpc>
                <a:spcPct val="80000"/>
              </a:lnSpc>
            </a:pPr>
            <a:r>
              <a:rPr lang="en-US" altLang="zh-CN" sz="2000" dirty="0"/>
              <a:t>msg</a:t>
            </a:r>
            <a:r>
              <a:rPr lang="zh-CN" altLang="en-US" sz="2000" dirty="0"/>
              <a:t>：常用于</a:t>
            </a:r>
            <a:r>
              <a:rPr lang="en-US" altLang="zh-CN" sz="2000" dirty="0"/>
              <a:t>cs</a:t>
            </a:r>
            <a:r>
              <a:rPr lang="zh-CN" altLang="en-US" sz="2000" dirty="0"/>
              <a:t>模式中， 按消息类型访问 ，可有优先级</a:t>
            </a:r>
            <a:endParaRPr lang="zh-CN" altLang="en-US" sz="2000" dirty="0"/>
          </a:p>
          <a:p>
            <a:pPr lvl="0" indent="-342900">
              <a:lnSpc>
                <a:spcPct val="80000"/>
              </a:lnSpc>
            </a:pPr>
            <a:endParaRPr lang="zh-CN" altLang="en-US" sz="2000" dirty="0"/>
          </a:p>
          <a:p>
            <a:pPr lvl="0" indent="-342900">
              <a:lnSpc>
                <a:spcPct val="80000"/>
              </a:lnSpc>
            </a:pPr>
            <a:r>
              <a:rPr lang="en-US" altLang="zh-CN" sz="2000" dirty="0"/>
              <a:t>shm</a:t>
            </a:r>
            <a:r>
              <a:rPr lang="zh-CN" altLang="en-US" sz="2000" dirty="0"/>
              <a:t>：效率最高</a:t>
            </a:r>
            <a:r>
              <a:rPr lang="en-US" altLang="zh-CN" sz="2000" dirty="0"/>
              <a:t>(</a:t>
            </a:r>
            <a:r>
              <a:rPr lang="zh-CN" altLang="en-US" sz="2000" dirty="0"/>
              <a:t>直接访问内存</a:t>
            </a:r>
            <a:r>
              <a:rPr lang="en-US" altLang="zh-CN" sz="2000" dirty="0"/>
              <a:t>) </a:t>
            </a:r>
            <a:r>
              <a:rPr lang="zh-CN" altLang="en-US" sz="2000" dirty="0"/>
              <a:t>，需要同步、互斥机制</a:t>
            </a:r>
            <a:endParaRPr lang="zh-CN" altLang="en-US" sz="2000" dirty="0"/>
          </a:p>
          <a:p>
            <a:pPr lvl="0" indent="-342900">
              <a:lnSpc>
                <a:spcPct val="80000"/>
              </a:lnSpc>
            </a:pPr>
            <a:endParaRPr lang="zh-CN" altLang="en-US" sz="2000" dirty="0"/>
          </a:p>
          <a:p>
            <a:pPr lvl="0" indent="-342900">
              <a:lnSpc>
                <a:spcPct val="80000"/>
              </a:lnSpc>
            </a:pPr>
            <a:r>
              <a:rPr lang="en-US" altLang="zh-CN" sz="2000" dirty="0"/>
              <a:t>sem</a:t>
            </a:r>
            <a:r>
              <a:rPr lang="zh-CN" altLang="en-US" sz="2000" dirty="0"/>
              <a:t>：配合共享内存使用，用以实现同步和互斥</a:t>
            </a:r>
            <a:endParaRPr lang="zh-CN" altLang="en-US" sz="2000" dirty="0"/>
          </a:p>
          <a:p>
            <a:pPr lvl="0" indent="-342900">
              <a:lnSpc>
                <a:spcPct val="130000"/>
              </a:lnSpc>
            </a:pPr>
            <a:endParaRPr lang="zh-CN" altLang="en-US" sz="2000" dirty="0">
              <a:sym typeface="Symbol" panose="05050102010706020507" charset="2"/>
            </a:endParaRPr>
          </a:p>
          <a:p>
            <a:pPr lvl="0" indent="-342900">
              <a:lnSpc>
                <a:spcPct val="150000"/>
              </a:lnSpc>
            </a:pPr>
            <a:endParaRPr lang="zh-CN" altLang="en-US" sz="2800" dirty="0">
              <a:sym typeface="Symbol" panose="05050102010706020507" charset="2"/>
            </a:endParaRPr>
          </a:p>
          <a:p>
            <a:pPr lvl="0" indent="-342900">
              <a:lnSpc>
                <a:spcPct val="90000"/>
              </a:lnSpc>
              <a:spcBef>
                <a:spcPct val="0"/>
              </a:spcBef>
              <a:spcAft>
                <a:spcPct val="0"/>
              </a:spcAft>
            </a:pPr>
            <a:endParaRPr lang="zh-CN" altLang="en-US" sz="1600" dirty="0">
              <a:latin typeface="宋体" panose="02010600030101010101" pitchFamily="2" charset="-122"/>
            </a:endParaRPr>
          </a:p>
        </p:txBody>
      </p:sp>
      <p:sp>
        <p:nvSpPr>
          <p:cNvPr id="151555"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进程间通信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email"/>
          <a:stretch>
            <a:fillRect/>
          </a:stretch>
        </p:blipFill>
        <p:spPr>
          <a:xfrm>
            <a:off x="0" y="-17145"/>
            <a:ext cx="9144000" cy="5170805"/>
          </a:xfrm>
          <a:prstGeom prst="rect">
            <a:avLst/>
          </a:prstGeom>
        </p:spPr>
      </p:pic>
      <p:sp>
        <p:nvSpPr>
          <p:cNvPr id="3" name="任意多边形 13"/>
          <p:cNvSpPr/>
          <p:nvPr/>
        </p:nvSpPr>
        <p:spPr>
          <a:xfrm rot="2968493">
            <a:off x="5784674" y="199622"/>
            <a:ext cx="4445608" cy="5997029"/>
          </a:xfrm>
          <a:custGeom>
            <a:avLst/>
            <a:gdLst>
              <a:gd name="connsiteX0" fmla="*/ 0 w 6571333"/>
              <a:gd name="connsiteY0" fmla="*/ 846961 h 8927004"/>
              <a:gd name="connsiteX1" fmla="*/ 724016 w 6571333"/>
              <a:gd name="connsiteY1" fmla="*/ 0 h 8927004"/>
              <a:gd name="connsiteX2" fmla="*/ 6571333 w 6571333"/>
              <a:gd name="connsiteY2" fmla="*/ 4998514 h 8927004"/>
              <a:gd name="connsiteX3" fmla="*/ 3213105 w 6571333"/>
              <a:gd name="connsiteY3" fmla="*/ 8927004 h 8927004"/>
              <a:gd name="connsiteX4" fmla="*/ 0 w 6571333"/>
              <a:gd name="connsiteY4" fmla="*/ 8927004 h 8927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1333" h="8927004">
                <a:moveTo>
                  <a:pt x="0" y="846961"/>
                </a:moveTo>
                <a:lnTo>
                  <a:pt x="724016" y="0"/>
                </a:lnTo>
                <a:lnTo>
                  <a:pt x="6571333" y="4998514"/>
                </a:lnTo>
                <a:lnTo>
                  <a:pt x="3213105" y="8927004"/>
                </a:lnTo>
                <a:lnTo>
                  <a:pt x="0" y="8927004"/>
                </a:lnTo>
                <a:close/>
              </a:path>
            </a:pathLst>
          </a:custGeom>
          <a:solidFill>
            <a:srgbClr val="D76739">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2288" tIns="41143" rIns="82288" bIns="41143" rtlCol="0" anchor="ctr">
            <a:noAutofit/>
          </a:bodyPr>
          <a:lstStyle/>
          <a:p>
            <a:pPr algn="ctr"/>
            <a:endParaRPr lang="zh-CN" altLang="en-US" sz="1235"/>
          </a:p>
        </p:txBody>
      </p:sp>
      <p:sp>
        <p:nvSpPr>
          <p:cNvPr id="4" name="文本框 3"/>
          <p:cNvSpPr txBox="1"/>
          <p:nvPr/>
        </p:nvSpPr>
        <p:spPr>
          <a:xfrm>
            <a:off x="5940425" y="2367121"/>
            <a:ext cx="2408873" cy="635000"/>
          </a:xfrm>
          <a:prstGeom prst="rect">
            <a:avLst/>
          </a:prstGeom>
          <a:noFill/>
        </p:spPr>
        <p:txBody>
          <a:bodyPr wrap="square" lIns="82288" tIns="41143" rIns="82288" bIns="41143" rtlCol="0">
            <a:spAutoFit/>
          </a:bodyPr>
          <a:lstStyle/>
          <a:p>
            <a:pPr algn="dist"/>
            <a:r>
              <a:rPr lang="zh-CN" altLang="en-US" sz="3600" b="1" dirty="0">
                <a:solidFill>
                  <a:schemeClr val="bg1"/>
                </a:solidFill>
                <a:latin typeface="微软雅黑" panose="020B0503020204020204" pitchFamily="2" charset="-122"/>
                <a:ea typeface="微软雅黑" panose="020B0503020204020204" pitchFamily="2" charset="-122"/>
              </a:rPr>
              <a:t>谢谢</a:t>
            </a:r>
            <a:r>
              <a:rPr lang="zh-CN" altLang="en-US" sz="3600" b="1" dirty="0">
                <a:solidFill>
                  <a:schemeClr val="bg1"/>
                </a:solidFill>
                <a:latin typeface="微软雅黑" panose="020B0503020204020204" pitchFamily="2" charset="-122"/>
                <a:ea typeface="微软雅黑" panose="020B0503020204020204" pitchFamily="2" charset="-122"/>
              </a:rPr>
              <a:t>大家！</a:t>
            </a:r>
            <a:endParaRPr lang="zh-CN" altLang="en-US" sz="3600" b="1" dirty="0">
              <a:solidFill>
                <a:schemeClr val="bg1"/>
              </a:solidFill>
              <a:latin typeface="微软雅黑" panose="020B0503020204020204" pitchFamily="2" charset="-122"/>
              <a:ea typeface="微软雅黑" panose="020B0503020204020204" pitchFamily="2" charset="-122"/>
            </a:endParaRPr>
          </a:p>
        </p:txBody>
      </p:sp>
      <p:cxnSp>
        <p:nvCxnSpPr>
          <p:cNvPr id="5" name="直接连接符 8"/>
          <p:cNvCxnSpPr/>
          <p:nvPr/>
        </p:nvCxnSpPr>
        <p:spPr>
          <a:xfrm>
            <a:off x="5518971" y="3198117"/>
            <a:ext cx="28140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343525" y="3232408"/>
            <a:ext cx="2989456" cy="274320"/>
          </a:xfrm>
          <a:prstGeom prst="rect">
            <a:avLst/>
          </a:prstGeom>
        </p:spPr>
        <p:txBody>
          <a:bodyPr wrap="square" lIns="82288" tIns="41143" rIns="82288" bIns="41143">
            <a:spAutoFit/>
          </a:bodyPr>
          <a:lstStyle/>
          <a:p>
            <a:pPr algn="r"/>
            <a:r>
              <a:rPr lang="zh-CN" altLang="en-US" sz="1260" dirty="0">
                <a:solidFill>
                  <a:schemeClr val="bg1"/>
                </a:solidFill>
                <a:latin typeface="微软雅黑" panose="020B0503020204020204" pitchFamily="2" charset="-122"/>
                <a:ea typeface="微软雅黑" panose="020B0503020204020204" pitchFamily="2" charset="-122"/>
              </a:rPr>
              <a:t>讯碟科技，只为成就更好的你！</a:t>
            </a:r>
            <a:endParaRPr lang="zh-CN" altLang="en-US" sz="1260" dirty="0">
              <a:solidFill>
                <a:schemeClr val="bg1"/>
              </a:solidFill>
              <a:latin typeface="微软雅黑" panose="020B0503020204020204" pitchFamily="2" charset="-122"/>
              <a:ea typeface="微软雅黑" panose="020B0503020204020204"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18349_1*a*1"/>
  <p:tag name="KSO_WM_TEMPLATE_CATEGORY" val="diagram"/>
  <p:tag name="KSO_WM_TEMPLATE_INDEX" val="20218349"/>
  <p:tag name="KSO_WM_UNIT_LAYERLEVEL" val="1"/>
  <p:tag name="KSO_WM_TAG_VERSION" val="1.0"/>
  <p:tag name="KSO_WM_BEAUTIFY_FLAG" val="#wm#"/>
  <p:tag name="KSO_WM_UNIT_TEXT_FILL_FORE_SCHEMECOLOR_INDEX_BRIGHTNESS" val="0"/>
  <p:tag name="KSO_WM_UNIT_TEXT_FILL_FORE_SCHEMECOLOR_INDEX" val="5"/>
  <p:tag name="KSO_WM_UNIT_TEXT_FILL_TYPE" val="1"/>
  <p:tag name="KSO_WM_UNIT_USESOURCEFORMAT_APPLY" val="1"/>
</p:tagLst>
</file>

<file path=ppt/tags/tag2.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diagram20218349_1*b*1"/>
  <p:tag name="KSO_WM_TEMPLATE_CATEGORY" val="diagram"/>
  <p:tag name="KSO_WM_TEMPLATE_INDEX" val="20218349"/>
  <p:tag name="KSO_WM_UNIT_LAYERLEVEL" val="1"/>
  <p:tag name="KSO_WM_TAG_VERSION" val="1.0"/>
  <p:tag name="KSO_WM_BEAUTIFY_FLAG" val="#wm#"/>
  <p:tag name="KSO_WM_UNIT_TEXT_FILL_FORE_SCHEMECOLOR_INDEX_BRIGHTNESS" val="0"/>
  <p:tag name="KSO_WM_UNIT_TEXT_FILL_FORE_SCHEMECOLOR_INDEX" val="5"/>
  <p:tag name="KSO_WM_UNIT_TEXT_FILL_TYPE" val="1"/>
  <p:tag name="KSO_WM_UNIT_USESOURCEFORMAT_APPLY"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18349_1*l_h_i*1_1_1"/>
  <p:tag name="KSO_WM_TEMPLATE_CATEGORY" val="diagram"/>
  <p:tag name="KSO_WM_TEMPLATE_INDEX" val="20218349"/>
  <p:tag name="KSO_WM_UNIT_LAYERLEVEL" val="1_1_1"/>
  <p:tag name="KSO_WM_TAG_VERSION" val="1.0"/>
  <p:tag name="KSO_WM_BEAUTIFY_FLAG" val="#wm#"/>
  <p:tag name="KSO_WM_UNIT_TYPE" val="l_h_i"/>
  <p:tag name="KSO_WM_UNIT_INDEX" val="1_1_1"/>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18349_1*l_h_i*1_1_3"/>
  <p:tag name="KSO_WM_TEMPLATE_CATEGORY" val="diagram"/>
  <p:tag name="KSO_WM_TEMPLATE_INDEX" val="20218349"/>
  <p:tag name="KSO_WM_UNIT_LAYERLEVEL" val="1_1_1"/>
  <p:tag name="KSO_WM_TAG_VERSION" val="1.0"/>
  <p:tag name="KSO_WM_BEAUTIFY_FLAG" val="#wm#"/>
  <p:tag name="KSO_WM_UNIT_TYPE" val="l_h_i"/>
  <p:tag name="KSO_WM_UNIT_INDEX" val="1_1_3"/>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18349_1*l_h_i*1_1_4"/>
  <p:tag name="KSO_WM_TEMPLATE_CATEGORY" val="diagram"/>
  <p:tag name="KSO_WM_TEMPLATE_INDEX" val="20218349"/>
  <p:tag name="KSO_WM_UNIT_LAYERLEVEL" val="1_1_1"/>
  <p:tag name="KSO_WM_TAG_VERSION" val="1.0"/>
  <p:tag name="KSO_WM_BEAUTIFY_FLAG" val="#wm#"/>
  <p:tag name="KSO_WM_UNIT_TYPE" val="l_h_i"/>
  <p:tag name="KSO_WM_UNIT_INDEX" val="1_1_4"/>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18349_1*l_h_i*1_1_2"/>
  <p:tag name="KSO_WM_TEMPLATE_CATEGORY" val="diagram"/>
  <p:tag name="KSO_WM_TEMPLATE_INDEX" val="20218349"/>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Lst>
</file>

<file path=ppt/tags/tag7.xml><?xml version="1.0" encoding="utf-8"?>
<p:tagLst xmlns:p="http://schemas.openxmlformats.org/presentationml/2006/main">
  <p:tag name="KSO_WM_UNIT_SUBTYPE" val="a"/>
  <p:tag name="KSO_WM_UNIT_PRESET_TEXT" val="单击此处添加正文"/>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8349_1*l_h_f*1_1_1"/>
  <p:tag name="KSO_WM_TEMPLATE_CATEGORY" val="diagram"/>
  <p:tag name="KSO_WM_TEMPLATE_INDEX" val="20218349"/>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18349_1*l_h_i*1_2_1"/>
  <p:tag name="KSO_WM_TEMPLATE_CATEGORY" val="diagram"/>
  <p:tag name="KSO_WM_TEMPLATE_INDEX" val="20218349"/>
  <p:tag name="KSO_WM_UNIT_LAYERLEVEL" val="1_1_1"/>
  <p:tag name="KSO_WM_TAG_VERSION" val="1.0"/>
  <p:tag name="KSO_WM_BEAUTIFY_FLAG" val="#wm#"/>
  <p:tag name="KSO_WM_UNIT_TYPE" val="l_h_i"/>
  <p:tag name="KSO_WM_UNIT_INDEX" val="1_2_1"/>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18349_1*l_h_i*1_2_3"/>
  <p:tag name="KSO_WM_TEMPLATE_CATEGORY" val="diagram"/>
  <p:tag name="KSO_WM_TEMPLATE_INDEX" val="20218349"/>
  <p:tag name="KSO_WM_UNIT_LAYERLEVEL" val="1_1_1"/>
  <p:tag name="KSO_WM_TAG_VERSION" val="1.0"/>
  <p:tag name="KSO_WM_BEAUTIFY_FLAG" val="#wm#"/>
  <p:tag name="KSO_WM_UNIT_TYPE" val="l_h_i"/>
  <p:tag name="KSO_WM_UNIT_INDEX" val="1_2_3"/>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18349_1*l_h_i*1_2_4"/>
  <p:tag name="KSO_WM_TEMPLATE_CATEGORY" val="diagram"/>
  <p:tag name="KSO_WM_TEMPLATE_INDEX" val="20218349"/>
  <p:tag name="KSO_WM_UNIT_LAYERLEVEL" val="1_1_1"/>
  <p:tag name="KSO_WM_TAG_VERSION" val="1.0"/>
  <p:tag name="KSO_WM_BEAUTIFY_FLAG" val="#wm#"/>
  <p:tag name="KSO_WM_UNIT_TYPE" val="l_h_i"/>
  <p:tag name="KSO_WM_UNIT_INDEX" val="1_2_4"/>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20218349_1*l_h_i*1_2_2"/>
  <p:tag name="KSO_WM_TEMPLATE_CATEGORY" val="diagram"/>
  <p:tag name="KSO_WM_TEMPLATE_INDEX" val="20218349"/>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Lst>
</file>

<file path=ppt/tags/tag12.xml><?xml version="1.0" encoding="utf-8"?>
<p:tagLst xmlns:p="http://schemas.openxmlformats.org/presentationml/2006/main">
  <p:tag name="KSO_WM_UNIT_SUBTYPE" val="a"/>
  <p:tag name="KSO_WM_UNIT_PRESET_TEXT" val="单击此处添加正文"/>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8349_1*l_h_f*1_2_1"/>
  <p:tag name="KSO_WM_TEMPLATE_CATEGORY" val="diagram"/>
  <p:tag name="KSO_WM_TEMPLATE_INDEX" val="20218349"/>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Lst>
</file>

<file path=ppt/tags/tag13.xml><?xml version="1.0" encoding="utf-8"?>
<p:tagLst xmlns:p="http://schemas.openxmlformats.org/presentationml/2006/main">
  <p:tag name="KSO_WM_SLIDE_ID" val="diagram20218349_1"/>
  <p:tag name="KSO_WM_TEMPLATE_SUBCATEGORY" val="0"/>
  <p:tag name="KSO_WM_TEMPLATE_MASTER_TYPE" val="0"/>
  <p:tag name="KSO_WM_TEMPLATE_COLOR_TYPE" val="0"/>
  <p:tag name="KSO_WM_SLIDE_TYPE" val="contents"/>
  <p:tag name="KSO_WM_SLIDE_SUBTYPE" val="diag"/>
  <p:tag name="KSO_WM_SLIDE_ITEM_CNT" val="2"/>
  <p:tag name="KSO_WM_SLIDE_INDEX" val="1"/>
  <p:tag name="KSO_WM_DIAGRAM_GROUP_CODE" val="l1-1"/>
  <p:tag name="KSO_WM_SLIDE_DIAGTYPE" val="l"/>
  <p:tag name="KSO_WM_TAG_VERSION" val="1.0"/>
  <p:tag name="KSO_WM_BEAUTIFY_FLAG" val="#wm#"/>
  <p:tag name="KSO_WM_TEMPLATE_CATEGORY" val="diagram"/>
  <p:tag name="KSO_WM_TEMPLATE_INDEX" val="20218349"/>
  <p:tag name="KSO_WM_SLIDE_LAYOUT" val="a_b_l"/>
  <p:tag name="KSO_WM_SLIDE_LAYOUT_CNT" val="1_1_1"/>
</p:tagLst>
</file>

<file path=ppt/tags/tag14.xml><?xml version="1.0" encoding="utf-8"?>
<p:tagLst xmlns:p="http://schemas.openxmlformats.org/presentationml/2006/main">
  <p:tag name="KSO_WPP_MARK_KEY" val="36793737-c6af-46f6-8ecf-f34ff4e7891c"/>
  <p:tag name="COMMONDATA" val="eyJoZGlkIjoiZDJmYTA5NWNiOTMyZDNkNDZmZTYwZWQ1ZDgzZjlmMWMifQ=="/>
  <p:tag name="commondata" val="eyJoZGlkIjoiNDI1NGVkOTE5OWZmZTU3MGNmM2JlNmQwMTgxZTUyMDU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17773</Words>
  <Application>WPS 演示</Application>
  <PresentationFormat>全屏显示(16:9)</PresentationFormat>
  <Paragraphs>1611</Paragraphs>
  <Slides>136</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136</vt:i4>
      </vt:variant>
    </vt:vector>
  </HeadingPairs>
  <TitlesOfParts>
    <vt:vector size="152" baseType="lpstr">
      <vt:lpstr>Arial</vt:lpstr>
      <vt:lpstr>宋体</vt:lpstr>
      <vt:lpstr>Wingdings</vt:lpstr>
      <vt:lpstr>Calibri</vt:lpstr>
      <vt:lpstr>微软雅黑</vt:lpstr>
      <vt:lpstr>华文细黑</vt:lpstr>
      <vt:lpstr>Arial</vt:lpstr>
      <vt:lpstr>Wingdings 3</vt:lpstr>
      <vt:lpstr>Symbol</vt:lpstr>
      <vt:lpstr>Arial Unicode MS</vt:lpstr>
      <vt:lpstr>Times New Roman</vt:lpstr>
      <vt:lpstr>华文中宋</vt:lpstr>
      <vt:lpstr>Symbol</vt:lpstr>
      <vt:lpstr>华文楷体</vt:lpstr>
      <vt:lpstr>Office 主题</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micky</dc:creator>
  <cp:lastModifiedBy>Administrator</cp:lastModifiedBy>
  <cp:revision>495</cp:revision>
  <dcterms:created xsi:type="dcterms:W3CDTF">2012-04-18T08:59:00Z</dcterms:created>
  <dcterms:modified xsi:type="dcterms:W3CDTF">2024-07-15T01:45:35Z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2052-12.1.0.17440</vt:lpwstr>
  </property>
  <property fmtid="{D5CDD505-2E9C-101B-9397-08002B2CF9AE}" pid="3" name="ICV">
    <vt:lpwstr>92A056BC97CC4358BE0D4AB6CCCEB86B_12</vt:lpwstr>
  </property>
</Properties>
</file>
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7"/>
  </p:notesMasterIdLst>
  <p:sldIdLst>
    <p:sldId id="807" r:id="rId3"/>
    <p:sldId id="912" r:id="rId4"/>
    <p:sldId id="687" r:id="rId5"/>
    <p:sldId id="688" r:id="rId6"/>
    <p:sldId id="689" r:id="rId7"/>
    <p:sldId id="690" r:id="rId8"/>
    <p:sldId id="451" r:id="rId9"/>
    <p:sldId id="692" r:id="rId10"/>
    <p:sldId id="693" r:id="rId11"/>
    <p:sldId id="452" r:id="rId12"/>
    <p:sldId id="694" r:id="rId13"/>
    <p:sldId id="695" r:id="rId14"/>
    <p:sldId id="453" r:id="rId15"/>
    <p:sldId id="697" r:id="rId16"/>
    <p:sldId id="698" r:id="rId17"/>
    <p:sldId id="699" r:id="rId18"/>
    <p:sldId id="696" r:id="rId19"/>
    <p:sldId id="701" r:id="rId20"/>
    <p:sldId id="702" r:id="rId21"/>
    <p:sldId id="703" r:id="rId22"/>
    <p:sldId id="705" r:id="rId23"/>
    <p:sldId id="704" r:id="rId24"/>
    <p:sldId id="706" r:id="rId25"/>
    <p:sldId id="707" r:id="rId26"/>
    <p:sldId id="708" r:id="rId27"/>
    <p:sldId id="709" r:id="rId28"/>
    <p:sldId id="710" r:id="rId29"/>
    <p:sldId id="711" r:id="rId30"/>
    <p:sldId id="712" r:id="rId31"/>
    <p:sldId id="713" r:id="rId32"/>
    <p:sldId id="700" r:id="rId33"/>
    <p:sldId id="715" r:id="rId34"/>
    <p:sldId id="716" r:id="rId35"/>
    <p:sldId id="717" r:id="rId36"/>
    <p:sldId id="718" r:id="rId37"/>
    <p:sldId id="714" r:id="rId38"/>
    <p:sldId id="719" r:id="rId39"/>
    <p:sldId id="720" r:id="rId40"/>
    <p:sldId id="721" r:id="rId41"/>
    <p:sldId id="722" r:id="rId42"/>
    <p:sldId id="723" r:id="rId43"/>
    <p:sldId id="724" r:id="rId44"/>
    <p:sldId id="725" r:id="rId45"/>
    <p:sldId id="727" r:id="rId46"/>
    <p:sldId id="726" r:id="rId47"/>
    <p:sldId id="728" r:id="rId48"/>
    <p:sldId id="729" r:id="rId49"/>
    <p:sldId id="730" r:id="rId50"/>
    <p:sldId id="731" r:id="rId51"/>
    <p:sldId id="454" r:id="rId52"/>
    <p:sldId id="455" r:id="rId53"/>
    <p:sldId id="733" r:id="rId54"/>
    <p:sldId id="456" r:id="rId55"/>
    <p:sldId id="459" r:id="rId56"/>
    <p:sldId id="460" r:id="rId57"/>
    <p:sldId id="461" r:id="rId58"/>
    <p:sldId id="462" r:id="rId59"/>
    <p:sldId id="758" r:id="rId60"/>
    <p:sldId id="463" r:id="rId61"/>
    <p:sldId id="458" r:id="rId62"/>
    <p:sldId id="734" r:id="rId63"/>
    <p:sldId id="735" r:id="rId64"/>
    <p:sldId id="761" r:id="rId65"/>
    <p:sldId id="736" r:id="rId66"/>
    <p:sldId id="737" r:id="rId67"/>
    <p:sldId id="738" r:id="rId68"/>
    <p:sldId id="759" r:id="rId69"/>
    <p:sldId id="760" r:id="rId70"/>
    <p:sldId id="464" r:id="rId71"/>
    <p:sldId id="465" r:id="rId72"/>
    <p:sldId id="466" r:id="rId73"/>
    <p:sldId id="467" r:id="rId74"/>
    <p:sldId id="468" r:id="rId75"/>
    <p:sldId id="469" r:id="rId76"/>
    <p:sldId id="470" r:id="rId77"/>
    <p:sldId id="762" r:id="rId78"/>
    <p:sldId id="763" r:id="rId79"/>
    <p:sldId id="779" r:id="rId80"/>
    <p:sldId id="780" r:id="rId81"/>
    <p:sldId id="781" r:id="rId82"/>
    <p:sldId id="782" r:id="rId83"/>
    <p:sldId id="783" r:id="rId84"/>
    <p:sldId id="784" r:id="rId85"/>
    <p:sldId id="785" r:id="rId86"/>
    <p:sldId id="786" r:id="rId87"/>
    <p:sldId id="787" r:id="rId88"/>
    <p:sldId id="788" r:id="rId89"/>
    <p:sldId id="789" r:id="rId90"/>
    <p:sldId id="790" r:id="rId91"/>
    <p:sldId id="791" r:id="rId92"/>
    <p:sldId id="792" r:id="rId93"/>
    <p:sldId id="793" r:id="rId94"/>
    <p:sldId id="794" r:id="rId95"/>
    <p:sldId id="795" r:id="rId96"/>
    <p:sldId id="796" r:id="rId97"/>
    <p:sldId id="797" r:id="rId98"/>
    <p:sldId id="798" r:id="rId99"/>
    <p:sldId id="799" r:id="rId100"/>
    <p:sldId id="800" r:id="rId101"/>
    <p:sldId id="801" r:id="rId102"/>
    <p:sldId id="802" r:id="rId103"/>
    <p:sldId id="803" r:id="rId104"/>
    <p:sldId id="804" r:id="rId105"/>
    <p:sldId id="806" r:id="rId106"/>
  </p:sldIdLst>
  <p:sldSz cx="9144000" cy="5143500"/>
  <p:notesSz cx="6858000" cy="9144000"/>
  <p:custDataLst>
    <p:tags r:id="rId11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kern="1200" baseline="0">
        <a:solidFill>
          <a:schemeClr val="tx1"/>
        </a:solidFill>
        <a:latin typeface="Arial" panose="020B0604020202020204" pitchFamily="34" charset="0"/>
        <a:ea typeface="Arial" panose="020B0604020202020204" pitchFamily="34" charset="0"/>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Arial" panose="020B0604020202020204" pitchFamily="34" charset="0"/>
        <a:cs typeface="+mn-cs"/>
      </a:defRPr>
    </a:lvl9pPr>
  </p:defaultTextStyle>
  <p:extLst>
    <p:ext uri="{EFAFB233-063F-42B5-8137-9DF3F51BA10A}">
      <p15:sldGuideLst xmlns:p15="http://schemas.microsoft.com/office/powerpoint/2012/main">
        <p15:guide id="1" orient="horz" pos="1512" userDrawn="1">
          <p15:clr>
            <a:srgbClr val="A4A3A4"/>
          </p15:clr>
        </p15:guide>
        <p15:guide id="2" pos="290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闫 玉刚" initials="闫"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1512"/>
        <p:guide pos="2903"/>
      </p:guideLst>
    </p:cSldViewPr>
  </p:slide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2" Type="http://schemas.openxmlformats.org/officeDocument/2006/relationships/tags" Target="tags/tag7.xml"/><Relationship Id="rId111" Type="http://schemas.openxmlformats.org/officeDocument/2006/relationships/commentAuthors" Target="commentAuthors.xml"/><Relationship Id="rId110" Type="http://schemas.openxmlformats.org/officeDocument/2006/relationships/tableStyles" Target="tableStyles.xml"/><Relationship Id="rId11" Type="http://schemas.openxmlformats.org/officeDocument/2006/relationships/slide" Target="slides/slide9.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notesMaster" Target="notesMasters/notesMaster1.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1"/>
          <p:cNvSpPr>
            <a:spLocks noGrp="1"/>
          </p:cNvSpPr>
          <p:nvPr>
            <p:ph type="hdr" sz="quarter"/>
          </p:nvPr>
        </p:nvSpPr>
        <p:spPr>
          <a:xfrm>
            <a:off x="0" y="0"/>
            <a:ext cx="2971800" cy="457200"/>
          </a:xfrm>
          <a:prstGeom prst="rect">
            <a:avLst/>
          </a:prstGeom>
          <a:noFill/>
          <a:ln w="9525">
            <a:noFill/>
          </a:ln>
        </p:spPr>
        <p:txBody>
          <a:bodyPr vert="horz"/>
          <a:p>
            <a:pPr lvl="0" algn="l" fontAlgn="base"/>
            <a:endParaRPr sz="1200" strike="noStrike" noProof="1">
              <a:ea typeface="宋体" panose="02010600030101010101" pitchFamily="2" charset="-122"/>
            </a:endParaRPr>
          </a:p>
        </p:txBody>
      </p:sp>
      <p:sp>
        <p:nvSpPr>
          <p:cNvPr id="2051" name="日期占位符 2"/>
          <p:cNvSpPr>
            <a:spLocks noGrp="1"/>
          </p:cNvSpPr>
          <p:nvPr>
            <p:ph type="dt" idx="1"/>
          </p:nvPr>
        </p:nvSpPr>
        <p:spPr>
          <a:xfrm>
            <a:off x="3884613" y="0"/>
            <a:ext cx="2971800" cy="457200"/>
          </a:xfrm>
          <a:prstGeom prst="rect">
            <a:avLst/>
          </a:prstGeom>
          <a:noFill/>
          <a:ln w="9525">
            <a:noFill/>
          </a:ln>
        </p:spPr>
        <p:txBody>
          <a:bodyPr vert="horz"/>
          <a:p>
            <a:pPr lvl="0" algn="r" fontAlgn="base"/>
            <a:fld id="{BB962C8B-B14F-4D97-AF65-F5344CB8AC3E}" type="datetime1">
              <a:rPr lang="zh-CN" altLang="en-US" strike="noStrike" noProof="1" dirty="0">
                <a:latin typeface="Arial" panose="020B0604020202020204" pitchFamily="34" charset="0"/>
                <a:ea typeface="宋体" panose="02010600030101010101" pitchFamily="2" charset="-122"/>
                <a:cs typeface="+mn-ea"/>
              </a:rPr>
            </a:fld>
            <a:endParaRPr lang="zh-CN" altLang="en-US" sz="1200" strike="noStrike" noProof="1" dirty="0">
              <a:ea typeface="宋体" panose="02010600030101010101" pitchFamily="2" charset="-122"/>
            </a:endParaRPr>
          </a:p>
        </p:txBody>
      </p:sp>
      <p:sp>
        <p:nvSpPr>
          <p:cNvPr id="2052" name="幻灯片图像占位符 3"/>
          <p:cNvSpPr>
            <a:spLocks noGrp="1" noRot="1" noChangeAspect="1"/>
          </p:cNvSpPr>
          <p:nvPr>
            <p:ph type="sldImg"/>
          </p:nvPr>
        </p:nvSpPr>
        <p:spPr>
          <a:xfrm>
            <a:off x="381000" y="685800"/>
            <a:ext cx="6096000" cy="3429000"/>
          </a:xfrm>
          <a:prstGeom prst="rect">
            <a:avLst/>
          </a:prstGeom>
          <a:noFill/>
          <a:ln w="9525">
            <a:noFill/>
          </a:ln>
        </p:spPr>
      </p:sp>
      <p:sp>
        <p:nvSpPr>
          <p:cNvPr id="2053" name="备注占位符 4"/>
          <p:cNvSpPr>
            <a:spLocks noGrp="1" noRot="1" noChangeAspect="1"/>
          </p:cNvSpPr>
          <p:nvPr/>
        </p:nvSpPr>
        <p:spPr>
          <a:xfrm>
            <a:off x="685800" y="4343400"/>
            <a:ext cx="5486400" cy="4114800"/>
          </a:xfrm>
          <a:prstGeom prst="rect">
            <a:avLst/>
          </a:prstGeom>
          <a:noFill/>
          <a:ln w="9525">
            <a:noFill/>
          </a:ln>
        </p:spPr>
        <p:txBody>
          <a:bodyPr anchor="ctr" anchorCtr="0"/>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2054" name="页脚占位符 5"/>
          <p:cNvSpPr>
            <a:spLocks noGrp="1"/>
          </p:cNvSpPr>
          <p:nvPr>
            <p:ph type="ftr" sz="quarter" idx="4"/>
          </p:nvPr>
        </p:nvSpPr>
        <p:spPr>
          <a:xfrm>
            <a:off x="0" y="8685213"/>
            <a:ext cx="2971800" cy="457200"/>
          </a:xfrm>
          <a:prstGeom prst="rect">
            <a:avLst/>
          </a:prstGeom>
          <a:noFill/>
          <a:ln w="9525">
            <a:noFill/>
          </a:ln>
        </p:spPr>
        <p:txBody>
          <a:bodyPr vert="horz" anchor="b"/>
          <a:p>
            <a:pPr lvl="0" algn="l" fontAlgn="base"/>
            <a:endParaRPr sz="1200" strike="noStrike" noProof="1">
              <a:ea typeface="宋体" panose="02010600030101010101" pitchFamily="2" charset="-122"/>
            </a:endParaRPr>
          </a:p>
        </p:txBody>
      </p:sp>
      <p:sp>
        <p:nvSpPr>
          <p:cNvPr id="2055" name="灯片编号占位符 6"/>
          <p:cNvSpPr>
            <a:spLocks noGrp="1"/>
          </p:cNvSpPr>
          <p:nvPr>
            <p:ph type="sldNum" sz="quarter" idx="5"/>
          </p:nvPr>
        </p:nvSpPr>
        <p:spPr>
          <a:xfrm>
            <a:off x="3884613" y="8685213"/>
            <a:ext cx="2971800" cy="457200"/>
          </a:xfrm>
          <a:prstGeom prst="rect">
            <a:avLst/>
          </a:prstGeom>
          <a:noFill/>
          <a:ln w="9525">
            <a:noFill/>
          </a:ln>
        </p:spPr>
        <p:txBody>
          <a:bodyPr vert="horz" anchor="b"/>
          <a:p>
            <a:pPr lvl="0"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z="1200" strike="noStrike" noProof="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lvl="0" defTabSz="0" fontAlgn="base">
      <a:defRPr sz="1200" kern="1200"/>
    </a:lvl1pPr>
    <a:lvl2pPr marL="0" lvl="1" indent="0" defTabSz="0" fontAlgn="base">
      <a:defRPr sz="1200" kern="1200"/>
    </a:lvl2pPr>
    <a:lvl3pPr marL="0" lvl="2" indent="0" defTabSz="0" fontAlgn="base">
      <a:defRPr sz="1200" kern="1200"/>
    </a:lvl3pPr>
    <a:lvl4pPr marL="0" lvl="3" indent="0" defTabSz="0" fontAlgn="base">
      <a:defRPr sz="1200" kern="1200"/>
    </a:lvl4pPr>
    <a:lvl5pPr marL="0" lvl="4" indent="0" defTabSz="0" fontAlgn="base">
      <a:defRPr sz="1200" kern="1200"/>
    </a:lvl5pPr>
    <a:lvl6pPr marL="2286000" lvl="5" indent="0" defTabSz="0" fontAlgn="base">
      <a:defRPr sz="1200" kern="1200"/>
    </a:lvl6pPr>
    <a:lvl7pPr marL="2743200" lvl="6" indent="0" defTabSz="0" fontAlgn="base">
      <a:defRPr sz="1200" kern="1200"/>
    </a:lvl7pPr>
    <a:lvl8pPr marL="3200400" lvl="7" indent="0" defTabSz="0" fontAlgn="base">
      <a:defRPr sz="1200" kern="1200"/>
    </a:lvl8pPr>
    <a:lvl9pPr marL="3657600" lvl="8" indent="0" defTabSz="0" fontAlgn="base">
      <a:defRPr sz="1200" kern="1200"/>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a:prstGeom prst="rect">
            <a:avLst/>
          </a:prstGeom>
        </p:spPr>
        <p:txBody>
          <a:bodyPr anchor="b"/>
          <a:lstStyle>
            <a:lvl1pPr algn="ctr">
              <a:defRPr sz="4500"/>
            </a:lvl1pPr>
          </a:lstStyle>
          <a:p>
            <a:pPr fontAlgn="auto"/>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12959"/>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57200" y="1600200"/>
            <a:ext cx="8229600" cy="4526280"/>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a:prstGeom prst="rect">
            <a:avLst/>
          </a:prstGeom>
        </p:spPr>
        <p:txBody>
          <a:bodyPr anchor="b"/>
          <a:lstStyle>
            <a:lvl1pPr>
              <a:defRPr sz="4500"/>
            </a:lvl1p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097"/>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369219"/>
            <a:ext cx="3886200" cy="326350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369219"/>
            <a:ext cx="3886200" cy="3263504"/>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3829"/>
            <a:ext cx="3655181" cy="617934"/>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034"/>
            <a:ext cx="3655181" cy="264321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3829"/>
            <a:ext cx="3673182" cy="617934"/>
          </a:xfrm>
          <a:prstGeom prst="rect">
            <a:avLst/>
          </a:prstGeo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034"/>
            <a:ext cx="3673182" cy="264321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a:prstGeom prst="rect">
            <a:avLst/>
          </a:prstGeom>
        </p:spPr>
        <p:txBody>
          <a:bodyPr anchor="b"/>
          <a:lstStyle>
            <a:lvl1pPr>
              <a:defRPr sz="2400"/>
            </a:lvl1pPr>
          </a:lstStyle>
          <a:p>
            <a:pPr fontAlgn="auto"/>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a:prstGeom prst="rect">
            <a:avLst/>
          </a:prstGeom>
        </p:spPr>
        <p:txBody>
          <a:bodyPr anchor="b"/>
          <a:lstStyle>
            <a:lvl1pPr>
              <a:defRPr sz="2400"/>
            </a:lvl1pPr>
          </a:lstStyle>
          <a:p>
            <a:pPr fontAlgn="auto"/>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01"/>
            <a:ext cx="4629150" cy="4052888"/>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1543050"/>
            <a:ext cx="3124012" cy="2858691"/>
          </a:xfrm>
          <a:prstGeom prst="rect">
            <a:avLst/>
          </a:prstGeo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6280"/>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a:prstGeom prst="rect">
            <a:avLst/>
          </a:prstGeom>
        </p:spPr>
        <p:txBody>
          <a:bodyPr vert="eaVert"/>
          <a:lstStyle/>
          <a:p>
            <a:pPr fontAlgn="auto"/>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273844"/>
            <a:ext cx="5800725" cy="4358879"/>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914400" lvl="0" indent="-914400" algn="ctr" eaLnBrk="1" latinLnBrk="0" hangingPunct="1">
        <a:lnSpc>
          <a:spcPct val="100000"/>
        </a:lnSpc>
        <a:spcBef>
          <a:spcPct val="0"/>
        </a:spcBef>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3.e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5.e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xml"/><Relationship Id="rId2" Type="http://schemas.openxmlformats.org/officeDocument/2006/relationships/image" Target="../media/image6.wmf"/><Relationship Id="rId1"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xml"/><Relationship Id="rId2" Type="http://schemas.openxmlformats.org/officeDocument/2006/relationships/image" Target="../media/image9.emf"/><Relationship Id="rId1"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xml"/><Relationship Id="rId2" Type="http://schemas.openxmlformats.org/officeDocument/2006/relationships/image" Target="../media/image10.emf"/><Relationship Id="rId1"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1.xml"/><Relationship Id="rId2" Type="http://schemas.openxmlformats.org/officeDocument/2006/relationships/image" Target="../media/image11.emf"/><Relationship Id="rId1" Type="http://schemas.openxmlformats.org/officeDocument/2006/relationships/oleObject" Target="../embeddings/oleObject8.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email"/>
          <a:stretch>
            <a:fillRect/>
          </a:stretch>
        </p:blipFill>
        <p:spPr>
          <a:xfrm>
            <a:off x="0" y="0"/>
            <a:ext cx="9144000" cy="5143500"/>
          </a:xfrm>
          <a:prstGeom prst="rect">
            <a:avLst/>
          </a:prstGeom>
        </p:spPr>
      </p:pic>
      <p:sp>
        <p:nvSpPr>
          <p:cNvPr id="17" name="任意多边形 20"/>
          <p:cNvSpPr/>
          <p:nvPr/>
        </p:nvSpPr>
        <p:spPr>
          <a:xfrm rot="3073228">
            <a:off x="4062907" y="-1248112"/>
            <a:ext cx="6330838" cy="4300933"/>
          </a:xfrm>
          <a:custGeom>
            <a:avLst/>
            <a:gdLst>
              <a:gd name="connsiteX0" fmla="*/ 0 w 8152386"/>
              <a:gd name="connsiteY0" fmla="*/ 5633681 h 5633681"/>
              <a:gd name="connsiteX1" fmla="*/ 4815891 w 8152386"/>
              <a:gd name="connsiteY1" fmla="*/ 0 h 5633681"/>
              <a:gd name="connsiteX2" fmla="*/ 8152386 w 8152386"/>
              <a:gd name="connsiteY2" fmla="*/ 2852167 h 5633681"/>
              <a:gd name="connsiteX3" fmla="*/ 8152386 w 8152386"/>
              <a:gd name="connsiteY3" fmla="*/ 5633681 h 5633681"/>
            </a:gdLst>
            <a:ahLst/>
            <a:cxnLst>
              <a:cxn ang="0">
                <a:pos x="connsiteX0" y="connsiteY0"/>
              </a:cxn>
              <a:cxn ang="0">
                <a:pos x="connsiteX1" y="connsiteY1"/>
              </a:cxn>
              <a:cxn ang="0">
                <a:pos x="connsiteX2" y="connsiteY2"/>
              </a:cxn>
              <a:cxn ang="0">
                <a:pos x="connsiteX3" y="connsiteY3"/>
              </a:cxn>
            </a:cxnLst>
            <a:rect l="l" t="t" r="r" b="b"/>
            <a:pathLst>
              <a:path w="8152386" h="5633681">
                <a:moveTo>
                  <a:pt x="0" y="5633681"/>
                </a:moveTo>
                <a:lnTo>
                  <a:pt x="4815891" y="0"/>
                </a:lnTo>
                <a:lnTo>
                  <a:pt x="8152386" y="2852167"/>
                </a:lnTo>
                <a:lnTo>
                  <a:pt x="8152386" y="5633681"/>
                </a:lnTo>
                <a:close/>
              </a:path>
            </a:pathLst>
          </a:custGeom>
          <a:solidFill>
            <a:srgbClr val="D76739">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2282" tIns="41142" rIns="82282" bIns="41142" rtlCol="0" anchor="ctr">
            <a:noAutofit/>
          </a:bodyPr>
          <a:lstStyle/>
          <a:p>
            <a:pPr algn="ctr"/>
            <a:endParaRPr lang="zh-CN" altLang="en-US" sz="1235"/>
          </a:p>
        </p:txBody>
      </p:sp>
      <p:sp>
        <p:nvSpPr>
          <p:cNvPr id="18" name="文本框 17"/>
          <p:cNvSpPr txBox="1"/>
          <p:nvPr/>
        </p:nvSpPr>
        <p:spPr>
          <a:xfrm>
            <a:off x="5702935" y="1869440"/>
            <a:ext cx="3441065" cy="635000"/>
          </a:xfrm>
          <a:prstGeom prst="rect">
            <a:avLst/>
          </a:prstGeom>
          <a:noFill/>
        </p:spPr>
        <p:txBody>
          <a:bodyPr wrap="square" lIns="82282" tIns="41142" rIns="82282" bIns="41142" rtlCol="0">
            <a:spAutoFit/>
          </a:bodyPr>
          <a:lstStyle/>
          <a:p>
            <a:pPr algn="ctr"/>
            <a:r>
              <a:rPr lang="en-US" sz="3600" dirty="0">
                <a:solidFill>
                  <a:schemeClr val="bg1"/>
                </a:solidFill>
                <a:effectLst>
                  <a:outerShdw blurRad="50800" dist="38100" dir="2700000" algn="tl" rotWithShape="0">
                    <a:prstClr val="black">
                      <a:alpha val="40000"/>
                    </a:prstClr>
                  </a:outerShdw>
                </a:effectLst>
                <a:sym typeface="+mn-ea"/>
              </a:rPr>
              <a:t>Linux</a:t>
            </a:r>
            <a:r>
              <a:rPr lang="zh-CN" altLang="en-US" sz="3600" dirty="0">
                <a:solidFill>
                  <a:schemeClr val="bg1"/>
                </a:solidFill>
                <a:effectLst>
                  <a:outerShdw blurRad="50800" dist="38100" dir="2700000" algn="tl" rotWithShape="0">
                    <a:prstClr val="black">
                      <a:alpha val="40000"/>
                    </a:prstClr>
                  </a:outerShdw>
                </a:effectLst>
                <a:sym typeface="+mn-ea"/>
              </a:rPr>
              <a:t>网络</a:t>
            </a:r>
            <a:r>
              <a:rPr lang="zh-CN" altLang="en-US" sz="3600" dirty="0">
                <a:solidFill>
                  <a:schemeClr val="bg1"/>
                </a:solidFill>
                <a:effectLst>
                  <a:outerShdw blurRad="50800" dist="38100" dir="2700000" algn="tl" rotWithShape="0">
                    <a:prstClr val="black">
                      <a:alpha val="40000"/>
                    </a:prstClr>
                  </a:outerShdw>
                </a:effectLst>
                <a:sym typeface="+mn-ea"/>
              </a:rPr>
              <a:t>编程</a:t>
            </a:r>
            <a:endParaRPr lang="zh-CN" altLang="en-US" sz="3600" dirty="0">
              <a:solidFill>
                <a:schemeClr val="bg1"/>
              </a:solidFill>
              <a:effectLst>
                <a:outerShdw blurRad="50800" dist="38100" dir="2700000" algn="tl" rotWithShape="0">
                  <a:prstClr val="black">
                    <a:alpha val="40000"/>
                  </a:prstClr>
                </a:outerShdw>
              </a:effectLst>
              <a:sym typeface="+mn-ea"/>
            </a:endParaRPr>
          </a:p>
        </p:txBody>
      </p:sp>
      <p:sp>
        <p:nvSpPr>
          <p:cNvPr id="22" name="等腰三角形 21"/>
          <p:cNvSpPr/>
          <p:nvPr/>
        </p:nvSpPr>
        <p:spPr>
          <a:xfrm rot="10800000">
            <a:off x="7596333" y="3137207"/>
            <a:ext cx="257382" cy="15286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82282" tIns="41142" rIns="82282" bIns="41142" rtlCol="0" anchor="ctr"/>
          <a:lstStyle/>
          <a:p>
            <a:pPr algn="ctr"/>
            <a:endParaRPr lang="zh-CN" altLang="en-US" sz="1235"/>
          </a:p>
        </p:txBody>
      </p:sp>
      <p:sp>
        <p:nvSpPr>
          <p:cNvPr id="9" name="文本框 8"/>
          <p:cNvSpPr txBox="1"/>
          <p:nvPr/>
        </p:nvSpPr>
        <p:spPr>
          <a:xfrm>
            <a:off x="6583110" y="3062198"/>
            <a:ext cx="1013185" cy="302260"/>
          </a:xfrm>
          <a:prstGeom prst="rect">
            <a:avLst/>
          </a:prstGeom>
          <a:noFill/>
        </p:spPr>
        <p:txBody>
          <a:bodyPr wrap="square" lIns="82288" tIns="41143" rIns="82288" bIns="41143" rtlCol="0">
            <a:spAutoFit/>
          </a:bodyPr>
          <a:lstStyle/>
          <a:p>
            <a:pPr algn="ctr"/>
            <a:r>
              <a:rPr lang="zh-CN" altLang="en-US" sz="1440" dirty="0">
                <a:solidFill>
                  <a:schemeClr val="bg1"/>
                </a:solidFill>
                <a:latin typeface="微软雅黑" panose="020B0503020204020204" pitchFamily="2" charset="-122"/>
                <a:ea typeface="微软雅黑" panose="020B0503020204020204" pitchFamily="2" charset="-122"/>
              </a:rPr>
              <a:t>黄哥哥</a:t>
            </a:r>
            <a:endParaRPr lang="zh-CN" altLang="en-US" sz="1440" dirty="0">
              <a:solidFill>
                <a:schemeClr val="bg1"/>
              </a:solidFill>
              <a:latin typeface="微软雅黑" panose="020B0503020204020204" pitchFamily="2" charset="-122"/>
              <a:ea typeface="微软雅黑" panose="020B0503020204020204"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文本框 16"/>
          <p:cNvSpPr txBox="1"/>
          <p:nvPr>
            <p:custDataLst>
              <p:tags r:id="rId1"/>
            </p:custDataLst>
          </p:nvPr>
        </p:nvSpPr>
        <p:spPr>
          <a:xfrm>
            <a:off x="277495" y="1485900"/>
            <a:ext cx="2846070" cy="1485900"/>
          </a:xfrm>
          <a:prstGeom prst="rect">
            <a:avLst/>
          </a:prstGeom>
          <a:noFill/>
        </p:spPr>
        <p:txBody>
          <a:bodyPr wrap="square" lIns="47625" tIns="19050" rIns="47625" bIns="19050" rtlCol="0" anchor="ctr" anchorCtr="0">
            <a:normAutofit/>
          </a:bodyPr>
          <a:p>
            <a:pPr marL="0" indent="0" algn="ctr">
              <a:lnSpc>
                <a:spcPct val="110000"/>
              </a:lnSpc>
              <a:spcBef>
                <a:spcPts val="0"/>
              </a:spcBef>
              <a:spcAft>
                <a:spcPts val="0"/>
              </a:spcAft>
              <a:buSzPct val="100000"/>
              <a:buNone/>
            </a:pPr>
            <a:r>
              <a:rPr lang="en-US" altLang="zh-CN" sz="3200" b="1" spc="200" dirty="0">
                <a:solidFill>
                  <a:schemeClr val="dk1">
                    <a:lumMod val="85000"/>
                    <a:lumOff val="15000"/>
                  </a:schemeClr>
                </a:solidFill>
                <a:uFillTx/>
                <a:latin typeface="微软雅黑" panose="020B0503020204020204" pitchFamily="2" charset="-122"/>
                <a:ea typeface="微软雅黑" panose="020B0503020204020204" pitchFamily="2" charset="-122"/>
                <a:sym typeface="宋体" panose="02010600030101010101" pitchFamily="2" charset="-122"/>
              </a:rPr>
              <a:t>linux </a:t>
            </a:r>
            <a:endParaRPr lang="en-US" altLang="zh-CN" sz="3200" b="1" spc="200" dirty="0">
              <a:solidFill>
                <a:schemeClr val="dk1">
                  <a:lumMod val="85000"/>
                  <a:lumOff val="15000"/>
                </a:schemeClr>
              </a:solidFill>
              <a:uFillTx/>
              <a:latin typeface="微软雅黑" panose="020B0503020204020204" pitchFamily="2" charset="-122"/>
              <a:ea typeface="微软雅黑" panose="020B0503020204020204" pitchFamily="2" charset="-122"/>
              <a:sym typeface="宋体" panose="02010600030101010101" pitchFamily="2" charset="-122"/>
            </a:endParaRPr>
          </a:p>
          <a:p>
            <a:pPr marL="0" indent="0" algn="ctr">
              <a:lnSpc>
                <a:spcPct val="110000"/>
              </a:lnSpc>
              <a:spcBef>
                <a:spcPts val="0"/>
              </a:spcBef>
              <a:spcAft>
                <a:spcPts val="0"/>
              </a:spcAft>
              <a:buSzPct val="100000"/>
              <a:buNone/>
            </a:pPr>
            <a:r>
              <a:rPr lang="en-US" altLang="zh-CN" sz="3200" b="1" spc="200" dirty="0">
                <a:solidFill>
                  <a:schemeClr val="dk1">
                    <a:lumMod val="85000"/>
                    <a:lumOff val="15000"/>
                  </a:schemeClr>
                </a:solidFill>
                <a:uFillTx/>
                <a:latin typeface="微软雅黑" panose="020B0503020204020204" pitchFamily="2" charset="-122"/>
                <a:ea typeface="微软雅黑" panose="020B0503020204020204" pitchFamily="2" charset="-122"/>
                <a:sym typeface="宋体" panose="02010600030101010101" pitchFamily="2" charset="-122"/>
              </a:rPr>
              <a:t>网络编程</a:t>
            </a:r>
            <a:endParaRPr lang="en-US" altLang="zh-CN" sz="3200" b="1" spc="200" dirty="0">
              <a:solidFill>
                <a:schemeClr val="dk1">
                  <a:lumMod val="85000"/>
                  <a:lumOff val="15000"/>
                </a:schemeClr>
              </a:solidFill>
              <a:uFillTx/>
              <a:latin typeface="微软雅黑" panose="020B0503020204020204" pitchFamily="2" charset="-122"/>
              <a:ea typeface="微软雅黑" panose="020B0503020204020204" pitchFamily="2" charset="-122"/>
              <a:sym typeface="宋体" panose="02010600030101010101" pitchFamily="2" charset="-122"/>
            </a:endParaRPr>
          </a:p>
        </p:txBody>
      </p:sp>
      <p:sp>
        <p:nvSpPr>
          <p:cNvPr id="18" name="Title 6"/>
          <p:cNvSpPr txBox="1"/>
          <p:nvPr>
            <p:custDataLst>
              <p:tags r:id="rId2"/>
            </p:custDataLst>
          </p:nvPr>
        </p:nvSpPr>
        <p:spPr>
          <a:xfrm>
            <a:off x="3171849" y="502915"/>
            <a:ext cx="5515013" cy="4137669"/>
          </a:xfrm>
          <a:prstGeom prst="rect">
            <a:avLst/>
          </a:prstGeom>
          <a:noFill/>
          <a:ln w="3175">
            <a:noFill/>
            <a:prstDash val="dash"/>
          </a:ln>
        </p:spPr>
        <p:txBody>
          <a:bodyPr wrap="square" lIns="47625" tIns="19050" rIns="47625" bIns="1905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533400" lvl="1" indent="-254000" algn="l" fontAlgn="ctr">
              <a:lnSpc>
                <a:spcPct val="120000"/>
              </a:lnSpc>
              <a:spcBef>
                <a:spcPts val="0"/>
              </a:spcBef>
              <a:spcAft>
                <a:spcPts val="800"/>
              </a:spcAft>
              <a:buClrTx/>
              <a:buSzTx/>
              <a:buFont typeface="Wingdings" panose="05000000000000000000" charset="0"/>
              <a:buChar char="l"/>
            </a:pPr>
            <a:r>
              <a:rPr lang="en-US" altLang="zh-CN" sz="20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Internet与TCP/IP协议</a:t>
            </a:r>
            <a:endParaRPr lang="en-US" altLang="zh-CN" sz="20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Internet历史</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OSI模型与TCP/IP协议体系结构</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TCP/IP协议</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TCP和UDP协议</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533400" lvl="1" indent="-254000" algn="l" fontAlgn="ctr">
              <a:lnSpc>
                <a:spcPct val="120000"/>
              </a:lnSpc>
              <a:spcBef>
                <a:spcPts val="0"/>
              </a:spcBef>
              <a:spcAft>
                <a:spcPts val="800"/>
              </a:spcAft>
              <a:buSzPct val="100000"/>
              <a:buFont typeface="Wingdings" panose="05000000000000000000" charset="0"/>
              <a:buChar char="l"/>
            </a:pPr>
            <a:r>
              <a:rPr lang="en-US" altLang="zh-CN" sz="20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TCP/IP网络程序设计</a:t>
            </a:r>
            <a:endParaRPr lang="en-US" altLang="zh-CN" sz="20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基础知识</a:t>
            </a:r>
            <a:endPar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TCP服务器/客户端</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UDP服务器/客户端</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I/O模型</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服务器模型</a:t>
            </a:r>
            <a:endPar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广播和组播</a:t>
            </a:r>
            <a:endParaRPr lang="zh-CN" altLang="en-US"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a:p>
            <a:pPr marL="990600" lvl="2" indent="-254000" algn="l" fontAlgn="ctr">
              <a:lnSpc>
                <a:spcPct val="120000"/>
              </a:lnSpc>
              <a:spcBef>
                <a:spcPts val="0"/>
              </a:spcBef>
              <a:spcAft>
                <a:spcPts val="800"/>
              </a:spcAft>
              <a:buSzPct val="100000"/>
              <a:buFont typeface="Arial" panose="020B0604020202020204" pitchFamily="34" charset="0"/>
              <a:buChar char="○"/>
            </a:pPr>
            <a:r>
              <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rPr>
              <a:t>UNIX域套接字</a:t>
            </a:r>
            <a:endParaRPr lang="en-US" altLang="zh-CN" sz="1400" strike="noStrike" spc="40" dirty="0">
              <a:ln w="3175">
                <a:noFill/>
                <a:prstDash val="dash"/>
              </a:ln>
              <a:solidFill>
                <a:schemeClr val="dk1">
                  <a:lumMod val="85000"/>
                  <a:lumOff val="15000"/>
                </a:schemeClr>
              </a:solidFill>
              <a:uFillTx/>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14" name="矩形 13"/>
          <p:cNvSpPr/>
          <p:nvPr>
            <p:custDataLst>
              <p:tags r:id="rId3"/>
            </p:custDataLst>
          </p:nvPr>
        </p:nvSpPr>
        <p:spPr>
          <a:xfrm>
            <a:off x="1066213" y="4"/>
            <a:ext cx="1268025" cy="1143009"/>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pitchFamily="2" charset="-122"/>
              <a:ea typeface="微软雅黑" panose="020B0503020204020204" pitchFamily="2" charset="-122"/>
            </a:endParaRPr>
          </a:p>
        </p:txBody>
      </p:sp>
      <p:sp>
        <p:nvSpPr>
          <p:cNvPr id="15" name="矩形 14"/>
          <p:cNvSpPr/>
          <p:nvPr>
            <p:custDataLst>
              <p:tags r:id="rId4"/>
            </p:custDataLst>
          </p:nvPr>
        </p:nvSpPr>
        <p:spPr>
          <a:xfrm>
            <a:off x="1066213" y="1257314"/>
            <a:ext cx="1268025" cy="57151"/>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pitchFamily="2" charset="-122"/>
              <a:ea typeface="微软雅黑" panose="020B0503020204020204" pitchFamily="2" charset="-122"/>
            </a:endParaRPr>
          </a:p>
        </p:txBody>
      </p:sp>
      <p:sp>
        <p:nvSpPr>
          <p:cNvPr id="16" name="矩形 15"/>
          <p:cNvSpPr/>
          <p:nvPr>
            <p:custDataLst>
              <p:tags r:id="rId5"/>
            </p:custDataLst>
          </p:nvPr>
        </p:nvSpPr>
        <p:spPr>
          <a:xfrm>
            <a:off x="1066213" y="3200388"/>
            <a:ext cx="1268025" cy="1943112"/>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chemeClr val="lt1"/>
              </a:solidFill>
              <a:latin typeface="微软雅黑" panose="020B0503020204020204" pitchFamily="2" charset="-122"/>
              <a:ea typeface="微软雅黑" panose="020B0503020204020204" pitchFamily="2" charset="-122"/>
            </a:endParaRPr>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200000"/>
              </a:lnSpc>
              <a:spcBef>
                <a:spcPct val="0"/>
              </a:spcBef>
              <a:spcAft>
                <a:spcPct val="0"/>
              </a:spcAft>
            </a:pPr>
            <a:r>
              <a:rPr lang="en-US" altLang="zh-CN" sz="1800" dirty="0"/>
              <a:t>Internet</a:t>
            </a:r>
            <a:r>
              <a:rPr lang="zh-CN" altLang="en-US" sz="1800" dirty="0"/>
              <a:t>－</a:t>
            </a:r>
            <a:r>
              <a:rPr lang="zh-CN" altLang="en-US" sz="1800" dirty="0">
                <a:latin typeface="Arial" panose="020B0604020202020204" pitchFamily="34" charset="0"/>
              </a:rPr>
              <a:t>“</a:t>
            </a:r>
            <a:r>
              <a:rPr lang="zh-CN" altLang="en-US" sz="1800" dirty="0"/>
              <a:t>冷战</a:t>
            </a:r>
            <a:r>
              <a:rPr lang="zh-CN" altLang="en-US" sz="1800" dirty="0">
                <a:latin typeface="Arial" panose="020B0604020202020204" pitchFamily="34" charset="0"/>
              </a:rPr>
              <a:t>”</a:t>
            </a:r>
            <a:r>
              <a:rPr lang="zh-CN" altLang="en-US" sz="1800" dirty="0"/>
              <a:t>的产物</a:t>
            </a:r>
            <a:endParaRPr lang="zh-CN" altLang="en-US" sz="1800" dirty="0"/>
          </a:p>
          <a:p>
            <a:pPr lvl="1" indent="-285750"/>
            <a:r>
              <a:rPr lang="en-US" altLang="zh-CN" sz="1800" dirty="0"/>
              <a:t>1957</a:t>
            </a:r>
            <a:r>
              <a:rPr lang="zh-CN" altLang="en-US" sz="1800" dirty="0"/>
              <a:t>年</a:t>
            </a:r>
            <a:r>
              <a:rPr lang="en-US" altLang="zh-CN" sz="1800" dirty="0"/>
              <a:t>10</a:t>
            </a:r>
            <a:r>
              <a:rPr lang="zh-CN" altLang="en-US" sz="1800" dirty="0"/>
              <a:t>月和</a:t>
            </a:r>
            <a:r>
              <a:rPr lang="en-US" altLang="zh-CN" sz="1800" dirty="0"/>
              <a:t>11</a:t>
            </a:r>
            <a:r>
              <a:rPr lang="zh-CN" altLang="en-US" sz="1800" dirty="0"/>
              <a:t>月，前苏联先后有两颗“</a:t>
            </a:r>
            <a:r>
              <a:rPr lang="en-US" altLang="zh-CN" sz="1800" dirty="0"/>
              <a:t>Sputnik”</a:t>
            </a:r>
            <a:r>
              <a:rPr lang="zh-CN" altLang="en-US" sz="1800" dirty="0"/>
              <a:t>卫星上天</a:t>
            </a:r>
            <a:endParaRPr lang="zh-CN" altLang="en-US" sz="1800" dirty="0"/>
          </a:p>
          <a:p>
            <a:pPr lvl="1" indent="-285750"/>
            <a:endParaRPr lang="zh-CN" altLang="en-US" sz="1800" dirty="0"/>
          </a:p>
          <a:p>
            <a:pPr lvl="1" indent="-285750"/>
            <a:r>
              <a:rPr lang="en-US" altLang="zh-CN" sz="1800" dirty="0"/>
              <a:t>1958</a:t>
            </a:r>
            <a:r>
              <a:rPr lang="zh-CN" altLang="en-US" sz="1800" dirty="0"/>
              <a:t>年美国总统艾森豪威尔向美国国会提出建立</a:t>
            </a:r>
            <a:r>
              <a:rPr lang="en-US" altLang="zh-CN" sz="1800" dirty="0"/>
              <a:t>DARPA (Defense Advanced Research Project Agency)</a:t>
            </a:r>
            <a:r>
              <a:rPr lang="zh-CN" altLang="en-US" sz="1800" dirty="0"/>
              <a:t>，即国防部高级研究计划署，简称</a:t>
            </a:r>
            <a:r>
              <a:rPr lang="en-US" altLang="zh-CN" sz="1800" dirty="0"/>
              <a:t>ARPA</a:t>
            </a:r>
            <a:endParaRPr lang="en-US" altLang="zh-CN" sz="1800" dirty="0"/>
          </a:p>
          <a:p>
            <a:pPr lvl="1" indent="-285750"/>
            <a:endParaRPr lang="en-US" altLang="zh-CN" sz="1800" dirty="0"/>
          </a:p>
          <a:p>
            <a:pPr lvl="1" indent="-285750"/>
            <a:r>
              <a:rPr lang="en-US" altLang="zh-CN" sz="1800" dirty="0"/>
              <a:t>1968</a:t>
            </a:r>
            <a:r>
              <a:rPr lang="zh-CN" altLang="en-US" sz="1800" dirty="0"/>
              <a:t>年</a:t>
            </a:r>
            <a:r>
              <a:rPr lang="en-US" altLang="zh-CN" sz="1800" dirty="0"/>
              <a:t>6</a:t>
            </a:r>
            <a:r>
              <a:rPr lang="zh-CN" altLang="en-US" sz="1800" dirty="0"/>
              <a:t>月</a:t>
            </a:r>
            <a:r>
              <a:rPr lang="en-US" altLang="zh-CN" sz="1800" dirty="0"/>
              <a:t>DARPA</a:t>
            </a:r>
            <a:r>
              <a:rPr lang="zh-CN" altLang="en-US" sz="1800" dirty="0"/>
              <a:t>提出“资源共享计算机网络” </a:t>
            </a:r>
            <a:r>
              <a:rPr lang="en-US" altLang="zh-CN" sz="1800" dirty="0"/>
              <a:t>(Resource Sharing Computer Networks)</a:t>
            </a:r>
            <a:r>
              <a:rPr lang="zh-CN" altLang="en-US" sz="1800" dirty="0"/>
              <a:t>，目的在于让</a:t>
            </a:r>
            <a:r>
              <a:rPr lang="en-US" altLang="zh-CN" sz="1800" dirty="0"/>
              <a:t>DARPA</a:t>
            </a:r>
            <a:r>
              <a:rPr lang="zh-CN" altLang="en-US" sz="1800" dirty="0"/>
              <a:t>的所有电脑互连起来，这个网络就叫做</a:t>
            </a:r>
            <a:r>
              <a:rPr lang="en-US" altLang="zh-CN" sz="1800" dirty="0"/>
              <a:t>ARPAnet</a:t>
            </a:r>
            <a:r>
              <a:rPr lang="zh-CN" altLang="en-US" sz="1800" dirty="0"/>
              <a:t>，即“阿帕网”，是</a:t>
            </a:r>
            <a:r>
              <a:rPr lang="en-US" altLang="zh-CN" sz="1800" dirty="0"/>
              <a:t>Interne</a:t>
            </a:r>
            <a:r>
              <a:rPr lang="zh-CN" altLang="en-US" sz="1800" dirty="0"/>
              <a:t>的最早雏形</a:t>
            </a:r>
            <a:endParaRPr lang="zh-CN" altLang="en-US"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51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--Internet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历史</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t>早期的</a:t>
            </a:r>
            <a:r>
              <a:rPr lang="en-US" altLang="zh-CN" sz="1800" dirty="0"/>
              <a:t>ARPAnet</a:t>
            </a:r>
            <a:r>
              <a:rPr lang="zh-CN" altLang="en-US" sz="1800" dirty="0"/>
              <a:t>使用网络控制协议</a:t>
            </a:r>
            <a:r>
              <a:rPr lang="en-US" altLang="zh-CN" sz="1800" dirty="0"/>
              <a:t>(Network Control Protocol</a:t>
            </a:r>
            <a:r>
              <a:rPr lang="zh-CN" altLang="en-US" sz="1800" dirty="0"/>
              <a:t>，</a:t>
            </a:r>
            <a:r>
              <a:rPr lang="en-US" altLang="zh-CN" sz="1800" dirty="0"/>
              <a:t>NCP)</a:t>
            </a:r>
            <a:r>
              <a:rPr lang="zh-CN" altLang="en-US" sz="1800" dirty="0"/>
              <a:t>，不能互联不同类型的计算机和不同类型的操作系统，没有纠错功能</a:t>
            </a:r>
            <a:endParaRPr lang="zh-CN" altLang="en-US" sz="1800" dirty="0"/>
          </a:p>
          <a:p>
            <a:pPr lvl="0" indent="-342900"/>
            <a:endParaRPr lang="zh-CN" altLang="en-US" sz="1800" dirty="0"/>
          </a:p>
          <a:p>
            <a:pPr lvl="0" indent="-342900"/>
            <a:r>
              <a:rPr lang="en-US" altLang="zh-CN" sz="1800" dirty="0"/>
              <a:t>1973</a:t>
            </a:r>
            <a:r>
              <a:rPr lang="zh-CN" altLang="en-US" sz="1800" dirty="0"/>
              <a:t>年由</a:t>
            </a:r>
            <a:r>
              <a:rPr lang="en-US" altLang="zh-CN" sz="1800" dirty="0"/>
              <a:t>Kahn</a:t>
            </a:r>
            <a:r>
              <a:rPr lang="zh-CN" altLang="en-US" sz="1800" dirty="0"/>
              <a:t>和</a:t>
            </a:r>
            <a:r>
              <a:rPr lang="en-US" altLang="zh-CN" sz="1800" dirty="0"/>
              <a:t>Vinton Cerf</a:t>
            </a:r>
            <a:r>
              <a:rPr lang="zh-CN" altLang="en-US" sz="1800" dirty="0"/>
              <a:t>两人合作为</a:t>
            </a:r>
            <a:r>
              <a:rPr lang="en-US" altLang="zh-CN" sz="1800" dirty="0"/>
              <a:t>ARPAnet</a:t>
            </a:r>
            <a:r>
              <a:rPr lang="zh-CN" altLang="en-US" sz="1800" dirty="0"/>
              <a:t>开发了新的互联协议。</a:t>
            </a:r>
            <a:endParaRPr lang="zh-CN" altLang="en-US" sz="1800" dirty="0"/>
          </a:p>
          <a:p>
            <a:pPr lvl="0" indent="-342900"/>
            <a:endParaRPr lang="zh-CN" altLang="en-US" sz="1800" dirty="0"/>
          </a:p>
          <a:p>
            <a:pPr lvl="0" indent="-342900"/>
            <a:r>
              <a:rPr lang="en-US" altLang="zh-CN" sz="1800" dirty="0"/>
              <a:t>1974</a:t>
            </a:r>
            <a:r>
              <a:rPr lang="zh-CN" altLang="en-US" sz="1800" dirty="0"/>
              <a:t>年</a:t>
            </a:r>
            <a:r>
              <a:rPr lang="en-US" altLang="zh-CN" sz="1800" dirty="0"/>
              <a:t>12</a:t>
            </a:r>
            <a:r>
              <a:rPr lang="zh-CN" altLang="en-US" sz="1800" dirty="0"/>
              <a:t>月两人正式发表第一份</a:t>
            </a:r>
            <a:r>
              <a:rPr lang="en-US" altLang="zh-CN" sz="1800" dirty="0"/>
              <a:t>TCP</a:t>
            </a:r>
            <a:r>
              <a:rPr lang="zh-CN" altLang="en-US" sz="1800" dirty="0"/>
              <a:t>协议详细说明，但此协议在有数据包丢失时不能有效的纠正</a:t>
            </a:r>
            <a:endParaRPr lang="zh-CN" altLang="en-US"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614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--Internet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历史</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TCP</a:t>
            </a:r>
            <a:r>
              <a:rPr lang="zh-CN" altLang="en-US" sz="1800" dirty="0"/>
              <a:t>协议分成了两个不同的协议：</a:t>
            </a:r>
            <a:endParaRPr lang="zh-CN" altLang="en-US" sz="1800" dirty="0"/>
          </a:p>
          <a:p>
            <a:pPr lvl="1" indent="-285750"/>
            <a:r>
              <a:rPr lang="zh-CN" altLang="en-US" sz="1800" dirty="0"/>
              <a:t>用来检测网络传输中差错的传输控制协议</a:t>
            </a:r>
            <a:r>
              <a:rPr lang="en-US" altLang="zh-CN" sz="1800" dirty="0"/>
              <a:t>TCP</a:t>
            </a:r>
            <a:endParaRPr lang="en-US" altLang="zh-CN" sz="1800" dirty="0"/>
          </a:p>
          <a:p>
            <a:pPr lvl="1" indent="-285750"/>
            <a:r>
              <a:rPr lang="zh-CN" altLang="en-US" sz="1800" dirty="0"/>
              <a:t>专门负责对不同网络进行互联的互联网协议</a:t>
            </a:r>
            <a:r>
              <a:rPr lang="en-US" altLang="zh-CN" sz="1800" dirty="0"/>
              <a:t>IP</a:t>
            </a:r>
            <a:endParaRPr lang="en-US" altLang="zh-CN" sz="1800" dirty="0"/>
          </a:p>
          <a:p>
            <a:pPr lvl="1" indent="-285750"/>
            <a:endParaRPr lang="en-US" altLang="zh-CN" sz="1800" dirty="0"/>
          </a:p>
          <a:p>
            <a:pPr lvl="0" indent="-342900"/>
            <a:r>
              <a:rPr lang="zh-CN" altLang="en-US" sz="1800" dirty="0"/>
              <a:t>从此，</a:t>
            </a:r>
            <a:r>
              <a:rPr lang="en-US" altLang="zh-CN" sz="1800" dirty="0"/>
              <a:t>TCP/IP</a:t>
            </a:r>
            <a:r>
              <a:rPr lang="zh-CN" altLang="en-US" sz="1800" dirty="0"/>
              <a:t>协议诞生</a:t>
            </a:r>
            <a:endParaRPr lang="zh-CN" altLang="en-US" sz="1800" dirty="0"/>
          </a:p>
          <a:p>
            <a:pPr lvl="0" indent="-342900"/>
            <a:endParaRPr lang="zh-CN" altLang="en-US" sz="1800" dirty="0"/>
          </a:p>
          <a:p>
            <a:pPr lvl="0" indent="-342900"/>
            <a:r>
              <a:rPr lang="en-US" altLang="zh-CN" sz="1800" dirty="0"/>
              <a:t>1983</a:t>
            </a:r>
            <a:r>
              <a:rPr lang="zh-CN" altLang="en-US" sz="1800" dirty="0"/>
              <a:t>年</a:t>
            </a:r>
            <a:r>
              <a:rPr lang="en-US" altLang="zh-CN" sz="1800" dirty="0"/>
              <a:t>ARPAnet</a:t>
            </a:r>
            <a:r>
              <a:rPr lang="zh-CN" altLang="en-US" sz="1800" dirty="0"/>
              <a:t>上停止使用</a:t>
            </a:r>
            <a:r>
              <a:rPr lang="en-US" altLang="zh-CN" sz="1800" dirty="0"/>
              <a:t>NCP</a:t>
            </a:r>
            <a:r>
              <a:rPr lang="zh-CN" altLang="en-US" sz="1800" dirty="0"/>
              <a:t>，互联网上的主机全部使用</a:t>
            </a:r>
            <a:r>
              <a:rPr lang="en-US" altLang="zh-CN" sz="1800" dirty="0"/>
              <a:t>TCP/IP</a:t>
            </a:r>
            <a:r>
              <a:rPr lang="zh-CN" altLang="en-US" sz="1800" dirty="0"/>
              <a:t>协议。</a:t>
            </a:r>
            <a:r>
              <a:rPr lang="en-US" altLang="zh-CN" sz="1800" dirty="0"/>
              <a:t>TCP/IP</a:t>
            </a:r>
            <a:r>
              <a:rPr lang="zh-CN" altLang="en-US" sz="1800" dirty="0"/>
              <a:t>协议成为</a:t>
            </a:r>
            <a:r>
              <a:rPr lang="en-US" altLang="zh-CN" sz="1800" dirty="0"/>
              <a:t>Internet</a:t>
            </a:r>
            <a:r>
              <a:rPr lang="zh-CN" altLang="en-US" sz="1800" dirty="0"/>
              <a:t>中的</a:t>
            </a:r>
            <a:r>
              <a:rPr lang="zh-CN" altLang="en-US" sz="1800" dirty="0">
                <a:latin typeface="Arial" panose="020B0604020202020204" pitchFamily="34" charset="0"/>
              </a:rPr>
              <a:t>“</a:t>
            </a:r>
            <a:r>
              <a:rPr lang="zh-CN" altLang="en-US" sz="1800" dirty="0"/>
              <a:t>世界语</a:t>
            </a:r>
            <a:r>
              <a:rPr lang="zh-CN" altLang="en-US" sz="1800" dirty="0">
                <a:latin typeface="Arial" panose="020B0604020202020204" pitchFamily="34" charset="0"/>
              </a:rPr>
              <a:t>”</a:t>
            </a:r>
            <a:endParaRPr lang="zh-CN" altLang="en-US"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717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--Internet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历史</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t>网络采用分而治之的方法设计，将网络的功能划分为不同的模块，以分层的形式有机组合在一起。</a:t>
            </a:r>
            <a:endParaRPr lang="zh-CN" altLang="en-US" sz="1800" dirty="0"/>
          </a:p>
          <a:p>
            <a:pPr lvl="0" indent="-342900"/>
            <a:endParaRPr lang="zh-CN" altLang="en-US" sz="1800" dirty="0"/>
          </a:p>
          <a:p>
            <a:pPr lvl="0" indent="-342900"/>
            <a:r>
              <a:rPr lang="zh-CN" altLang="en-US" sz="1800" dirty="0"/>
              <a:t>每层实现不同的功能，其内部实现方法对外部其他层次来说是透明的。每层向上层提供服务，同时使用下层提供的服务</a:t>
            </a:r>
            <a:endParaRPr lang="zh-CN" altLang="en-US" sz="1800" dirty="0"/>
          </a:p>
          <a:p>
            <a:pPr lvl="0" indent="-342900"/>
            <a:endParaRPr lang="zh-CN" altLang="en-US" sz="1800" dirty="0"/>
          </a:p>
          <a:p>
            <a:pPr lvl="0" indent="-342900"/>
            <a:r>
              <a:rPr lang="zh-CN" altLang="en-US" sz="1800" dirty="0"/>
              <a:t>网络体系结构即指</a:t>
            </a:r>
            <a:r>
              <a:rPr lang="zh-CN" altLang="en-US" sz="1800" b="1" dirty="0"/>
              <a:t>网络的层次结构和每层所使用协议的集合</a:t>
            </a:r>
            <a:endParaRPr lang="zh-CN" altLang="en-US" sz="1800" b="1" dirty="0"/>
          </a:p>
          <a:p>
            <a:pPr lvl="0" indent="-342900"/>
            <a:endParaRPr lang="zh-CN" altLang="en-US" sz="1800" b="1" dirty="0"/>
          </a:p>
          <a:p>
            <a:pPr lvl="0" indent="-342900"/>
            <a:r>
              <a:rPr lang="zh-CN" altLang="en-US" sz="1800" dirty="0"/>
              <a:t>两类非常重要的体系结构：</a:t>
            </a:r>
            <a:r>
              <a:rPr lang="en-US" altLang="zh-CN" sz="1800" dirty="0"/>
              <a:t>OSI</a:t>
            </a:r>
            <a:r>
              <a:rPr lang="zh-CN" altLang="en-US" sz="1800" dirty="0"/>
              <a:t>与</a:t>
            </a:r>
            <a:r>
              <a:rPr lang="en-US" altLang="zh-CN" sz="1800" dirty="0"/>
              <a:t>TCP/IP</a:t>
            </a:r>
            <a:endParaRPr lang="en-US" altLang="zh-CN"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819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网络分层思想</a:t>
            </a:r>
            <a:endPar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endParaRPr lang="en-US" altLang="zh-CN" sz="1800" strike="noStrike" noProof="1" dirty="0">
              <a:sym typeface="+mn-ea"/>
            </a:endParaRPr>
          </a:p>
          <a:p>
            <a:pPr eaLnBrk="1" fontAlgn="base" hangingPunct="1"/>
            <a:r>
              <a:rPr lang="en-US" altLang="zh-CN" sz="1800" strike="noStrike" noProof="1" dirty="0">
                <a:sym typeface="+mn-ea"/>
              </a:rPr>
              <a:t>OSI</a:t>
            </a:r>
            <a:r>
              <a:rPr lang="zh-CN" altLang="en-US" sz="1800" strike="noStrike" noProof="1" dirty="0">
                <a:sym typeface="+mn-ea"/>
              </a:rPr>
              <a:t>模型相关的协议已经很少使用，</a:t>
            </a:r>
            <a:endParaRPr lang="zh-CN" altLang="en-US" sz="1800" strike="noStrike" noProof="1" dirty="0">
              <a:sym typeface="+mn-ea"/>
            </a:endParaRPr>
          </a:p>
          <a:p>
            <a:pPr marL="0" indent="0" eaLnBrk="1" fontAlgn="base" hangingPunct="1">
              <a:buNone/>
            </a:pPr>
            <a:r>
              <a:rPr lang="zh-CN" altLang="en-US" sz="1800" strike="noStrike" noProof="1" dirty="0">
                <a:sym typeface="+mn-ea"/>
              </a:rPr>
              <a:t>       但模型本身非常通用</a:t>
            </a:r>
            <a:endParaRPr lang="zh-CN" altLang="en-US" sz="1800" strike="noStrike" noProof="1" dirty="0"/>
          </a:p>
          <a:p>
            <a:pPr eaLnBrk="1" fontAlgn="base" hangingPunct="1"/>
            <a:endParaRPr lang="zh-CN" altLang="en-US" sz="1800" strike="noStrike" noProof="1" dirty="0"/>
          </a:p>
          <a:p>
            <a:pPr eaLnBrk="1" fontAlgn="base" hangingPunct="1"/>
            <a:r>
              <a:rPr lang="en-US" altLang="zh-CN" sz="1800" strike="noStrike" noProof="1" dirty="0">
                <a:sym typeface="+mn-ea"/>
              </a:rPr>
              <a:t>OSI</a:t>
            </a:r>
            <a:r>
              <a:rPr lang="zh-CN" altLang="en-US" sz="1800" strike="noStrike" noProof="1" dirty="0">
                <a:sym typeface="+mn-ea"/>
              </a:rPr>
              <a:t>模型是一个理想化的模型，尚未有完整的实现</a:t>
            </a:r>
            <a:endParaRPr lang="zh-CN" altLang="en-US" sz="1800" strike="noStrike" noProof="1" dirty="0"/>
          </a:p>
          <a:p>
            <a:pPr eaLnBrk="1" fontAlgn="base" hangingPunct="1"/>
            <a:endParaRPr lang="zh-CN" altLang="en-US" sz="1800" strike="noStrike" noProof="1" dirty="0"/>
          </a:p>
          <a:p>
            <a:pPr eaLnBrk="1" fontAlgn="base" hangingPunct="1"/>
            <a:r>
              <a:rPr lang="en-US" altLang="zh-CN" sz="1800" strike="noStrike" noProof="1" dirty="0">
                <a:sym typeface="+mn-ea"/>
              </a:rPr>
              <a:t>OSI</a:t>
            </a:r>
            <a:r>
              <a:rPr lang="zh-CN" altLang="en-US" sz="1800" strike="noStrike" noProof="1" dirty="0">
                <a:sym typeface="+mn-ea"/>
              </a:rPr>
              <a:t>模型共有七层</a:t>
            </a:r>
            <a:r>
              <a:rPr lang="en-US" altLang="zh-CN" sz="1800" strike="noStrike" noProof="1" dirty="0">
                <a:sym typeface="+mn-ea"/>
              </a:rPr>
              <a:t>(</a:t>
            </a:r>
            <a:r>
              <a:rPr lang="zh-CN" altLang="en-US" sz="1800" strike="noStrike" noProof="1" dirty="0">
                <a:sym typeface="+mn-ea"/>
              </a:rPr>
              <a:t>右图</a:t>
            </a:r>
            <a:r>
              <a:rPr lang="en-US" altLang="zh-CN" sz="1800" strike="noStrike" noProof="1" dirty="0">
                <a:sym typeface="+mn-ea"/>
              </a:rPr>
              <a:t>)</a:t>
            </a:r>
            <a:endParaRPr lang="en-US" altLang="zh-CN" sz="1800" strike="noStrike" noProof="1" dirty="0"/>
          </a:p>
          <a:p>
            <a:pPr lvl="0" fontAlgn="base">
              <a:lnSpc>
                <a:spcPct val="2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21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rPr>
              <a:t>OSI</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r>
              <a:rPr lang="en-US" altLang="zh-CN" sz="2000" b="1" dirty="0">
                <a:solidFill>
                  <a:srgbClr val="C00000"/>
                </a:solidFill>
                <a:latin typeface="华文细黑" panose="02010600040101010101" pitchFamily="4" charset="116"/>
                <a:ea typeface="微软雅黑" panose="020B0503020204020204" pitchFamily="2" charset="-122"/>
              </a:rPr>
              <a:t> </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9219" name="Object 4"/>
          <p:cNvGraphicFramePr>
            <a:graphicFrameLocks noGrp="1"/>
          </p:cNvGraphicFramePr>
          <p:nvPr/>
        </p:nvGraphicFramePr>
        <p:xfrm>
          <a:off x="6192838" y="1114425"/>
          <a:ext cx="2305050" cy="2917825"/>
        </p:xfrm>
        <a:graphic>
          <a:graphicData uri="http://schemas.openxmlformats.org/presentationml/2006/ole">
            <mc:AlternateContent xmlns:mc="http://schemas.openxmlformats.org/markup-compatibility/2006">
              <mc:Choice xmlns:v="urn:schemas-microsoft-com:vml" Requires="v">
                <p:oleObj spid="_x0000_s3076" name="" r:id="rId1" imgW="3505200" imgH="3594735" progId="Visio.Drawing.11">
                  <p:embed/>
                </p:oleObj>
              </mc:Choice>
              <mc:Fallback>
                <p:oleObj name="" r:id="rId1" imgW="3505200" imgH="3594735" progId="Visio.Drawing.11">
                  <p:embed/>
                  <p:pic>
                    <p:nvPicPr>
                      <p:cNvPr id="0" name="图片 3075"/>
                      <p:cNvPicPr/>
                      <p:nvPr/>
                    </p:nvPicPr>
                    <p:blipFill>
                      <a:blip r:embed="rId2"/>
                      <a:stretch>
                        <a:fillRect/>
                      </a:stretch>
                    </p:blipFill>
                    <p:spPr>
                      <a:xfrm>
                        <a:off x="6192838" y="1114425"/>
                        <a:ext cx="2305050" cy="2917825"/>
                      </a:xfrm>
                      <a:prstGeom prst="rect">
                        <a:avLst/>
                      </a:prstGeom>
                      <a:noFill/>
                      <a:ln w="38100">
                        <a:noFill/>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sym typeface="宋体" panose="02010600030101010101" pitchFamily="2" charset="-122"/>
              </a:rPr>
              <a:t>应用层 ：</a:t>
            </a:r>
            <a:r>
              <a:rPr lang="zh-CN" altLang="en-US" sz="1800" dirty="0">
                <a:latin typeface="Times New Roman" panose="02020603050405020304" pitchFamily="2" charset="0"/>
              </a:rPr>
              <a:t>应用程序，例如</a:t>
            </a:r>
            <a:r>
              <a:rPr lang="en-US" altLang="zh-CN" sz="1800" dirty="0">
                <a:latin typeface="Times New Roman" panose="02020603050405020304" pitchFamily="2" charset="0"/>
              </a:rPr>
              <a:t>FTP</a:t>
            </a:r>
            <a:r>
              <a:rPr lang="zh-CN" altLang="en-US" sz="1800" dirty="0">
                <a:latin typeface="Times New Roman" panose="02020603050405020304" pitchFamily="2" charset="0"/>
              </a:rPr>
              <a:t>、</a:t>
            </a:r>
            <a:r>
              <a:rPr lang="en-US" altLang="zh-CN" sz="1800" dirty="0">
                <a:latin typeface="Times New Roman" panose="02020603050405020304" pitchFamily="2" charset="0"/>
              </a:rPr>
              <a:t>E-mail</a:t>
            </a:r>
            <a:r>
              <a:rPr lang="zh-CN" altLang="en-US" sz="1800" dirty="0">
                <a:latin typeface="Times New Roman" panose="02020603050405020304" pitchFamily="2" charset="0"/>
              </a:rPr>
              <a:t>、</a:t>
            </a:r>
            <a:r>
              <a:rPr lang="en-US" altLang="zh-CN" sz="1800" dirty="0">
                <a:latin typeface="Times New Roman" panose="02020603050405020304" pitchFamily="2" charset="0"/>
              </a:rPr>
              <a:t>Telnet</a:t>
            </a:r>
            <a:r>
              <a:rPr lang="zh-CN" altLang="en-US" sz="1800" dirty="0">
                <a:latin typeface="Times New Roman" panose="02020603050405020304" pitchFamily="2" charset="0"/>
              </a:rPr>
              <a:t>等</a:t>
            </a:r>
            <a:endParaRPr lang="zh-CN" altLang="en-US" sz="1800" dirty="0">
              <a:latin typeface="Times New Roman" panose="02020603050405020304" pitchFamily="2" charset="0"/>
            </a:endParaRPr>
          </a:p>
          <a:p>
            <a:pPr lvl="0" indent="-342900"/>
            <a:r>
              <a:rPr lang="zh-CN" altLang="en-US" sz="1800" dirty="0">
                <a:latin typeface="Times New Roman" panose="02020603050405020304" pitchFamily="2" charset="0"/>
              </a:rPr>
              <a:t>表示层：数据格式定义、数据转换</a:t>
            </a:r>
            <a:r>
              <a:rPr lang="en-US" altLang="zh-CN" sz="1800" dirty="0">
                <a:latin typeface="Times New Roman" panose="02020603050405020304" pitchFamily="2" charset="0"/>
              </a:rPr>
              <a:t>/</a:t>
            </a:r>
            <a:r>
              <a:rPr lang="zh-CN" altLang="en-US" sz="1800" dirty="0">
                <a:latin typeface="Times New Roman" panose="02020603050405020304" pitchFamily="2" charset="0"/>
              </a:rPr>
              <a:t>加密</a:t>
            </a:r>
            <a:endParaRPr lang="zh-CN" altLang="en-US" sz="1800" dirty="0">
              <a:latin typeface="Times New Roman" panose="02020603050405020304" pitchFamily="2" charset="0"/>
            </a:endParaRPr>
          </a:p>
          <a:p>
            <a:pPr lvl="0" indent="-342900"/>
            <a:r>
              <a:rPr lang="zh-CN" altLang="en-US" sz="1800" dirty="0">
                <a:latin typeface="Times New Roman" panose="02020603050405020304" pitchFamily="2" charset="0"/>
              </a:rPr>
              <a:t>会话层：</a:t>
            </a:r>
            <a:r>
              <a:rPr lang="zh-CN" altLang="en-US" sz="1800" dirty="0">
                <a:latin typeface="Arial" panose="020B0604020202020204" pitchFamily="34" charset="0"/>
              </a:rPr>
              <a:t>建立通信进程的逻辑名字与物理名字之间的联系</a:t>
            </a:r>
            <a:endParaRPr lang="zh-CN" altLang="en-US" sz="1800" dirty="0">
              <a:latin typeface="Arial" panose="020B0604020202020204" pitchFamily="34" charset="0"/>
            </a:endParaRPr>
          </a:p>
          <a:p>
            <a:pPr lvl="0" indent="-342900"/>
            <a:r>
              <a:rPr lang="zh-CN" altLang="en-US" sz="1800" dirty="0">
                <a:latin typeface="Arial" panose="020B0604020202020204" pitchFamily="34" charset="0"/>
              </a:rPr>
              <a:t>传输层：</a:t>
            </a:r>
            <a:r>
              <a:rPr lang="zh-CN" altLang="en-US" sz="1800" dirty="0">
                <a:latin typeface="Times New Roman" panose="02020603050405020304" pitchFamily="2" charset="0"/>
              </a:rPr>
              <a:t>差错处理</a:t>
            </a:r>
            <a:r>
              <a:rPr lang="en-US" altLang="zh-CN" sz="1800" dirty="0">
                <a:latin typeface="Times New Roman" panose="02020603050405020304" pitchFamily="2" charset="0"/>
              </a:rPr>
              <a:t>/</a:t>
            </a:r>
            <a:r>
              <a:rPr lang="zh-CN" altLang="en-US" sz="1800" dirty="0">
                <a:latin typeface="Times New Roman" panose="02020603050405020304" pitchFamily="2" charset="0"/>
              </a:rPr>
              <a:t>恢复，流量控制，提供可靠的数据传输</a:t>
            </a:r>
            <a:endParaRPr lang="zh-CN" altLang="en-US" sz="1800" dirty="0">
              <a:latin typeface="Times New Roman" panose="02020603050405020304" pitchFamily="2" charset="0"/>
            </a:endParaRPr>
          </a:p>
          <a:p>
            <a:pPr lvl="0" indent="-342900"/>
            <a:r>
              <a:rPr lang="zh-CN" altLang="en-US" sz="1800" dirty="0">
                <a:latin typeface="Times New Roman" panose="02020603050405020304" pitchFamily="2" charset="0"/>
              </a:rPr>
              <a:t>网络层：数据分组、路由选择</a:t>
            </a:r>
            <a:endParaRPr lang="zh-CN" altLang="en-US" sz="1800" dirty="0">
              <a:latin typeface="Times New Roman" panose="02020603050405020304" pitchFamily="2" charset="0"/>
            </a:endParaRPr>
          </a:p>
          <a:p>
            <a:pPr lvl="0" indent="-342900"/>
            <a:r>
              <a:rPr lang="zh-CN" altLang="en-US" sz="1800" dirty="0">
                <a:latin typeface="Times New Roman" panose="02020603050405020304" pitchFamily="2" charset="0"/>
              </a:rPr>
              <a:t>链路层：数据组成可发送、接收的帧</a:t>
            </a:r>
            <a:endParaRPr lang="zh-CN" altLang="en-US" sz="1800" dirty="0">
              <a:latin typeface="Times New Roman" panose="02020603050405020304" pitchFamily="2" charset="0"/>
            </a:endParaRPr>
          </a:p>
          <a:p>
            <a:pPr lvl="0" indent="-342900"/>
            <a:r>
              <a:rPr lang="zh-CN" altLang="en-US" sz="1800" dirty="0">
                <a:latin typeface="Times New Roman" panose="02020603050405020304" pitchFamily="2" charset="0"/>
              </a:rPr>
              <a:t>物理层：传输物理信号、接口、信号形式、速率</a:t>
            </a:r>
            <a:endParaRPr lang="zh-CN" altLang="en-US" sz="1800" dirty="0">
              <a:latin typeface="Times New Roman" panose="02020603050405020304" pitchFamily="2" charset="0"/>
            </a:endParaRPr>
          </a:p>
          <a:p>
            <a:pPr lvl="0" indent="-342900"/>
            <a:endParaRPr lang="en-US" altLang="zh-CN" sz="1800" dirty="0">
              <a:latin typeface="Times New Roman" panose="02020603050405020304" pitchFamily="2" charset="0"/>
            </a:endParaRPr>
          </a:p>
          <a:p>
            <a:pPr lvl="0" indent="-342900"/>
            <a:endParaRPr lang="en-US" altLang="zh-CN" sz="1800" dirty="0">
              <a:sym typeface="宋体" panose="02010600030101010101" pitchFamily="2" charset="-122"/>
            </a:endParaRPr>
          </a:p>
          <a:p>
            <a:pPr lvl="0" indent="-342900"/>
            <a:endParaRPr lang="zh-CN" altLang="en-US" sz="1800" dirty="0"/>
          </a:p>
          <a:p>
            <a:pPr lvl="0" indent="-342900"/>
            <a:endParaRPr lang="en-US" altLang="zh-CN"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024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rPr>
              <a:t>OSI</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r>
              <a:rPr lang="en-US" altLang="zh-CN" sz="2000" b="1" dirty="0">
                <a:solidFill>
                  <a:srgbClr val="C00000"/>
                </a:solidFill>
                <a:latin typeface="华文细黑" panose="02010600040101010101" pitchFamily="4" charset="116"/>
                <a:ea typeface="微软雅黑" panose="020B0503020204020204" pitchFamily="2" charset="-122"/>
              </a:rPr>
              <a:t> </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占位符 1"/>
          <p:cNvSpPr>
            <a:spLocks noGrp="1"/>
          </p:cNvSpPr>
          <p:nvPr>
            <p:ph sz="quarter"/>
          </p:nvPr>
        </p:nvSpPr>
        <p:spPr>
          <a:xfrm>
            <a:off x="400050" y="933450"/>
            <a:ext cx="8204200" cy="419100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sym typeface="宋体" panose="02010600030101010101" pitchFamily="2" charset="-122"/>
              </a:rPr>
              <a:t> </a:t>
            </a:r>
            <a:endParaRPr lang="zh-CN" altLang="en-US" sz="1800" dirty="0">
              <a:latin typeface="Times New Roman" panose="02020603050405020304" pitchFamily="2" charset="0"/>
            </a:endParaRPr>
          </a:p>
          <a:p>
            <a:pPr lvl="0" indent="-342900"/>
            <a:endParaRPr lang="en-US" altLang="zh-CN" sz="1800" dirty="0">
              <a:latin typeface="Times New Roman" panose="02020603050405020304" pitchFamily="2" charset="0"/>
            </a:endParaRPr>
          </a:p>
          <a:p>
            <a:pPr lvl="0" indent="-342900"/>
            <a:endParaRPr lang="en-US" altLang="zh-CN" sz="1800" dirty="0">
              <a:sym typeface="宋体" panose="02010600030101010101" pitchFamily="2" charset="-122"/>
            </a:endParaRPr>
          </a:p>
          <a:p>
            <a:pPr lvl="0" indent="-342900"/>
            <a:endParaRPr lang="zh-CN" altLang="en-US" sz="1800" dirty="0"/>
          </a:p>
          <a:p>
            <a:pPr lvl="0" indent="-342900"/>
            <a:endParaRPr lang="en-US" altLang="zh-CN" sz="1800" dirty="0"/>
          </a:p>
          <a:p>
            <a:pPr lvl="0" indent="-342900">
              <a:lnSpc>
                <a:spcPct val="200000"/>
              </a:lnSpc>
              <a:spcBef>
                <a:spcPct val="0"/>
              </a:spcBef>
              <a:spcAft>
                <a:spcPct val="0"/>
              </a:spcAft>
            </a:pPr>
            <a:endParaRPr lang="zh-CN" altLang="en-US" sz="1800" dirty="0">
              <a:latin typeface="宋体" panose="02010600030101010101" pitchFamily="2" charset="-122"/>
            </a:endParaRPr>
          </a:p>
          <a:p>
            <a:pPr lvl="0" indent="-342900">
              <a:spcBef>
                <a:spcPct val="0"/>
              </a:spcBef>
              <a:spcAft>
                <a:spcPct val="0"/>
              </a:spcAft>
            </a:pPr>
            <a:endParaRPr lang="zh-CN" altLang="en-US" sz="1800" dirty="0">
              <a:latin typeface="宋体" panose="02010600030101010101" pitchFamily="2" charset="-122"/>
            </a:endParaRPr>
          </a:p>
        </p:txBody>
      </p:sp>
      <p:sp>
        <p:nvSpPr>
          <p:cNvPr id="1126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en-US" altLang="zh-CN" sz="2000" b="1" dirty="0">
                <a:solidFill>
                  <a:srgbClr val="C00000"/>
                </a:solidFill>
                <a:latin typeface="华文细黑" panose="02010600040101010101" pitchFamily="4" charset="116"/>
                <a:ea typeface="微软雅黑" panose="020B0503020204020204" pitchFamily="2" charset="-122"/>
              </a:rPr>
              <a:t>OSI</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1267" name="Rectangle 3"/>
          <p:cNvSpPr/>
          <p:nvPr/>
        </p:nvSpPr>
        <p:spPr>
          <a:xfrm>
            <a:off x="1038225" y="9334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应用层</a:t>
            </a:r>
            <a:endParaRPr lang="zh-CN" altLang="en-US" sz="2400" dirty="0">
              <a:latin typeface="Tahoma" panose="020B0604030504040204" pitchFamily="2" charset="0"/>
              <a:ea typeface="宋体" panose="02010600030101010101" pitchFamily="2" charset="-122"/>
            </a:endParaRPr>
          </a:p>
        </p:txBody>
      </p:sp>
      <p:sp>
        <p:nvSpPr>
          <p:cNvPr id="11268" name="Rectangle 4"/>
          <p:cNvSpPr/>
          <p:nvPr/>
        </p:nvSpPr>
        <p:spPr>
          <a:xfrm>
            <a:off x="1038225" y="15430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表示层</a:t>
            </a:r>
            <a:endParaRPr lang="zh-CN" altLang="en-US" sz="2400" dirty="0">
              <a:latin typeface="Tahoma" panose="020B0604030504040204" pitchFamily="2" charset="0"/>
              <a:ea typeface="宋体" panose="02010600030101010101" pitchFamily="2" charset="-122"/>
            </a:endParaRPr>
          </a:p>
        </p:txBody>
      </p:sp>
      <p:sp>
        <p:nvSpPr>
          <p:cNvPr id="11269" name="Rectangle 5"/>
          <p:cNvSpPr/>
          <p:nvPr/>
        </p:nvSpPr>
        <p:spPr>
          <a:xfrm>
            <a:off x="1038225" y="21526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会话层</a:t>
            </a:r>
            <a:endParaRPr lang="zh-CN" altLang="en-US" sz="2400" dirty="0">
              <a:latin typeface="Tahoma" panose="020B0604030504040204" pitchFamily="2" charset="0"/>
              <a:ea typeface="宋体" panose="02010600030101010101" pitchFamily="2" charset="-122"/>
            </a:endParaRPr>
          </a:p>
        </p:txBody>
      </p:sp>
      <p:sp>
        <p:nvSpPr>
          <p:cNvPr id="11270" name="Rectangle 6"/>
          <p:cNvSpPr/>
          <p:nvPr/>
        </p:nvSpPr>
        <p:spPr>
          <a:xfrm>
            <a:off x="1038225" y="27622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传输层</a:t>
            </a:r>
            <a:endParaRPr lang="zh-CN" altLang="en-US" sz="2400" dirty="0">
              <a:latin typeface="Tahoma" panose="020B0604030504040204" pitchFamily="2" charset="0"/>
              <a:ea typeface="宋体" panose="02010600030101010101" pitchFamily="2" charset="-122"/>
            </a:endParaRPr>
          </a:p>
        </p:txBody>
      </p:sp>
      <p:sp>
        <p:nvSpPr>
          <p:cNvPr id="11271" name="Rectangle 7"/>
          <p:cNvSpPr/>
          <p:nvPr/>
        </p:nvSpPr>
        <p:spPr>
          <a:xfrm>
            <a:off x="1038225" y="33718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网络层</a:t>
            </a:r>
            <a:endParaRPr lang="zh-CN" altLang="en-US" sz="2400" dirty="0">
              <a:latin typeface="Tahoma" panose="020B0604030504040204" pitchFamily="2" charset="0"/>
              <a:ea typeface="宋体" panose="02010600030101010101" pitchFamily="2" charset="-122"/>
            </a:endParaRPr>
          </a:p>
        </p:txBody>
      </p:sp>
      <p:sp>
        <p:nvSpPr>
          <p:cNvPr id="11272" name="Rectangle 8"/>
          <p:cNvSpPr/>
          <p:nvPr/>
        </p:nvSpPr>
        <p:spPr>
          <a:xfrm>
            <a:off x="1038225" y="39814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链路层</a:t>
            </a:r>
            <a:endParaRPr lang="zh-CN" altLang="en-US" sz="2400" dirty="0">
              <a:latin typeface="Tahoma" panose="020B0604030504040204" pitchFamily="2" charset="0"/>
              <a:ea typeface="宋体" panose="02010600030101010101" pitchFamily="2" charset="-122"/>
            </a:endParaRPr>
          </a:p>
        </p:txBody>
      </p:sp>
      <p:sp>
        <p:nvSpPr>
          <p:cNvPr id="11273" name="Rectangle 9"/>
          <p:cNvSpPr/>
          <p:nvPr/>
        </p:nvSpPr>
        <p:spPr>
          <a:xfrm>
            <a:off x="1038225" y="45910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物理层</a:t>
            </a:r>
            <a:endParaRPr lang="zh-CN" altLang="en-US" sz="2400" dirty="0">
              <a:latin typeface="Tahoma" panose="020B0604030504040204" pitchFamily="2" charset="0"/>
              <a:ea typeface="宋体" panose="02010600030101010101" pitchFamily="2" charset="-122"/>
            </a:endParaRPr>
          </a:p>
        </p:txBody>
      </p:sp>
      <p:sp>
        <p:nvSpPr>
          <p:cNvPr id="11274" name="Rectangle 10"/>
          <p:cNvSpPr/>
          <p:nvPr/>
        </p:nvSpPr>
        <p:spPr>
          <a:xfrm>
            <a:off x="3629025" y="4591050"/>
            <a:ext cx="1752600" cy="533400"/>
          </a:xfrm>
          <a:prstGeom prst="rect">
            <a:avLst/>
          </a:prstGeom>
          <a:solidFill>
            <a:srgbClr val="FF00FF"/>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字节流</a:t>
            </a:r>
            <a:endParaRPr lang="zh-CN" altLang="en-US" sz="2400" dirty="0">
              <a:latin typeface="Tahoma" panose="020B0604030504040204" pitchFamily="2" charset="0"/>
              <a:ea typeface="宋体" panose="02010600030101010101" pitchFamily="2" charset="-122"/>
            </a:endParaRPr>
          </a:p>
        </p:txBody>
      </p:sp>
      <p:sp>
        <p:nvSpPr>
          <p:cNvPr id="11275" name="Line 11"/>
          <p:cNvSpPr/>
          <p:nvPr/>
        </p:nvSpPr>
        <p:spPr>
          <a:xfrm>
            <a:off x="3629025" y="4667250"/>
            <a:ext cx="1752600" cy="0"/>
          </a:xfrm>
          <a:prstGeom prst="line">
            <a:avLst/>
          </a:prstGeom>
          <a:ln w="38100" cap="flat" cmpd="sng">
            <a:solidFill>
              <a:schemeClr val="tx1"/>
            </a:solidFill>
            <a:prstDash val="solid"/>
            <a:round/>
            <a:headEnd type="none" w="med" len="med"/>
            <a:tailEnd type="triangle" w="med" len="med"/>
          </a:ln>
        </p:spPr>
      </p:sp>
      <p:sp>
        <p:nvSpPr>
          <p:cNvPr id="11276" name="Line 12"/>
          <p:cNvSpPr/>
          <p:nvPr/>
        </p:nvSpPr>
        <p:spPr>
          <a:xfrm>
            <a:off x="3857625" y="1009650"/>
            <a:ext cx="0" cy="3505200"/>
          </a:xfrm>
          <a:prstGeom prst="line">
            <a:avLst/>
          </a:prstGeom>
          <a:ln w="9525" cap="flat" cmpd="sng">
            <a:solidFill>
              <a:schemeClr val="tx1"/>
            </a:solidFill>
            <a:prstDash val="solid"/>
            <a:round/>
            <a:headEnd type="none" w="med" len="med"/>
            <a:tailEnd type="triangle" w="med" len="med"/>
          </a:ln>
        </p:spPr>
      </p:sp>
      <p:sp>
        <p:nvSpPr>
          <p:cNvPr id="11277" name="Line 13"/>
          <p:cNvSpPr/>
          <p:nvPr/>
        </p:nvSpPr>
        <p:spPr>
          <a:xfrm flipV="1">
            <a:off x="5153025" y="1009650"/>
            <a:ext cx="0" cy="3505200"/>
          </a:xfrm>
          <a:prstGeom prst="line">
            <a:avLst/>
          </a:prstGeom>
          <a:ln w="9525" cap="flat" cmpd="sng">
            <a:solidFill>
              <a:schemeClr val="tx1"/>
            </a:solidFill>
            <a:prstDash val="solid"/>
            <a:round/>
            <a:headEnd type="none" w="med" len="med"/>
            <a:tailEnd type="triangle" w="med" len="med"/>
          </a:ln>
        </p:spPr>
      </p:sp>
      <p:sp>
        <p:nvSpPr>
          <p:cNvPr id="11278" name="Line 14"/>
          <p:cNvSpPr/>
          <p:nvPr/>
        </p:nvSpPr>
        <p:spPr>
          <a:xfrm>
            <a:off x="3629025" y="1162050"/>
            <a:ext cx="1676400" cy="0"/>
          </a:xfrm>
          <a:prstGeom prst="line">
            <a:avLst/>
          </a:prstGeom>
          <a:ln w="9525" cap="flat" cmpd="sng">
            <a:solidFill>
              <a:schemeClr val="tx1"/>
            </a:solidFill>
            <a:prstDash val="dash"/>
            <a:round/>
            <a:headEnd type="none" w="med" len="med"/>
            <a:tailEnd type="none" w="med" len="med"/>
          </a:ln>
        </p:spPr>
      </p:sp>
      <p:sp>
        <p:nvSpPr>
          <p:cNvPr id="11279" name="Line 15"/>
          <p:cNvSpPr/>
          <p:nvPr/>
        </p:nvSpPr>
        <p:spPr>
          <a:xfrm>
            <a:off x="3629025" y="1771650"/>
            <a:ext cx="1676400" cy="0"/>
          </a:xfrm>
          <a:prstGeom prst="line">
            <a:avLst/>
          </a:prstGeom>
          <a:ln w="9525" cap="flat" cmpd="sng">
            <a:solidFill>
              <a:schemeClr val="tx1"/>
            </a:solidFill>
            <a:prstDash val="dash"/>
            <a:round/>
            <a:headEnd type="none" w="med" len="med"/>
            <a:tailEnd type="none" w="med" len="med"/>
          </a:ln>
        </p:spPr>
      </p:sp>
      <p:sp>
        <p:nvSpPr>
          <p:cNvPr id="11280" name="Line 16"/>
          <p:cNvSpPr/>
          <p:nvPr/>
        </p:nvSpPr>
        <p:spPr>
          <a:xfrm>
            <a:off x="3629025" y="2457450"/>
            <a:ext cx="1676400" cy="0"/>
          </a:xfrm>
          <a:prstGeom prst="line">
            <a:avLst/>
          </a:prstGeom>
          <a:ln w="9525" cap="flat" cmpd="sng">
            <a:solidFill>
              <a:schemeClr val="tx1"/>
            </a:solidFill>
            <a:prstDash val="dash"/>
            <a:round/>
            <a:headEnd type="none" w="med" len="med"/>
            <a:tailEnd type="none" w="med" len="med"/>
          </a:ln>
        </p:spPr>
      </p:sp>
      <p:sp>
        <p:nvSpPr>
          <p:cNvPr id="11281" name="Line 17"/>
          <p:cNvSpPr/>
          <p:nvPr/>
        </p:nvSpPr>
        <p:spPr>
          <a:xfrm>
            <a:off x="3629025" y="3067050"/>
            <a:ext cx="1676400" cy="0"/>
          </a:xfrm>
          <a:prstGeom prst="line">
            <a:avLst/>
          </a:prstGeom>
          <a:ln w="9525" cap="flat" cmpd="sng">
            <a:solidFill>
              <a:schemeClr val="tx1"/>
            </a:solidFill>
            <a:prstDash val="dash"/>
            <a:round/>
            <a:headEnd type="none" w="med" len="med"/>
            <a:tailEnd type="none" w="med" len="med"/>
          </a:ln>
        </p:spPr>
      </p:sp>
      <p:sp>
        <p:nvSpPr>
          <p:cNvPr id="11282" name="Line 18"/>
          <p:cNvSpPr/>
          <p:nvPr/>
        </p:nvSpPr>
        <p:spPr>
          <a:xfrm>
            <a:off x="3629025" y="3676650"/>
            <a:ext cx="1676400" cy="0"/>
          </a:xfrm>
          <a:prstGeom prst="line">
            <a:avLst/>
          </a:prstGeom>
          <a:ln w="9525" cap="flat" cmpd="sng">
            <a:solidFill>
              <a:schemeClr val="tx1"/>
            </a:solidFill>
            <a:prstDash val="dash"/>
            <a:round/>
            <a:headEnd type="none" w="med" len="med"/>
            <a:tailEnd type="none" w="med" len="med"/>
          </a:ln>
        </p:spPr>
      </p:sp>
      <p:sp>
        <p:nvSpPr>
          <p:cNvPr id="11283" name="Line 19"/>
          <p:cNvSpPr/>
          <p:nvPr/>
        </p:nvSpPr>
        <p:spPr>
          <a:xfrm>
            <a:off x="3629025" y="4286250"/>
            <a:ext cx="1676400" cy="0"/>
          </a:xfrm>
          <a:prstGeom prst="line">
            <a:avLst/>
          </a:prstGeom>
          <a:ln w="9525" cap="flat" cmpd="sng">
            <a:solidFill>
              <a:schemeClr val="tx1"/>
            </a:solidFill>
            <a:prstDash val="dash"/>
            <a:round/>
            <a:headEnd type="none" w="med" len="med"/>
            <a:tailEnd type="none" w="med" len="med"/>
          </a:ln>
        </p:spPr>
      </p:sp>
      <p:sp>
        <p:nvSpPr>
          <p:cNvPr id="11284" name="Rectangle 20"/>
          <p:cNvSpPr/>
          <p:nvPr/>
        </p:nvSpPr>
        <p:spPr>
          <a:xfrm>
            <a:off x="5310188" y="9334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应用层</a:t>
            </a:r>
            <a:endParaRPr lang="zh-CN" altLang="en-US" sz="2400" dirty="0">
              <a:latin typeface="Tahoma" panose="020B0604030504040204" pitchFamily="2" charset="0"/>
              <a:ea typeface="宋体" panose="02010600030101010101" pitchFamily="2" charset="-122"/>
            </a:endParaRPr>
          </a:p>
        </p:txBody>
      </p:sp>
      <p:sp>
        <p:nvSpPr>
          <p:cNvPr id="11285" name="Rectangle 21"/>
          <p:cNvSpPr/>
          <p:nvPr/>
        </p:nvSpPr>
        <p:spPr>
          <a:xfrm>
            <a:off x="5310188" y="15430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表示层</a:t>
            </a:r>
            <a:endParaRPr lang="zh-CN" altLang="en-US" sz="2400" dirty="0">
              <a:latin typeface="Tahoma" panose="020B0604030504040204" pitchFamily="2" charset="0"/>
              <a:ea typeface="宋体" panose="02010600030101010101" pitchFamily="2" charset="-122"/>
            </a:endParaRPr>
          </a:p>
        </p:txBody>
      </p:sp>
      <p:sp>
        <p:nvSpPr>
          <p:cNvPr id="11286" name="Rectangle 22"/>
          <p:cNvSpPr/>
          <p:nvPr/>
        </p:nvSpPr>
        <p:spPr>
          <a:xfrm>
            <a:off x="5310188" y="21526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会话层</a:t>
            </a:r>
            <a:endParaRPr lang="zh-CN" altLang="en-US" sz="2400" dirty="0">
              <a:latin typeface="Tahoma" panose="020B0604030504040204" pitchFamily="2" charset="0"/>
              <a:ea typeface="宋体" panose="02010600030101010101" pitchFamily="2" charset="-122"/>
            </a:endParaRPr>
          </a:p>
        </p:txBody>
      </p:sp>
      <p:sp>
        <p:nvSpPr>
          <p:cNvPr id="11287" name="Rectangle 23"/>
          <p:cNvSpPr/>
          <p:nvPr/>
        </p:nvSpPr>
        <p:spPr>
          <a:xfrm>
            <a:off x="5310188" y="27622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传输层</a:t>
            </a:r>
            <a:endParaRPr lang="zh-CN" altLang="en-US" sz="2400" dirty="0">
              <a:latin typeface="Tahoma" panose="020B0604030504040204" pitchFamily="2" charset="0"/>
              <a:ea typeface="宋体" panose="02010600030101010101" pitchFamily="2" charset="-122"/>
            </a:endParaRPr>
          </a:p>
        </p:txBody>
      </p:sp>
      <p:sp>
        <p:nvSpPr>
          <p:cNvPr id="11288" name="Rectangle 24"/>
          <p:cNvSpPr/>
          <p:nvPr/>
        </p:nvSpPr>
        <p:spPr>
          <a:xfrm>
            <a:off x="5310188" y="33718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网络层</a:t>
            </a:r>
            <a:endParaRPr lang="zh-CN" altLang="en-US" sz="2400" dirty="0">
              <a:latin typeface="Tahoma" panose="020B0604030504040204" pitchFamily="2" charset="0"/>
              <a:ea typeface="宋体" panose="02010600030101010101" pitchFamily="2" charset="-122"/>
            </a:endParaRPr>
          </a:p>
        </p:txBody>
      </p:sp>
      <p:sp>
        <p:nvSpPr>
          <p:cNvPr id="11289" name="Rectangle 25"/>
          <p:cNvSpPr/>
          <p:nvPr/>
        </p:nvSpPr>
        <p:spPr>
          <a:xfrm>
            <a:off x="5310188" y="39814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链路层</a:t>
            </a:r>
            <a:endParaRPr lang="zh-CN" altLang="en-US" sz="2400" dirty="0">
              <a:latin typeface="Tahoma" panose="020B0604030504040204" pitchFamily="2" charset="0"/>
              <a:ea typeface="宋体" panose="02010600030101010101" pitchFamily="2" charset="-122"/>
            </a:endParaRPr>
          </a:p>
        </p:txBody>
      </p:sp>
      <p:sp>
        <p:nvSpPr>
          <p:cNvPr id="11290" name="Rectangle 26"/>
          <p:cNvSpPr/>
          <p:nvPr/>
        </p:nvSpPr>
        <p:spPr>
          <a:xfrm>
            <a:off x="5310188" y="4591050"/>
            <a:ext cx="2590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sz="2400" dirty="0">
                <a:latin typeface="Tahoma" panose="020B0604030504040204" pitchFamily="2" charset="0"/>
                <a:ea typeface="宋体" panose="02010600030101010101" pitchFamily="2" charset="-122"/>
              </a:rPr>
              <a:t>物理层</a:t>
            </a:r>
            <a:endParaRPr lang="zh-CN" altLang="en-US" sz="2400" dirty="0">
              <a:latin typeface="Tahoma" panose="020B0604030504040204" pitchFamily="2"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TCP/IP</a:t>
            </a:r>
            <a:r>
              <a:rPr lang="zh-CN" altLang="en-US" sz="1800" dirty="0"/>
              <a:t>协议是</a:t>
            </a:r>
            <a:r>
              <a:rPr lang="en-US" altLang="zh-CN" sz="1800" dirty="0"/>
              <a:t>Internet</a:t>
            </a:r>
            <a:r>
              <a:rPr lang="zh-CN" altLang="en-US" sz="1800" dirty="0"/>
              <a:t>事实上的工业标准。</a:t>
            </a:r>
            <a:endParaRPr lang="zh-CN" altLang="en-US" sz="1800" dirty="0"/>
          </a:p>
          <a:p>
            <a:pPr lvl="0" indent="-342900"/>
            <a:endParaRPr lang="zh-CN" altLang="en-US" sz="1800" dirty="0"/>
          </a:p>
          <a:p>
            <a:pPr lvl="0" indent="-342900"/>
            <a:r>
              <a:rPr lang="zh-CN" altLang="en-US" sz="1800" dirty="0"/>
              <a:t>一共有四层</a:t>
            </a:r>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229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2291" name="Object 4"/>
          <p:cNvGraphicFramePr>
            <a:graphicFrameLocks noGrp="1"/>
          </p:cNvGraphicFramePr>
          <p:nvPr/>
        </p:nvGraphicFramePr>
        <p:xfrm>
          <a:off x="2760663" y="1774825"/>
          <a:ext cx="3697287" cy="2527300"/>
        </p:xfrm>
        <a:graphic>
          <a:graphicData uri="http://schemas.openxmlformats.org/presentationml/2006/ole">
            <mc:AlternateContent xmlns:mc="http://schemas.openxmlformats.org/markup-compatibility/2006">
              <mc:Choice xmlns:v="urn:schemas-microsoft-com:vml" Requires="v">
                <p:oleObj spid="_x0000_s3077" name="" r:id="rId1" imgW="3935730" imgH="2788285" progId="Visio.Drawing.11">
                  <p:embed/>
                </p:oleObj>
              </mc:Choice>
              <mc:Fallback>
                <p:oleObj name="" r:id="rId1" imgW="3935730" imgH="2788285" progId="Visio.Drawing.11">
                  <p:embed/>
                  <p:pic>
                    <p:nvPicPr>
                      <p:cNvPr id="0" name="图片 3076"/>
                      <p:cNvPicPr/>
                      <p:nvPr/>
                    </p:nvPicPr>
                    <p:blipFill>
                      <a:blip r:embed="rId2"/>
                      <a:stretch>
                        <a:fillRect/>
                      </a:stretch>
                    </p:blipFill>
                    <p:spPr>
                      <a:xfrm>
                        <a:off x="2760663" y="1774825"/>
                        <a:ext cx="3697287" cy="2527300"/>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331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3315" name="Object 3"/>
          <p:cNvGraphicFramePr>
            <a:graphicFrameLocks noGrp="1"/>
          </p:cNvGraphicFramePr>
          <p:nvPr>
            <p:ph type="subTitle" idx="1"/>
          </p:nvPr>
        </p:nvGraphicFramePr>
        <p:xfrm>
          <a:off x="1317625" y="1393825"/>
          <a:ext cx="6481763" cy="3038475"/>
        </p:xfrm>
        <a:graphic>
          <a:graphicData uri="http://schemas.openxmlformats.org/presentationml/2006/ole">
            <mc:AlternateContent xmlns:mc="http://schemas.openxmlformats.org/markup-compatibility/2006">
              <mc:Choice xmlns:v="urn:schemas-microsoft-com:vml" Requires="v">
                <p:oleObj spid="_x0000_s3077" name="" r:id="rId1" imgW="5629910" imgH="2752090" progId="Visio.Drawing.11">
                  <p:embed/>
                </p:oleObj>
              </mc:Choice>
              <mc:Fallback>
                <p:oleObj name="" r:id="rId1" imgW="5629910" imgH="2752090" progId="Visio.Drawing.11">
                  <p:embed/>
                  <p:pic>
                    <p:nvPicPr>
                      <p:cNvPr id="0" name="图片 3076"/>
                      <p:cNvPicPr/>
                      <p:nvPr/>
                    </p:nvPicPr>
                    <p:blipFill>
                      <a:blip r:embed="rId2"/>
                      <a:stretch>
                        <a:fillRect/>
                      </a:stretch>
                    </p:blipFill>
                    <p:spPr>
                      <a:xfrm>
                        <a:off x="1317625" y="1393825"/>
                        <a:ext cx="6481763" cy="3038475"/>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433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292867" name="Group 3"/>
          <p:cNvGraphicFramePr>
            <a:graphicFrameLocks noGrp="1"/>
          </p:cNvGraphicFramePr>
          <p:nvPr>
            <p:ph idx="1"/>
          </p:nvPr>
        </p:nvGraphicFramePr>
        <p:xfrm>
          <a:off x="782638" y="933450"/>
          <a:ext cx="6121400" cy="4030663"/>
        </p:xfrm>
        <a:graphic>
          <a:graphicData uri="http://schemas.openxmlformats.org/drawingml/2006/table">
            <a:tbl>
              <a:tblPr/>
              <a:tblGrid>
                <a:gridCol w="1323975"/>
                <a:gridCol w="2757170"/>
                <a:gridCol w="2039620"/>
              </a:tblGrid>
              <a:tr h="40894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rgbClr val="0000FF"/>
                          </a:solidFill>
                          <a:effectLst/>
                          <a:latin typeface="Times New Roman" panose="02020603050405020304" pitchFamily="2" charset="0"/>
                        </a:rPr>
                        <a:t>OSI</a:t>
                      </a:r>
                      <a:r>
                        <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rPr>
                        <a:t>中的层</a:t>
                      </a:r>
                      <a:r>
                        <a:rPr kumimoji="0" lang="zh-CN" altLang="en-US" sz="1400" b="0" i="0" u="none" strike="noStrike" cap="none" normalizeH="0" baseline="0" smtClean="0">
                          <a:ln>
                            <a:noFill/>
                          </a:ln>
                          <a:solidFill>
                            <a:srgbClr val="0000FF"/>
                          </a:solidFill>
                          <a:effectLst/>
                          <a:latin typeface="Times New Roman" panose="02020603050405020304" pitchFamily="2" charset="0"/>
                        </a:rPr>
                        <a:t> </a:t>
                      </a:r>
                      <a:endPar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rPr>
                        <a:t>功能</a:t>
                      </a:r>
                      <a:r>
                        <a:rPr kumimoji="0" lang="zh-CN" altLang="en-US" sz="1400" b="0" i="0" u="none" strike="noStrike" cap="none" normalizeH="0" baseline="0" smtClean="0">
                          <a:ln>
                            <a:noFill/>
                          </a:ln>
                          <a:solidFill>
                            <a:srgbClr val="0000FF"/>
                          </a:solidFill>
                          <a:effectLst/>
                          <a:latin typeface="Times New Roman" panose="02020603050405020304" pitchFamily="2" charset="0"/>
                        </a:rPr>
                        <a:t> </a:t>
                      </a:r>
                      <a:endPar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rgbClr val="0000FF"/>
                          </a:solidFill>
                          <a:effectLst/>
                          <a:latin typeface="Times New Roman" panose="02020603050405020304" pitchFamily="2" charset="0"/>
                        </a:rPr>
                        <a:t>TCP/IP</a:t>
                      </a:r>
                      <a:r>
                        <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rPr>
                        <a:t>协议族</a:t>
                      </a:r>
                      <a:r>
                        <a:rPr kumimoji="0" lang="zh-CN" altLang="en-US" sz="1400" b="0" i="0" u="none" strike="noStrike" cap="none" normalizeH="0" baseline="0" smtClean="0">
                          <a:ln>
                            <a:noFill/>
                          </a:ln>
                          <a:solidFill>
                            <a:srgbClr val="0000FF"/>
                          </a:solidFill>
                          <a:effectLst/>
                          <a:latin typeface="Times New Roman" panose="02020603050405020304" pitchFamily="2" charset="0"/>
                        </a:rPr>
                        <a:t> </a:t>
                      </a:r>
                      <a:endParaRPr kumimoji="0" lang="zh-CN" altLang="en-US" sz="1400" b="0" i="0" u="none" strike="noStrike" cap="none" normalizeH="0" baseline="0" smtClean="0">
                        <a:ln>
                          <a:noFill/>
                        </a:ln>
                        <a:solidFill>
                          <a:srgbClr val="0000FF"/>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73152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应用层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文件传输，电子邮件，文件服务，虚拟终端</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chemeClr val="tx1"/>
                          </a:solidFill>
                          <a:effectLst/>
                          <a:latin typeface="Times New Roman" panose="02020603050405020304" pitchFamily="2" charset="0"/>
                        </a:rPr>
                        <a:t>TFTP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HTTP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SNMP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FTP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SMTP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DNS</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Telnet </a:t>
                      </a:r>
                      <a:endPar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1816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表示层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数据格式化，代码转换，数据加密</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没有协议</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09575">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会话层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解除或建立与别的节点的联系</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没有协议</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40767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传输层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提供端对端的接口</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chemeClr val="tx1"/>
                          </a:solidFill>
                          <a:effectLst/>
                          <a:latin typeface="Times New Roman" panose="02020603050405020304" pitchFamily="2" charset="0"/>
                        </a:rPr>
                        <a:t>TCP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UDP </a:t>
                      </a:r>
                      <a:endPar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1816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网络层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为数据包选择路由</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chemeClr val="tx1"/>
                          </a:solidFill>
                          <a:effectLst/>
                          <a:latin typeface="Times New Roman" panose="02020603050405020304" pitchFamily="2" charset="0"/>
                        </a:rPr>
                        <a:t>IP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ICMP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RIP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OSPF</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BGP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IGMP </a:t>
                      </a:r>
                      <a:endPar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1816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数据链路层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传输有地址的帧以及错误检测功能</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chemeClr val="tx1"/>
                          </a:solidFill>
                          <a:effectLst/>
                          <a:latin typeface="Times New Roman" panose="02020603050405020304" pitchFamily="2" charset="0"/>
                        </a:rPr>
                        <a:t>SLIP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CSLIP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PPP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ARP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RARP</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MTU </a:t>
                      </a:r>
                      <a:endPar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518160">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物理层</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以二进制数据形式在物理媒体上传输数据</a:t>
                      </a:r>
                      <a:r>
                        <a:rPr kumimoji="0" lang="zh-CN" altLang="en-US" sz="1400" b="0" i="0" u="none" strike="noStrike" cap="none" normalizeH="0" baseline="0" smtClean="0">
                          <a:ln>
                            <a:noFill/>
                          </a:ln>
                          <a:solidFill>
                            <a:schemeClr val="tx1"/>
                          </a:solidFill>
                          <a:effectLst/>
                          <a:latin typeface="Times New Roman" panose="02020603050405020304" pitchFamily="2" charset="0"/>
                        </a:rPr>
                        <a:t> </a:t>
                      </a:r>
                      <a:endPar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p>
                      <a:pPr marL="273050" marR="0" lvl="0" indent="-273050" algn="ctr" defTabSz="914400" rtl="0" eaLnBrk="1" fontAlgn="base" latinLnBrk="0" hangingPunct="1">
                        <a:lnSpc>
                          <a:spcPct val="100000"/>
                        </a:lnSpc>
                        <a:spcBef>
                          <a:spcPct val="0"/>
                        </a:spcBef>
                        <a:spcAft>
                          <a:spcPct val="0"/>
                        </a:spcAft>
                        <a:buClr>
                          <a:schemeClr val="bg1"/>
                        </a:buClr>
                        <a:buSzPct val="76000"/>
                        <a:buFontTx/>
                        <a:buNone/>
                      </a:pPr>
                      <a:r>
                        <a:rPr kumimoji="0" lang="en-US" altLang="zh-CN" sz="1400" b="0" i="0" u="none" strike="noStrike" cap="none" normalizeH="0" baseline="0" smtClean="0">
                          <a:ln>
                            <a:noFill/>
                          </a:ln>
                          <a:solidFill>
                            <a:schemeClr val="tx1"/>
                          </a:solidFill>
                          <a:effectLst/>
                          <a:latin typeface="Times New Roman" panose="02020603050405020304" pitchFamily="2" charset="0"/>
                        </a:rPr>
                        <a:t>ISO2110</a:t>
                      </a:r>
                      <a:r>
                        <a:rPr kumimoji="0" lang="zh-CN" altLang="en-US"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a:t>
                      </a:r>
                      <a:r>
                        <a:rPr kumimoji="0" lang="en-US" altLang="zh-CN" sz="1400" b="0" i="0" u="none" strike="noStrike" cap="none" normalizeH="0" baseline="0" smtClean="0">
                          <a:ln>
                            <a:noFill/>
                          </a:ln>
                          <a:solidFill>
                            <a:schemeClr val="tx1"/>
                          </a:solidFill>
                          <a:effectLst/>
                          <a:latin typeface="Times New Roman" panose="02020603050405020304" pitchFamily="2" charset="0"/>
                        </a:rPr>
                        <a:t>IEEE802</a:t>
                      </a:r>
                      <a:r>
                        <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rPr>
                        <a:t>.1,</a:t>
                      </a:r>
                      <a:r>
                        <a:rPr kumimoji="0" lang="en-US" altLang="zh-CN" sz="1400" b="0" i="0" u="none" strike="noStrike" cap="none" normalizeH="0" baseline="0" smtClean="0">
                          <a:ln>
                            <a:noFill/>
                          </a:ln>
                          <a:solidFill>
                            <a:schemeClr val="tx1"/>
                          </a:solidFill>
                          <a:effectLst/>
                          <a:latin typeface="Times New Roman" panose="02020603050405020304" pitchFamily="2" charset="0"/>
                        </a:rPr>
                        <a:t>EEE802.2 </a:t>
                      </a:r>
                      <a:endParaRPr kumimoji="0" lang="en-US" altLang="zh-CN" sz="1400" b="0" i="0" u="none" strike="noStrike" cap="none" normalizeH="0" baseline="0" smtClean="0">
                        <a:ln>
                          <a:noFill/>
                        </a:ln>
                        <a:solidFill>
                          <a:schemeClr val="tx1"/>
                        </a:solidFill>
                        <a:effectLst/>
                        <a:latin typeface="Times New Roman" panose="02020603050405020304" pitchFamily="2" charset="0"/>
                        <a:ea typeface="宋体" panose="02010600030101010101" pitchFamily="2" charset="-122"/>
                      </a:endParaRPr>
                    </a:p>
                  </a:txBody>
                  <a:tcPr marT="45723" marB="45723"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TCP/IP</a:t>
            </a:r>
            <a:r>
              <a:rPr lang="zh-CN" altLang="en-US" sz="1800" dirty="0"/>
              <a:t>协议</a:t>
            </a:r>
            <a:endParaRPr lang="zh-CN" altLang="en-US" sz="1800" dirty="0"/>
          </a:p>
          <a:p>
            <a:pPr lvl="1" indent="-285750"/>
            <a:r>
              <a:rPr lang="zh-CN" altLang="en-US" sz="1800" dirty="0"/>
              <a:t>传输控制</a:t>
            </a:r>
            <a:r>
              <a:rPr lang="en-US" altLang="zh-CN" sz="1800" dirty="0"/>
              <a:t>/</a:t>
            </a:r>
            <a:r>
              <a:rPr lang="zh-CN" altLang="en-US" sz="1800" dirty="0"/>
              <a:t>网际协议</a:t>
            </a:r>
            <a:r>
              <a:rPr lang="en-US" altLang="zh-CN" sz="1800" dirty="0"/>
              <a:t>(Transfer Control Protocol/Internet Protocol) </a:t>
            </a:r>
            <a:r>
              <a:rPr lang="zh-CN" altLang="en-US" sz="1800" dirty="0"/>
              <a:t>又称作网络通讯协议</a:t>
            </a:r>
            <a:endParaRPr lang="zh-CN" altLang="en-US" sz="1800" dirty="0"/>
          </a:p>
          <a:p>
            <a:pPr lvl="1" indent="-285750"/>
            <a:endParaRPr lang="zh-CN" altLang="en-US" sz="1800" dirty="0"/>
          </a:p>
          <a:p>
            <a:pPr lvl="1" indent="-285750"/>
            <a:r>
              <a:rPr lang="en-US" altLang="zh-CN" sz="1800" dirty="0"/>
              <a:t>Internet</a:t>
            </a:r>
            <a:r>
              <a:rPr lang="zh-CN" altLang="en-US" sz="1800" dirty="0"/>
              <a:t>国际互联网络的基础，</a:t>
            </a:r>
            <a:r>
              <a:rPr lang="en-US" altLang="zh-CN" sz="1800" dirty="0"/>
              <a:t>RFC793</a:t>
            </a:r>
            <a:endParaRPr lang="en-US" altLang="zh-CN" sz="1800" dirty="0"/>
          </a:p>
          <a:p>
            <a:pPr lvl="1" indent="-285750"/>
            <a:endParaRPr lang="en-US" altLang="zh-CN" sz="1800" dirty="0"/>
          </a:p>
          <a:p>
            <a:pPr lvl="1" indent="-285750"/>
            <a:r>
              <a:rPr lang="zh-CN" altLang="en-US" sz="1800" dirty="0"/>
              <a:t>一组协议，通常称它为</a:t>
            </a:r>
            <a:r>
              <a:rPr lang="en-US" altLang="zh-CN" sz="1800" dirty="0"/>
              <a:t>TCP/IP</a:t>
            </a:r>
            <a:r>
              <a:rPr lang="zh-CN" altLang="en-US" sz="1800" dirty="0"/>
              <a:t>协议族 </a:t>
            </a:r>
            <a:endParaRPr lang="zh-CN" altLang="en-US" sz="1800" dirty="0"/>
          </a:p>
          <a:p>
            <a:pPr lvl="1" indent="-285750"/>
            <a:endParaRPr lang="zh-CN" altLang="en-US" sz="1800" dirty="0"/>
          </a:p>
          <a:p>
            <a:pPr lvl="1" indent="-285750"/>
            <a:r>
              <a:rPr lang="zh-CN" altLang="en-US" sz="1800" dirty="0"/>
              <a:t>四个层次：网络接口层、网际层、传输层、应用层</a:t>
            </a:r>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536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60000"/>
              </a:lnSpc>
            </a:pPr>
            <a:r>
              <a:rPr lang="zh-CN" altLang="en-US" sz="1800" dirty="0"/>
              <a:t>常用协议</a:t>
            </a:r>
            <a:endParaRPr lang="zh-CN" altLang="en-US" sz="1800" dirty="0"/>
          </a:p>
          <a:p>
            <a:pPr lvl="0" indent="-342900">
              <a:lnSpc>
                <a:spcPct val="60000"/>
              </a:lnSpc>
            </a:pPr>
            <a:endParaRPr lang="zh-CN" altLang="en-US" sz="1800" dirty="0"/>
          </a:p>
          <a:p>
            <a:pPr lvl="1" indent="-285750">
              <a:lnSpc>
                <a:spcPct val="60000"/>
              </a:lnSpc>
            </a:pPr>
            <a:r>
              <a:rPr lang="en-US" altLang="zh-CN" sz="1800" dirty="0"/>
              <a:t>TCP(Transport Control Protocol)</a:t>
            </a:r>
            <a:r>
              <a:rPr lang="zh-CN" altLang="en-US" sz="1800" dirty="0"/>
              <a:t>传输控制协议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IP(Internetworking Protocol)</a:t>
            </a:r>
            <a:r>
              <a:rPr lang="zh-CN" altLang="en-US" sz="1800" dirty="0"/>
              <a:t>网间协议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UDP(User Datagram Protocol)</a:t>
            </a:r>
            <a:r>
              <a:rPr lang="zh-CN" altLang="en-US" sz="1800" dirty="0"/>
              <a:t>用户数据报协议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ICMP(Internet Control Message Protocol)</a:t>
            </a:r>
            <a:r>
              <a:rPr lang="zh-CN" altLang="en-US" sz="1800" dirty="0"/>
              <a:t>互联网控制信息协议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SMTP(Simple Mail Transfer Protocol)</a:t>
            </a:r>
            <a:r>
              <a:rPr lang="zh-CN" altLang="en-US" sz="1800" dirty="0"/>
              <a:t>简单邮件传输协议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SNMP(Simple Network manage Protocol)</a:t>
            </a:r>
            <a:r>
              <a:rPr lang="zh-CN" altLang="en-US" sz="1800" dirty="0"/>
              <a:t>简单网络管理协议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HTTP(Hypertext Transfer Protocol) </a:t>
            </a:r>
            <a:r>
              <a:rPr lang="zh-CN" altLang="en-US" sz="1800" dirty="0"/>
              <a:t>超文本传输协议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FTP(File Transfer Protocol)</a:t>
            </a:r>
            <a:r>
              <a:rPr lang="zh-CN" altLang="en-US" sz="1800" dirty="0"/>
              <a:t>文件传输协议</a:t>
            </a:r>
            <a:endParaRPr lang="zh-CN" altLang="en-US" sz="1800" dirty="0"/>
          </a:p>
          <a:p>
            <a:pPr lvl="1" indent="-285750">
              <a:lnSpc>
                <a:spcPct val="55000"/>
              </a:lnSpc>
            </a:pPr>
            <a:endParaRPr lang="zh-CN" altLang="en-US" sz="1800" dirty="0"/>
          </a:p>
          <a:p>
            <a:pPr lvl="1" indent="-285750">
              <a:lnSpc>
                <a:spcPct val="55000"/>
              </a:lnSpc>
            </a:pPr>
            <a:r>
              <a:rPr lang="en-US" altLang="zh-CN" sz="1800" dirty="0"/>
              <a:t>ARP(Address Resolution Protocol)</a:t>
            </a:r>
            <a:r>
              <a:rPr lang="zh-CN" altLang="en-US" sz="1800" dirty="0"/>
              <a:t>地址解析协议</a:t>
            </a: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638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741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7411" name="Object 3"/>
          <p:cNvGraphicFramePr>
            <a:graphicFrameLocks noGrp="1"/>
          </p:cNvGraphicFramePr>
          <p:nvPr>
            <p:ph type="subTitle" idx="1"/>
          </p:nvPr>
        </p:nvGraphicFramePr>
        <p:xfrm>
          <a:off x="1155700" y="842963"/>
          <a:ext cx="6724650" cy="3941762"/>
        </p:xfrm>
        <a:graphic>
          <a:graphicData uri="http://schemas.openxmlformats.org/presentationml/2006/ole">
            <mc:AlternateContent xmlns:mc="http://schemas.openxmlformats.org/markup-compatibility/2006">
              <mc:Choice xmlns:v="urn:schemas-microsoft-com:vml" Requires="v">
                <p:oleObj spid="_x0000_s3076" name="" r:id="rId1" imgW="6903085" imgH="4419600" progId="Visio.Drawing.11">
                  <p:embed/>
                </p:oleObj>
              </mc:Choice>
              <mc:Fallback>
                <p:oleObj name="" r:id="rId1" imgW="6903085" imgH="4419600" progId="Visio.Drawing.11">
                  <p:embed/>
                  <p:pic>
                    <p:nvPicPr>
                      <p:cNvPr id="0" name="图片 3075"/>
                      <p:cNvPicPr/>
                      <p:nvPr/>
                    </p:nvPicPr>
                    <p:blipFill>
                      <a:blip r:embed="rId2"/>
                      <a:stretch>
                        <a:fillRect/>
                      </a:stretch>
                    </p:blipFill>
                    <p:spPr>
                      <a:xfrm>
                        <a:off x="1155700" y="842963"/>
                        <a:ext cx="6724650" cy="3941762"/>
                      </a:xfrm>
                      <a:prstGeom prst="rect">
                        <a:avLst/>
                      </a:prstGeom>
                      <a:noFill/>
                      <a:ln w="38100">
                        <a:noFill/>
                        <a:miter/>
                      </a:ln>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60000"/>
              </a:lnSpc>
              <a:buNone/>
            </a:pPr>
            <a:endParaRPr lang="zh-CN" altLang="en-US" sz="1800" strike="noStrike" noProof="1" dirty="0"/>
          </a:p>
          <a:p>
            <a:pPr eaLnBrk="1" fontAlgn="base" hangingPunct="1"/>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1843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18435" name="Object 3"/>
          <p:cNvGraphicFramePr>
            <a:graphicFrameLocks noGrp="1"/>
          </p:cNvGraphicFramePr>
          <p:nvPr>
            <p:ph type="subTitle" idx="1"/>
          </p:nvPr>
        </p:nvGraphicFramePr>
        <p:xfrm>
          <a:off x="611188" y="1336675"/>
          <a:ext cx="7550150" cy="3205163"/>
        </p:xfrm>
        <a:graphic>
          <a:graphicData uri="http://schemas.openxmlformats.org/presentationml/2006/ole">
            <mc:AlternateContent xmlns:mc="http://schemas.openxmlformats.org/markup-compatibility/2006">
              <mc:Choice xmlns:v="urn:schemas-microsoft-com:vml" Requires="v">
                <p:oleObj spid="_x0000_s3078" name="" r:id="rId1" imgW="9351010" imgH="3984625" progId="Visio.Drawing.11">
                  <p:embed/>
                </p:oleObj>
              </mc:Choice>
              <mc:Fallback>
                <p:oleObj name="" r:id="rId1" imgW="9351010" imgH="3984625" progId="Visio.Drawing.11">
                  <p:embed/>
                  <p:pic>
                    <p:nvPicPr>
                      <p:cNvPr id="0" name="图片 3077"/>
                      <p:cNvPicPr/>
                      <p:nvPr/>
                    </p:nvPicPr>
                    <p:blipFill>
                      <a:blip r:embed="rId2"/>
                      <a:stretch>
                        <a:fillRect/>
                      </a:stretch>
                    </p:blipFill>
                    <p:spPr>
                      <a:xfrm>
                        <a:off x="611188" y="1336675"/>
                        <a:ext cx="7550150" cy="3205163"/>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1" indent="-285750">
              <a:lnSpc>
                <a:spcPct val="150000"/>
              </a:lnSpc>
            </a:pP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1945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TCP/IP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9459" name="Text Box 3"/>
          <p:cNvSpPr txBox="1"/>
          <p:nvPr/>
        </p:nvSpPr>
        <p:spPr>
          <a:xfrm>
            <a:off x="1025525" y="1173163"/>
            <a:ext cx="912813" cy="376237"/>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r>
              <a:rPr lang="en-US" altLang="zh-CN" dirty="0">
                <a:latin typeface="Bookman Old Style" panose="02050604050505020204" pitchFamily="18" charset="0"/>
                <a:ea typeface="宋体" panose="02010600030101010101" pitchFamily="2" charset="-122"/>
              </a:rPr>
              <a:t>ftp</a:t>
            </a:r>
            <a:endParaRPr lang="en-US" altLang="zh-CN" dirty="0">
              <a:latin typeface="Bookman Old Style" panose="02050604050505020204" pitchFamily="18" charset="0"/>
              <a:ea typeface="宋体" panose="02010600030101010101" pitchFamily="2" charset="-122"/>
            </a:endParaRPr>
          </a:p>
        </p:txBody>
      </p:sp>
      <p:sp>
        <p:nvSpPr>
          <p:cNvPr id="19460" name="Text Box 4"/>
          <p:cNvSpPr txBox="1"/>
          <p:nvPr/>
        </p:nvSpPr>
        <p:spPr>
          <a:xfrm>
            <a:off x="4606925" y="1131888"/>
            <a:ext cx="677863" cy="376237"/>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r>
              <a:rPr lang="en-US" altLang="zh-CN" dirty="0">
                <a:latin typeface="Bookman Old Style" panose="02050604050505020204" pitchFamily="18" charset="0"/>
                <a:ea typeface="宋体" panose="02010600030101010101" pitchFamily="2" charset="-122"/>
              </a:rPr>
              <a:t>ping</a:t>
            </a:r>
            <a:endParaRPr lang="en-US" altLang="zh-CN" dirty="0">
              <a:latin typeface="Bookman Old Style" panose="02050604050505020204" pitchFamily="18" charset="0"/>
              <a:ea typeface="宋体" panose="02010600030101010101" pitchFamily="2" charset="-122"/>
            </a:endParaRPr>
          </a:p>
        </p:txBody>
      </p:sp>
      <p:sp>
        <p:nvSpPr>
          <p:cNvPr id="19461" name="Text Box 5"/>
          <p:cNvSpPr txBox="1"/>
          <p:nvPr/>
        </p:nvSpPr>
        <p:spPr>
          <a:xfrm>
            <a:off x="2320925" y="1136650"/>
            <a:ext cx="825500" cy="376238"/>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r>
              <a:rPr lang="en-US" altLang="zh-CN" dirty="0">
                <a:latin typeface="Bookman Old Style" panose="02050604050505020204" pitchFamily="18" charset="0"/>
                <a:ea typeface="宋体" panose="02010600030101010101" pitchFamily="2" charset="-122"/>
              </a:rPr>
              <a:t>telnet</a:t>
            </a:r>
            <a:endParaRPr lang="en-US" altLang="zh-CN" dirty="0">
              <a:latin typeface="Bookman Old Style" panose="02050604050505020204" pitchFamily="18" charset="0"/>
              <a:ea typeface="宋体" panose="02010600030101010101" pitchFamily="2" charset="-122"/>
            </a:endParaRPr>
          </a:p>
        </p:txBody>
      </p:sp>
      <p:sp>
        <p:nvSpPr>
          <p:cNvPr id="19462" name="Text Box 6"/>
          <p:cNvSpPr txBox="1"/>
          <p:nvPr/>
        </p:nvSpPr>
        <p:spPr>
          <a:xfrm>
            <a:off x="3540125" y="1131888"/>
            <a:ext cx="677863" cy="376237"/>
          </a:xfrm>
          <a:prstGeom prst="rect">
            <a:avLst/>
          </a:prstGeom>
          <a:noFill/>
          <a:ln w="9525" cap="flat" cmpd="sng">
            <a:solidFill>
              <a:schemeClr val="tx1"/>
            </a:solidFill>
            <a:prstDash val="solid"/>
            <a:miter/>
            <a:headEnd type="none" w="med" len="med"/>
            <a:tailEnd type="none" w="med" len="med"/>
          </a:ln>
        </p:spPr>
        <p:txBody>
          <a:bodyPr wrap="none" anchor="t" anchorCtr="0">
            <a:spAutoFit/>
          </a:bodyPr>
          <a:p>
            <a:r>
              <a:rPr lang="en-US" altLang="zh-CN" dirty="0">
                <a:latin typeface="Bookman Old Style" panose="02050604050505020204" pitchFamily="18" charset="0"/>
                <a:ea typeface="宋体" panose="02010600030101010101" pitchFamily="2" charset="-122"/>
              </a:rPr>
              <a:t>mail</a:t>
            </a:r>
            <a:endParaRPr lang="en-US" altLang="zh-CN" dirty="0">
              <a:latin typeface="Bookman Old Style" panose="02050604050505020204" pitchFamily="18" charset="0"/>
              <a:ea typeface="宋体" panose="02010600030101010101" pitchFamily="2" charset="-122"/>
            </a:endParaRPr>
          </a:p>
        </p:txBody>
      </p:sp>
      <p:sp>
        <p:nvSpPr>
          <p:cNvPr id="19463" name="Line 7"/>
          <p:cNvSpPr/>
          <p:nvPr/>
        </p:nvSpPr>
        <p:spPr>
          <a:xfrm>
            <a:off x="1025525" y="2046288"/>
            <a:ext cx="6172200" cy="0"/>
          </a:xfrm>
          <a:prstGeom prst="line">
            <a:avLst/>
          </a:prstGeom>
          <a:ln w="57150" cap="flat" cmpd="sng">
            <a:solidFill>
              <a:schemeClr val="tx1"/>
            </a:solidFill>
            <a:prstDash val="solid"/>
            <a:round/>
            <a:headEnd type="none" w="med" len="med"/>
            <a:tailEnd type="none" w="med" len="med"/>
          </a:ln>
        </p:spPr>
      </p:sp>
      <p:sp>
        <p:nvSpPr>
          <p:cNvPr id="19464" name="Text Box 8"/>
          <p:cNvSpPr txBox="1"/>
          <p:nvPr/>
        </p:nvSpPr>
        <p:spPr>
          <a:xfrm>
            <a:off x="1406525" y="2579688"/>
            <a:ext cx="1219200" cy="40640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r>
              <a:rPr lang="en-US" altLang="zh-CN" sz="2000" dirty="0">
                <a:latin typeface="Bookman Old Style" panose="02050604050505020204" pitchFamily="18" charset="0"/>
                <a:ea typeface="宋体" panose="02010600030101010101" pitchFamily="2" charset="-122"/>
              </a:rPr>
              <a:t>TCP</a:t>
            </a:r>
            <a:endParaRPr lang="en-US" altLang="zh-CN" sz="2000" dirty="0">
              <a:latin typeface="Bookman Old Style" panose="02050604050505020204" pitchFamily="18" charset="0"/>
              <a:ea typeface="宋体" panose="02010600030101010101" pitchFamily="2" charset="-122"/>
            </a:endParaRPr>
          </a:p>
        </p:txBody>
      </p:sp>
      <p:sp>
        <p:nvSpPr>
          <p:cNvPr id="19465" name="Text Box 9"/>
          <p:cNvSpPr txBox="1"/>
          <p:nvPr/>
        </p:nvSpPr>
        <p:spPr>
          <a:xfrm>
            <a:off x="2625725" y="2579688"/>
            <a:ext cx="1219200" cy="40640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r>
              <a:rPr lang="en-US" altLang="zh-CN" sz="2000" dirty="0">
                <a:latin typeface="Bookman Old Style" panose="02050604050505020204" pitchFamily="18" charset="0"/>
                <a:ea typeface="宋体" panose="02010600030101010101" pitchFamily="2" charset="-122"/>
              </a:rPr>
              <a:t>UDP</a:t>
            </a:r>
            <a:endParaRPr lang="en-US" altLang="zh-CN" sz="2000" dirty="0">
              <a:latin typeface="Bookman Old Style" panose="02050604050505020204" pitchFamily="18" charset="0"/>
              <a:ea typeface="宋体" panose="02010600030101010101" pitchFamily="2" charset="-122"/>
            </a:endParaRPr>
          </a:p>
        </p:txBody>
      </p:sp>
      <p:sp>
        <p:nvSpPr>
          <p:cNvPr id="19466" name="Text Box 10"/>
          <p:cNvSpPr txBox="1"/>
          <p:nvPr/>
        </p:nvSpPr>
        <p:spPr>
          <a:xfrm>
            <a:off x="1406525" y="3036888"/>
            <a:ext cx="2438400" cy="40640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r>
              <a:rPr lang="en-US" altLang="zh-CN" sz="2000" dirty="0">
                <a:latin typeface="Bookman Old Style" panose="02050604050505020204" pitchFamily="18" charset="0"/>
                <a:ea typeface="宋体" panose="02010600030101010101" pitchFamily="2" charset="-122"/>
              </a:rPr>
              <a:t>IP (+ICMP)</a:t>
            </a:r>
            <a:endParaRPr lang="en-US" altLang="zh-CN" sz="2000" dirty="0">
              <a:latin typeface="Bookman Old Style" panose="02050604050505020204" pitchFamily="18" charset="0"/>
              <a:ea typeface="宋体" panose="02010600030101010101" pitchFamily="2" charset="-122"/>
            </a:endParaRPr>
          </a:p>
        </p:txBody>
      </p:sp>
      <p:sp>
        <p:nvSpPr>
          <p:cNvPr id="19467" name="Text Box 11"/>
          <p:cNvSpPr txBox="1"/>
          <p:nvPr/>
        </p:nvSpPr>
        <p:spPr>
          <a:xfrm>
            <a:off x="1406525" y="3494088"/>
            <a:ext cx="2438400" cy="406400"/>
          </a:xfrm>
          <a:prstGeom prst="rect">
            <a:avLst/>
          </a:prstGeom>
          <a:noFill/>
          <a:ln w="9525" cap="flat" cmpd="sng">
            <a:solidFill>
              <a:schemeClr val="tx1"/>
            </a:solidFill>
            <a:prstDash val="solid"/>
            <a:miter/>
            <a:headEnd type="none" w="med" len="med"/>
            <a:tailEnd type="none" w="med" len="med"/>
          </a:ln>
        </p:spPr>
        <p:txBody>
          <a:bodyPr anchor="t" anchorCtr="0">
            <a:spAutoFit/>
          </a:bodyPr>
          <a:p>
            <a:pPr algn="ctr"/>
            <a:r>
              <a:rPr lang="en-US" altLang="zh-CN" sz="2000" dirty="0">
                <a:latin typeface="Bookman Old Style" panose="02050604050505020204" pitchFamily="18" charset="0"/>
                <a:ea typeface="宋体" panose="02010600030101010101" pitchFamily="2" charset="-122"/>
              </a:rPr>
              <a:t>Device Drivers</a:t>
            </a:r>
            <a:endParaRPr lang="en-US" altLang="zh-CN" sz="2000" dirty="0">
              <a:latin typeface="Bookman Old Style" panose="02050604050505020204" pitchFamily="18" charset="0"/>
              <a:ea typeface="宋体" panose="02010600030101010101" pitchFamily="2" charset="-122"/>
            </a:endParaRPr>
          </a:p>
        </p:txBody>
      </p:sp>
      <p:sp>
        <p:nvSpPr>
          <p:cNvPr id="19468" name="Line 12"/>
          <p:cNvSpPr/>
          <p:nvPr/>
        </p:nvSpPr>
        <p:spPr>
          <a:xfrm>
            <a:off x="1482725" y="1665288"/>
            <a:ext cx="381000" cy="990600"/>
          </a:xfrm>
          <a:prstGeom prst="line">
            <a:avLst/>
          </a:prstGeom>
          <a:ln w="9525" cap="flat" cmpd="sng">
            <a:solidFill>
              <a:schemeClr val="tx1"/>
            </a:solidFill>
            <a:prstDash val="solid"/>
            <a:round/>
            <a:headEnd type="none" w="med" len="med"/>
            <a:tailEnd type="triangle" w="med" len="med"/>
          </a:ln>
        </p:spPr>
      </p:sp>
      <p:sp>
        <p:nvSpPr>
          <p:cNvPr id="19469" name="Line 13"/>
          <p:cNvSpPr/>
          <p:nvPr/>
        </p:nvSpPr>
        <p:spPr>
          <a:xfrm flipH="1">
            <a:off x="2244725" y="1512888"/>
            <a:ext cx="381000" cy="1143000"/>
          </a:xfrm>
          <a:prstGeom prst="line">
            <a:avLst/>
          </a:prstGeom>
          <a:ln w="9525" cap="flat" cmpd="sng">
            <a:solidFill>
              <a:schemeClr val="tx1"/>
            </a:solidFill>
            <a:prstDash val="solid"/>
            <a:round/>
            <a:headEnd type="none" w="med" len="med"/>
            <a:tailEnd type="triangle" w="med" len="med"/>
          </a:ln>
        </p:spPr>
      </p:sp>
      <p:sp>
        <p:nvSpPr>
          <p:cNvPr id="19470" name="Line 14"/>
          <p:cNvSpPr/>
          <p:nvPr/>
        </p:nvSpPr>
        <p:spPr>
          <a:xfrm flipH="1">
            <a:off x="2397125" y="1512888"/>
            <a:ext cx="1447800" cy="1143000"/>
          </a:xfrm>
          <a:prstGeom prst="line">
            <a:avLst/>
          </a:prstGeom>
          <a:ln w="9525" cap="flat" cmpd="sng">
            <a:solidFill>
              <a:schemeClr val="tx1"/>
            </a:solidFill>
            <a:prstDash val="solid"/>
            <a:round/>
            <a:headEnd type="none" w="med" len="med"/>
            <a:tailEnd type="triangle" w="med" len="med"/>
          </a:ln>
        </p:spPr>
      </p:sp>
      <p:sp>
        <p:nvSpPr>
          <p:cNvPr id="19471" name="Line 15"/>
          <p:cNvSpPr/>
          <p:nvPr/>
        </p:nvSpPr>
        <p:spPr>
          <a:xfrm flipH="1">
            <a:off x="3311525" y="1512888"/>
            <a:ext cx="1600200" cy="1752600"/>
          </a:xfrm>
          <a:prstGeom prst="line">
            <a:avLst/>
          </a:prstGeom>
          <a:ln w="9525" cap="flat" cmpd="sng">
            <a:solidFill>
              <a:schemeClr val="tx1"/>
            </a:solidFill>
            <a:prstDash val="solid"/>
            <a:round/>
            <a:headEnd type="none" w="med" len="med"/>
            <a:tailEnd type="triangle" w="med" len="med"/>
          </a:ln>
        </p:spPr>
      </p:sp>
      <p:sp>
        <p:nvSpPr>
          <p:cNvPr id="19472" name="Line 16"/>
          <p:cNvSpPr/>
          <p:nvPr/>
        </p:nvSpPr>
        <p:spPr>
          <a:xfrm>
            <a:off x="1025525" y="4332288"/>
            <a:ext cx="5715000" cy="0"/>
          </a:xfrm>
          <a:prstGeom prst="line">
            <a:avLst/>
          </a:prstGeom>
          <a:ln w="57150" cap="flat" cmpd="sng">
            <a:solidFill>
              <a:schemeClr val="tx1"/>
            </a:solidFill>
            <a:prstDash val="solid"/>
            <a:round/>
            <a:headEnd type="none" w="med" len="med"/>
            <a:tailEnd type="none" w="med" len="med"/>
          </a:ln>
        </p:spPr>
      </p:sp>
      <p:sp>
        <p:nvSpPr>
          <p:cNvPr id="19473" name="Line 17"/>
          <p:cNvSpPr/>
          <p:nvPr/>
        </p:nvSpPr>
        <p:spPr>
          <a:xfrm>
            <a:off x="2625725" y="3951288"/>
            <a:ext cx="0" cy="381000"/>
          </a:xfrm>
          <a:prstGeom prst="line">
            <a:avLst/>
          </a:prstGeom>
          <a:ln w="57150" cap="flat" cmpd="sng">
            <a:solidFill>
              <a:schemeClr val="tx1"/>
            </a:solidFill>
            <a:prstDash val="solid"/>
            <a:round/>
            <a:headEnd type="none" w="med" len="med"/>
            <a:tailEnd type="none" w="med" len="med"/>
          </a:ln>
        </p:spPr>
      </p:sp>
      <p:sp>
        <p:nvSpPr>
          <p:cNvPr id="19474" name="Text Box 18"/>
          <p:cNvSpPr txBox="1"/>
          <p:nvPr/>
        </p:nvSpPr>
        <p:spPr>
          <a:xfrm>
            <a:off x="6207125" y="4440238"/>
            <a:ext cx="692150" cy="396875"/>
          </a:xfrm>
          <a:prstGeom prst="rect">
            <a:avLst/>
          </a:prstGeom>
          <a:noFill/>
          <a:ln w="9525">
            <a:noFill/>
          </a:ln>
        </p:spPr>
        <p:txBody>
          <a:bodyPr wrap="none" anchor="t" anchorCtr="0">
            <a:spAutoFit/>
          </a:bodyPr>
          <a:p>
            <a:r>
              <a:rPr lang="zh-CN" altLang="en-US" sz="2000" dirty="0">
                <a:latin typeface="Bookman Old Style" panose="02050604050505020204" pitchFamily="18" charset="0"/>
                <a:ea typeface="宋体" panose="02010600030101010101" pitchFamily="2" charset="-122"/>
              </a:rPr>
              <a:t>网线</a:t>
            </a:r>
            <a:endParaRPr lang="zh-CN" altLang="en-US" sz="2000" dirty="0">
              <a:latin typeface="Bookman Old Style" panose="02050604050505020204" pitchFamily="18" charset="0"/>
              <a:ea typeface="宋体" panose="02010600030101010101" pitchFamily="2" charset="-122"/>
            </a:endParaRPr>
          </a:p>
        </p:txBody>
      </p:sp>
      <p:sp>
        <p:nvSpPr>
          <p:cNvPr id="19475" name="Text Box 19"/>
          <p:cNvSpPr txBox="1"/>
          <p:nvPr/>
        </p:nvSpPr>
        <p:spPr>
          <a:xfrm>
            <a:off x="5673725" y="966788"/>
            <a:ext cx="717550" cy="304800"/>
          </a:xfrm>
          <a:prstGeom prst="rect">
            <a:avLst/>
          </a:prstGeom>
          <a:noFill/>
          <a:ln w="9525">
            <a:noFill/>
          </a:ln>
        </p:spPr>
        <p:txBody>
          <a:bodyPr wrap="none" anchor="t" anchorCtr="0">
            <a:spAutoFit/>
          </a:bodyPr>
          <a:p>
            <a:r>
              <a:rPr lang="zh-CN" altLang="en-US" sz="1400" b="1" dirty="0">
                <a:latin typeface="Bookman Old Style" panose="02050604050505020204" pitchFamily="18" charset="0"/>
                <a:ea typeface="宋体" panose="02010600030101010101" pitchFamily="2" charset="-122"/>
              </a:rPr>
              <a:t>应用层</a:t>
            </a:r>
            <a:endParaRPr lang="zh-CN" altLang="en-US" sz="1400" b="1" dirty="0">
              <a:latin typeface="Bookman Old Style" panose="02050604050505020204" pitchFamily="18" charset="0"/>
              <a:ea typeface="宋体" panose="02010600030101010101" pitchFamily="2" charset="-122"/>
            </a:endParaRPr>
          </a:p>
        </p:txBody>
      </p:sp>
      <p:sp>
        <p:nvSpPr>
          <p:cNvPr id="19476" name="AutoShape 20"/>
          <p:cNvSpPr/>
          <p:nvPr/>
        </p:nvSpPr>
        <p:spPr>
          <a:xfrm>
            <a:off x="5521325" y="903288"/>
            <a:ext cx="76200" cy="762000"/>
          </a:xfrm>
          <a:prstGeom prst="rightBrace">
            <a:avLst>
              <a:gd name="adj1" fmla="val 82962"/>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7" name="Text Box 21"/>
          <p:cNvSpPr txBox="1"/>
          <p:nvPr/>
        </p:nvSpPr>
        <p:spPr>
          <a:xfrm>
            <a:off x="4454525" y="2655888"/>
            <a:ext cx="1908175" cy="304800"/>
          </a:xfrm>
          <a:prstGeom prst="rect">
            <a:avLst/>
          </a:prstGeom>
          <a:noFill/>
          <a:ln w="9525">
            <a:noFill/>
          </a:ln>
        </p:spPr>
        <p:txBody>
          <a:bodyPr anchor="t" anchorCtr="0">
            <a:spAutoFit/>
          </a:bodyPr>
          <a:p>
            <a:r>
              <a:rPr lang="zh-CN" altLang="en-US" sz="1400" b="1" dirty="0">
                <a:latin typeface="Bookman Old Style" panose="02050604050505020204" pitchFamily="18" charset="0"/>
                <a:ea typeface="宋体" panose="02010600030101010101" pitchFamily="2" charset="-122"/>
              </a:rPr>
              <a:t>传输层</a:t>
            </a:r>
            <a:endParaRPr lang="zh-CN" altLang="en-US" sz="1400" b="1" dirty="0">
              <a:latin typeface="Bookman Old Style" panose="02050604050505020204" pitchFamily="18" charset="0"/>
              <a:ea typeface="宋体" panose="02010600030101010101" pitchFamily="2" charset="-122"/>
            </a:endParaRPr>
          </a:p>
        </p:txBody>
      </p:sp>
      <p:sp>
        <p:nvSpPr>
          <p:cNvPr id="19478" name="AutoShape 22"/>
          <p:cNvSpPr/>
          <p:nvPr/>
        </p:nvSpPr>
        <p:spPr>
          <a:xfrm>
            <a:off x="4225925" y="2579688"/>
            <a:ext cx="76200" cy="457200"/>
          </a:xfrm>
          <a:prstGeom prst="rightBrace">
            <a:avLst>
              <a:gd name="adj1" fmla="val 5000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79" name="Text Box 23"/>
          <p:cNvSpPr txBox="1"/>
          <p:nvPr/>
        </p:nvSpPr>
        <p:spPr>
          <a:xfrm>
            <a:off x="4454525" y="3113088"/>
            <a:ext cx="1908175" cy="304800"/>
          </a:xfrm>
          <a:prstGeom prst="rect">
            <a:avLst/>
          </a:prstGeom>
          <a:noFill/>
          <a:ln w="9525">
            <a:noFill/>
          </a:ln>
        </p:spPr>
        <p:txBody>
          <a:bodyPr anchor="t" anchorCtr="0">
            <a:spAutoFit/>
          </a:bodyPr>
          <a:p>
            <a:r>
              <a:rPr lang="zh-CN" altLang="en-US" sz="1400" b="1" dirty="0">
                <a:latin typeface="Bookman Old Style" panose="02050604050505020204" pitchFamily="18" charset="0"/>
                <a:ea typeface="宋体" panose="02010600030101010101" pitchFamily="2" charset="-122"/>
              </a:rPr>
              <a:t>网络层</a:t>
            </a:r>
            <a:endParaRPr lang="zh-CN" altLang="en-US" sz="1400" b="1" dirty="0">
              <a:latin typeface="Bookman Old Style" panose="02050604050505020204" pitchFamily="18" charset="0"/>
              <a:ea typeface="宋体" panose="02010600030101010101" pitchFamily="2" charset="-122"/>
            </a:endParaRPr>
          </a:p>
        </p:txBody>
      </p:sp>
      <p:sp>
        <p:nvSpPr>
          <p:cNvPr id="19480" name="AutoShape 24"/>
          <p:cNvSpPr/>
          <p:nvPr/>
        </p:nvSpPr>
        <p:spPr>
          <a:xfrm>
            <a:off x="4225925" y="3036888"/>
            <a:ext cx="76200" cy="457200"/>
          </a:xfrm>
          <a:prstGeom prst="rightBrace">
            <a:avLst>
              <a:gd name="adj1" fmla="val 5000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81" name="Text Box 25"/>
          <p:cNvSpPr txBox="1"/>
          <p:nvPr/>
        </p:nvSpPr>
        <p:spPr>
          <a:xfrm>
            <a:off x="4454525" y="3570288"/>
            <a:ext cx="1908175" cy="304800"/>
          </a:xfrm>
          <a:prstGeom prst="rect">
            <a:avLst/>
          </a:prstGeom>
          <a:noFill/>
          <a:ln w="9525">
            <a:noFill/>
          </a:ln>
        </p:spPr>
        <p:txBody>
          <a:bodyPr anchor="t" anchorCtr="0">
            <a:spAutoFit/>
          </a:bodyPr>
          <a:p>
            <a:r>
              <a:rPr lang="zh-CN" altLang="en-US" sz="1400" b="1" dirty="0">
                <a:latin typeface="Bookman Old Style" panose="02050604050505020204" pitchFamily="18" charset="0"/>
                <a:ea typeface="宋体" panose="02010600030101010101" pitchFamily="2" charset="-122"/>
              </a:rPr>
              <a:t>物理层</a:t>
            </a:r>
            <a:endParaRPr lang="zh-CN" altLang="en-US" sz="1400" b="1" dirty="0">
              <a:latin typeface="Bookman Old Style" panose="02050604050505020204" pitchFamily="18" charset="0"/>
              <a:ea typeface="宋体" panose="02010600030101010101" pitchFamily="2" charset="-122"/>
            </a:endParaRPr>
          </a:p>
        </p:txBody>
      </p:sp>
      <p:sp>
        <p:nvSpPr>
          <p:cNvPr id="19482" name="AutoShape 26"/>
          <p:cNvSpPr/>
          <p:nvPr/>
        </p:nvSpPr>
        <p:spPr>
          <a:xfrm>
            <a:off x="4225925" y="3494088"/>
            <a:ext cx="76200" cy="457200"/>
          </a:xfrm>
          <a:prstGeom prst="rightBrace">
            <a:avLst>
              <a:gd name="adj1" fmla="val 50000"/>
              <a:gd name="adj2" fmla="val 50000"/>
            </a:avLst>
          </a:prstGeom>
          <a:noFill/>
          <a:ln w="9525" cap="flat" cmpd="sng">
            <a:solidFill>
              <a:schemeClr val="tx1"/>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9483" name="Text Box 27"/>
          <p:cNvSpPr txBox="1"/>
          <p:nvPr/>
        </p:nvSpPr>
        <p:spPr>
          <a:xfrm>
            <a:off x="3997325" y="1893888"/>
            <a:ext cx="1143000" cy="274637"/>
          </a:xfrm>
          <a:prstGeom prst="rect">
            <a:avLst/>
          </a:prstGeom>
          <a:solidFill>
            <a:schemeClr val="bg1"/>
          </a:solidFill>
          <a:ln w="9525">
            <a:noFill/>
          </a:ln>
        </p:spPr>
        <p:txBody>
          <a:bodyPr anchor="t" anchorCtr="0">
            <a:spAutoFit/>
          </a:bodyPr>
          <a:p>
            <a:r>
              <a:rPr lang="en-US" altLang="zh-CN" sz="1200" b="1" dirty="0">
                <a:latin typeface="Bookman Old Style" panose="02050604050505020204" pitchFamily="18" charset="0"/>
                <a:ea typeface="宋体" panose="02010600030101010101" pitchFamily="2" charset="-122"/>
              </a:rPr>
              <a:t>Raw Socket</a:t>
            </a:r>
            <a:endParaRPr lang="en-US" altLang="zh-CN" sz="1200" b="1" dirty="0">
              <a:latin typeface="Bookman Old Style" panose="02050604050505020204" pitchFamily="18" charset="0"/>
              <a:ea typeface="宋体" panose="02010600030101010101" pitchFamily="2" charset="-122"/>
            </a:endParaRPr>
          </a:p>
        </p:txBody>
      </p:sp>
      <p:sp>
        <p:nvSpPr>
          <p:cNvPr id="19484" name="Text Box 28"/>
          <p:cNvSpPr txBox="1"/>
          <p:nvPr/>
        </p:nvSpPr>
        <p:spPr>
          <a:xfrm>
            <a:off x="6013450" y="2151063"/>
            <a:ext cx="793750" cy="274637"/>
          </a:xfrm>
          <a:prstGeom prst="rect">
            <a:avLst/>
          </a:prstGeom>
          <a:noFill/>
          <a:ln w="9525">
            <a:noFill/>
          </a:ln>
        </p:spPr>
        <p:txBody>
          <a:bodyPr wrap="none" anchor="t" anchorCtr="0">
            <a:spAutoFit/>
          </a:bodyPr>
          <a:p>
            <a:r>
              <a:rPr lang="zh-CN" altLang="en-US" sz="1200" b="1" dirty="0">
                <a:latin typeface="Bookman Old Style" panose="02050604050505020204" pitchFamily="18" charset="0"/>
                <a:ea typeface="宋体" panose="02010600030101010101" pitchFamily="2" charset="-122"/>
              </a:rPr>
              <a:t>内核模式</a:t>
            </a:r>
            <a:endParaRPr lang="zh-CN" altLang="en-US" sz="1200" b="1" dirty="0">
              <a:latin typeface="Bookman Old Style" panose="02050604050505020204" pitchFamily="18" charset="0"/>
              <a:ea typeface="宋体" panose="02010600030101010101" pitchFamily="2" charset="-122"/>
            </a:endParaRPr>
          </a:p>
        </p:txBody>
      </p:sp>
      <p:sp>
        <p:nvSpPr>
          <p:cNvPr id="19485" name="Text Box 29"/>
          <p:cNvSpPr txBox="1"/>
          <p:nvPr/>
        </p:nvSpPr>
        <p:spPr>
          <a:xfrm>
            <a:off x="1177925" y="1757363"/>
            <a:ext cx="762000" cy="457200"/>
          </a:xfrm>
          <a:prstGeom prst="rect">
            <a:avLst/>
          </a:prstGeom>
          <a:solidFill>
            <a:schemeClr val="bg1"/>
          </a:solidFill>
          <a:ln w="9525">
            <a:noFill/>
          </a:ln>
        </p:spPr>
        <p:txBody>
          <a:bodyPr anchor="t" anchorCtr="0">
            <a:spAutoFit/>
          </a:bodyPr>
          <a:p>
            <a:r>
              <a:rPr lang="en-US" altLang="zh-CN" sz="1200" b="1" dirty="0">
                <a:latin typeface="Bookman Old Style" panose="02050604050505020204" pitchFamily="18" charset="0"/>
                <a:ea typeface="宋体" panose="02010600030101010101" pitchFamily="2" charset="-122"/>
              </a:rPr>
              <a:t>Stream </a:t>
            </a:r>
            <a:endParaRPr lang="en-US" altLang="zh-CN" sz="1200" b="1" dirty="0">
              <a:latin typeface="Bookman Old Style" panose="02050604050505020204" pitchFamily="18" charset="0"/>
              <a:ea typeface="宋体" panose="02010600030101010101" pitchFamily="2" charset="-122"/>
            </a:endParaRPr>
          </a:p>
          <a:p>
            <a:r>
              <a:rPr lang="en-US" altLang="zh-CN" sz="1200" b="1" dirty="0">
                <a:latin typeface="Bookman Old Style" panose="02050604050505020204" pitchFamily="18" charset="0"/>
                <a:ea typeface="宋体" panose="02010600030101010101" pitchFamily="2" charset="-122"/>
              </a:rPr>
              <a:t>Socket</a:t>
            </a:r>
            <a:endParaRPr lang="en-US" altLang="zh-CN" sz="1200" b="1" dirty="0">
              <a:latin typeface="Bookman Old Style" panose="02050604050505020204" pitchFamily="18" charset="0"/>
              <a:ea typeface="宋体" panose="02010600030101010101" pitchFamily="2" charset="-122"/>
            </a:endParaRPr>
          </a:p>
        </p:txBody>
      </p:sp>
      <p:sp>
        <p:nvSpPr>
          <p:cNvPr id="19486" name="Text Box 30"/>
          <p:cNvSpPr txBox="1"/>
          <p:nvPr/>
        </p:nvSpPr>
        <p:spPr>
          <a:xfrm>
            <a:off x="2092325" y="1757363"/>
            <a:ext cx="762000" cy="457200"/>
          </a:xfrm>
          <a:prstGeom prst="rect">
            <a:avLst/>
          </a:prstGeom>
          <a:solidFill>
            <a:schemeClr val="bg1"/>
          </a:solidFill>
          <a:ln w="9525">
            <a:noFill/>
          </a:ln>
        </p:spPr>
        <p:txBody>
          <a:bodyPr anchor="t" anchorCtr="0">
            <a:spAutoFit/>
          </a:bodyPr>
          <a:p>
            <a:r>
              <a:rPr lang="en-US" altLang="zh-CN" sz="1200" b="1" dirty="0">
                <a:latin typeface="Bookman Old Style" panose="02050604050505020204" pitchFamily="18" charset="0"/>
                <a:ea typeface="宋体" panose="02010600030101010101" pitchFamily="2" charset="-122"/>
              </a:rPr>
              <a:t>Stream </a:t>
            </a:r>
            <a:endParaRPr lang="en-US" altLang="zh-CN" sz="1200" b="1" dirty="0">
              <a:latin typeface="Bookman Old Style" panose="02050604050505020204" pitchFamily="18" charset="0"/>
              <a:ea typeface="宋体" panose="02010600030101010101" pitchFamily="2" charset="-122"/>
            </a:endParaRPr>
          </a:p>
          <a:p>
            <a:r>
              <a:rPr lang="en-US" altLang="zh-CN" sz="1200" b="1" dirty="0">
                <a:latin typeface="Bookman Old Style" panose="02050604050505020204" pitchFamily="18" charset="0"/>
                <a:ea typeface="宋体" panose="02010600030101010101" pitchFamily="2" charset="-122"/>
              </a:rPr>
              <a:t>Socket</a:t>
            </a:r>
            <a:endParaRPr lang="en-US" altLang="zh-CN" sz="1200" b="1" dirty="0">
              <a:latin typeface="Bookman Old Style" panose="02050604050505020204" pitchFamily="18" charset="0"/>
              <a:ea typeface="宋体" panose="02010600030101010101" pitchFamily="2" charset="-122"/>
            </a:endParaRPr>
          </a:p>
        </p:txBody>
      </p:sp>
      <p:sp>
        <p:nvSpPr>
          <p:cNvPr id="19487" name="Text Box 31"/>
          <p:cNvSpPr txBox="1"/>
          <p:nvPr/>
        </p:nvSpPr>
        <p:spPr>
          <a:xfrm>
            <a:off x="3082925" y="1757363"/>
            <a:ext cx="762000" cy="457200"/>
          </a:xfrm>
          <a:prstGeom prst="rect">
            <a:avLst/>
          </a:prstGeom>
          <a:solidFill>
            <a:schemeClr val="bg1"/>
          </a:solidFill>
          <a:ln w="9525">
            <a:noFill/>
          </a:ln>
        </p:spPr>
        <p:txBody>
          <a:bodyPr anchor="t" anchorCtr="0">
            <a:spAutoFit/>
          </a:bodyPr>
          <a:p>
            <a:r>
              <a:rPr lang="en-US" altLang="zh-CN" sz="1200" b="1" dirty="0">
                <a:latin typeface="Bookman Old Style" panose="02050604050505020204" pitchFamily="18" charset="0"/>
                <a:ea typeface="宋体" panose="02010600030101010101" pitchFamily="2" charset="-122"/>
              </a:rPr>
              <a:t>Stream </a:t>
            </a:r>
            <a:endParaRPr lang="en-US" altLang="zh-CN" sz="1200" b="1" dirty="0">
              <a:latin typeface="Bookman Old Style" panose="02050604050505020204" pitchFamily="18" charset="0"/>
              <a:ea typeface="宋体" panose="02010600030101010101" pitchFamily="2" charset="-122"/>
            </a:endParaRPr>
          </a:p>
          <a:p>
            <a:r>
              <a:rPr lang="en-US" altLang="zh-CN" sz="1200" b="1" dirty="0">
                <a:latin typeface="Bookman Old Style" panose="02050604050505020204" pitchFamily="18" charset="0"/>
                <a:ea typeface="宋体" panose="02010600030101010101" pitchFamily="2" charset="-122"/>
              </a:rPr>
              <a:t>Socket</a:t>
            </a:r>
            <a:endParaRPr lang="en-US" altLang="zh-CN" sz="1200" b="1" dirty="0">
              <a:latin typeface="Bookman Old Style" panose="02050604050505020204" pitchFamily="18" charset="0"/>
              <a:ea typeface="宋体" panose="02010600030101010101" pitchFamily="2" charset="-122"/>
            </a:endParaRPr>
          </a:p>
        </p:txBody>
      </p:sp>
      <p:sp>
        <p:nvSpPr>
          <p:cNvPr id="19488" name="Text Box 32"/>
          <p:cNvSpPr txBox="1"/>
          <p:nvPr/>
        </p:nvSpPr>
        <p:spPr>
          <a:xfrm>
            <a:off x="5978525" y="1731963"/>
            <a:ext cx="793750" cy="274637"/>
          </a:xfrm>
          <a:prstGeom prst="rect">
            <a:avLst/>
          </a:prstGeom>
          <a:noFill/>
          <a:ln w="9525">
            <a:noFill/>
          </a:ln>
        </p:spPr>
        <p:txBody>
          <a:bodyPr wrap="none" anchor="t" anchorCtr="0">
            <a:spAutoFit/>
          </a:bodyPr>
          <a:p>
            <a:r>
              <a:rPr lang="zh-CN" altLang="en-US" sz="1200" b="1" dirty="0">
                <a:latin typeface="Bookman Old Style" panose="02050604050505020204" pitchFamily="18" charset="0"/>
                <a:ea typeface="宋体" panose="02010600030101010101" pitchFamily="2" charset="-122"/>
              </a:rPr>
              <a:t>用户模式</a:t>
            </a:r>
            <a:endParaRPr lang="zh-CN" altLang="en-US" sz="1200" b="1" dirty="0">
              <a:latin typeface="Bookman Old Style" panose="02050604050505020204" pitchFamily="18"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zh-CN" altLang="en-US" sz="1800" strike="noStrike" noProof="1" dirty="0">
                <a:sym typeface="+mn-ea"/>
              </a:rPr>
              <a:t>共同点：同为传输层协议</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不同点：</a:t>
            </a:r>
            <a:endParaRPr lang="zh-CN" altLang="en-US" sz="1800" strike="noStrike" noProof="1" dirty="0"/>
          </a:p>
          <a:p>
            <a:pPr lvl="1" eaLnBrk="1" fontAlgn="base" hangingPunct="1"/>
            <a:r>
              <a:rPr lang="en-US" altLang="zh-CN" sz="1800" strike="noStrike" noProof="1" dirty="0">
                <a:sym typeface="+mn-ea"/>
              </a:rPr>
              <a:t>TCP</a:t>
            </a:r>
            <a:r>
              <a:rPr lang="zh-CN" altLang="en-US" sz="1800" strike="noStrike" noProof="1" dirty="0">
                <a:sym typeface="+mn-ea"/>
              </a:rPr>
              <a:t>：有连接，可靠</a:t>
            </a:r>
            <a:endParaRPr lang="zh-CN" altLang="en-US" sz="1800" strike="noStrike" noProof="1" dirty="0"/>
          </a:p>
          <a:p>
            <a:pPr lvl="1" eaLnBrk="1" fontAlgn="base" hangingPunct="1"/>
            <a:r>
              <a:rPr lang="en-US" altLang="zh-CN" sz="1800" strike="noStrike" noProof="1" dirty="0">
                <a:sym typeface="+mn-ea"/>
              </a:rPr>
              <a:t>UDP</a:t>
            </a:r>
            <a:r>
              <a:rPr lang="zh-CN" altLang="en-US" sz="1800" strike="noStrike" noProof="1" dirty="0">
                <a:sym typeface="+mn-ea"/>
              </a:rPr>
              <a:t>：无连接，不保证可靠</a:t>
            </a:r>
            <a:endParaRPr lang="zh-CN" altLang="en-US" sz="1800" strike="noStrike" noProof="1" dirty="0"/>
          </a:p>
          <a:p>
            <a:pPr marL="457200" lvl="1" indent="0" fontAlgn="base">
              <a:lnSpc>
                <a:spcPct val="150000"/>
              </a:lnSpc>
              <a:buNone/>
            </a:pPr>
            <a:endParaRPr lang="zh-CN" altLang="en-US" sz="1800" strike="noStrike" noProof="1" dirty="0"/>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2048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 &amp; UDP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576263" y="97790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90000"/>
              </a:lnSpc>
              <a:buNone/>
            </a:pPr>
            <a:r>
              <a:rPr lang="en-US" altLang="zh-CN" sz="1800" strike="noStrike" noProof="1" dirty="0">
                <a:sym typeface="+mn-ea"/>
              </a:rPr>
              <a:t>TCP</a:t>
            </a:r>
            <a:r>
              <a:rPr lang="zh-CN" altLang="en-US" sz="1800" strike="noStrike" noProof="1" dirty="0">
                <a:sym typeface="+mn-ea"/>
              </a:rPr>
              <a:t>（即传输控制协议）：是一种面向连接的传输层协议，它能提供高可靠性通信</a:t>
            </a:r>
            <a:r>
              <a:rPr lang="en-US" altLang="zh-CN" sz="1800" strike="noStrike" noProof="1" dirty="0">
                <a:sym typeface="+mn-ea"/>
              </a:rPr>
              <a:t>(</a:t>
            </a:r>
            <a:r>
              <a:rPr lang="zh-CN" altLang="en-US" sz="1800" strike="noStrike" noProof="1" dirty="0">
                <a:sym typeface="+mn-ea"/>
              </a:rPr>
              <a:t>即数据无误、数据无丢失、数据无失序、数据无重复到达的通信</a:t>
            </a:r>
            <a:r>
              <a:rPr lang="en-US" altLang="zh-CN" sz="1800" strike="noStrike" noProof="1" dirty="0">
                <a:sym typeface="+mn-ea"/>
              </a:rPr>
              <a:t>)</a:t>
            </a:r>
            <a:endParaRPr lang="en-US" altLang="zh-CN" sz="1800" strike="noStrike" noProof="1" dirty="0"/>
          </a:p>
          <a:p>
            <a:pPr marL="0" indent="0" eaLnBrk="1" fontAlgn="base" hangingPunct="1">
              <a:lnSpc>
                <a:spcPct val="90000"/>
              </a:lnSpc>
              <a:buNone/>
            </a:pPr>
            <a:r>
              <a:rPr lang="zh-CN" altLang="en-US" sz="1800" strike="noStrike" noProof="1" dirty="0">
                <a:sym typeface="+mn-ea"/>
              </a:rPr>
              <a:t>适用情况：</a:t>
            </a:r>
            <a:endParaRPr lang="zh-CN" altLang="en-US" sz="1800" strike="noStrike" noProof="1" dirty="0"/>
          </a:p>
          <a:p>
            <a:pPr marL="274955" lvl="1" indent="0" eaLnBrk="1" fontAlgn="base" hangingPunct="1">
              <a:lnSpc>
                <a:spcPct val="90000"/>
              </a:lnSpc>
              <a:buFont typeface="Wingdings" panose="05000000000000000000" pitchFamily="2" charset="2"/>
              <a:buNone/>
            </a:pPr>
            <a:r>
              <a:rPr lang="zh-CN" altLang="en-US" sz="1800" strike="noStrike" noProof="1" dirty="0">
                <a:sym typeface="+mn-ea"/>
              </a:rPr>
              <a:t>适合于对传输质量要求较高，以及传输大量数据的通信。</a:t>
            </a:r>
            <a:endParaRPr lang="zh-CN" altLang="en-US" sz="1800" strike="noStrike" noProof="1" dirty="0"/>
          </a:p>
          <a:p>
            <a:pPr marL="274955" lvl="1" indent="0" eaLnBrk="1" fontAlgn="base" hangingPunct="1">
              <a:lnSpc>
                <a:spcPct val="90000"/>
              </a:lnSpc>
              <a:buFont typeface="Wingdings" panose="05000000000000000000" pitchFamily="2" charset="2"/>
              <a:buNone/>
            </a:pPr>
            <a:r>
              <a:rPr lang="zh-CN" altLang="en-US" sz="1800" strike="noStrike" noProof="1" dirty="0">
                <a:sym typeface="+mn-ea"/>
              </a:rPr>
              <a:t>在需要可靠数据传输的场合，通常使用</a:t>
            </a:r>
            <a:r>
              <a:rPr lang="en-US" altLang="zh-CN" sz="1800" strike="noStrike" noProof="1" dirty="0">
                <a:sym typeface="+mn-ea"/>
              </a:rPr>
              <a:t>TCP</a:t>
            </a:r>
            <a:r>
              <a:rPr lang="zh-CN" altLang="en-US" sz="1800" strike="noStrike" noProof="1" dirty="0">
                <a:sym typeface="+mn-ea"/>
              </a:rPr>
              <a:t>协议</a:t>
            </a:r>
            <a:endParaRPr lang="zh-CN" altLang="en-US" sz="1800" strike="noStrike" noProof="1" dirty="0"/>
          </a:p>
          <a:p>
            <a:pPr marL="274955" lvl="1" indent="0" eaLnBrk="1" fontAlgn="base" hangingPunct="1">
              <a:lnSpc>
                <a:spcPct val="90000"/>
              </a:lnSpc>
              <a:buFont typeface="Wingdings" panose="05000000000000000000" pitchFamily="2" charset="2"/>
              <a:buNone/>
            </a:pPr>
            <a:r>
              <a:rPr lang="zh-CN" altLang="en-US" sz="1800" strike="noStrike" noProof="1" dirty="0">
                <a:sym typeface="+mn-ea"/>
              </a:rPr>
              <a:t>软件的用户登录账户管理相关的功能通常采用</a:t>
            </a:r>
            <a:r>
              <a:rPr lang="en-US" altLang="zh-CN" sz="1800" strike="noStrike" noProof="1" dirty="0">
                <a:sym typeface="+mn-ea"/>
              </a:rPr>
              <a:t>TCP</a:t>
            </a:r>
            <a:r>
              <a:rPr lang="zh-CN" altLang="en-US" sz="1800" strike="noStrike" noProof="1" dirty="0">
                <a:sym typeface="+mn-ea"/>
              </a:rPr>
              <a:t>协议</a:t>
            </a:r>
            <a:endParaRPr lang="zh-CN" altLang="en-US" sz="1800" strike="noStrike" noProof="1" dirty="0"/>
          </a:p>
          <a:p>
            <a:pPr eaLnBrk="1" fontAlgn="base" hangingPunct="1"/>
            <a:endParaRPr lang="zh-CN" altLang="en-US" sz="1800" strike="noStrike" noProof="1" dirty="0"/>
          </a:p>
          <a:p>
            <a:pPr marL="457200" lvl="1" indent="0" fontAlgn="base">
              <a:lnSpc>
                <a:spcPct val="150000"/>
              </a:lnSpc>
              <a:buNone/>
            </a:pPr>
            <a:endParaRPr lang="zh-CN" altLang="en-US" sz="1800" strike="noStrike" noProof="1" dirty="0"/>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215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21507" name="Picture 3" descr="图形2_4"/>
          <p:cNvPicPr>
            <a:picLocks noGrp="1" noChangeAspect="1"/>
          </p:cNvPicPr>
          <p:nvPr>
            <p:ph type="subTitle" idx="1"/>
          </p:nvPr>
        </p:nvPicPr>
        <p:blipFill>
          <a:blip r:embed="rId1"/>
          <a:stretch>
            <a:fillRect/>
          </a:stretch>
        </p:blipFill>
        <p:spPr>
          <a:xfrm>
            <a:off x="781050" y="2778125"/>
            <a:ext cx="5727700" cy="2311400"/>
          </a:xfr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576263" y="97790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80000"/>
              </a:lnSpc>
              <a:buNone/>
            </a:pPr>
            <a:r>
              <a:rPr lang="en-US" altLang="zh-CN" sz="1800" strike="noStrike" noProof="1" dirty="0">
                <a:sym typeface="+mn-ea"/>
              </a:rPr>
              <a:t>UDP</a:t>
            </a:r>
            <a:r>
              <a:rPr lang="zh-CN" altLang="en-US" sz="1800" strike="noStrike" noProof="1" dirty="0">
                <a:sym typeface="+mn-ea"/>
              </a:rPr>
              <a:t>（</a:t>
            </a:r>
            <a:r>
              <a:rPr lang="en-US" altLang="zh-CN" sz="1800" strike="noStrike" noProof="1" dirty="0">
                <a:sym typeface="+mn-ea"/>
              </a:rPr>
              <a:t>User Datagram Protocol</a:t>
            </a:r>
            <a:r>
              <a:rPr lang="zh-CN" altLang="en-US" sz="1800" strike="noStrike" noProof="1" dirty="0">
                <a:sym typeface="+mn-ea"/>
              </a:rPr>
              <a:t>）用户数据报协议，是不可靠的无连接的协议。在数据发送前，因为不需要进行连接，所以可以进行高效率的数据传输。</a:t>
            </a:r>
            <a:endParaRPr lang="zh-CN" altLang="en-US" sz="1800" strike="noStrike" noProof="1" dirty="0"/>
          </a:p>
          <a:p>
            <a:pPr marL="0" indent="0" eaLnBrk="1" fontAlgn="base" hangingPunct="1">
              <a:lnSpc>
                <a:spcPct val="80000"/>
              </a:lnSpc>
              <a:buNone/>
            </a:pPr>
            <a:r>
              <a:rPr lang="zh-CN" altLang="en-US" sz="1800" strike="noStrike" noProof="1" dirty="0">
                <a:sym typeface="+mn-ea"/>
              </a:rPr>
              <a:t>适用情况：</a:t>
            </a:r>
            <a:endParaRPr lang="zh-CN" altLang="en-US" sz="1800" strike="noStrike" noProof="1" dirty="0"/>
          </a:p>
          <a:p>
            <a:pPr marL="274955" lvl="1" indent="0" eaLnBrk="1" fontAlgn="base" hangingPunct="1">
              <a:lnSpc>
                <a:spcPct val="80000"/>
              </a:lnSpc>
              <a:buFont typeface="Wingdings" panose="05000000000000000000" pitchFamily="2" charset="2"/>
              <a:buNone/>
            </a:pPr>
            <a:r>
              <a:rPr lang="zh-CN" altLang="en-US" sz="1800" strike="noStrike" noProof="1" dirty="0">
                <a:sym typeface="+mn-ea"/>
              </a:rPr>
              <a:t>发送小尺寸数据（如对</a:t>
            </a:r>
            <a:r>
              <a:rPr lang="en-US" altLang="zh-CN" sz="1800" strike="noStrike" noProof="1" dirty="0">
                <a:sym typeface="+mn-ea"/>
              </a:rPr>
              <a:t>DNS</a:t>
            </a:r>
            <a:r>
              <a:rPr lang="zh-CN" altLang="en-US" sz="1800" strike="noStrike" noProof="1" dirty="0">
                <a:sym typeface="+mn-ea"/>
              </a:rPr>
              <a:t>服务器进行</a:t>
            </a:r>
            <a:r>
              <a:rPr lang="en-US" altLang="zh-CN" sz="1800" strike="noStrike" noProof="1" dirty="0">
                <a:sym typeface="+mn-ea"/>
              </a:rPr>
              <a:t>IP</a:t>
            </a:r>
            <a:r>
              <a:rPr lang="zh-CN" altLang="en-US" sz="1800" strike="noStrike" noProof="1" dirty="0">
                <a:sym typeface="+mn-ea"/>
              </a:rPr>
              <a:t>地址查询时）</a:t>
            </a:r>
            <a:endParaRPr lang="zh-CN" altLang="en-US" sz="1800" strike="noStrike" noProof="1" dirty="0"/>
          </a:p>
          <a:p>
            <a:pPr marL="274955" lvl="1" indent="0" eaLnBrk="1" fontAlgn="base" hangingPunct="1">
              <a:lnSpc>
                <a:spcPct val="80000"/>
              </a:lnSpc>
              <a:buFont typeface="Wingdings" panose="05000000000000000000" pitchFamily="2" charset="2"/>
              <a:buNone/>
            </a:pPr>
            <a:r>
              <a:rPr lang="zh-CN" altLang="en-US" sz="1800" strike="noStrike" noProof="1" dirty="0">
                <a:sym typeface="+mn-ea"/>
              </a:rPr>
              <a:t>在接收到数据，给出应答较困难的网络中使用</a:t>
            </a:r>
            <a:r>
              <a:rPr lang="en-US" altLang="zh-CN" sz="1800" strike="noStrike" noProof="1" dirty="0">
                <a:sym typeface="+mn-ea"/>
              </a:rPr>
              <a:t>UDP</a:t>
            </a:r>
            <a:r>
              <a:rPr lang="zh-CN" altLang="en-US" sz="1800" strike="noStrike" noProof="1" dirty="0">
                <a:sym typeface="+mn-ea"/>
              </a:rPr>
              <a:t>。（如：无线网络）</a:t>
            </a:r>
            <a:endParaRPr lang="zh-CN" altLang="en-US" sz="1800" strike="noStrike" noProof="1" dirty="0"/>
          </a:p>
          <a:p>
            <a:pPr marL="274955" lvl="1" indent="0" eaLnBrk="1" fontAlgn="base" hangingPunct="1">
              <a:lnSpc>
                <a:spcPct val="80000"/>
              </a:lnSpc>
              <a:buFont typeface="Wingdings" panose="05000000000000000000" pitchFamily="2" charset="2"/>
              <a:buNone/>
            </a:pPr>
            <a:r>
              <a:rPr lang="zh-CN" altLang="en-US" sz="1800" strike="noStrike" noProof="1" dirty="0">
                <a:sym typeface="+mn-ea"/>
              </a:rPr>
              <a:t>适合于广播</a:t>
            </a:r>
            <a:r>
              <a:rPr lang="en-US" altLang="zh-CN" sz="1800" strike="noStrike" noProof="1" dirty="0">
                <a:sym typeface="+mn-ea"/>
              </a:rPr>
              <a:t>/</a:t>
            </a:r>
            <a:r>
              <a:rPr lang="zh-CN" altLang="en-US" sz="1800" strike="noStrike" noProof="1" dirty="0">
                <a:sym typeface="+mn-ea"/>
              </a:rPr>
              <a:t>组播式通信中，流媒体。</a:t>
            </a:r>
            <a:endParaRPr lang="zh-CN" altLang="en-US" sz="1800" strike="noStrike" noProof="1" dirty="0"/>
          </a:p>
          <a:p>
            <a:pPr marL="457200" lvl="1" indent="0" fontAlgn="base">
              <a:lnSpc>
                <a:spcPct val="150000"/>
              </a:lnSpc>
              <a:buNone/>
            </a:pPr>
            <a:endParaRPr lang="zh-CN" altLang="en-US" sz="1800" strike="noStrike" noProof="1" dirty="0"/>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225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UDP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22531" name="Picture 3" descr="图形2_3"/>
          <p:cNvPicPr>
            <a:picLocks noGrp="1" noChangeAspect="1"/>
          </p:cNvPicPr>
          <p:nvPr>
            <p:ph type="subTitle" idx="1"/>
          </p:nvPr>
        </p:nvPicPr>
        <p:blipFill>
          <a:blip r:embed="rId1"/>
          <a:stretch>
            <a:fillRect/>
          </a:stretch>
        </p:blipFill>
        <p:spPr>
          <a:xfrm>
            <a:off x="1206500" y="2713038"/>
            <a:ext cx="5084763" cy="2400300"/>
          </a:xfr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solidFill>
                  <a:srgbClr val="FF0000"/>
                </a:solidFill>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235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Socket</a:t>
            </a:r>
            <a:endParaRPr lang="en-US" altLang="zh-CN" sz="1800" dirty="0">
              <a:sym typeface="宋体" panose="02010600030101010101" pitchFamily="2" charset="-122"/>
            </a:endParaRPr>
          </a:p>
          <a:p>
            <a:pPr marL="0" lvl="0" indent="0">
              <a:lnSpc>
                <a:spcPct val="80000"/>
              </a:lnSpc>
              <a:buClr>
                <a:schemeClr val="tx1"/>
              </a:buClr>
              <a:buFont typeface="Wingdings" panose="05000000000000000000" pitchFamily="2" charset="2"/>
              <a:buNone/>
            </a:pPr>
            <a:endParaRPr lang="en-US" altLang="zh-CN" sz="1800" dirty="0">
              <a:latin typeface="宋体" panose="02010600030101010101" pitchFamily="2" charset="-122"/>
            </a:endParaRPr>
          </a:p>
          <a:p>
            <a:pPr marL="0" lvl="0" indent="0">
              <a:lnSpc>
                <a:spcPct val="80000"/>
              </a:lnSpc>
              <a:buClr>
                <a:schemeClr val="tx1"/>
              </a:buClr>
              <a:buFont typeface="Wingdings" panose="05000000000000000000" pitchFamily="2" charset="2"/>
              <a:buNone/>
            </a:pPr>
            <a:r>
              <a:rPr lang="en-US" altLang="zh-CN" sz="1800" dirty="0">
                <a:latin typeface="宋体" panose="02010600030101010101" pitchFamily="2" charset="-122"/>
              </a:rPr>
              <a:t>IP</a:t>
            </a:r>
            <a:r>
              <a:rPr lang="zh-CN" altLang="en-US" sz="1800" dirty="0">
                <a:latin typeface="宋体" panose="02010600030101010101" pitchFamily="2" charset="-122"/>
              </a:rPr>
              <a:t>地址</a:t>
            </a:r>
            <a:endParaRPr lang="zh-CN" altLang="en-US" sz="1800" dirty="0">
              <a:latin typeface="宋体" panose="02010600030101010101" pitchFamily="2" charset="-122"/>
            </a:endParaRPr>
          </a:p>
          <a:p>
            <a:pPr marL="0" lvl="0" indent="0">
              <a:lnSpc>
                <a:spcPct val="80000"/>
              </a:lnSpc>
              <a:buClr>
                <a:schemeClr val="tx1"/>
              </a:buClr>
              <a:buFont typeface="Wingdings" panose="05000000000000000000" pitchFamily="2" charset="2"/>
              <a:buNone/>
            </a:pPr>
            <a:endParaRPr lang="zh-CN" altLang="en-US" sz="1800" dirty="0">
              <a:latin typeface="宋体" panose="02010600030101010101" pitchFamily="2" charset="-122"/>
            </a:endParaRPr>
          </a:p>
          <a:p>
            <a:pPr marL="0" lvl="0" indent="0">
              <a:lnSpc>
                <a:spcPct val="80000"/>
              </a:lnSpc>
              <a:buClr>
                <a:schemeClr val="tx1"/>
              </a:buClr>
              <a:buFont typeface="Wingdings" panose="05000000000000000000" pitchFamily="2" charset="2"/>
              <a:buNone/>
            </a:pPr>
            <a:r>
              <a:rPr lang="zh-CN" altLang="en-US" sz="1800" dirty="0">
                <a:latin typeface="宋体" panose="02010600030101010101" pitchFamily="2" charset="-122"/>
              </a:rPr>
              <a:t>端口号</a:t>
            </a:r>
            <a:endParaRPr lang="zh-CN" altLang="en-US" sz="1800" dirty="0">
              <a:latin typeface="宋体" panose="02010600030101010101" pitchFamily="2" charset="-122"/>
            </a:endParaRPr>
          </a:p>
          <a:p>
            <a:pPr marL="0" lvl="0" indent="0">
              <a:lnSpc>
                <a:spcPct val="80000"/>
              </a:lnSpc>
              <a:buClr>
                <a:schemeClr val="tx1"/>
              </a:buClr>
              <a:buFont typeface="Wingdings" panose="05000000000000000000" pitchFamily="2" charset="2"/>
              <a:buNone/>
            </a:pPr>
            <a:endParaRPr lang="zh-CN" altLang="en-US" sz="1800" dirty="0">
              <a:latin typeface="宋体" panose="02010600030101010101" pitchFamily="2" charset="-122"/>
            </a:endParaRPr>
          </a:p>
          <a:p>
            <a:pPr marL="0" lvl="0" indent="0">
              <a:lnSpc>
                <a:spcPct val="80000"/>
              </a:lnSpc>
              <a:buClr>
                <a:schemeClr val="tx1"/>
              </a:buClr>
              <a:buFont typeface="Wingdings" panose="05000000000000000000" pitchFamily="2" charset="2"/>
              <a:buNone/>
            </a:pPr>
            <a:r>
              <a:rPr lang="zh-CN" altLang="en-US" sz="1800" dirty="0">
                <a:latin typeface="宋体" panose="02010600030101010101" pitchFamily="2" charset="-122"/>
              </a:rPr>
              <a:t>字节序</a:t>
            </a:r>
            <a:endParaRPr lang="zh-CN" altLang="en-US" sz="1800" dirty="0">
              <a:latin typeface="宋体" panose="02010600030101010101" pitchFamily="2" charset="-122"/>
            </a:endParaRPr>
          </a:p>
        </p:txBody>
      </p:sp>
      <p:sp>
        <p:nvSpPr>
          <p:cNvPr id="245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--基础知识</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576263" y="97790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80000"/>
              </a:lnSpc>
              <a:buClr>
                <a:schemeClr val="tx1"/>
              </a:buClr>
              <a:buFont typeface="Wingdings" panose="05000000000000000000" pitchFamily="2" charset="2"/>
              <a:buNone/>
            </a:pPr>
            <a:r>
              <a:rPr lang="en-US" altLang="zh-CN" sz="1800" strike="noStrike" noProof="1" dirty="0">
                <a:sym typeface="+mn-ea"/>
              </a:rPr>
              <a:t>1982 - Berkeley Software Distributions </a:t>
            </a:r>
            <a:r>
              <a:rPr lang="zh-CN" altLang="en-US" sz="1800" strike="noStrike" noProof="1" dirty="0">
                <a:sym typeface="+mn-ea"/>
              </a:rPr>
              <a:t>操作系统引入了</a:t>
            </a:r>
            <a:r>
              <a:rPr lang="en-US" altLang="zh-CN" sz="1800" strike="noStrike" noProof="1" dirty="0">
                <a:sym typeface="+mn-ea"/>
              </a:rPr>
              <a:t>socket</a:t>
            </a:r>
            <a:r>
              <a:rPr lang="zh-CN" altLang="en-US" sz="1800" strike="noStrike" noProof="1" dirty="0">
                <a:sym typeface="+mn-ea"/>
              </a:rPr>
              <a:t>作为本地进程之间通信的接口</a:t>
            </a:r>
            <a:endParaRPr lang="zh-CN" altLang="en-US" sz="1800" strike="noStrike" noProof="1" dirty="0">
              <a:sym typeface="+mn-ea"/>
            </a:endParaRPr>
          </a:p>
          <a:p>
            <a:pPr marL="0" indent="0" eaLnBrk="1" fontAlgn="base" hangingPunct="1">
              <a:lnSpc>
                <a:spcPct val="80000"/>
              </a:lnSpc>
              <a:buClr>
                <a:schemeClr val="tx1"/>
              </a:buClr>
              <a:buFont typeface="Wingdings" panose="05000000000000000000" pitchFamily="2" charset="2"/>
              <a:buNone/>
            </a:pPr>
            <a:r>
              <a:rPr lang="en-US" altLang="zh-CN" sz="1800" strike="noStrike" noProof="1" dirty="0">
                <a:sym typeface="+mn-ea"/>
              </a:rPr>
              <a:t>1986 - Berkeley </a:t>
            </a:r>
            <a:r>
              <a:rPr lang="zh-CN" altLang="en-US" sz="1800" strike="noStrike" noProof="1" dirty="0">
                <a:sym typeface="+mn-ea"/>
              </a:rPr>
              <a:t>扩展了</a:t>
            </a:r>
            <a:r>
              <a:rPr lang="en-US" altLang="zh-CN" sz="1800" strike="noStrike" noProof="1" dirty="0">
                <a:sym typeface="+mn-ea"/>
              </a:rPr>
              <a:t>socket </a:t>
            </a:r>
            <a:r>
              <a:rPr lang="zh-CN" altLang="en-US" sz="1800" strike="noStrike" noProof="1" dirty="0">
                <a:sym typeface="+mn-ea"/>
              </a:rPr>
              <a:t>接口，使之支持</a:t>
            </a:r>
            <a:r>
              <a:rPr lang="en-US" altLang="zh-CN" sz="1800" strike="noStrike" noProof="1" dirty="0">
                <a:sym typeface="+mn-ea"/>
              </a:rPr>
              <a:t>UNIX </a:t>
            </a:r>
            <a:r>
              <a:rPr lang="zh-CN" altLang="en-US" sz="1800" strike="noStrike" noProof="1" dirty="0">
                <a:sym typeface="+mn-ea"/>
              </a:rPr>
              <a:t>下的</a:t>
            </a:r>
            <a:r>
              <a:rPr lang="en-US" altLang="zh-CN" sz="1800" strike="noStrike" noProof="1" dirty="0">
                <a:sym typeface="+mn-ea"/>
              </a:rPr>
              <a:t>TCP/IP </a:t>
            </a:r>
            <a:r>
              <a:rPr lang="zh-CN" altLang="en-US" sz="1800" strike="noStrike" noProof="1" dirty="0">
                <a:sym typeface="+mn-ea"/>
              </a:rPr>
              <a:t>通信</a:t>
            </a:r>
            <a:endParaRPr lang="zh-CN" altLang="en-US" sz="1800" strike="noStrike" noProof="1" dirty="0"/>
          </a:p>
          <a:p>
            <a:pPr marL="0" indent="0" eaLnBrk="1" fontAlgn="base" hangingPunct="1">
              <a:lnSpc>
                <a:spcPct val="80000"/>
              </a:lnSpc>
              <a:buClr>
                <a:schemeClr val="tx1"/>
              </a:buClr>
              <a:buFont typeface="Wingdings" panose="05000000000000000000" pitchFamily="2" charset="2"/>
              <a:buNone/>
            </a:pPr>
            <a:r>
              <a:rPr lang="zh-CN" altLang="en-US" sz="1800" strike="noStrike" noProof="1" dirty="0">
                <a:sym typeface="+mn-ea"/>
              </a:rPr>
              <a:t>现在很多应用</a:t>
            </a:r>
            <a:r>
              <a:rPr lang="en-US" altLang="zh-CN" sz="1800" strike="noStrike" noProof="1" dirty="0">
                <a:sym typeface="+mn-ea"/>
              </a:rPr>
              <a:t> (FTP, Telnet, etc) </a:t>
            </a:r>
            <a:r>
              <a:rPr lang="zh-CN" altLang="en-US" sz="1800" strike="noStrike" noProof="1" dirty="0">
                <a:sym typeface="+mn-ea"/>
              </a:rPr>
              <a:t>都依赖这一接口</a:t>
            </a:r>
            <a:endParaRPr lang="en-US" altLang="zh-CN" sz="1800" strike="noStrike" noProof="1" dirty="0"/>
          </a:p>
          <a:p>
            <a:pPr marL="0" indent="0" eaLnBrk="1" fontAlgn="base" hangingPunct="1">
              <a:lnSpc>
                <a:spcPct val="80000"/>
              </a:lnSpc>
              <a:buClr>
                <a:schemeClr val="tx1"/>
              </a:buClr>
              <a:buFont typeface="Wingdings" panose="05000000000000000000" pitchFamily="2" charset="2"/>
              <a:buNone/>
            </a:pPr>
            <a:endParaRPr lang="en-US" sz="1800" strike="noStrike" noProof="1" dirty="0">
              <a:latin typeface="宋体" panose="02010600030101010101" pitchFamily="2" charset="-122"/>
            </a:endParaRPr>
          </a:p>
          <a:p>
            <a:pPr eaLnBrk="1" fontAlgn="base" hangingPunct="1"/>
            <a:r>
              <a:rPr lang="en-US" altLang="zh-CN" sz="1800" strike="noStrike" noProof="1" dirty="0">
                <a:sym typeface="+mn-ea"/>
              </a:rPr>
              <a:t>Socket</a:t>
            </a:r>
            <a:endParaRPr lang="en-US" altLang="zh-CN" sz="1800" strike="noStrike" noProof="1" dirty="0"/>
          </a:p>
          <a:p>
            <a:pPr lvl="1" eaLnBrk="1" fontAlgn="base" hangingPunct="1"/>
            <a:r>
              <a:rPr lang="zh-CN" altLang="en-US" sz="1800" strike="noStrike" noProof="1" dirty="0">
                <a:sym typeface="+mn-ea"/>
              </a:rPr>
              <a:t>是一个编程接口</a:t>
            </a:r>
            <a:endParaRPr lang="zh-CN" altLang="en-US" sz="1800" strike="noStrike" noProof="1" dirty="0"/>
          </a:p>
          <a:p>
            <a:pPr lvl="1" eaLnBrk="1" fontAlgn="base" hangingPunct="1"/>
            <a:r>
              <a:rPr lang="en-US" altLang="zh-CN" sz="1800" strike="noStrike" noProof="1" dirty="0">
                <a:sym typeface="+mn-ea"/>
              </a:rPr>
              <a:t>是一种特殊的文件描述符 (everything in Unix is a file)</a:t>
            </a:r>
            <a:endParaRPr lang="en-US" altLang="zh-CN" sz="1800" strike="noStrike" noProof="1" dirty="0"/>
          </a:p>
          <a:p>
            <a:pPr lvl="1" eaLnBrk="1" fontAlgn="base" hangingPunct="1"/>
            <a:r>
              <a:rPr lang="zh-CN" altLang="en-US" sz="1800" strike="noStrike" noProof="1" dirty="0">
                <a:sym typeface="+mn-ea"/>
              </a:rPr>
              <a:t>并不仅限于</a:t>
            </a:r>
            <a:r>
              <a:rPr lang="en-US" altLang="zh-CN" sz="1800" strike="noStrike" noProof="1" dirty="0">
                <a:sym typeface="+mn-ea"/>
              </a:rPr>
              <a:t>TCP/IP</a:t>
            </a:r>
            <a:r>
              <a:rPr lang="zh-CN" altLang="en-US" sz="1800" strike="noStrike" noProof="1" dirty="0">
                <a:sym typeface="+mn-ea"/>
              </a:rPr>
              <a:t>协议</a:t>
            </a:r>
            <a:endParaRPr lang="zh-CN" altLang="en-US" sz="1800" strike="noStrike" noProof="1" dirty="0"/>
          </a:p>
          <a:p>
            <a:pPr lvl="1" eaLnBrk="1" fontAlgn="base" hangingPunct="1"/>
            <a:r>
              <a:rPr lang="zh-CN" altLang="en-US" sz="1800" strike="noStrike" noProof="1" dirty="0">
                <a:sym typeface="+mn-ea"/>
              </a:rPr>
              <a:t>面向连接</a:t>
            </a:r>
            <a:r>
              <a:rPr lang="en-US" altLang="zh-CN" sz="1800" strike="noStrike" noProof="1" dirty="0">
                <a:sym typeface="+mn-ea"/>
              </a:rPr>
              <a:t> (Transmission Control Protocol - TCP/IP)</a:t>
            </a:r>
            <a:endParaRPr lang="en-US" altLang="zh-CN" sz="1800" strike="noStrike" noProof="1" dirty="0"/>
          </a:p>
          <a:p>
            <a:pPr lvl="1" eaLnBrk="1" fontAlgn="base" hangingPunct="1"/>
            <a:r>
              <a:rPr lang="zh-CN" altLang="en-US" sz="1800" strike="noStrike" noProof="1" dirty="0">
                <a:sym typeface="+mn-ea"/>
              </a:rPr>
              <a:t>无连接 </a:t>
            </a:r>
            <a:r>
              <a:rPr lang="en-US" altLang="zh-CN" sz="1800" strike="noStrike" noProof="1" dirty="0">
                <a:sym typeface="+mn-ea"/>
              </a:rPr>
              <a:t>(User Datagram Protocol -UDP </a:t>
            </a:r>
            <a:r>
              <a:rPr lang="zh-CN" altLang="en-US" sz="1800" strike="noStrike" noProof="1" dirty="0">
                <a:sym typeface="+mn-ea"/>
              </a:rPr>
              <a:t>和</a:t>
            </a:r>
            <a:r>
              <a:rPr lang="en-US" altLang="zh-CN" sz="1800" strike="noStrike" noProof="1" dirty="0">
                <a:sym typeface="+mn-ea"/>
              </a:rPr>
              <a:t> Inter-network Packet Exchange - IPX)</a:t>
            </a:r>
            <a:endParaRPr lang="zh-CN" altLang="en-US" sz="1800" strike="noStrike" noProof="1" dirty="0">
              <a:latin typeface="宋体" panose="02010600030101010101" pitchFamily="2" charset="-122"/>
            </a:endParaRPr>
          </a:p>
        </p:txBody>
      </p:sp>
      <p:sp>
        <p:nvSpPr>
          <p:cNvPr id="256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--Socket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576263" y="97790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80000"/>
              </a:lnSpc>
              <a:buClr>
                <a:schemeClr val="tx1"/>
              </a:buClr>
              <a:buFont typeface="Wingdings" panose="05000000000000000000" pitchFamily="2" charset="2"/>
              <a:buNone/>
            </a:pPr>
            <a:r>
              <a:rPr lang="zh-CN" altLang="en-US" sz="1800" strike="noStrike" noProof="1" dirty="0">
                <a:sym typeface="+mn-ea"/>
              </a:rPr>
              <a:t>独立于具体协议的网络编程接口。</a:t>
            </a:r>
            <a:endParaRPr lang="zh-CN" altLang="en-US" sz="1800" strike="noStrike" noProof="1" dirty="0"/>
          </a:p>
          <a:p>
            <a:pPr marL="0" indent="0" eaLnBrk="1" fontAlgn="base" hangingPunct="1">
              <a:lnSpc>
                <a:spcPct val="80000"/>
              </a:lnSpc>
              <a:buClr>
                <a:schemeClr val="tx1"/>
              </a:buClr>
              <a:buFont typeface="Wingdings" panose="05000000000000000000" pitchFamily="2" charset="2"/>
              <a:buNone/>
            </a:pPr>
            <a:r>
              <a:rPr lang="zh-CN" altLang="en-US" sz="1800" strike="noStrike" noProof="1" dirty="0">
                <a:sym typeface="+mn-ea"/>
              </a:rPr>
              <a:t>在</a:t>
            </a:r>
            <a:r>
              <a:rPr lang="en-US" altLang="zh-CN" sz="1800" strike="noStrike" noProof="1" dirty="0">
                <a:sym typeface="+mn-ea"/>
              </a:rPr>
              <a:t>OSI</a:t>
            </a:r>
            <a:r>
              <a:rPr lang="zh-CN" altLang="en-US" sz="1800" strike="noStrike" noProof="1" dirty="0">
                <a:sym typeface="+mn-ea"/>
              </a:rPr>
              <a:t>模型中，主要位于会话层和传输层之间。</a:t>
            </a:r>
            <a:endParaRPr lang="zh-CN" altLang="en-US" sz="1800" strike="noStrike" noProof="1" dirty="0">
              <a:sym typeface="+mn-ea"/>
            </a:endParaRPr>
          </a:p>
          <a:p>
            <a:pPr marL="0" indent="0" eaLnBrk="1" fontAlgn="base" hangingPunct="1">
              <a:lnSpc>
                <a:spcPct val="80000"/>
              </a:lnSpc>
              <a:buClr>
                <a:schemeClr val="tx1"/>
              </a:buClr>
              <a:buFont typeface="Wingdings" panose="05000000000000000000" pitchFamily="2" charset="2"/>
              <a:buNone/>
            </a:pPr>
            <a:r>
              <a:rPr lang="en-US" altLang="zh-CN" sz="1800" strike="noStrike" noProof="1" dirty="0">
                <a:sym typeface="+mn-ea"/>
              </a:rPr>
              <a:t>TCP/IP</a:t>
            </a:r>
            <a:r>
              <a:rPr lang="zh-CN" altLang="en-US" sz="1800" strike="noStrike" noProof="1" dirty="0">
                <a:sym typeface="+mn-ea"/>
              </a:rPr>
              <a:t>协议被集成到操作系统的内核中，引入了新型的</a:t>
            </a:r>
            <a:r>
              <a:rPr lang="zh-CN" altLang="en-US" sz="1800" strike="noStrike" noProof="1" dirty="0">
                <a:latin typeface="Arial" panose="020B0604020202020204" pitchFamily="34" charset="0"/>
                <a:sym typeface="+mn-ea"/>
              </a:rPr>
              <a:t>“</a:t>
            </a:r>
            <a:r>
              <a:rPr lang="en-US" altLang="zh-CN" sz="1800" strike="noStrike" noProof="1" dirty="0">
                <a:sym typeface="+mn-ea"/>
              </a:rPr>
              <a:t>I/O</a:t>
            </a:r>
            <a:r>
              <a:rPr lang="en-US" altLang="zh-CN" sz="1800" strike="noStrike" noProof="1" dirty="0">
                <a:latin typeface="Arial" panose="020B0604020202020204" pitchFamily="34" charset="0"/>
                <a:sym typeface="+mn-ea"/>
              </a:rPr>
              <a:t>”</a:t>
            </a:r>
            <a:r>
              <a:rPr lang="zh-CN" altLang="en-US" sz="1800" strike="noStrike" noProof="1" dirty="0">
                <a:sym typeface="+mn-ea"/>
              </a:rPr>
              <a:t>操作。</a:t>
            </a:r>
            <a:endParaRPr lang="zh-CN" altLang="en-US" sz="1800" strike="noStrike" noProof="1" dirty="0">
              <a:sym typeface="+mn-ea"/>
            </a:endParaRPr>
          </a:p>
          <a:p>
            <a:pPr marL="0" indent="0" eaLnBrk="1" fontAlgn="base" hangingPunct="1">
              <a:lnSpc>
                <a:spcPct val="80000"/>
              </a:lnSpc>
              <a:buClr>
                <a:schemeClr val="tx1"/>
              </a:buClr>
              <a:buFont typeface="Wingdings" panose="05000000000000000000" pitchFamily="2" charset="2"/>
              <a:buNone/>
            </a:pPr>
            <a:r>
              <a:rPr lang="en-US" altLang="zh-CN" sz="1800" strike="noStrike" noProof="1" dirty="0">
                <a:sym typeface="+mn-ea"/>
              </a:rPr>
              <a:t>BSD Socket</a:t>
            </a:r>
            <a:r>
              <a:rPr lang="zh-CN" altLang="en-US" sz="1800" strike="noStrike" noProof="1" dirty="0">
                <a:sym typeface="+mn-ea"/>
              </a:rPr>
              <a:t>（伯克利套接字）是通过标准的</a:t>
            </a:r>
            <a:r>
              <a:rPr lang="en-US" altLang="zh-CN" sz="1800" strike="noStrike" noProof="1" dirty="0">
                <a:sym typeface="+mn-ea"/>
              </a:rPr>
              <a:t>UNIX</a:t>
            </a:r>
            <a:r>
              <a:rPr lang="zh-CN" altLang="en-US" sz="1800" strike="noStrike" noProof="1" dirty="0">
                <a:sym typeface="+mn-ea"/>
              </a:rPr>
              <a:t>文件描述符和其它程序通讯的一个方法，目前已经被广泛移植到各个平台。</a:t>
            </a:r>
            <a:endParaRPr lang="zh-CN" altLang="en-US" sz="1800" strike="noStrike" noProof="1" dirty="0"/>
          </a:p>
          <a:p>
            <a:pPr marL="0" indent="0" eaLnBrk="1" fontAlgn="base" hangingPunct="1">
              <a:lnSpc>
                <a:spcPct val="80000"/>
              </a:lnSpc>
              <a:buClr>
                <a:schemeClr val="tx1"/>
              </a:buClr>
              <a:buFont typeface="Wingdings" panose="05000000000000000000" pitchFamily="2" charset="2"/>
              <a:buNone/>
            </a:pPr>
            <a:endParaRPr lang="en-US" sz="1800" strike="noStrike" noProof="1" dirty="0">
              <a:latin typeface="宋体" panose="02010600030101010101" pitchFamily="2" charset="-122"/>
            </a:endParaRPr>
          </a:p>
          <a:p>
            <a:pPr eaLnBrk="1" fontAlgn="base" hangingPunct="1"/>
            <a:r>
              <a:rPr lang="zh-CN" altLang="en-US" sz="1600" strike="noStrike" noProof="1" dirty="0">
                <a:sym typeface="+mn-ea"/>
              </a:rPr>
              <a:t>流式套接字</a:t>
            </a:r>
            <a:r>
              <a:rPr lang="en-US" altLang="zh-CN" sz="1600" strike="noStrike" noProof="1" dirty="0">
                <a:sym typeface="+mn-ea"/>
              </a:rPr>
              <a:t>(SOCK_STREAM)</a:t>
            </a:r>
            <a:endParaRPr lang="en-US" altLang="zh-CN" sz="1600" strike="noStrike" noProof="1" dirty="0"/>
          </a:p>
          <a:p>
            <a:pPr lvl="1" eaLnBrk="1" fontAlgn="base" hangingPunct="1"/>
            <a:r>
              <a:rPr lang="zh-CN" altLang="en-US" sz="1600" strike="noStrike" noProof="1" dirty="0">
                <a:sym typeface="+mn-ea"/>
              </a:rPr>
              <a:t>提供了一个面向连接、可靠的数据传输服务，数据无差错、无重复的发送且按发送顺序接收。内设置流量控制，避免数据流淹没慢的接收方。数据被看作是字节流，无长度限制</a:t>
            </a:r>
            <a:endParaRPr lang="zh-CN" altLang="en-US" sz="1600" strike="noStrike" noProof="1" dirty="0"/>
          </a:p>
          <a:p>
            <a:pPr eaLnBrk="1" fontAlgn="base" hangingPunct="1"/>
            <a:r>
              <a:rPr lang="zh-CN" altLang="en-US" sz="1600" strike="noStrike" noProof="1" dirty="0">
                <a:sym typeface="+mn-ea"/>
              </a:rPr>
              <a:t>数据报套接字</a:t>
            </a:r>
            <a:r>
              <a:rPr lang="en-US" altLang="zh-CN" sz="1600" strike="noStrike" noProof="1" dirty="0">
                <a:sym typeface="+mn-ea"/>
              </a:rPr>
              <a:t>(SOCK_DGRAM)</a:t>
            </a:r>
            <a:endParaRPr lang="en-US" altLang="zh-CN" sz="1600" strike="noStrike" noProof="1" dirty="0"/>
          </a:p>
          <a:p>
            <a:pPr lvl="1" eaLnBrk="1" fontAlgn="base" hangingPunct="1"/>
            <a:r>
              <a:rPr lang="zh-CN" altLang="en-US" sz="1600" strike="noStrike" noProof="1" dirty="0">
                <a:sym typeface="+mn-ea"/>
              </a:rPr>
              <a:t>提供无连接服务。数据包以独立数据包的形式被发送，不提供无差错保证，数据可能丢失或重复，顺序发送，可能乱序接收。</a:t>
            </a:r>
            <a:endParaRPr lang="zh-CN" altLang="en-US" sz="1600" strike="noStrike" noProof="1" dirty="0"/>
          </a:p>
          <a:p>
            <a:pPr eaLnBrk="1" fontAlgn="base" hangingPunct="1"/>
            <a:r>
              <a:rPr lang="zh-CN" altLang="en-US" sz="1600" strike="noStrike" noProof="1" dirty="0">
                <a:sym typeface="+mn-ea"/>
              </a:rPr>
              <a:t>原始套接字</a:t>
            </a:r>
            <a:r>
              <a:rPr lang="en-US" altLang="zh-CN" sz="1600" strike="noStrike" noProof="1" dirty="0">
                <a:sym typeface="+mn-ea"/>
              </a:rPr>
              <a:t>(SOCK_RAW)</a:t>
            </a:r>
            <a:endParaRPr lang="en-US" altLang="zh-CN" sz="1600" strike="noStrike" noProof="1" dirty="0"/>
          </a:p>
          <a:p>
            <a:pPr lvl="1" eaLnBrk="1" fontAlgn="base" hangingPunct="1"/>
            <a:r>
              <a:rPr lang="zh-CN" altLang="en-US" sz="1600" strike="noStrike" noProof="1" dirty="0">
                <a:sym typeface="+mn-ea"/>
              </a:rPr>
              <a:t>可以对较低层次协议如</a:t>
            </a:r>
            <a:r>
              <a:rPr lang="en-US" altLang="zh-CN" sz="1600" strike="noStrike" noProof="1" dirty="0">
                <a:sym typeface="+mn-ea"/>
              </a:rPr>
              <a:t>IP</a:t>
            </a:r>
            <a:r>
              <a:rPr lang="zh-CN" altLang="en-US" sz="1600" strike="noStrike" noProof="1" dirty="0">
                <a:sym typeface="+mn-ea"/>
              </a:rPr>
              <a:t>、</a:t>
            </a:r>
            <a:r>
              <a:rPr lang="en-US" altLang="zh-CN" sz="1600" strike="noStrike" noProof="1" dirty="0">
                <a:sym typeface="+mn-ea"/>
              </a:rPr>
              <a:t>ICMP</a:t>
            </a:r>
            <a:r>
              <a:rPr lang="zh-CN" altLang="en-US" sz="1600" strike="noStrike" noProof="1" dirty="0">
                <a:sym typeface="+mn-ea"/>
              </a:rPr>
              <a:t>直接访问</a:t>
            </a:r>
            <a:endParaRPr lang="zh-CN" altLang="en-US" sz="1600" strike="noStrike" noProof="1" dirty="0">
              <a:latin typeface="宋体" panose="02010600030101010101" pitchFamily="2" charset="-122"/>
            </a:endParaRPr>
          </a:p>
        </p:txBody>
      </p:sp>
      <p:sp>
        <p:nvSpPr>
          <p:cNvPr id="266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--Socket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600" dirty="0">
                <a:latin typeface="宋体" panose="02010600030101010101" pitchFamily="2" charset="-122"/>
              </a:rPr>
              <a:t>  </a:t>
            </a:r>
            <a:endParaRPr lang="en-US" altLang="zh-CN" sz="1600" dirty="0">
              <a:latin typeface="宋体" panose="02010600030101010101" pitchFamily="2" charset="-122"/>
            </a:endParaRPr>
          </a:p>
        </p:txBody>
      </p:sp>
      <p:sp>
        <p:nvSpPr>
          <p:cNvPr id="276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--Socket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27651" name="Object 3"/>
          <p:cNvGraphicFramePr>
            <a:graphicFrameLocks noGrp="1"/>
          </p:cNvGraphicFramePr>
          <p:nvPr>
            <p:ph type="subTitle" idx="1"/>
          </p:nvPr>
        </p:nvGraphicFramePr>
        <p:xfrm>
          <a:off x="860425" y="1146175"/>
          <a:ext cx="6607175" cy="3611563"/>
        </p:xfrm>
        <a:graphic>
          <a:graphicData uri="http://schemas.openxmlformats.org/presentationml/2006/ole">
            <mc:AlternateContent xmlns:mc="http://schemas.openxmlformats.org/markup-compatibility/2006">
              <mc:Choice xmlns:v="urn:schemas-microsoft-com:vml" Requires="v">
                <p:oleObj spid="_x0000_s3079" name="" r:id="rId1" imgW="4787265" imgH="2922270" progId="Visio.Drawing.11">
                  <p:embed/>
                </p:oleObj>
              </mc:Choice>
              <mc:Fallback>
                <p:oleObj name="" r:id="rId1" imgW="4787265" imgH="2922270" progId="Visio.Drawing.11">
                  <p:embed/>
                  <p:pic>
                    <p:nvPicPr>
                      <p:cNvPr id="0" name="图片 3078"/>
                      <p:cNvPicPr/>
                      <p:nvPr/>
                    </p:nvPicPr>
                    <p:blipFill>
                      <a:blip r:embed="rId2"/>
                      <a:stretch>
                        <a:fillRect/>
                      </a:stretch>
                    </p:blipFill>
                    <p:spPr>
                      <a:xfrm>
                        <a:off x="860425" y="1146175"/>
                        <a:ext cx="6607175" cy="3611563"/>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576263" y="97790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altLang="zh-CN" sz="1600" strike="noStrike" noProof="1" dirty="0">
                <a:sym typeface="+mn-ea"/>
              </a:rPr>
              <a:t>IP</a:t>
            </a:r>
            <a:r>
              <a:rPr lang="zh-CN" altLang="en-US" sz="1600" strike="noStrike" noProof="1" dirty="0">
                <a:sym typeface="+mn-ea"/>
              </a:rPr>
              <a:t>地址是</a:t>
            </a:r>
            <a:r>
              <a:rPr lang="en-US" altLang="zh-CN" sz="1600" strike="noStrike" noProof="1" dirty="0">
                <a:sym typeface="+mn-ea"/>
              </a:rPr>
              <a:t>Internet</a:t>
            </a:r>
            <a:r>
              <a:rPr lang="zh-CN" altLang="en-US" sz="1600" strike="noStrike" noProof="1" dirty="0">
                <a:sym typeface="+mn-ea"/>
              </a:rPr>
              <a:t>中主机的标识</a:t>
            </a:r>
            <a:endParaRPr lang="zh-CN" altLang="en-US" sz="1600" strike="noStrike" noProof="1" dirty="0"/>
          </a:p>
          <a:p>
            <a:pPr lvl="1" eaLnBrk="1" fontAlgn="base" hangingPunct="1"/>
            <a:r>
              <a:rPr lang="en-US" altLang="zh-CN" sz="1600" strike="noStrike" noProof="1" dirty="0">
                <a:sym typeface="+mn-ea"/>
              </a:rPr>
              <a:t>Internet</a:t>
            </a:r>
            <a:r>
              <a:rPr lang="zh-CN" altLang="en-US" sz="1600" strike="noStrike" noProof="1" dirty="0">
                <a:sym typeface="+mn-ea"/>
              </a:rPr>
              <a:t>中的主机要与别的机器通信必须具有一个</a:t>
            </a:r>
            <a:r>
              <a:rPr lang="en-US" altLang="zh-CN" sz="1600" strike="noStrike" noProof="1" dirty="0">
                <a:sym typeface="+mn-ea"/>
              </a:rPr>
              <a:t>IP</a:t>
            </a:r>
            <a:r>
              <a:rPr lang="zh-CN" altLang="en-US" sz="1600" strike="noStrike" noProof="1" dirty="0">
                <a:sym typeface="+mn-ea"/>
              </a:rPr>
              <a:t>地址</a:t>
            </a:r>
            <a:endParaRPr lang="zh-CN" altLang="en-US" sz="1600" strike="noStrike" noProof="1" dirty="0"/>
          </a:p>
          <a:p>
            <a:pPr lvl="1" eaLnBrk="1" fontAlgn="base" hangingPunct="1"/>
            <a:r>
              <a:rPr lang="en-US" altLang="zh-CN" sz="1600" strike="noStrike" noProof="1" dirty="0">
                <a:sym typeface="+mn-ea"/>
              </a:rPr>
              <a:t>IP</a:t>
            </a:r>
            <a:r>
              <a:rPr lang="zh-CN" altLang="en-US" sz="1600" strike="noStrike" noProof="1" dirty="0">
                <a:sym typeface="+mn-ea"/>
              </a:rPr>
              <a:t>地址为</a:t>
            </a:r>
            <a:r>
              <a:rPr lang="en-US" altLang="zh-CN" sz="1600" strike="noStrike" noProof="1" dirty="0">
                <a:sym typeface="+mn-ea"/>
              </a:rPr>
              <a:t>32</a:t>
            </a:r>
            <a:r>
              <a:rPr lang="zh-CN" altLang="en-US" sz="1600" strike="noStrike" noProof="1" dirty="0">
                <a:sym typeface="+mn-ea"/>
              </a:rPr>
              <a:t>位（</a:t>
            </a:r>
            <a:r>
              <a:rPr lang="en-US" altLang="zh-CN" sz="1600" strike="noStrike" noProof="1" dirty="0">
                <a:sym typeface="+mn-ea"/>
              </a:rPr>
              <a:t>IPv4</a:t>
            </a:r>
            <a:r>
              <a:rPr lang="zh-CN" altLang="en-US" sz="1600" strike="noStrike" noProof="1" dirty="0">
                <a:sym typeface="+mn-ea"/>
              </a:rPr>
              <a:t>）或者</a:t>
            </a:r>
            <a:r>
              <a:rPr lang="en-US" altLang="zh-CN" sz="1600" strike="noStrike" noProof="1" dirty="0">
                <a:sym typeface="+mn-ea"/>
              </a:rPr>
              <a:t>128</a:t>
            </a:r>
            <a:r>
              <a:rPr lang="zh-CN" altLang="en-US" sz="1600" strike="noStrike" noProof="1" dirty="0">
                <a:sym typeface="+mn-ea"/>
              </a:rPr>
              <a:t>位（</a:t>
            </a:r>
            <a:r>
              <a:rPr lang="en-US" altLang="zh-CN" sz="1600" strike="noStrike" noProof="1" dirty="0">
                <a:sym typeface="+mn-ea"/>
              </a:rPr>
              <a:t>IPv6</a:t>
            </a:r>
            <a:r>
              <a:rPr lang="zh-CN" altLang="en-US" sz="1600" strike="noStrike" noProof="1" dirty="0">
                <a:sym typeface="+mn-ea"/>
              </a:rPr>
              <a:t>）</a:t>
            </a:r>
            <a:endParaRPr lang="zh-CN" altLang="en-US" sz="1600" strike="noStrike" noProof="1" dirty="0"/>
          </a:p>
          <a:p>
            <a:pPr lvl="1" eaLnBrk="1" fontAlgn="base" hangingPunct="1"/>
            <a:r>
              <a:rPr lang="zh-CN" altLang="en-US" sz="1600" strike="noStrike" noProof="1" dirty="0">
                <a:sym typeface="+mn-ea"/>
              </a:rPr>
              <a:t>每个数据包都必须携带目的</a:t>
            </a:r>
            <a:r>
              <a:rPr lang="en-US" altLang="zh-CN" sz="1600" strike="noStrike" noProof="1" dirty="0">
                <a:sym typeface="+mn-ea"/>
              </a:rPr>
              <a:t>IP</a:t>
            </a:r>
            <a:r>
              <a:rPr lang="zh-CN" altLang="en-US" sz="1600" strike="noStrike" noProof="1" dirty="0">
                <a:sym typeface="+mn-ea"/>
              </a:rPr>
              <a:t>地址和源</a:t>
            </a:r>
            <a:r>
              <a:rPr lang="en-US" altLang="zh-CN" sz="1600" strike="noStrike" noProof="1" dirty="0">
                <a:sym typeface="+mn-ea"/>
              </a:rPr>
              <a:t>IP</a:t>
            </a:r>
            <a:r>
              <a:rPr lang="zh-CN" altLang="en-US" sz="1600" strike="noStrike" noProof="1" dirty="0">
                <a:sym typeface="+mn-ea"/>
              </a:rPr>
              <a:t>地址，路由器依靠此信息为数据包选择路由</a:t>
            </a:r>
            <a:endParaRPr lang="zh-CN" altLang="en-US" sz="1600" strike="noStrike" noProof="1" dirty="0"/>
          </a:p>
          <a:p>
            <a:pPr lvl="1" eaLnBrk="1" fontAlgn="base" hangingPunct="1"/>
            <a:endParaRPr lang="zh-CN" altLang="en-US" sz="1600" strike="noStrike" noProof="1" dirty="0"/>
          </a:p>
          <a:p>
            <a:pPr eaLnBrk="1" fontAlgn="base" hangingPunct="1"/>
            <a:r>
              <a:rPr lang="zh-CN" altLang="en-US" sz="1600" strike="noStrike" noProof="1" dirty="0">
                <a:sym typeface="+mn-ea"/>
              </a:rPr>
              <a:t>表示形式：常用点分形式，如</a:t>
            </a:r>
            <a:r>
              <a:rPr lang="en-US" altLang="zh-CN" sz="1600" strike="noStrike" noProof="1" dirty="0">
                <a:sym typeface="+mn-ea"/>
              </a:rPr>
              <a:t>202.38.64.11</a:t>
            </a:r>
            <a:r>
              <a:rPr lang="zh-CN" altLang="en-US" sz="1600" strike="noStrike" noProof="1" dirty="0">
                <a:sym typeface="+mn-ea"/>
              </a:rPr>
              <a:t>，最后都会转换为一个</a:t>
            </a:r>
            <a:r>
              <a:rPr lang="en-US" altLang="zh-CN" sz="1600" strike="noStrike" noProof="1" dirty="0">
                <a:sym typeface="+mn-ea"/>
              </a:rPr>
              <a:t>32</a:t>
            </a:r>
            <a:r>
              <a:rPr lang="zh-CN" altLang="en-US" sz="1600" strike="noStrike" noProof="1" dirty="0">
                <a:sym typeface="+mn-ea"/>
              </a:rPr>
              <a:t>位的无符号整数。</a:t>
            </a:r>
            <a:endParaRPr lang="zh-CN" altLang="en-US" sz="1600" strike="noStrike" noProof="1" dirty="0"/>
          </a:p>
          <a:p>
            <a:pPr eaLnBrk="1" fontAlgn="base" hangingPunct="1"/>
            <a:endParaRPr lang="zh-CN" altLang="en-US" sz="1600" strike="noStrike" noProof="1" dirty="0"/>
          </a:p>
          <a:p>
            <a:pPr eaLnBrk="1" fontAlgn="base" hangingPunct="1"/>
            <a:r>
              <a:rPr lang="en-US" altLang="zh-CN" sz="1600" strike="noStrike" noProof="1" dirty="0">
                <a:sym typeface="+mn-ea"/>
              </a:rPr>
              <a:t>IP</a:t>
            </a:r>
            <a:r>
              <a:rPr lang="zh-CN" altLang="en-US" sz="1600" strike="noStrike" noProof="1" dirty="0">
                <a:sym typeface="+mn-ea"/>
              </a:rPr>
              <a:t>地址分类</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子网掩码</a:t>
            </a:r>
            <a:endParaRPr lang="zh-CN" altLang="en-US" sz="1600" strike="noStrike" noProof="1" dirty="0"/>
          </a:p>
          <a:p>
            <a:pPr marL="0" indent="0" eaLnBrk="1" fontAlgn="base" hangingPunct="1">
              <a:lnSpc>
                <a:spcPct val="80000"/>
              </a:lnSpc>
              <a:buClr>
                <a:schemeClr val="tx1"/>
              </a:buClr>
              <a:buFont typeface="Wingdings" panose="05000000000000000000" pitchFamily="2" charset="2"/>
              <a:buNone/>
            </a:pPr>
            <a:endParaRPr lang="en-US" altLang="zh-CN" sz="1600" strike="noStrike" noProof="1" dirty="0">
              <a:latin typeface="宋体" panose="02010600030101010101" pitchFamily="2" charset="-122"/>
            </a:endParaRPr>
          </a:p>
        </p:txBody>
      </p:sp>
      <p:sp>
        <p:nvSpPr>
          <p:cNvPr id="286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地址</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en-US" altLang="zh-CN" sz="1600" dirty="0">
                <a:latin typeface="Tahoma" panose="020B0604030504040204" pitchFamily="2" charset="0"/>
              </a:rPr>
              <a:t>inet_aton()</a:t>
            </a:r>
            <a:endParaRPr lang="en-US" altLang="zh-CN" sz="1600" dirty="0">
              <a:latin typeface="Tahoma" panose="020B0604030504040204" pitchFamily="2" charset="0"/>
            </a:endParaRPr>
          </a:p>
          <a:p>
            <a:pPr lvl="1" indent="-285750">
              <a:lnSpc>
                <a:spcPct val="90000"/>
              </a:lnSpc>
            </a:pPr>
            <a:r>
              <a:rPr lang="zh-CN" altLang="en-US" sz="1600" dirty="0"/>
              <a:t>将</a:t>
            </a:r>
            <a:r>
              <a:rPr lang="en-US" altLang="zh-CN" sz="1600" dirty="0"/>
              <a:t>strptr</a:t>
            </a:r>
            <a:r>
              <a:rPr lang="zh-CN" altLang="en-US" sz="1600" dirty="0"/>
              <a:t>所指的字符串转换成</a:t>
            </a:r>
            <a:r>
              <a:rPr lang="en-US" altLang="zh-CN" sz="1600" dirty="0"/>
              <a:t>32</a:t>
            </a:r>
            <a:r>
              <a:rPr lang="zh-CN" altLang="en-US" sz="1600" dirty="0"/>
              <a:t>位的网络字节序二进制值</a:t>
            </a:r>
            <a:endParaRPr lang="zh-CN" altLang="en-US" sz="1600" dirty="0"/>
          </a:p>
          <a:p>
            <a:pPr lvl="2" indent="-228600">
              <a:lnSpc>
                <a:spcPct val="90000"/>
              </a:lnSpc>
              <a:buNone/>
            </a:pPr>
            <a:r>
              <a:rPr lang="en-US" altLang="zh-CN" sz="1600" dirty="0">
                <a:solidFill>
                  <a:srgbClr val="0000FF"/>
                </a:solidFill>
              </a:rPr>
              <a:t>#include &lt;arpa/inet.h&gt;</a:t>
            </a:r>
            <a:endParaRPr lang="en-US" altLang="zh-CN" sz="1600" dirty="0">
              <a:solidFill>
                <a:srgbClr val="0000FF"/>
              </a:solidFill>
            </a:endParaRPr>
          </a:p>
          <a:p>
            <a:pPr lvl="2" indent="-228600">
              <a:lnSpc>
                <a:spcPct val="90000"/>
              </a:lnSpc>
              <a:buNone/>
            </a:pPr>
            <a:r>
              <a:rPr lang="en-US" altLang="zh-CN" sz="1600" dirty="0">
                <a:solidFill>
                  <a:srgbClr val="0000FF"/>
                </a:solidFill>
              </a:rPr>
              <a:t>int inet_aton(const char *strptr,struct in_addr *addrptr);</a:t>
            </a:r>
            <a:endParaRPr lang="en-US" altLang="zh-CN" sz="1600" dirty="0">
              <a:solidFill>
                <a:srgbClr val="0000FF"/>
              </a:solidFill>
            </a:endParaRPr>
          </a:p>
          <a:p>
            <a:pPr lvl="2" indent="-228600">
              <a:lnSpc>
                <a:spcPct val="90000"/>
              </a:lnSpc>
              <a:buNone/>
            </a:pPr>
            <a:endParaRPr lang="en-US" altLang="zh-CN" sz="1600" dirty="0">
              <a:solidFill>
                <a:srgbClr val="0000FF"/>
              </a:solidFill>
            </a:endParaRPr>
          </a:p>
          <a:p>
            <a:pPr lvl="0" indent="-342900">
              <a:lnSpc>
                <a:spcPct val="90000"/>
              </a:lnSpc>
            </a:pPr>
            <a:r>
              <a:rPr lang="en-US" altLang="zh-CN" sz="1600" dirty="0">
                <a:latin typeface="Tahoma" panose="020B0604030504040204" pitchFamily="2" charset="0"/>
              </a:rPr>
              <a:t>inet_addr()</a:t>
            </a:r>
            <a:endParaRPr lang="en-US" altLang="zh-CN" sz="1600" dirty="0">
              <a:latin typeface="Tahoma" panose="020B0604030504040204" pitchFamily="2" charset="0"/>
            </a:endParaRPr>
          </a:p>
          <a:p>
            <a:pPr lvl="1" indent="-285750">
              <a:lnSpc>
                <a:spcPct val="90000"/>
              </a:lnSpc>
            </a:pPr>
            <a:r>
              <a:rPr lang="zh-CN" altLang="en-US" sz="1600" dirty="0"/>
              <a:t>功能同上，返回转换后的地址。</a:t>
            </a:r>
            <a:endParaRPr lang="zh-CN" altLang="en-US" sz="1600" dirty="0"/>
          </a:p>
          <a:p>
            <a:pPr lvl="2" indent="-228600">
              <a:lnSpc>
                <a:spcPct val="90000"/>
              </a:lnSpc>
              <a:buNone/>
            </a:pPr>
            <a:r>
              <a:rPr lang="en-US" altLang="zh-CN" sz="1600" dirty="0">
                <a:solidFill>
                  <a:srgbClr val="0000FF"/>
                </a:solidFill>
                <a:latin typeface="Tahoma" panose="020B0604030504040204" pitchFamily="2" charset="0"/>
              </a:rPr>
              <a:t>in_addr_t inet_addr(const char *strptr);</a:t>
            </a:r>
            <a:endParaRPr lang="en-US" altLang="zh-CN" sz="1600" dirty="0">
              <a:solidFill>
                <a:srgbClr val="0000FF"/>
              </a:solidFill>
              <a:latin typeface="Tahoma" panose="020B0604030504040204" pitchFamily="2" charset="0"/>
            </a:endParaRPr>
          </a:p>
          <a:p>
            <a:pPr lvl="2" indent="-228600">
              <a:lnSpc>
                <a:spcPct val="90000"/>
              </a:lnSpc>
              <a:buNone/>
            </a:pPr>
            <a:endParaRPr lang="en-US" altLang="zh-CN" sz="1600" dirty="0">
              <a:solidFill>
                <a:srgbClr val="0000FF"/>
              </a:solidFill>
              <a:latin typeface="Tahoma" panose="020B0604030504040204" pitchFamily="2" charset="0"/>
            </a:endParaRPr>
          </a:p>
          <a:p>
            <a:pPr lvl="0" indent="-342900">
              <a:lnSpc>
                <a:spcPct val="90000"/>
              </a:lnSpc>
            </a:pPr>
            <a:r>
              <a:rPr lang="en-US" altLang="zh-CN" sz="1600" dirty="0">
                <a:latin typeface="Tahoma" panose="020B0604030504040204" pitchFamily="2" charset="0"/>
              </a:rPr>
              <a:t>inet_ntoa()</a:t>
            </a:r>
            <a:endParaRPr lang="en-US" altLang="zh-CN" sz="1600" dirty="0">
              <a:latin typeface="Tahoma" panose="020B0604030504040204" pitchFamily="2" charset="0"/>
            </a:endParaRPr>
          </a:p>
          <a:p>
            <a:pPr lvl="1" indent="-285750">
              <a:lnSpc>
                <a:spcPct val="90000"/>
              </a:lnSpc>
            </a:pPr>
            <a:r>
              <a:rPr lang="zh-CN" altLang="en-US" sz="1600" dirty="0"/>
              <a:t>将</a:t>
            </a:r>
            <a:r>
              <a:rPr lang="en-US" altLang="zh-CN" sz="1600" dirty="0"/>
              <a:t>32</a:t>
            </a:r>
            <a:r>
              <a:rPr lang="zh-CN" altLang="en-US" sz="1600" dirty="0"/>
              <a:t>位网络字节序二进制地址转换成点分十进制的字符串。 </a:t>
            </a:r>
            <a:endParaRPr lang="zh-CN" altLang="en-US" sz="1600" dirty="0"/>
          </a:p>
          <a:p>
            <a:pPr lvl="2" indent="-228600">
              <a:lnSpc>
                <a:spcPct val="90000"/>
              </a:lnSpc>
              <a:buNone/>
            </a:pPr>
            <a:r>
              <a:rPr lang="en-US" altLang="zh-CN" sz="1600" dirty="0">
                <a:solidFill>
                  <a:srgbClr val="0000FF"/>
                </a:solidFill>
                <a:latin typeface="Tahoma" panose="020B0604030504040204" pitchFamily="2" charset="0"/>
              </a:rPr>
              <a:t>char *inet_ntoa(stuct in_addr inaddr);</a:t>
            </a:r>
            <a:endParaRPr lang="en-US" altLang="zh-CN" sz="1600" dirty="0">
              <a:latin typeface="宋体" panose="02010600030101010101" pitchFamily="2" charset="-122"/>
            </a:endParaRPr>
          </a:p>
        </p:txBody>
      </p:sp>
      <p:sp>
        <p:nvSpPr>
          <p:cNvPr id="296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--Socket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600" dirty="0"/>
              <a:t>为了区分一台主机接收到的数据包应该转交给哪个进程来进行处理，使用端口号来区别</a:t>
            </a:r>
            <a:endParaRPr lang="zh-CN" altLang="en-US" sz="1600" dirty="0"/>
          </a:p>
          <a:p>
            <a:pPr lvl="0" indent="-342900">
              <a:lnSpc>
                <a:spcPct val="90000"/>
              </a:lnSpc>
            </a:pPr>
            <a:endParaRPr lang="zh-CN" altLang="en-US" sz="1600" dirty="0"/>
          </a:p>
          <a:p>
            <a:pPr lvl="0" indent="-342900">
              <a:lnSpc>
                <a:spcPct val="90000"/>
              </a:lnSpc>
            </a:pPr>
            <a:r>
              <a:rPr lang="en-US" altLang="zh-CN" sz="1600" dirty="0"/>
              <a:t>TCP</a:t>
            </a:r>
            <a:r>
              <a:rPr lang="zh-CN" altLang="en-US" sz="1600" dirty="0"/>
              <a:t>端口号与</a:t>
            </a:r>
            <a:r>
              <a:rPr lang="en-US" altLang="zh-CN" sz="1600" dirty="0"/>
              <a:t>UDP</a:t>
            </a:r>
            <a:r>
              <a:rPr lang="zh-CN" altLang="en-US" sz="1600" dirty="0"/>
              <a:t>端口号独立</a:t>
            </a:r>
            <a:endParaRPr lang="zh-CN" altLang="en-US" sz="1600" dirty="0"/>
          </a:p>
          <a:p>
            <a:pPr lvl="0" indent="-342900">
              <a:lnSpc>
                <a:spcPct val="90000"/>
              </a:lnSpc>
            </a:pPr>
            <a:endParaRPr lang="zh-CN" altLang="en-US" sz="1600" dirty="0"/>
          </a:p>
          <a:p>
            <a:pPr lvl="0" indent="-342900">
              <a:lnSpc>
                <a:spcPct val="90000"/>
              </a:lnSpc>
            </a:pPr>
            <a:r>
              <a:rPr lang="zh-CN" altLang="en-US" sz="1600" dirty="0"/>
              <a:t>端口号一般由</a:t>
            </a:r>
            <a:r>
              <a:rPr lang="en-US" altLang="zh-CN" sz="1600" dirty="0"/>
              <a:t>IANA (Internet Assigned Numbers Authority) </a:t>
            </a:r>
            <a:r>
              <a:rPr lang="zh-CN" altLang="en-US" sz="1600" dirty="0"/>
              <a:t>管理</a:t>
            </a:r>
            <a:endParaRPr lang="zh-CN" altLang="en-US" sz="1600" dirty="0"/>
          </a:p>
          <a:p>
            <a:pPr lvl="1" indent="-285750">
              <a:lnSpc>
                <a:spcPct val="90000"/>
              </a:lnSpc>
            </a:pPr>
            <a:r>
              <a:rPr lang="zh-CN" altLang="en-US" sz="1600" dirty="0"/>
              <a:t>众所周知端口：</a:t>
            </a:r>
            <a:r>
              <a:rPr lang="en-US" altLang="zh-CN" sz="1600" dirty="0"/>
              <a:t>1~1023</a:t>
            </a:r>
            <a:r>
              <a:rPr lang="zh-CN" altLang="en-US" sz="1600" dirty="0"/>
              <a:t>（</a:t>
            </a:r>
            <a:r>
              <a:rPr lang="en-US" altLang="zh-CN" sz="1600" dirty="0"/>
              <a:t>1~255</a:t>
            </a:r>
            <a:r>
              <a:rPr lang="zh-CN" altLang="en-US" sz="1600" dirty="0"/>
              <a:t>之间为众所周知端口，</a:t>
            </a:r>
            <a:r>
              <a:rPr lang="en-US" altLang="zh-CN" sz="1600" dirty="0"/>
              <a:t>256~1023</a:t>
            </a:r>
            <a:r>
              <a:rPr lang="zh-CN" altLang="en-US" sz="1600" dirty="0"/>
              <a:t>端口通常由</a:t>
            </a:r>
            <a:r>
              <a:rPr lang="en-US" altLang="zh-CN" sz="1600" dirty="0"/>
              <a:t>UNIX</a:t>
            </a:r>
            <a:r>
              <a:rPr lang="zh-CN" altLang="en-US" sz="1600" dirty="0"/>
              <a:t>系统占用）</a:t>
            </a:r>
            <a:endParaRPr lang="zh-CN" altLang="en-US" sz="1600" dirty="0"/>
          </a:p>
          <a:p>
            <a:pPr lvl="1" indent="-285750">
              <a:lnSpc>
                <a:spcPct val="90000"/>
              </a:lnSpc>
            </a:pPr>
            <a:r>
              <a:rPr lang="zh-CN" altLang="en-US" sz="1600" dirty="0"/>
              <a:t>已登记端口：</a:t>
            </a:r>
            <a:r>
              <a:rPr lang="en-US" altLang="zh-CN" sz="1600" dirty="0"/>
              <a:t>1024~49151</a:t>
            </a:r>
            <a:endParaRPr lang="en-US" altLang="zh-CN" sz="1600" dirty="0"/>
          </a:p>
          <a:p>
            <a:pPr lvl="1" indent="-285750">
              <a:lnSpc>
                <a:spcPct val="90000"/>
              </a:lnSpc>
            </a:pPr>
            <a:r>
              <a:rPr lang="zh-CN" altLang="en-US" sz="1600" dirty="0"/>
              <a:t>动态或私有端口：</a:t>
            </a:r>
            <a:r>
              <a:rPr lang="en-US" altLang="zh-CN" sz="1600" dirty="0"/>
              <a:t>49152~65535</a:t>
            </a:r>
            <a:endParaRPr lang="en-US" altLang="zh-CN" sz="1600" dirty="0"/>
          </a:p>
          <a:p>
            <a:pPr lvl="0" indent="-342900">
              <a:lnSpc>
                <a:spcPct val="90000"/>
              </a:lnSpc>
            </a:pPr>
            <a:endParaRPr lang="en-US" altLang="zh-CN" sz="1600" dirty="0">
              <a:latin typeface="宋体" panose="02010600030101010101" pitchFamily="2" charset="-122"/>
            </a:endParaRPr>
          </a:p>
        </p:txBody>
      </p:sp>
      <p:sp>
        <p:nvSpPr>
          <p:cNvPr id="307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--端口号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en-US" altLang="zh-CN" sz="1600" dirty="0"/>
              <a:t> </a:t>
            </a:r>
            <a:endParaRPr lang="en-US" altLang="zh-CN" sz="1600" dirty="0"/>
          </a:p>
          <a:p>
            <a:pPr lvl="0" indent="-342900">
              <a:lnSpc>
                <a:spcPct val="90000"/>
              </a:lnSpc>
            </a:pPr>
            <a:endParaRPr lang="en-US" altLang="zh-CN" sz="1600" dirty="0">
              <a:latin typeface="宋体" panose="02010600030101010101" pitchFamily="2" charset="-122"/>
            </a:endParaRPr>
          </a:p>
        </p:txBody>
      </p:sp>
      <p:sp>
        <p:nvSpPr>
          <p:cNvPr id="3174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--端口号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31747" name="Text Box 4"/>
          <p:cNvSpPr txBox="1"/>
          <p:nvPr/>
        </p:nvSpPr>
        <p:spPr>
          <a:xfrm>
            <a:off x="2441575" y="1165225"/>
            <a:ext cx="15240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进程 </a:t>
            </a:r>
            <a:r>
              <a:rPr lang="en-US" altLang="zh-CN" sz="2000" dirty="0">
                <a:latin typeface="Bookman Old Style" panose="02050604050505020204" pitchFamily="18" charset="0"/>
                <a:ea typeface="宋体" panose="02010600030101010101" pitchFamily="2" charset="-122"/>
              </a:rPr>
              <a:t>-2 </a:t>
            </a:r>
            <a:endParaRPr lang="en-US" altLang="zh-CN" sz="2400" i="1" dirty="0">
              <a:latin typeface="Times New Roman" panose="02020603050405020304" pitchFamily="2" charset="0"/>
              <a:ea typeface="宋体" panose="02010600030101010101" pitchFamily="2" charset="-122"/>
            </a:endParaRPr>
          </a:p>
        </p:txBody>
      </p:sp>
      <p:sp>
        <p:nvSpPr>
          <p:cNvPr id="31748" name="Line 5"/>
          <p:cNvSpPr/>
          <p:nvPr/>
        </p:nvSpPr>
        <p:spPr>
          <a:xfrm>
            <a:off x="688975" y="2384425"/>
            <a:ext cx="5715000" cy="1588"/>
          </a:xfrm>
          <a:prstGeom prst="line">
            <a:avLst/>
          </a:prstGeom>
          <a:ln w="57150" cap="flat" cmpd="sng">
            <a:solidFill>
              <a:schemeClr val="tx1"/>
            </a:solidFill>
            <a:prstDash val="solid"/>
            <a:round/>
            <a:headEnd type="none" w="med" len="med"/>
            <a:tailEnd type="none" w="med" len="med"/>
          </a:ln>
        </p:spPr>
      </p:sp>
      <p:sp>
        <p:nvSpPr>
          <p:cNvPr id="31749" name="Text Box 6"/>
          <p:cNvSpPr txBox="1"/>
          <p:nvPr/>
        </p:nvSpPr>
        <p:spPr>
          <a:xfrm>
            <a:off x="1831975" y="2978150"/>
            <a:ext cx="12192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en-US" altLang="zh-CN" sz="2000" dirty="0">
                <a:latin typeface="Bookman Old Style" panose="02050604050505020204" pitchFamily="18" charset="0"/>
                <a:ea typeface="宋体" panose="02010600030101010101" pitchFamily="2" charset="-122"/>
              </a:rPr>
              <a:t>TCP</a:t>
            </a:r>
            <a:endParaRPr lang="en-US" altLang="zh-CN" sz="2400" i="1" dirty="0">
              <a:latin typeface="Times New Roman" panose="02020603050405020304" pitchFamily="2" charset="0"/>
              <a:ea typeface="宋体" panose="02010600030101010101" pitchFamily="2" charset="-122"/>
            </a:endParaRPr>
          </a:p>
        </p:txBody>
      </p:sp>
      <p:sp>
        <p:nvSpPr>
          <p:cNvPr id="31750" name="Text Box 7"/>
          <p:cNvSpPr txBox="1"/>
          <p:nvPr/>
        </p:nvSpPr>
        <p:spPr>
          <a:xfrm>
            <a:off x="3051175" y="2978150"/>
            <a:ext cx="12192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en-US" altLang="zh-CN" sz="2000" dirty="0">
                <a:latin typeface="Bookman Old Style" panose="02050604050505020204" pitchFamily="18" charset="0"/>
                <a:ea typeface="宋体" panose="02010600030101010101" pitchFamily="2" charset="-122"/>
              </a:rPr>
              <a:t>UDP</a:t>
            </a:r>
            <a:endParaRPr lang="en-US" altLang="zh-CN" sz="2400" i="1" dirty="0">
              <a:latin typeface="Times New Roman" panose="02020603050405020304" pitchFamily="2" charset="0"/>
              <a:ea typeface="宋体" panose="02010600030101010101" pitchFamily="2" charset="-122"/>
            </a:endParaRPr>
          </a:p>
        </p:txBody>
      </p:sp>
      <p:sp>
        <p:nvSpPr>
          <p:cNvPr id="31751" name="Text Box 8"/>
          <p:cNvSpPr txBox="1"/>
          <p:nvPr/>
        </p:nvSpPr>
        <p:spPr>
          <a:xfrm>
            <a:off x="1831975" y="3409950"/>
            <a:ext cx="24384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en-US" altLang="zh-CN" sz="2000" dirty="0">
                <a:latin typeface="Bookman Old Style" panose="02050604050505020204" pitchFamily="18" charset="0"/>
                <a:ea typeface="宋体" panose="02010600030101010101" pitchFamily="2" charset="-122"/>
              </a:rPr>
              <a:t>IP (+ICMP)</a:t>
            </a:r>
            <a:endParaRPr lang="en-US" altLang="zh-CN" sz="2400" i="1" dirty="0">
              <a:latin typeface="Times New Roman" panose="02020603050405020304" pitchFamily="2" charset="0"/>
              <a:ea typeface="宋体" panose="02010600030101010101" pitchFamily="2" charset="-122"/>
            </a:endParaRPr>
          </a:p>
        </p:txBody>
      </p:sp>
      <p:sp>
        <p:nvSpPr>
          <p:cNvPr id="31752" name="Text Box 9"/>
          <p:cNvSpPr txBox="1"/>
          <p:nvPr/>
        </p:nvSpPr>
        <p:spPr>
          <a:xfrm>
            <a:off x="1831975" y="3816350"/>
            <a:ext cx="24384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网络层</a:t>
            </a:r>
            <a:endParaRPr lang="zh-CN" altLang="en-US" sz="2400" i="1" dirty="0">
              <a:latin typeface="Times New Roman" panose="02020603050405020304" pitchFamily="2" charset="0"/>
              <a:ea typeface="宋体" panose="02010600030101010101" pitchFamily="2" charset="-122"/>
            </a:endParaRPr>
          </a:p>
        </p:txBody>
      </p:sp>
      <p:sp>
        <p:nvSpPr>
          <p:cNvPr id="31753" name="Line 10"/>
          <p:cNvSpPr/>
          <p:nvPr/>
        </p:nvSpPr>
        <p:spPr>
          <a:xfrm>
            <a:off x="765175" y="4594225"/>
            <a:ext cx="5715000" cy="1588"/>
          </a:xfrm>
          <a:prstGeom prst="line">
            <a:avLst/>
          </a:prstGeom>
          <a:ln w="57150" cap="flat" cmpd="sng">
            <a:solidFill>
              <a:schemeClr val="tx1"/>
            </a:solidFill>
            <a:prstDash val="solid"/>
            <a:round/>
            <a:headEnd type="none" w="med" len="med"/>
            <a:tailEnd type="none" w="med" len="med"/>
          </a:ln>
        </p:spPr>
      </p:sp>
      <p:sp>
        <p:nvSpPr>
          <p:cNvPr id="31754" name="Line 11"/>
          <p:cNvSpPr/>
          <p:nvPr/>
        </p:nvSpPr>
        <p:spPr>
          <a:xfrm>
            <a:off x="3051175" y="4213225"/>
            <a:ext cx="0" cy="317500"/>
          </a:xfrm>
          <a:prstGeom prst="line">
            <a:avLst/>
          </a:prstGeom>
          <a:ln w="57150" cap="flat" cmpd="sng">
            <a:solidFill>
              <a:schemeClr val="tx1"/>
            </a:solidFill>
            <a:prstDash val="solid"/>
            <a:round/>
            <a:headEnd type="none" w="med" len="med"/>
            <a:tailEnd type="none" w="med" len="med"/>
          </a:ln>
        </p:spPr>
      </p:sp>
      <p:sp>
        <p:nvSpPr>
          <p:cNvPr id="31755" name="Text Box 12"/>
          <p:cNvSpPr txBox="1"/>
          <p:nvPr/>
        </p:nvSpPr>
        <p:spPr>
          <a:xfrm>
            <a:off x="5526088" y="4711700"/>
            <a:ext cx="809625" cy="400050"/>
          </a:xfrm>
          <a:prstGeom prst="rect">
            <a:avLst/>
          </a:prstGeom>
          <a:noFill/>
          <a:ln w="9525">
            <a:noFill/>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网线</a:t>
            </a:r>
            <a:endParaRPr lang="zh-CN" altLang="en-US" sz="2400" i="1" dirty="0">
              <a:latin typeface="Times New Roman" panose="02020603050405020304" pitchFamily="2" charset="0"/>
              <a:ea typeface="宋体" panose="02010600030101010101" pitchFamily="2" charset="-122"/>
            </a:endParaRPr>
          </a:p>
        </p:txBody>
      </p:sp>
      <p:sp>
        <p:nvSpPr>
          <p:cNvPr id="31756" name="Text Box 13"/>
          <p:cNvSpPr txBox="1"/>
          <p:nvPr/>
        </p:nvSpPr>
        <p:spPr>
          <a:xfrm>
            <a:off x="765175" y="1165225"/>
            <a:ext cx="15240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进程 </a:t>
            </a:r>
            <a:r>
              <a:rPr lang="en-US" altLang="zh-CN" sz="2000" dirty="0">
                <a:latin typeface="Bookman Old Style" panose="02050604050505020204" pitchFamily="18" charset="0"/>
                <a:ea typeface="宋体" panose="02010600030101010101" pitchFamily="2" charset="-122"/>
              </a:rPr>
              <a:t>-1 </a:t>
            </a:r>
            <a:endParaRPr lang="en-US" altLang="zh-CN" sz="2400" i="1" dirty="0">
              <a:latin typeface="Times New Roman" panose="02020603050405020304" pitchFamily="2" charset="0"/>
              <a:ea typeface="宋体" panose="02010600030101010101" pitchFamily="2" charset="-122"/>
            </a:endParaRPr>
          </a:p>
        </p:txBody>
      </p:sp>
      <p:sp>
        <p:nvSpPr>
          <p:cNvPr id="31757" name="Rectangle 14"/>
          <p:cNvSpPr/>
          <p:nvPr/>
        </p:nvSpPr>
        <p:spPr>
          <a:xfrm>
            <a:off x="1984375" y="2825750"/>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58" name="Rectangle 15"/>
          <p:cNvSpPr/>
          <p:nvPr/>
        </p:nvSpPr>
        <p:spPr>
          <a:xfrm>
            <a:off x="2593975" y="2825750"/>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59" name="Rectangle 16"/>
          <p:cNvSpPr/>
          <p:nvPr/>
        </p:nvSpPr>
        <p:spPr>
          <a:xfrm>
            <a:off x="3203575" y="2825750"/>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0" name="Rectangle 17"/>
          <p:cNvSpPr/>
          <p:nvPr/>
        </p:nvSpPr>
        <p:spPr>
          <a:xfrm>
            <a:off x="3813175" y="2825750"/>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1" name="Text Box 18"/>
          <p:cNvSpPr txBox="1"/>
          <p:nvPr/>
        </p:nvSpPr>
        <p:spPr>
          <a:xfrm>
            <a:off x="5946775" y="1165225"/>
            <a:ext cx="16002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进程 </a:t>
            </a:r>
            <a:r>
              <a:rPr lang="en-US" altLang="zh-CN" sz="2000" dirty="0">
                <a:latin typeface="Bookman Old Style" panose="02050604050505020204" pitchFamily="18" charset="0"/>
                <a:ea typeface="宋体" panose="02010600030101010101" pitchFamily="2" charset="-122"/>
              </a:rPr>
              <a:t>-4 </a:t>
            </a:r>
            <a:endParaRPr lang="en-US" altLang="zh-CN" sz="2400" i="1" dirty="0">
              <a:latin typeface="Times New Roman" panose="02020603050405020304" pitchFamily="2" charset="0"/>
              <a:ea typeface="宋体" panose="02010600030101010101" pitchFamily="2" charset="-122"/>
            </a:endParaRPr>
          </a:p>
        </p:txBody>
      </p:sp>
      <p:sp>
        <p:nvSpPr>
          <p:cNvPr id="31762" name="Text Box 19"/>
          <p:cNvSpPr txBox="1"/>
          <p:nvPr/>
        </p:nvSpPr>
        <p:spPr>
          <a:xfrm>
            <a:off x="4117975" y="1165225"/>
            <a:ext cx="1600200" cy="400050"/>
          </a:xfrm>
          <a:prstGeom prst="rect">
            <a:avLst/>
          </a:prstGeom>
          <a:noFill/>
          <a:ln w="9525" cap="flat" cmpd="sng">
            <a:solidFill>
              <a:schemeClr val="tx1"/>
            </a:solidFill>
            <a:prstDash val="solid"/>
            <a:miter/>
            <a:headEnd type="none" w="med" len="med"/>
            <a:tailEnd type="none" w="med" len="med"/>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进程 </a:t>
            </a:r>
            <a:r>
              <a:rPr lang="en-US" altLang="zh-CN" sz="2000" dirty="0">
                <a:latin typeface="Bookman Old Style" panose="02050604050505020204" pitchFamily="18" charset="0"/>
                <a:ea typeface="宋体" panose="02010600030101010101" pitchFamily="2" charset="-122"/>
              </a:rPr>
              <a:t>-3 </a:t>
            </a:r>
            <a:endParaRPr lang="en-US" altLang="zh-CN" sz="2400" i="1" dirty="0">
              <a:latin typeface="Times New Roman" panose="02020603050405020304" pitchFamily="2" charset="0"/>
              <a:ea typeface="宋体" panose="02010600030101010101" pitchFamily="2" charset="-122"/>
            </a:endParaRPr>
          </a:p>
        </p:txBody>
      </p:sp>
      <p:sp>
        <p:nvSpPr>
          <p:cNvPr id="31763" name="Rectangle 20"/>
          <p:cNvSpPr/>
          <p:nvPr/>
        </p:nvSpPr>
        <p:spPr>
          <a:xfrm>
            <a:off x="1450975" y="1546225"/>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4" name="Rectangle 21"/>
          <p:cNvSpPr/>
          <p:nvPr/>
        </p:nvSpPr>
        <p:spPr>
          <a:xfrm>
            <a:off x="3051175" y="1546225"/>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5" name="Rectangle 22"/>
          <p:cNvSpPr/>
          <p:nvPr/>
        </p:nvSpPr>
        <p:spPr>
          <a:xfrm>
            <a:off x="4651375" y="1546225"/>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6" name="Rectangle 23"/>
          <p:cNvSpPr/>
          <p:nvPr/>
        </p:nvSpPr>
        <p:spPr>
          <a:xfrm>
            <a:off x="6480175" y="1546225"/>
            <a:ext cx="152400" cy="127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1767" name="Line 24"/>
          <p:cNvSpPr/>
          <p:nvPr/>
        </p:nvSpPr>
        <p:spPr>
          <a:xfrm>
            <a:off x="1527175" y="1698625"/>
            <a:ext cx="457200" cy="1128713"/>
          </a:xfrm>
          <a:prstGeom prst="line">
            <a:avLst/>
          </a:prstGeom>
          <a:ln w="25400" cap="flat" cmpd="sng">
            <a:solidFill>
              <a:schemeClr val="tx1"/>
            </a:solidFill>
            <a:prstDash val="solid"/>
            <a:round/>
            <a:headEnd type="none" w="med" len="med"/>
            <a:tailEnd type="none" w="med" len="med"/>
          </a:ln>
        </p:spPr>
      </p:sp>
      <p:sp>
        <p:nvSpPr>
          <p:cNvPr id="31768" name="Line 25"/>
          <p:cNvSpPr/>
          <p:nvPr/>
        </p:nvSpPr>
        <p:spPr>
          <a:xfrm flipH="1">
            <a:off x="2670175" y="1698625"/>
            <a:ext cx="457200" cy="1128713"/>
          </a:xfrm>
          <a:prstGeom prst="line">
            <a:avLst/>
          </a:prstGeom>
          <a:ln w="25400" cap="flat" cmpd="sng">
            <a:solidFill>
              <a:schemeClr val="tx1"/>
            </a:solidFill>
            <a:prstDash val="solid"/>
            <a:round/>
            <a:headEnd type="none" w="med" len="med"/>
            <a:tailEnd type="none" w="med" len="med"/>
          </a:ln>
        </p:spPr>
      </p:sp>
      <p:sp>
        <p:nvSpPr>
          <p:cNvPr id="31769" name="Line 26"/>
          <p:cNvSpPr/>
          <p:nvPr/>
        </p:nvSpPr>
        <p:spPr>
          <a:xfrm flipH="1">
            <a:off x="3279775" y="1698625"/>
            <a:ext cx="1447800" cy="1127125"/>
          </a:xfrm>
          <a:prstGeom prst="line">
            <a:avLst/>
          </a:prstGeom>
          <a:ln w="25400" cap="flat" cmpd="sng">
            <a:solidFill>
              <a:schemeClr val="tx1"/>
            </a:solidFill>
            <a:prstDash val="solid"/>
            <a:round/>
            <a:headEnd type="none" w="med" len="med"/>
            <a:tailEnd type="none" w="med" len="med"/>
          </a:ln>
        </p:spPr>
      </p:sp>
      <p:sp>
        <p:nvSpPr>
          <p:cNvPr id="31770" name="Line 27"/>
          <p:cNvSpPr/>
          <p:nvPr/>
        </p:nvSpPr>
        <p:spPr>
          <a:xfrm flipH="1">
            <a:off x="3965575" y="1698625"/>
            <a:ext cx="2514600" cy="1127125"/>
          </a:xfrm>
          <a:prstGeom prst="line">
            <a:avLst/>
          </a:prstGeom>
          <a:ln w="25400" cap="flat" cmpd="sng">
            <a:solidFill>
              <a:schemeClr val="tx1"/>
            </a:solidFill>
            <a:prstDash val="solid"/>
            <a:round/>
            <a:headEnd type="none" w="med" len="med"/>
            <a:tailEnd type="none" w="med" len="med"/>
          </a:ln>
        </p:spPr>
      </p:sp>
      <p:sp>
        <p:nvSpPr>
          <p:cNvPr id="31771" name="Text Box 28"/>
          <p:cNvSpPr txBox="1"/>
          <p:nvPr/>
        </p:nvSpPr>
        <p:spPr>
          <a:xfrm>
            <a:off x="923925" y="2732088"/>
            <a:ext cx="809625" cy="400050"/>
          </a:xfrm>
          <a:prstGeom prst="rect">
            <a:avLst/>
          </a:prstGeom>
          <a:noFill/>
          <a:ln w="9525">
            <a:noFill/>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端口</a:t>
            </a:r>
            <a:endParaRPr lang="zh-CN" altLang="en-US" sz="2400" i="1" dirty="0">
              <a:latin typeface="Times New Roman" panose="02020603050405020304" pitchFamily="2" charset="0"/>
              <a:ea typeface="宋体" panose="02010600030101010101" pitchFamily="2" charset="-122"/>
            </a:endParaRPr>
          </a:p>
        </p:txBody>
      </p:sp>
      <p:sp>
        <p:nvSpPr>
          <p:cNvPr id="31772" name="Line 29"/>
          <p:cNvSpPr/>
          <p:nvPr/>
        </p:nvSpPr>
        <p:spPr>
          <a:xfrm>
            <a:off x="5184775" y="2384425"/>
            <a:ext cx="0" cy="1836738"/>
          </a:xfrm>
          <a:prstGeom prst="line">
            <a:avLst/>
          </a:prstGeom>
          <a:ln w="38100" cap="flat" cmpd="sng">
            <a:solidFill>
              <a:schemeClr val="tx1"/>
            </a:solidFill>
            <a:prstDash val="solid"/>
            <a:round/>
            <a:headEnd type="triangle" w="med" len="med"/>
            <a:tailEnd type="triangle" w="med" len="med"/>
          </a:ln>
        </p:spPr>
      </p:sp>
      <p:sp>
        <p:nvSpPr>
          <p:cNvPr id="31773" name="Text Box 30"/>
          <p:cNvSpPr txBox="1"/>
          <p:nvPr/>
        </p:nvSpPr>
        <p:spPr>
          <a:xfrm>
            <a:off x="4802188" y="3340100"/>
            <a:ext cx="809625" cy="400050"/>
          </a:xfrm>
          <a:prstGeom prst="rect">
            <a:avLst/>
          </a:prstGeom>
          <a:solidFill>
            <a:schemeClr val="bg1"/>
          </a:solidFill>
          <a:ln w="9525">
            <a:noFill/>
          </a:ln>
        </p:spPr>
        <p:txBody>
          <a:bodyPr wrap="square" anchor="t" anchorCtr="0">
            <a:spAutoFit/>
          </a:bodyPr>
          <a:p>
            <a:pPr algn="ctr">
              <a:spcBef>
                <a:spcPct val="20000"/>
              </a:spcBef>
              <a:buClr>
                <a:srgbClr val="FF0000"/>
              </a:buClr>
              <a:buFont typeface="Arial" panose="020B0604020202020204" pitchFamily="34" charset="0"/>
              <a:buChar char="•"/>
            </a:pPr>
            <a:r>
              <a:rPr lang="zh-CN" altLang="en-US" sz="2000" dirty="0">
                <a:latin typeface="Bookman Old Style" panose="02050604050505020204" pitchFamily="18" charset="0"/>
                <a:ea typeface="宋体" panose="02010600030101010101" pitchFamily="2" charset="-122"/>
              </a:rPr>
              <a:t>内核</a:t>
            </a:r>
            <a:endParaRPr lang="zh-CN" altLang="en-US" sz="2400" i="1" dirty="0">
              <a:latin typeface="Times New Roman" panose="02020603050405020304" pitchFamily="2" charset="0"/>
              <a:ea typeface="宋体" panose="02010600030101010101" pitchFamily="2" charset="-122"/>
            </a:endParaRPr>
          </a:p>
        </p:txBody>
      </p:sp>
      <p:sp>
        <p:nvSpPr>
          <p:cNvPr id="31774" name="Line 31"/>
          <p:cNvSpPr/>
          <p:nvPr/>
        </p:nvSpPr>
        <p:spPr>
          <a:xfrm flipV="1">
            <a:off x="1603375" y="2825750"/>
            <a:ext cx="304800" cy="63500"/>
          </a:xfrm>
          <a:prstGeom prst="line">
            <a:avLst/>
          </a:prstGeom>
          <a:ln w="9525" cap="flat" cmpd="sng">
            <a:solidFill>
              <a:schemeClr val="tx1"/>
            </a:solidFill>
            <a:prstDash val="solid"/>
            <a:round/>
            <a:headEnd type="none" w="med" len="med"/>
            <a:tailEnd type="triangle" w="med" len="med"/>
          </a:ln>
        </p:spPr>
      </p:sp>
      <p:sp>
        <p:nvSpPr>
          <p:cNvPr id="31775" name="AutoShape 32"/>
          <p:cNvSpPr/>
          <p:nvPr/>
        </p:nvSpPr>
        <p:spPr>
          <a:xfrm>
            <a:off x="5565775" y="2460625"/>
            <a:ext cx="2743200" cy="803275"/>
          </a:xfrm>
          <a:prstGeom prst="wedgeEllipseCallout">
            <a:avLst>
              <a:gd name="adj1" fmla="val -15278"/>
              <a:gd name="adj2" fmla="val -122699"/>
            </a:avLst>
          </a:prstGeom>
          <a:solidFill>
            <a:srgbClr val="CCFFCC"/>
          </a:solidFill>
          <a:ln w="9525" cap="flat" cmpd="sng">
            <a:solidFill>
              <a:schemeClr val="tx1"/>
            </a:solidFill>
            <a:prstDash val="solid"/>
            <a:miter/>
            <a:headEnd type="none" w="med" len="med"/>
            <a:tailEnd type="none" w="med" len="med"/>
          </a:ln>
        </p:spPr>
        <p:txBody>
          <a:bodyPr anchor="t" anchorCtr="0"/>
          <a:p>
            <a:pPr algn="ctr">
              <a:spcBef>
                <a:spcPct val="20000"/>
              </a:spcBef>
              <a:buClr>
                <a:srgbClr val="FF0000"/>
              </a:buClr>
              <a:buFont typeface="Arial" panose="020B0604020202020204" pitchFamily="34" charset="0"/>
              <a:buChar char="•"/>
            </a:pPr>
            <a:r>
              <a:rPr lang="zh-CN" altLang="en-US" sz="1600" b="1" dirty="0">
                <a:latin typeface="华文楷体" panose="02010600040101010101" pitchFamily="2" charset="-122"/>
                <a:ea typeface="华文楷体" panose="02010600040101010101" pitchFamily="2" charset="-122"/>
              </a:rPr>
              <a:t>每个 </a:t>
            </a:r>
            <a:r>
              <a:rPr lang="en-US" altLang="zh-CN" sz="1600" b="1" dirty="0">
                <a:latin typeface="华文楷体" panose="02010600040101010101" pitchFamily="2" charset="-122"/>
                <a:ea typeface="华文楷体" panose="02010600040101010101" pitchFamily="2" charset="-122"/>
              </a:rPr>
              <a:t>socket </a:t>
            </a:r>
            <a:r>
              <a:rPr lang="zh-CN" altLang="en-US" sz="1600" b="1" dirty="0">
                <a:latin typeface="华文楷体" panose="02010600040101010101" pitchFamily="2" charset="-122"/>
                <a:ea typeface="华文楷体" panose="02010600040101010101" pitchFamily="2" charset="-122"/>
              </a:rPr>
              <a:t>都和端口、协议相联系</a:t>
            </a:r>
            <a:endParaRPr lang="zh-CN" altLang="en-US" sz="1600" b="1" i="1" dirty="0">
              <a:latin typeface="华文楷体" panose="02010600040101010101" pitchFamily="2" charset="-122"/>
              <a:ea typeface="华文楷体"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en-US" altLang="zh-CN" sz="1600" dirty="0"/>
              <a:t> </a:t>
            </a:r>
            <a:endParaRPr lang="en-US" altLang="zh-CN" sz="1600" dirty="0"/>
          </a:p>
          <a:p>
            <a:pPr lvl="0" indent="-342900">
              <a:lnSpc>
                <a:spcPct val="90000"/>
              </a:lnSpc>
            </a:pPr>
            <a:endParaRPr lang="en-US" altLang="zh-CN" sz="1600" dirty="0">
              <a:latin typeface="宋体" panose="02010600030101010101" pitchFamily="2" charset="-122"/>
            </a:endParaRPr>
          </a:p>
        </p:txBody>
      </p:sp>
      <p:sp>
        <p:nvSpPr>
          <p:cNvPr id="3277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--端口号</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32771" name="Object 3"/>
          <p:cNvGraphicFramePr>
            <a:graphicFrameLocks noGrp="1"/>
          </p:cNvGraphicFramePr>
          <p:nvPr>
            <p:ph type="subTitle" idx="1"/>
          </p:nvPr>
        </p:nvGraphicFramePr>
        <p:xfrm>
          <a:off x="576263" y="1162050"/>
          <a:ext cx="7704137" cy="3546475"/>
        </p:xfrm>
        <a:graphic>
          <a:graphicData uri="http://schemas.openxmlformats.org/presentationml/2006/ole">
            <mc:AlternateContent xmlns:mc="http://schemas.openxmlformats.org/markup-compatibility/2006">
              <mc:Choice xmlns:v="urn:schemas-microsoft-com:vml" Requires="v">
                <p:oleObj spid="_x0000_s3080" name="" r:id="rId1" imgW="6750685" imgH="2922270" progId="Visio.Drawing.11">
                  <p:embed/>
                </p:oleObj>
              </mc:Choice>
              <mc:Fallback>
                <p:oleObj name="" r:id="rId1" imgW="6750685" imgH="2922270" progId="Visio.Drawing.11">
                  <p:embed/>
                  <p:pic>
                    <p:nvPicPr>
                      <p:cNvPr id="0" name="图片 3079"/>
                      <p:cNvPicPr/>
                      <p:nvPr/>
                    </p:nvPicPr>
                    <p:blipFill>
                      <a:blip r:embed="rId2"/>
                      <a:stretch>
                        <a:fillRect/>
                      </a:stretch>
                    </p:blipFill>
                    <p:spPr>
                      <a:xfrm>
                        <a:off x="576263" y="1162050"/>
                        <a:ext cx="7704137" cy="3546475"/>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t>不同类型</a:t>
            </a:r>
            <a:r>
              <a:rPr lang="en-US" altLang="zh-CN" sz="1800" dirty="0"/>
              <a:t>CPU</a:t>
            </a:r>
            <a:r>
              <a:rPr lang="zh-CN" altLang="en-US" sz="1800" dirty="0"/>
              <a:t>的主机中，内存存储多字节整数序列有两种方法，称为主机字节序</a:t>
            </a:r>
            <a:r>
              <a:rPr lang="en-US" altLang="zh-CN" sz="1800" dirty="0"/>
              <a:t>(HBO)</a:t>
            </a:r>
            <a:r>
              <a:rPr lang="zh-CN" altLang="en-US" sz="1800" dirty="0"/>
              <a:t>：</a:t>
            </a:r>
            <a:endParaRPr lang="zh-CN" altLang="en-US" sz="1800" dirty="0"/>
          </a:p>
          <a:p>
            <a:pPr lvl="1" indent="-285750">
              <a:lnSpc>
                <a:spcPct val="90000"/>
              </a:lnSpc>
            </a:pPr>
            <a:r>
              <a:rPr lang="zh-CN" altLang="en-US" sz="1800" dirty="0"/>
              <a:t>小端序（</a:t>
            </a:r>
            <a:r>
              <a:rPr lang="en-US" altLang="zh-CN" sz="1800" dirty="0"/>
              <a:t>little-endian</a:t>
            </a:r>
            <a:r>
              <a:rPr lang="zh-CN" altLang="en-US" sz="1800" dirty="0"/>
              <a:t>） </a:t>
            </a:r>
            <a:r>
              <a:rPr lang="en-US" altLang="zh-CN" sz="1800" dirty="0"/>
              <a:t>- </a:t>
            </a:r>
            <a:r>
              <a:rPr lang="zh-CN" altLang="en-US" sz="1800" dirty="0"/>
              <a:t>低序字节存储在低地址</a:t>
            </a:r>
            <a:endParaRPr lang="zh-CN" altLang="en-US" sz="1800" dirty="0"/>
          </a:p>
          <a:p>
            <a:pPr lvl="2" indent="-228600">
              <a:lnSpc>
                <a:spcPct val="90000"/>
              </a:lnSpc>
            </a:pPr>
            <a:r>
              <a:rPr lang="zh-CN" altLang="en-US" sz="1800" dirty="0"/>
              <a:t>将低字节存储在起始地址，称为</a:t>
            </a:r>
            <a:r>
              <a:rPr lang="zh-CN" altLang="en-US" sz="1800" dirty="0">
                <a:latin typeface="Arial" panose="020B0604020202020204" pitchFamily="34" charset="0"/>
              </a:rPr>
              <a:t>“</a:t>
            </a:r>
            <a:r>
              <a:rPr lang="en-US" altLang="zh-CN" sz="1800" dirty="0"/>
              <a:t>Little-Endian</a:t>
            </a:r>
            <a:r>
              <a:rPr lang="en-US" altLang="zh-CN" sz="1800" dirty="0">
                <a:latin typeface="Arial" panose="020B0604020202020204" pitchFamily="34" charset="0"/>
              </a:rPr>
              <a:t>”</a:t>
            </a:r>
            <a:r>
              <a:rPr lang="zh-CN" altLang="en-US" sz="1800" dirty="0"/>
              <a:t>字节序，</a:t>
            </a:r>
            <a:r>
              <a:rPr lang="en-US" altLang="zh-CN" sz="1800" dirty="0"/>
              <a:t>Intel</a:t>
            </a:r>
            <a:r>
              <a:rPr lang="zh-CN" altLang="en-US" sz="1800" dirty="0"/>
              <a:t>、</a:t>
            </a:r>
            <a:r>
              <a:rPr lang="en-US" altLang="zh-CN" sz="1800" dirty="0"/>
              <a:t>AMD</a:t>
            </a:r>
            <a:r>
              <a:rPr lang="zh-CN" altLang="en-US" sz="1800" dirty="0"/>
              <a:t>等采用的是这种方式；</a:t>
            </a:r>
            <a:endParaRPr lang="zh-CN" altLang="en-US" sz="1800" dirty="0"/>
          </a:p>
          <a:p>
            <a:pPr lvl="1" indent="-285750">
              <a:lnSpc>
                <a:spcPct val="90000"/>
              </a:lnSpc>
            </a:pPr>
            <a:r>
              <a:rPr lang="zh-CN" altLang="en-US" sz="1800" dirty="0"/>
              <a:t>大端序（</a:t>
            </a:r>
            <a:r>
              <a:rPr lang="en-US" altLang="zh-CN" sz="1800" dirty="0"/>
              <a:t>big-endian</a:t>
            </a:r>
            <a:r>
              <a:rPr lang="zh-CN" altLang="en-US" sz="1800" dirty="0"/>
              <a:t>）</a:t>
            </a:r>
            <a:r>
              <a:rPr lang="en-US" altLang="zh-CN" sz="1800" dirty="0"/>
              <a:t>- </a:t>
            </a:r>
            <a:r>
              <a:rPr lang="zh-CN" altLang="en-US" sz="1800" dirty="0"/>
              <a:t>高序字节存储在低地址</a:t>
            </a:r>
            <a:endParaRPr lang="zh-CN" altLang="en-US" sz="1800" dirty="0"/>
          </a:p>
          <a:p>
            <a:pPr lvl="2" indent="-228600">
              <a:lnSpc>
                <a:spcPct val="90000"/>
              </a:lnSpc>
            </a:pPr>
            <a:r>
              <a:rPr lang="zh-CN" altLang="en-US" sz="1800" dirty="0"/>
              <a:t>将高字节存储在起始地址，称为</a:t>
            </a:r>
            <a:r>
              <a:rPr lang="zh-CN" altLang="en-US" sz="1800" dirty="0">
                <a:latin typeface="Arial" panose="020B0604020202020204" pitchFamily="34" charset="0"/>
              </a:rPr>
              <a:t>“</a:t>
            </a:r>
            <a:r>
              <a:rPr lang="en-US" altLang="zh-CN" sz="1800" dirty="0"/>
              <a:t>Big-Endian</a:t>
            </a:r>
            <a:r>
              <a:rPr lang="en-US" altLang="zh-CN" sz="1800" dirty="0">
                <a:latin typeface="Arial" panose="020B0604020202020204" pitchFamily="34" charset="0"/>
              </a:rPr>
              <a:t>”</a:t>
            </a:r>
            <a:r>
              <a:rPr lang="zh-CN" altLang="en-US" sz="1800" dirty="0"/>
              <a:t>字节序，由</a:t>
            </a:r>
            <a:r>
              <a:rPr lang="en-US" altLang="zh-CN" sz="1800" dirty="0"/>
              <a:t>ARM</a:t>
            </a:r>
            <a:r>
              <a:rPr lang="zh-CN" altLang="en-US" sz="1800" dirty="0"/>
              <a:t>、</a:t>
            </a:r>
            <a:r>
              <a:rPr lang="en-US" altLang="zh-CN" sz="1800" dirty="0"/>
              <a:t>Motorola</a:t>
            </a:r>
            <a:r>
              <a:rPr lang="zh-CN" altLang="en-US" sz="1800" dirty="0"/>
              <a:t>等所采用</a:t>
            </a:r>
            <a:endParaRPr lang="zh-CN" altLang="en-US" sz="1800" dirty="0"/>
          </a:p>
          <a:p>
            <a:pPr lvl="2" indent="-228600">
              <a:lnSpc>
                <a:spcPct val="90000"/>
              </a:lnSpc>
            </a:pPr>
            <a:endParaRPr lang="zh-CN" altLang="en-US" sz="1800" dirty="0"/>
          </a:p>
          <a:p>
            <a:pPr lvl="0" indent="-342900">
              <a:lnSpc>
                <a:spcPct val="90000"/>
              </a:lnSpc>
            </a:pPr>
            <a:r>
              <a:rPr lang="zh-CN" altLang="en-US" sz="1800" dirty="0"/>
              <a:t>网络中传输的数据必须按网络字节序，即大端字节序，使用统一的字节顺序，避免兼容性问题</a:t>
            </a:r>
            <a:endParaRPr lang="zh-CN" altLang="en-US" sz="1800" dirty="0"/>
          </a:p>
          <a:p>
            <a:pPr lvl="0" indent="-342900">
              <a:lnSpc>
                <a:spcPct val="90000"/>
              </a:lnSpc>
            </a:pPr>
            <a:endParaRPr lang="zh-CN" altLang="en-US" sz="1800" dirty="0"/>
          </a:p>
          <a:p>
            <a:pPr lvl="0" indent="-342900">
              <a:lnSpc>
                <a:spcPct val="90000"/>
              </a:lnSpc>
            </a:pPr>
            <a:r>
              <a:rPr lang="zh-CN" altLang="en-US" sz="1800" dirty="0"/>
              <a:t>在大部分</a:t>
            </a:r>
            <a:r>
              <a:rPr lang="en-US" altLang="zh-CN" sz="1800" dirty="0"/>
              <a:t>PC</a:t>
            </a:r>
            <a:r>
              <a:rPr lang="zh-CN" altLang="en-US" sz="1800" dirty="0"/>
              <a:t>机上，当应用进程将整数送入</a:t>
            </a:r>
            <a:r>
              <a:rPr lang="en-US" altLang="zh-CN" sz="1800" dirty="0"/>
              <a:t>socket</a:t>
            </a:r>
            <a:r>
              <a:rPr lang="zh-CN" altLang="en-US" sz="1800" dirty="0"/>
              <a:t>前，需要转化成网络字节序；当应用进程从</a:t>
            </a:r>
            <a:r>
              <a:rPr lang="en-US" altLang="zh-CN" sz="1800" dirty="0"/>
              <a:t>socket</a:t>
            </a:r>
            <a:r>
              <a:rPr lang="zh-CN" altLang="en-US" sz="1800" dirty="0"/>
              <a:t>取出整数后，要转化成小端字节序）</a:t>
            </a: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3379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字节序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t>网络字节序</a:t>
            </a:r>
            <a:r>
              <a:rPr lang="en-US" altLang="zh-CN" sz="1800" dirty="0"/>
              <a:t>(NBO - Network Byte Order)</a:t>
            </a:r>
            <a:endParaRPr lang="en-US" altLang="zh-CN" sz="1800" dirty="0"/>
          </a:p>
          <a:p>
            <a:pPr lvl="1" indent="-285750"/>
            <a:r>
              <a:rPr lang="zh-CN" altLang="en-US" sz="1800" dirty="0"/>
              <a:t>使用统一的字节顺序，避免兼容性问题</a:t>
            </a:r>
            <a:endParaRPr lang="zh-CN" altLang="en-US" sz="1800" dirty="0"/>
          </a:p>
          <a:p>
            <a:pPr lvl="1" indent="-285750"/>
            <a:endParaRPr lang="zh-CN" altLang="en-US" sz="1800" dirty="0"/>
          </a:p>
          <a:p>
            <a:pPr lvl="0" indent="-342900"/>
            <a:r>
              <a:rPr lang="zh-CN" altLang="en-US" sz="1800" dirty="0"/>
              <a:t>主机字节序</a:t>
            </a:r>
            <a:r>
              <a:rPr lang="en-US" altLang="zh-CN" sz="1800" dirty="0"/>
              <a:t>(HBO - Host Byte Order)</a:t>
            </a:r>
            <a:endParaRPr lang="en-US" altLang="zh-CN" sz="1800" dirty="0"/>
          </a:p>
          <a:p>
            <a:pPr lvl="1" indent="-285750">
              <a:lnSpc>
                <a:spcPct val="150000"/>
              </a:lnSpc>
            </a:pPr>
            <a:r>
              <a:rPr lang="zh-CN" altLang="en-US" sz="1800" dirty="0"/>
              <a:t>不同的机器</a:t>
            </a:r>
            <a:r>
              <a:rPr lang="en-US" altLang="zh-CN" sz="1800" dirty="0"/>
              <a:t>HBO</a:t>
            </a:r>
            <a:r>
              <a:rPr lang="zh-CN" altLang="en-US" sz="1800" dirty="0"/>
              <a:t>是不一样的，这与</a:t>
            </a:r>
            <a:r>
              <a:rPr lang="en-US" altLang="zh-CN" sz="1800" dirty="0"/>
              <a:t>CPU</a:t>
            </a:r>
            <a:r>
              <a:rPr lang="zh-CN" altLang="en-US" sz="1800" dirty="0"/>
              <a:t>的设计有关</a:t>
            </a:r>
            <a:endParaRPr lang="zh-CN" altLang="en-US" sz="1800" dirty="0"/>
          </a:p>
          <a:p>
            <a:pPr lvl="1" indent="-285750">
              <a:lnSpc>
                <a:spcPct val="150000"/>
              </a:lnSpc>
            </a:pPr>
            <a:r>
              <a:rPr lang="en-US" altLang="zh-CN" sz="1800" dirty="0"/>
              <a:t>Motorola 68K</a:t>
            </a:r>
            <a:r>
              <a:rPr lang="zh-CN" altLang="en-US" sz="1800" dirty="0"/>
              <a:t>系列、</a:t>
            </a:r>
            <a:r>
              <a:rPr lang="en-US" altLang="zh-CN" sz="1800" dirty="0"/>
              <a:t>ARM</a:t>
            </a:r>
            <a:r>
              <a:rPr lang="zh-CN" altLang="en-US" sz="1800" dirty="0"/>
              <a:t>系列，</a:t>
            </a:r>
            <a:r>
              <a:rPr lang="en-US" altLang="zh-CN" sz="1800" dirty="0"/>
              <a:t>HBO</a:t>
            </a:r>
            <a:r>
              <a:rPr lang="zh-CN" altLang="en-US" sz="1800" dirty="0"/>
              <a:t>与</a:t>
            </a:r>
            <a:r>
              <a:rPr lang="en-US" altLang="zh-CN" sz="1800" dirty="0"/>
              <a:t>NBO</a:t>
            </a:r>
            <a:r>
              <a:rPr lang="zh-CN" altLang="en-US" sz="1800" dirty="0"/>
              <a:t>是一致的</a:t>
            </a:r>
            <a:endParaRPr lang="zh-CN" altLang="en-US" sz="1800" dirty="0"/>
          </a:p>
          <a:p>
            <a:pPr lvl="1" indent="-285750">
              <a:lnSpc>
                <a:spcPct val="150000"/>
              </a:lnSpc>
            </a:pPr>
            <a:r>
              <a:rPr lang="en-US" altLang="zh-CN" sz="1800" dirty="0"/>
              <a:t>Intel X86</a:t>
            </a:r>
            <a:r>
              <a:rPr lang="zh-CN" altLang="en-US" sz="1800" dirty="0"/>
              <a:t>系列，</a:t>
            </a:r>
            <a:r>
              <a:rPr lang="en-US" altLang="zh-CN" sz="1800" dirty="0"/>
              <a:t>HBO</a:t>
            </a:r>
            <a:r>
              <a:rPr lang="zh-CN" altLang="en-US" sz="1800" dirty="0"/>
              <a:t>与</a:t>
            </a:r>
            <a:r>
              <a:rPr lang="en-US" altLang="zh-CN" sz="1800" dirty="0"/>
              <a:t>NBO</a:t>
            </a:r>
            <a:r>
              <a:rPr lang="zh-CN" altLang="en-US" sz="1800" dirty="0"/>
              <a:t>不一致</a:t>
            </a:r>
            <a:endParaRPr lang="zh-CN" altLang="en-US" sz="1800" dirty="0"/>
          </a:p>
          <a:p>
            <a:pPr lvl="0" indent="-342900">
              <a:lnSpc>
                <a:spcPct val="90000"/>
              </a:lnSpc>
            </a:pP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3481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字节序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 </a:t>
            </a:r>
            <a:r>
              <a:rPr lang="zh-CN" altLang="en-US" sz="1800" dirty="0"/>
              <a:t>大端</a:t>
            </a:r>
            <a:r>
              <a:rPr lang="en-US" altLang="zh-CN" sz="1800" dirty="0"/>
              <a:t>(Big-Endian):</a:t>
            </a:r>
            <a:r>
              <a:rPr lang="zh-CN" altLang="en-US" sz="1800" dirty="0"/>
              <a:t>字节的高位在内存中放在存储单元的起始位置</a:t>
            </a:r>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endParaRPr lang="zh-CN" altLang="en-US" sz="1800" dirty="0"/>
          </a:p>
          <a:p>
            <a:pPr lvl="0" indent="-342900"/>
            <a:r>
              <a:rPr lang="zh-CN" altLang="en-US" sz="1800" dirty="0"/>
              <a:t>小端</a:t>
            </a:r>
            <a:r>
              <a:rPr lang="en-US" altLang="zh-CN" sz="1800" dirty="0"/>
              <a:t>(Little-Endian):</a:t>
            </a:r>
            <a:r>
              <a:rPr lang="zh-CN" altLang="en-US" sz="1800" dirty="0"/>
              <a:t>与大端相反</a:t>
            </a:r>
            <a:endParaRPr lang="zh-CN" altLang="en-US" sz="1800" dirty="0"/>
          </a:p>
          <a:p>
            <a:pPr lvl="0" indent="-342900"/>
            <a:endParaRPr lang="zh-CN" altLang="en-US" sz="1800" dirty="0"/>
          </a:p>
          <a:p>
            <a:pPr lvl="0" indent="-342900">
              <a:lnSpc>
                <a:spcPct val="90000"/>
              </a:lnSpc>
            </a:pP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3584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字节序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graphicFrame>
        <p:nvGraphicFramePr>
          <p:cNvPr id="35843" name="Object 4"/>
          <p:cNvGraphicFramePr>
            <a:graphicFrameLocks noGrp="1"/>
          </p:cNvGraphicFramePr>
          <p:nvPr/>
        </p:nvGraphicFramePr>
        <p:xfrm>
          <a:off x="1035050" y="1776413"/>
          <a:ext cx="7073900" cy="1776412"/>
        </p:xfrm>
        <a:graphic>
          <a:graphicData uri="http://schemas.openxmlformats.org/presentationml/2006/ole">
            <mc:AlternateContent xmlns:mc="http://schemas.openxmlformats.org/markup-compatibility/2006">
              <mc:Choice xmlns:v="urn:schemas-microsoft-com:vml" Requires="v">
                <p:oleObj spid="_x0000_s3081" name="" r:id="rId1" imgW="6141085" imgH="1909445" progId="Visio.Drawing.11">
                  <p:embed/>
                </p:oleObj>
              </mc:Choice>
              <mc:Fallback>
                <p:oleObj name="" r:id="rId1" imgW="6141085" imgH="1909445" progId="Visio.Drawing.11">
                  <p:embed/>
                  <p:pic>
                    <p:nvPicPr>
                      <p:cNvPr id="0" name="图片 3080"/>
                      <p:cNvPicPr/>
                      <p:nvPr/>
                    </p:nvPicPr>
                    <p:blipFill>
                      <a:blip r:embed="rId2"/>
                      <a:stretch>
                        <a:fillRect/>
                      </a:stretch>
                    </p:blipFill>
                    <p:spPr>
                      <a:xfrm>
                        <a:off x="1035050" y="1776413"/>
                        <a:ext cx="7073900" cy="1776412"/>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457200" lvl="1" indent="0" eaLnBrk="1" fontAlgn="base" hangingPunct="1">
              <a:buNone/>
            </a:pPr>
            <a:endParaRPr lang="zh-CN" altLang="en-US" sz="1800" strike="noStrike" noProof="1" dirty="0">
              <a:latin typeface="Courier New" panose="02070309020205020404" pitchFamily="49" charset="0"/>
              <a:sym typeface="+mn-ea"/>
            </a:endParaRPr>
          </a:p>
          <a:p>
            <a:pPr marL="457200" lvl="1" indent="0" eaLnBrk="1" fontAlgn="base" hangingPunct="1">
              <a:buNone/>
            </a:pPr>
            <a:r>
              <a:rPr lang="zh-CN" altLang="en-US" sz="1800" strike="noStrike" noProof="1" dirty="0">
                <a:latin typeface="Courier New" panose="02070309020205020404" pitchFamily="49" charset="0"/>
                <a:sym typeface="+mn-ea"/>
              </a:rPr>
              <a:t>把给定系统所采用的字节序称为主机字节序。为了避免不同类别主机之间在数据交换时由于对于字节序的不同而导致的差错，引入了网络字节序。</a:t>
            </a:r>
            <a:endParaRPr lang="zh-CN" altLang="en-US" sz="1800" strike="noStrike" noProof="1" dirty="0">
              <a:latin typeface="Courier New" panose="02070309020205020404" pitchFamily="49" charset="0"/>
            </a:endParaRPr>
          </a:p>
          <a:p>
            <a:pPr lvl="1" eaLnBrk="1" fontAlgn="base" hangingPunct="1"/>
            <a:endParaRPr lang="zh-CN" altLang="en-US" sz="1800" strike="noStrike" noProof="1" dirty="0">
              <a:latin typeface="Courier New" panose="02070309020205020404" pitchFamily="49" charset="0"/>
            </a:endParaRPr>
          </a:p>
          <a:p>
            <a:pPr marL="457200" lvl="1" indent="0" eaLnBrk="1" fontAlgn="base" hangingPunct="1">
              <a:buNone/>
            </a:pPr>
            <a:r>
              <a:rPr lang="zh-CN" altLang="en-US" sz="1800" strike="noStrike" noProof="1" dirty="0">
                <a:latin typeface="Courier New" panose="02070309020205020404" pitchFamily="49" charset="0"/>
                <a:sym typeface="+mn-ea"/>
              </a:rPr>
              <a:t>主机字节序到网络字节序</a:t>
            </a:r>
            <a:endParaRPr lang="zh-CN" altLang="en-US" sz="1800" strike="noStrike" noProof="1" dirty="0">
              <a:latin typeface="Courier New" panose="02070309020205020404" pitchFamily="49" charset="0"/>
            </a:endParaRPr>
          </a:p>
          <a:p>
            <a:pPr lvl="2" eaLnBrk="1" fontAlgn="base" hangingPunct="1"/>
            <a:r>
              <a:rPr lang="en-US" altLang="zh-CN" sz="1800" strike="noStrike" noProof="1" dirty="0">
                <a:latin typeface="Courier New" panose="02070309020205020404" pitchFamily="49" charset="0"/>
                <a:sym typeface="+mn-ea"/>
              </a:rPr>
              <a:t>u_long htonl (u_long hostlong);</a:t>
            </a:r>
            <a:endParaRPr lang="en-US" altLang="zh-CN" sz="1800" strike="noStrike" noProof="1" dirty="0">
              <a:latin typeface="Courier New" panose="02070309020205020404" pitchFamily="49" charset="0"/>
            </a:endParaRPr>
          </a:p>
          <a:p>
            <a:pPr lvl="2" eaLnBrk="1" fontAlgn="base" hangingPunct="1"/>
            <a:r>
              <a:rPr lang="en-US" altLang="zh-CN" sz="1800" strike="noStrike" noProof="1" dirty="0">
                <a:latin typeface="Courier New" panose="02070309020205020404" pitchFamily="49" charset="0"/>
                <a:sym typeface="+mn-ea"/>
              </a:rPr>
              <a:t>u_short htons (u_short short);</a:t>
            </a:r>
            <a:endParaRPr lang="en-US" altLang="zh-CN" sz="1800" strike="noStrike" noProof="1" dirty="0">
              <a:latin typeface="Courier New" panose="02070309020205020404" pitchFamily="49" charset="0"/>
            </a:endParaRPr>
          </a:p>
          <a:p>
            <a:pPr lvl="2" eaLnBrk="1" fontAlgn="base" hangingPunct="1"/>
            <a:endParaRPr lang="en-US" altLang="zh-CN" sz="1800" strike="noStrike" noProof="1" dirty="0">
              <a:latin typeface="Courier New" panose="02070309020205020404" pitchFamily="49" charset="0"/>
            </a:endParaRPr>
          </a:p>
          <a:p>
            <a:pPr marL="457200" lvl="1" indent="0" eaLnBrk="1" fontAlgn="base" hangingPunct="1">
              <a:buNone/>
            </a:pPr>
            <a:r>
              <a:rPr lang="zh-CN" altLang="en-US" sz="1800" strike="noStrike" noProof="1" dirty="0">
                <a:latin typeface="Courier New" panose="02070309020205020404" pitchFamily="49" charset="0"/>
                <a:sym typeface="+mn-ea"/>
              </a:rPr>
              <a:t>网络字节序到主机字节序</a:t>
            </a:r>
            <a:endParaRPr lang="zh-CN" altLang="en-US" sz="1800" strike="noStrike" noProof="1" dirty="0">
              <a:latin typeface="Courier New" panose="02070309020205020404" pitchFamily="49" charset="0"/>
            </a:endParaRPr>
          </a:p>
          <a:p>
            <a:pPr lvl="2" eaLnBrk="1" fontAlgn="base" hangingPunct="1"/>
            <a:r>
              <a:rPr lang="en-US" altLang="zh-CN" sz="1800" strike="noStrike" noProof="1" dirty="0">
                <a:latin typeface="Courier New" panose="02070309020205020404" pitchFamily="49" charset="0"/>
                <a:sym typeface="+mn-ea"/>
              </a:rPr>
              <a:t>u_long ntohl (u_long hostlong);</a:t>
            </a:r>
            <a:endParaRPr lang="en-US" altLang="zh-CN" sz="1800" strike="noStrike" noProof="1" dirty="0">
              <a:latin typeface="Courier New" panose="02070309020205020404" pitchFamily="49" charset="0"/>
            </a:endParaRPr>
          </a:p>
          <a:p>
            <a:pPr lvl="2" eaLnBrk="1" fontAlgn="base" hangingPunct="1"/>
            <a:r>
              <a:rPr lang="en-US" altLang="zh-CN" sz="1800" strike="noStrike" noProof="1" dirty="0">
                <a:latin typeface="Courier New" panose="02070309020205020404" pitchFamily="49" charset="0"/>
                <a:sym typeface="+mn-ea"/>
              </a:rPr>
              <a:t>u_short ntohs (u_short short);</a:t>
            </a:r>
            <a:endParaRPr lang="en-US" altLang="zh-CN" sz="1800" strike="noStrike" noProof="1" dirty="0">
              <a:latin typeface="Courier New" panose="02070309020205020404" pitchFamily="49" charset="0"/>
            </a:endParaRPr>
          </a:p>
          <a:p>
            <a:pPr eaLnBrk="1" fontAlgn="base" hangingPunct="1"/>
            <a:endParaRPr lang="zh-CN" altLang="en-US" sz="1800" strike="noStrike" noProof="1" dirty="0"/>
          </a:p>
          <a:p>
            <a:pPr eaLnBrk="1" fontAlgn="base" hangingPunct="1"/>
            <a:endParaRPr lang="zh-CN" altLang="en-US" sz="1800" strike="noStrike" noProof="1" dirty="0"/>
          </a:p>
          <a:p>
            <a:pPr eaLnBrk="1" fontAlgn="base" hangingPunct="1">
              <a:lnSpc>
                <a:spcPct val="90000"/>
              </a:lnSpc>
            </a:pPr>
            <a:endParaRPr lang="zh-CN" altLang="en-US" sz="1800" strike="noStrike" noProof="1" dirty="0"/>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3686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字节序</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solidFill>
                  <a:srgbClr val="FF0000"/>
                </a:solidFill>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3789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1" indent="-285750">
              <a:lnSpc>
                <a:spcPct val="150000"/>
              </a:lnSpc>
            </a:pPr>
            <a:r>
              <a:rPr lang="en-US" altLang="zh-CN" sz="1800" dirty="0"/>
              <a:t>socket()</a:t>
            </a:r>
            <a:r>
              <a:rPr lang="zh-CN" altLang="en-US" sz="1800" dirty="0"/>
              <a:t>　创建套接字</a:t>
            </a:r>
            <a:endParaRPr lang="zh-CN" altLang="en-US" sz="1800" dirty="0"/>
          </a:p>
          <a:p>
            <a:pPr lvl="1" indent="-285750">
              <a:lnSpc>
                <a:spcPct val="150000"/>
              </a:lnSpc>
            </a:pPr>
            <a:r>
              <a:rPr lang="en-US" altLang="zh-CN" sz="1800" dirty="0"/>
              <a:t>bind()</a:t>
            </a:r>
            <a:r>
              <a:rPr lang="zh-CN" altLang="en-US" sz="1800" dirty="0"/>
              <a:t>　绑定本机地址和端口</a:t>
            </a:r>
            <a:endParaRPr lang="zh-CN" altLang="en-US" sz="1800" dirty="0"/>
          </a:p>
          <a:p>
            <a:pPr lvl="1" indent="-285750">
              <a:lnSpc>
                <a:spcPct val="150000"/>
              </a:lnSpc>
            </a:pPr>
            <a:r>
              <a:rPr lang="en-US" altLang="zh-CN" sz="1800" dirty="0"/>
              <a:t>connect()</a:t>
            </a:r>
            <a:r>
              <a:rPr lang="zh-CN" altLang="en-US" sz="1800" dirty="0"/>
              <a:t>　建立连接</a:t>
            </a:r>
            <a:endParaRPr lang="zh-CN" altLang="en-US" sz="1800" dirty="0"/>
          </a:p>
          <a:p>
            <a:pPr lvl="1" indent="-285750">
              <a:lnSpc>
                <a:spcPct val="150000"/>
              </a:lnSpc>
            </a:pPr>
            <a:r>
              <a:rPr lang="en-US" altLang="zh-CN" sz="1800" dirty="0"/>
              <a:t>listen()</a:t>
            </a:r>
            <a:r>
              <a:rPr lang="zh-CN" altLang="en-US" sz="1800" dirty="0"/>
              <a:t>　设置监听套接字</a:t>
            </a:r>
            <a:endParaRPr lang="zh-CN" altLang="en-US" sz="1800" dirty="0"/>
          </a:p>
          <a:p>
            <a:pPr lvl="1" indent="-285750">
              <a:lnSpc>
                <a:spcPct val="150000"/>
              </a:lnSpc>
            </a:pPr>
            <a:r>
              <a:rPr lang="en-US" altLang="zh-CN" sz="1800" dirty="0"/>
              <a:t>accept()</a:t>
            </a:r>
            <a:r>
              <a:rPr lang="zh-CN" altLang="en-US" sz="1800" dirty="0"/>
              <a:t>　接受</a:t>
            </a:r>
            <a:r>
              <a:rPr lang="en-US" altLang="zh-CN" sz="1800" dirty="0"/>
              <a:t>TCP</a:t>
            </a:r>
            <a:r>
              <a:rPr lang="zh-CN" altLang="en-US" sz="1800" dirty="0"/>
              <a:t>连接</a:t>
            </a:r>
            <a:endParaRPr lang="zh-CN" altLang="en-US" sz="1800" dirty="0"/>
          </a:p>
          <a:p>
            <a:pPr lvl="1" indent="-285750">
              <a:lnSpc>
                <a:spcPct val="150000"/>
              </a:lnSpc>
            </a:pPr>
            <a:r>
              <a:rPr lang="en-US" altLang="zh-CN" sz="1800" dirty="0"/>
              <a:t>recv(), read(), recvfrom()</a:t>
            </a:r>
            <a:r>
              <a:rPr lang="zh-CN" altLang="en-US" sz="1800" dirty="0"/>
              <a:t>　数据接收</a:t>
            </a:r>
            <a:endParaRPr lang="zh-CN" altLang="en-US" sz="1800" dirty="0"/>
          </a:p>
          <a:p>
            <a:pPr lvl="1" indent="-285750">
              <a:lnSpc>
                <a:spcPct val="150000"/>
              </a:lnSpc>
            </a:pPr>
            <a:r>
              <a:rPr lang="en-US" altLang="zh-CN" sz="1800" dirty="0"/>
              <a:t>send(), write(), sendto()</a:t>
            </a:r>
            <a:r>
              <a:rPr lang="zh-CN" altLang="en-US" sz="1800" dirty="0"/>
              <a:t>　数据发送</a:t>
            </a:r>
            <a:endParaRPr lang="zh-CN" altLang="en-US" sz="1800" dirty="0"/>
          </a:p>
          <a:p>
            <a:pPr lvl="1" indent="-285750">
              <a:lnSpc>
                <a:spcPct val="150000"/>
              </a:lnSpc>
            </a:pPr>
            <a:r>
              <a:rPr lang="en-US" altLang="zh-CN" sz="1800" dirty="0"/>
              <a:t>close(), shutdown()</a:t>
            </a:r>
            <a:r>
              <a:rPr lang="zh-CN" altLang="en-US" sz="1800" dirty="0"/>
              <a:t>　关闭套接字</a:t>
            </a: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3891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int socket (int domain, int type, int protocol);</a:t>
            </a:r>
            <a:endParaRPr lang="en-US" altLang="zh-CN" sz="1800" dirty="0"/>
          </a:p>
          <a:p>
            <a:pPr lvl="1" indent="-285750"/>
            <a:r>
              <a:rPr lang="en-US" altLang="zh-CN" sz="1800" dirty="0"/>
              <a:t>domain </a:t>
            </a:r>
            <a:r>
              <a:rPr lang="zh-CN" altLang="en-US" sz="1800" dirty="0"/>
              <a:t>是地址族</a:t>
            </a:r>
            <a:endParaRPr lang="zh-CN" altLang="en-US" sz="1800" dirty="0"/>
          </a:p>
          <a:p>
            <a:pPr lvl="2" indent="-228600">
              <a:buNone/>
            </a:pPr>
            <a:r>
              <a:rPr lang="en-US" altLang="zh-CN" sz="1800" dirty="0"/>
              <a:t>PF_INET  // internet </a:t>
            </a:r>
            <a:r>
              <a:rPr lang="zh-CN" altLang="en-US" sz="1800" dirty="0"/>
              <a:t>协议</a:t>
            </a:r>
            <a:endParaRPr lang="zh-CN" altLang="en-US" sz="1800" dirty="0"/>
          </a:p>
          <a:p>
            <a:pPr lvl="2" indent="-228600">
              <a:buNone/>
            </a:pPr>
            <a:r>
              <a:rPr lang="en-US" altLang="zh-CN" sz="1800" dirty="0"/>
              <a:t>PF_UNIX // unix internal</a:t>
            </a:r>
            <a:r>
              <a:rPr lang="zh-CN" altLang="en-US" sz="1800" dirty="0"/>
              <a:t>协议</a:t>
            </a:r>
            <a:endParaRPr lang="zh-CN" altLang="en-US" sz="1800" dirty="0"/>
          </a:p>
          <a:p>
            <a:pPr lvl="2" indent="-228600">
              <a:buNone/>
            </a:pPr>
            <a:r>
              <a:rPr lang="en-US" altLang="zh-CN" sz="1800" dirty="0"/>
              <a:t>PF_NS      // Xerox NS</a:t>
            </a:r>
            <a:r>
              <a:rPr lang="zh-CN" altLang="en-US" sz="1800" dirty="0"/>
              <a:t>协议</a:t>
            </a:r>
            <a:endParaRPr lang="zh-CN" altLang="en-US" sz="1800" dirty="0"/>
          </a:p>
          <a:p>
            <a:pPr lvl="2" indent="-228600">
              <a:buNone/>
            </a:pPr>
            <a:r>
              <a:rPr lang="en-US" altLang="zh-CN" sz="1800" dirty="0"/>
              <a:t>PF_IMPLINK  // Interface Message</a:t>
            </a:r>
            <a:r>
              <a:rPr lang="zh-CN" altLang="en-US" sz="1800" dirty="0"/>
              <a:t>协议</a:t>
            </a:r>
            <a:endParaRPr lang="zh-CN" altLang="en-US" sz="1800" dirty="0"/>
          </a:p>
          <a:p>
            <a:pPr lvl="1" indent="-285750"/>
            <a:r>
              <a:rPr lang="en-US" altLang="zh-CN" sz="1800" dirty="0"/>
              <a:t>type  // </a:t>
            </a:r>
            <a:r>
              <a:rPr lang="zh-CN" altLang="en-US" sz="1800" dirty="0"/>
              <a:t>套接字类型</a:t>
            </a:r>
            <a:endParaRPr lang="zh-CN" altLang="en-US" sz="1800" dirty="0"/>
          </a:p>
          <a:p>
            <a:pPr lvl="2" indent="-228600">
              <a:buNone/>
            </a:pPr>
            <a:r>
              <a:rPr lang="en-US" altLang="zh-CN" sz="1800" dirty="0"/>
              <a:t>SOCK_STREAM   // </a:t>
            </a:r>
            <a:r>
              <a:rPr lang="zh-CN" altLang="en-US" sz="1800" dirty="0"/>
              <a:t>流式套接字</a:t>
            </a:r>
            <a:endParaRPr lang="zh-CN" altLang="en-US" sz="1800" dirty="0"/>
          </a:p>
          <a:p>
            <a:pPr lvl="2" indent="-228600">
              <a:buNone/>
            </a:pPr>
            <a:r>
              <a:rPr lang="en-US" altLang="zh-CN" sz="1800" dirty="0"/>
              <a:t>SOCK_DGRAM    // </a:t>
            </a:r>
            <a:r>
              <a:rPr lang="zh-CN" altLang="en-US" sz="1800" dirty="0"/>
              <a:t>数据报套接字</a:t>
            </a:r>
            <a:endParaRPr lang="zh-CN" altLang="en-US" sz="1800" dirty="0"/>
          </a:p>
          <a:p>
            <a:pPr lvl="2" indent="-228600">
              <a:buNone/>
            </a:pPr>
            <a:r>
              <a:rPr lang="en-US" altLang="zh-CN" sz="1800" dirty="0"/>
              <a:t>SOCK_RAW         //  </a:t>
            </a:r>
            <a:r>
              <a:rPr lang="zh-CN" altLang="en-US" sz="1800" dirty="0"/>
              <a:t>原始套接字</a:t>
            </a:r>
            <a:endParaRPr lang="zh-CN" altLang="en-US" sz="1800" dirty="0"/>
          </a:p>
          <a:p>
            <a:pPr lvl="1" indent="-285750"/>
            <a:r>
              <a:rPr lang="en-US" altLang="zh-CN" sz="1800" dirty="0"/>
              <a:t>protocol </a:t>
            </a:r>
            <a:r>
              <a:rPr lang="zh-CN" altLang="en-US" sz="1800" dirty="0"/>
              <a:t>参数通常置为</a:t>
            </a:r>
            <a:r>
              <a:rPr lang="en-US" altLang="zh-CN" sz="1800" dirty="0"/>
              <a:t>0</a:t>
            </a:r>
            <a:endParaRPr lang="en-US" altLang="zh-CN" sz="1800" dirty="0"/>
          </a:p>
          <a:p>
            <a:pPr lvl="1" indent="-285750">
              <a:lnSpc>
                <a:spcPct val="150000"/>
              </a:lnSpc>
            </a:pPr>
            <a:r>
              <a:rPr lang="en-US" altLang="zh-CN" sz="1800" dirty="0"/>
              <a:t>return </a:t>
            </a:r>
            <a:r>
              <a:rPr lang="zh-CN" altLang="en-US" sz="1800" dirty="0"/>
              <a:t>：</a:t>
            </a:r>
            <a:r>
              <a:rPr lang="en-US" altLang="zh-CN" sz="1800" dirty="0"/>
              <a:t>socket </a:t>
            </a:r>
            <a:r>
              <a:rPr lang="zh-CN" altLang="en-US" sz="1800" dirty="0"/>
              <a:t>描述符</a:t>
            </a:r>
            <a:endParaRPr lang="zh-CN" altLang="en-US" sz="1800" dirty="0"/>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3993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socket</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zh-CN" altLang="en-US" sz="1800" i="1" dirty="0"/>
              <a:t>通用地址结构</a:t>
            </a:r>
            <a:endParaRPr lang="zh-CN" altLang="en-US" sz="1800" i="1" dirty="0"/>
          </a:p>
          <a:p>
            <a:pPr lvl="1" indent="-285750">
              <a:lnSpc>
                <a:spcPct val="80000"/>
              </a:lnSpc>
              <a:buNone/>
            </a:pPr>
            <a:r>
              <a:rPr lang="zh-CN" altLang="en-US" sz="1800" b="1" dirty="0">
                <a:solidFill>
                  <a:srgbClr val="0000FF"/>
                </a:solidFill>
              </a:rPr>
              <a:t>  </a:t>
            </a:r>
            <a:r>
              <a:rPr lang="en-US" altLang="zh-CN" sz="1800" b="1" dirty="0">
                <a:solidFill>
                  <a:srgbClr val="0000FF"/>
                </a:solidFill>
              </a:rPr>
              <a:t>struct sockaddr</a:t>
            </a:r>
            <a:endParaRPr lang="en-US" altLang="zh-CN" sz="1800" b="1" dirty="0">
              <a:solidFill>
                <a:srgbClr val="0000FF"/>
              </a:solidFill>
            </a:endParaRPr>
          </a:p>
          <a:p>
            <a:pPr lvl="1" indent="-285750">
              <a:lnSpc>
                <a:spcPct val="80000"/>
              </a:lnSpc>
              <a:buNone/>
            </a:pPr>
            <a:r>
              <a:rPr lang="en-US" altLang="zh-CN" sz="1800" b="1" dirty="0">
                <a:solidFill>
                  <a:srgbClr val="0000FF"/>
                </a:solidFill>
              </a:rPr>
              <a:t>  {</a:t>
            </a:r>
            <a:r>
              <a:rPr lang="en-US" altLang="zh-CN" sz="1800" i="1" dirty="0">
                <a:solidFill>
                  <a:srgbClr val="0000FF"/>
                </a:solidFill>
              </a:rPr>
              <a:t>    </a:t>
            </a:r>
            <a:endParaRPr lang="en-US" altLang="zh-CN" sz="1800" i="1" dirty="0">
              <a:solidFill>
                <a:srgbClr val="0000FF"/>
              </a:solidFill>
            </a:endParaRPr>
          </a:p>
          <a:p>
            <a:pPr lvl="1" indent="-285750">
              <a:lnSpc>
                <a:spcPct val="80000"/>
              </a:lnSpc>
              <a:buNone/>
            </a:pPr>
            <a:r>
              <a:rPr lang="en-US" altLang="zh-CN" sz="1800" b="1" dirty="0">
                <a:solidFill>
                  <a:srgbClr val="0000FF"/>
                </a:solidFill>
              </a:rPr>
              <a:t>       u_short  sa_family;</a:t>
            </a:r>
            <a:r>
              <a:rPr lang="en-US" altLang="zh-CN" sz="1800" i="1" dirty="0">
                <a:solidFill>
                  <a:srgbClr val="0000FF"/>
                </a:solidFill>
              </a:rPr>
              <a:t>    // 地址族, AF_xxx</a:t>
            </a:r>
            <a:endParaRPr lang="en-US" altLang="zh-CN" sz="1800" i="1" dirty="0">
              <a:solidFill>
                <a:srgbClr val="0000FF"/>
              </a:solidFill>
            </a:endParaRPr>
          </a:p>
          <a:p>
            <a:pPr lvl="1" indent="-285750">
              <a:lnSpc>
                <a:spcPct val="80000"/>
              </a:lnSpc>
              <a:buNone/>
            </a:pPr>
            <a:r>
              <a:rPr lang="en-US" altLang="zh-CN" sz="1800" i="1" dirty="0">
                <a:solidFill>
                  <a:srgbClr val="0000FF"/>
                </a:solidFill>
              </a:rPr>
              <a:t>       </a:t>
            </a:r>
            <a:r>
              <a:rPr lang="en-US" altLang="zh-CN" sz="1800" b="1" dirty="0">
                <a:solidFill>
                  <a:srgbClr val="0000FF"/>
                </a:solidFill>
              </a:rPr>
              <a:t>char  sa_data[14];</a:t>
            </a:r>
            <a:r>
              <a:rPr lang="en-US" altLang="zh-CN" sz="1800" i="1" dirty="0">
                <a:solidFill>
                  <a:srgbClr val="0000FF"/>
                </a:solidFill>
              </a:rPr>
              <a:t>     // 14</a:t>
            </a:r>
            <a:r>
              <a:rPr lang="zh-CN" altLang="en-US" sz="1800" i="1" dirty="0">
                <a:solidFill>
                  <a:srgbClr val="0000FF"/>
                </a:solidFill>
              </a:rPr>
              <a:t>字节协议地址</a:t>
            </a:r>
            <a:endParaRPr lang="en-US" altLang="zh-CN" sz="1800" i="1" dirty="0">
              <a:solidFill>
                <a:srgbClr val="0000FF"/>
              </a:solidFill>
            </a:endParaRPr>
          </a:p>
          <a:p>
            <a:pPr lvl="1" indent="-285750">
              <a:lnSpc>
                <a:spcPct val="80000"/>
              </a:lnSpc>
              <a:buNone/>
            </a:pPr>
            <a:r>
              <a:rPr lang="zh-CN" altLang="en-US" sz="1800" b="1" dirty="0">
                <a:solidFill>
                  <a:srgbClr val="0000FF"/>
                </a:solidFill>
              </a:rPr>
              <a:t>  </a:t>
            </a:r>
            <a:r>
              <a:rPr lang="en-US" altLang="zh-CN" sz="1800" b="1" dirty="0">
                <a:solidFill>
                  <a:srgbClr val="0000FF"/>
                </a:solidFill>
              </a:rPr>
              <a:t>};</a:t>
            </a:r>
            <a:endParaRPr lang="en-US" altLang="zh-CN" sz="1800" b="1" dirty="0">
              <a:solidFill>
                <a:srgbClr val="0000FF"/>
              </a:solidFill>
            </a:endParaRPr>
          </a:p>
          <a:p>
            <a:pPr lvl="0" indent="-342900">
              <a:lnSpc>
                <a:spcPct val="80000"/>
              </a:lnSpc>
              <a:buNone/>
            </a:pPr>
            <a:endParaRPr lang="en-US" altLang="zh-CN" sz="1800" b="1" dirty="0">
              <a:solidFill>
                <a:srgbClr val="0000FF"/>
              </a:solidFill>
            </a:endParaRPr>
          </a:p>
          <a:p>
            <a:pPr lvl="0" indent="-342900">
              <a:lnSpc>
                <a:spcPct val="80000"/>
              </a:lnSpc>
            </a:pPr>
            <a:r>
              <a:rPr lang="en-US" altLang="zh-CN" sz="1800" i="1" dirty="0"/>
              <a:t>Internet</a:t>
            </a:r>
            <a:r>
              <a:rPr lang="zh-CN" altLang="en-US" sz="1800" i="1" dirty="0"/>
              <a:t>协议地址结构</a:t>
            </a:r>
            <a:endParaRPr lang="zh-CN" altLang="en-US" sz="1800" i="1" dirty="0"/>
          </a:p>
          <a:p>
            <a:pPr lvl="1" indent="-285750">
              <a:lnSpc>
                <a:spcPct val="80000"/>
              </a:lnSpc>
              <a:buNone/>
            </a:pPr>
            <a:r>
              <a:rPr lang="zh-CN" altLang="en-US" sz="1800" b="1" dirty="0">
                <a:solidFill>
                  <a:srgbClr val="0000FF"/>
                </a:solidFill>
              </a:rPr>
              <a:t>  </a:t>
            </a:r>
            <a:r>
              <a:rPr lang="en-US" altLang="zh-CN" sz="1800" b="1" dirty="0">
                <a:solidFill>
                  <a:srgbClr val="0000FF"/>
                </a:solidFill>
              </a:rPr>
              <a:t>struct sockaddr_in    //</a:t>
            </a:r>
            <a:r>
              <a:rPr lang="en-US" altLang="zh-CN" sz="1800" b="1" dirty="0">
                <a:solidFill>
                  <a:srgbClr val="0000FF"/>
                </a:solidFill>
              </a:rPr>
              <a:t>struct sockaddr_un</a:t>
            </a:r>
            <a:endParaRPr lang="en-US" altLang="zh-CN" sz="1800" b="1" dirty="0">
              <a:solidFill>
                <a:srgbClr val="0000FF"/>
              </a:solidFill>
            </a:endParaRPr>
          </a:p>
          <a:p>
            <a:pPr lvl="1" indent="-285750">
              <a:lnSpc>
                <a:spcPct val="80000"/>
              </a:lnSpc>
              <a:buNone/>
            </a:pPr>
            <a:r>
              <a:rPr lang="en-US" altLang="zh-CN" sz="1800" b="1" dirty="0">
                <a:solidFill>
                  <a:srgbClr val="0000FF"/>
                </a:solidFill>
              </a:rPr>
              <a:t>  {           </a:t>
            </a:r>
            <a:endParaRPr lang="en-US" altLang="zh-CN" sz="1800" b="1" dirty="0">
              <a:solidFill>
                <a:srgbClr val="0000FF"/>
              </a:solidFill>
            </a:endParaRPr>
          </a:p>
          <a:p>
            <a:pPr lvl="1" indent="-285750">
              <a:lnSpc>
                <a:spcPct val="80000"/>
              </a:lnSpc>
              <a:buNone/>
            </a:pPr>
            <a:r>
              <a:rPr lang="en-US" altLang="zh-CN" sz="1800" b="1" dirty="0">
                <a:solidFill>
                  <a:srgbClr val="0000FF"/>
                </a:solidFill>
              </a:rPr>
              <a:t>       u_short sin_family;      </a:t>
            </a:r>
            <a:r>
              <a:rPr lang="en-US" altLang="zh-CN" sz="1800" dirty="0">
                <a:solidFill>
                  <a:srgbClr val="0000FF"/>
                </a:solidFill>
              </a:rPr>
              <a:t>// 地址族, AF_INET</a:t>
            </a:r>
            <a:r>
              <a:rPr lang="zh-CN" altLang="en-US" sz="1800" dirty="0">
                <a:solidFill>
                  <a:srgbClr val="0000FF"/>
                </a:solidFill>
              </a:rPr>
              <a:t>，</a:t>
            </a:r>
            <a:r>
              <a:rPr lang="en-US" altLang="zh-CN" sz="1800" dirty="0">
                <a:solidFill>
                  <a:srgbClr val="0000FF"/>
                </a:solidFill>
              </a:rPr>
              <a:t>2 bytes</a:t>
            </a:r>
            <a:endParaRPr lang="en-US" altLang="zh-CN" sz="1800" dirty="0">
              <a:solidFill>
                <a:srgbClr val="0000FF"/>
              </a:solidFill>
            </a:endParaRPr>
          </a:p>
          <a:p>
            <a:pPr lvl="1" indent="-285750">
              <a:lnSpc>
                <a:spcPct val="80000"/>
              </a:lnSpc>
              <a:buNone/>
            </a:pPr>
            <a:r>
              <a:rPr lang="en-US" altLang="zh-CN" sz="1800" b="1" dirty="0">
                <a:solidFill>
                  <a:srgbClr val="0000FF"/>
                </a:solidFill>
              </a:rPr>
              <a:t>       u_short sin_port;      </a:t>
            </a:r>
            <a:r>
              <a:rPr lang="en-US" altLang="zh-CN" sz="1800" dirty="0">
                <a:solidFill>
                  <a:srgbClr val="0000FF"/>
                </a:solidFill>
              </a:rPr>
              <a:t>// 端口</a:t>
            </a:r>
            <a:r>
              <a:rPr lang="zh-CN" altLang="en-US" sz="1800" dirty="0">
                <a:solidFill>
                  <a:srgbClr val="0000FF"/>
                </a:solidFill>
              </a:rPr>
              <a:t>，</a:t>
            </a:r>
            <a:r>
              <a:rPr lang="en-US" altLang="zh-CN" sz="1800" dirty="0">
                <a:solidFill>
                  <a:srgbClr val="0000FF"/>
                </a:solidFill>
              </a:rPr>
              <a:t>2 bytes</a:t>
            </a:r>
            <a:endParaRPr lang="en-US" altLang="zh-CN" sz="1800" dirty="0">
              <a:solidFill>
                <a:srgbClr val="0000FF"/>
              </a:solidFill>
            </a:endParaRPr>
          </a:p>
          <a:p>
            <a:pPr lvl="1" indent="-285750">
              <a:lnSpc>
                <a:spcPct val="80000"/>
              </a:lnSpc>
              <a:buNone/>
            </a:pPr>
            <a:r>
              <a:rPr lang="en-US" altLang="zh-CN" sz="1800" b="1" dirty="0">
                <a:solidFill>
                  <a:srgbClr val="0000FF"/>
                </a:solidFill>
              </a:rPr>
              <a:t>       struct in_addr sin_addr;  </a:t>
            </a:r>
            <a:r>
              <a:rPr lang="en-US" altLang="zh-CN" sz="1800" dirty="0">
                <a:solidFill>
                  <a:srgbClr val="0000FF"/>
                </a:solidFill>
              </a:rPr>
              <a:t>// IPV4地址</a:t>
            </a:r>
            <a:r>
              <a:rPr lang="zh-CN" altLang="en-US" sz="1800" dirty="0">
                <a:solidFill>
                  <a:srgbClr val="0000FF"/>
                </a:solidFill>
              </a:rPr>
              <a:t>，</a:t>
            </a:r>
            <a:r>
              <a:rPr lang="en-US" altLang="zh-CN" sz="1800" dirty="0">
                <a:solidFill>
                  <a:srgbClr val="0000FF"/>
                </a:solidFill>
              </a:rPr>
              <a:t>4 bytes</a:t>
            </a:r>
            <a:r>
              <a:rPr lang="en-US" altLang="zh-CN" sz="1800" b="1" dirty="0">
                <a:solidFill>
                  <a:srgbClr val="0000FF"/>
                </a:solidFill>
              </a:rPr>
              <a:t> 	</a:t>
            </a:r>
            <a:endParaRPr lang="en-US" altLang="zh-CN" sz="1800" b="1" dirty="0">
              <a:solidFill>
                <a:srgbClr val="0000FF"/>
              </a:solidFill>
            </a:endParaRPr>
          </a:p>
          <a:p>
            <a:pPr lvl="1" indent="-285750">
              <a:lnSpc>
                <a:spcPct val="80000"/>
              </a:lnSpc>
              <a:buNone/>
            </a:pPr>
            <a:r>
              <a:rPr lang="en-US" altLang="zh-CN" sz="1800" b="1" dirty="0">
                <a:solidFill>
                  <a:srgbClr val="0000FF"/>
                </a:solidFill>
              </a:rPr>
              <a:t>       char sin_zero[8];        </a:t>
            </a:r>
            <a:r>
              <a:rPr lang="en-US" altLang="zh-CN" sz="1800" dirty="0">
                <a:solidFill>
                  <a:srgbClr val="0000FF"/>
                </a:solidFill>
              </a:rPr>
              <a:t>// 8 bytes unused</a:t>
            </a:r>
            <a:r>
              <a:rPr lang="zh-CN" altLang="en-US" sz="1800" dirty="0">
                <a:solidFill>
                  <a:srgbClr val="0000FF"/>
                </a:solidFill>
              </a:rPr>
              <a:t>，作为填充</a:t>
            </a:r>
            <a:endParaRPr lang="zh-CN" altLang="en-US" sz="1800" b="1" dirty="0">
              <a:solidFill>
                <a:srgbClr val="0000FF"/>
              </a:solidFill>
            </a:endParaRPr>
          </a:p>
          <a:p>
            <a:pPr lvl="1" indent="-285750">
              <a:lnSpc>
                <a:spcPct val="80000"/>
              </a:lnSpc>
              <a:buNone/>
            </a:pPr>
            <a:r>
              <a:rPr lang="zh-CN" altLang="en-US" sz="1800" b="1" dirty="0">
                <a:solidFill>
                  <a:srgbClr val="0000FF"/>
                </a:solidFill>
              </a:rPr>
              <a:t>  </a:t>
            </a:r>
            <a:r>
              <a:rPr lang="en-US" altLang="zh-CN" sz="1800" b="1" dirty="0">
                <a:solidFill>
                  <a:srgbClr val="0000FF"/>
                </a:solidFill>
              </a:rPr>
              <a:t>};</a:t>
            </a:r>
            <a:r>
              <a:rPr lang="en-US" altLang="zh-CN" sz="1800" i="1" dirty="0"/>
              <a:t> </a:t>
            </a:r>
            <a:endParaRPr lang="en-US" altLang="zh-CN" sz="1800" b="1" dirty="0">
              <a:latin typeface="Courier New" panose="02070309020205020404" pitchFamily="49" charset="0"/>
            </a:endParaRPr>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4096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bind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80000"/>
              </a:lnSpc>
            </a:pPr>
            <a:r>
              <a:rPr lang="en-US" altLang="zh-CN" sz="1800" i="1" dirty="0"/>
              <a:t>IPv4地址结构</a:t>
            </a:r>
            <a:endParaRPr lang="en-US" altLang="zh-CN" sz="1800" i="1" dirty="0"/>
          </a:p>
          <a:p>
            <a:pPr lvl="1" indent="-285750">
              <a:lnSpc>
                <a:spcPct val="80000"/>
              </a:lnSpc>
              <a:buNone/>
            </a:pPr>
            <a:r>
              <a:rPr lang="en-US" altLang="zh-CN" sz="1800" b="1" dirty="0">
                <a:solidFill>
                  <a:srgbClr val="0000FF"/>
                </a:solidFill>
              </a:rPr>
              <a:t>// internet address  </a:t>
            </a:r>
            <a:endParaRPr lang="en-US" altLang="zh-CN" sz="1800" b="1" dirty="0">
              <a:solidFill>
                <a:srgbClr val="0000FF"/>
              </a:solidFill>
            </a:endParaRPr>
          </a:p>
          <a:p>
            <a:pPr lvl="1" indent="-285750">
              <a:lnSpc>
                <a:spcPct val="80000"/>
              </a:lnSpc>
              <a:buNone/>
            </a:pPr>
            <a:r>
              <a:rPr lang="en-US" altLang="zh-CN" sz="1800" b="1" dirty="0">
                <a:solidFill>
                  <a:srgbClr val="0000FF"/>
                </a:solidFill>
              </a:rPr>
              <a:t>struct in_addr</a:t>
            </a:r>
            <a:endParaRPr lang="en-US" altLang="zh-CN" sz="1800" b="1" dirty="0">
              <a:solidFill>
                <a:srgbClr val="0000FF"/>
              </a:solidFill>
            </a:endParaRPr>
          </a:p>
          <a:p>
            <a:pPr lvl="1" indent="-285750">
              <a:lnSpc>
                <a:spcPct val="80000"/>
              </a:lnSpc>
              <a:buNone/>
            </a:pPr>
            <a:r>
              <a:rPr lang="en-US" altLang="zh-CN" sz="1800" b="1" dirty="0">
                <a:solidFill>
                  <a:srgbClr val="0000FF"/>
                </a:solidFill>
              </a:rPr>
              <a:t>{</a:t>
            </a:r>
            <a:endParaRPr lang="en-US" altLang="zh-CN" sz="1800" b="1" dirty="0">
              <a:solidFill>
                <a:srgbClr val="0000FF"/>
              </a:solidFill>
            </a:endParaRPr>
          </a:p>
          <a:p>
            <a:pPr lvl="1" indent="-285750">
              <a:lnSpc>
                <a:spcPct val="80000"/>
              </a:lnSpc>
              <a:buNone/>
            </a:pPr>
            <a:r>
              <a:rPr lang="en-US" altLang="zh-CN" sz="1800" b="1" dirty="0">
                <a:solidFill>
                  <a:srgbClr val="0000FF"/>
                </a:solidFill>
              </a:rPr>
              <a:t>     in_addr_t  s_addr;            // u32 network address </a:t>
            </a:r>
            <a:endParaRPr lang="en-US" altLang="zh-CN" sz="1800" b="1" dirty="0">
              <a:solidFill>
                <a:srgbClr val="0000FF"/>
              </a:solidFill>
            </a:endParaRPr>
          </a:p>
          <a:p>
            <a:pPr lvl="1" indent="-285750">
              <a:lnSpc>
                <a:spcPct val="80000"/>
              </a:lnSpc>
              <a:buNone/>
            </a:pPr>
            <a:r>
              <a:rPr lang="en-US" altLang="zh-CN" sz="1800" b="1" dirty="0">
                <a:solidFill>
                  <a:srgbClr val="0000FF"/>
                </a:solidFill>
              </a:rPr>
              <a:t>};</a:t>
            </a:r>
            <a:endParaRPr lang="en-US" altLang="zh-CN" sz="1800" b="1" dirty="0">
              <a:solidFill>
                <a:srgbClr val="0000FF"/>
              </a:solidFill>
            </a:endParaRPr>
          </a:p>
          <a:p>
            <a:pPr lvl="0" indent="-342900"/>
            <a:r>
              <a:rPr lang="en-US" altLang="zh-CN" sz="1800" dirty="0"/>
              <a:t>int</a:t>
            </a:r>
            <a:r>
              <a:rPr lang="en-US" altLang="zh-CN" sz="1800" dirty="0">
                <a:latin typeface="Arial" panose="020B0604020202020204" pitchFamily="34" charset="0"/>
              </a:rPr>
              <a:t> </a:t>
            </a:r>
            <a:r>
              <a:rPr lang="en-US" altLang="zh-CN" sz="1800" dirty="0"/>
              <a:t>bind(int</a:t>
            </a:r>
            <a:r>
              <a:rPr lang="en-US" altLang="zh-CN" sz="1800" dirty="0">
                <a:latin typeface="Arial" panose="020B0604020202020204" pitchFamily="34" charset="0"/>
              </a:rPr>
              <a:t> </a:t>
            </a:r>
            <a:r>
              <a:rPr lang="en-US" altLang="zh-CN" sz="1800" dirty="0"/>
              <a:t>sockfd,</a:t>
            </a:r>
            <a:r>
              <a:rPr lang="en-US" altLang="zh-CN" sz="1800" dirty="0">
                <a:latin typeface="Arial" panose="020B0604020202020204" pitchFamily="34" charset="0"/>
              </a:rPr>
              <a:t> </a:t>
            </a:r>
            <a:r>
              <a:rPr lang="en-US" altLang="zh-CN" sz="1800" dirty="0"/>
              <a:t>struct</a:t>
            </a:r>
            <a:r>
              <a:rPr lang="en-US" altLang="zh-CN" sz="1800" dirty="0">
                <a:latin typeface="Arial" panose="020B0604020202020204" pitchFamily="34" charset="0"/>
              </a:rPr>
              <a:t> </a:t>
            </a:r>
            <a:r>
              <a:rPr lang="en-US" altLang="zh-CN" sz="1800" dirty="0"/>
              <a:t>sockaddr</a:t>
            </a:r>
            <a:r>
              <a:rPr lang="en-US" altLang="zh-CN" sz="1800" dirty="0">
                <a:latin typeface="Arial" panose="020B0604020202020204" pitchFamily="34" charset="0"/>
              </a:rPr>
              <a:t> </a:t>
            </a:r>
            <a:r>
              <a:rPr lang="en-US" altLang="zh-CN" sz="1800" dirty="0"/>
              <a:t>*my_addr,</a:t>
            </a:r>
            <a:r>
              <a:rPr lang="en-US" altLang="zh-CN" sz="1800" dirty="0">
                <a:latin typeface="Arial" panose="020B0604020202020204" pitchFamily="34" charset="0"/>
              </a:rPr>
              <a:t> </a:t>
            </a:r>
            <a:r>
              <a:rPr lang="en-US" altLang="zh-CN" sz="1800" dirty="0"/>
              <a:t>int</a:t>
            </a:r>
            <a:r>
              <a:rPr lang="en-US" altLang="zh-CN" sz="1800" dirty="0">
                <a:latin typeface="Arial" panose="020B0604020202020204" pitchFamily="34" charset="0"/>
              </a:rPr>
              <a:t> </a:t>
            </a:r>
            <a:r>
              <a:rPr lang="en-US" altLang="zh-CN" sz="1800" dirty="0"/>
              <a:t>addrlen) ; </a:t>
            </a:r>
            <a:endParaRPr lang="en-US" altLang="zh-CN" sz="1800" dirty="0"/>
          </a:p>
          <a:p>
            <a:pPr lvl="1" indent="-285750"/>
            <a:r>
              <a:rPr lang="en-US" altLang="zh-CN" sz="1800" dirty="0"/>
              <a:t>sockfd: socket</a:t>
            </a:r>
            <a:r>
              <a:rPr lang="zh-CN" altLang="en-US" sz="1800" dirty="0"/>
              <a:t>调用返回的文件描述符  </a:t>
            </a:r>
            <a:endParaRPr lang="zh-CN" altLang="en-US" sz="1800" dirty="0"/>
          </a:p>
          <a:p>
            <a:pPr lvl="1" indent="-285750"/>
            <a:r>
              <a:rPr lang="en-US" altLang="zh-CN" sz="1800" dirty="0">
                <a:sym typeface="宋体" panose="02010600030101010101" pitchFamily="2" charset="-122"/>
              </a:rPr>
              <a:t>my_addr  </a:t>
            </a:r>
            <a:r>
              <a:rPr lang="zh-CN" altLang="en-US" sz="1800" dirty="0">
                <a:sym typeface="宋体" panose="02010600030101010101" pitchFamily="2" charset="-122"/>
              </a:rPr>
              <a:t>填充好的通用地址结构</a:t>
            </a:r>
            <a:endParaRPr lang="zh-CN" altLang="en-US" sz="1800" dirty="0"/>
          </a:p>
          <a:p>
            <a:pPr lvl="1" indent="-285750"/>
            <a:r>
              <a:rPr lang="en-US" altLang="zh-CN" sz="1800" dirty="0"/>
              <a:t>addrlen: sockaddr</a:t>
            </a:r>
            <a:r>
              <a:rPr lang="zh-CN" altLang="en-US" sz="1800" dirty="0"/>
              <a:t>地址结构的长度</a:t>
            </a:r>
            <a:endParaRPr lang="zh-CN" altLang="en-US" sz="1800" dirty="0"/>
          </a:p>
          <a:p>
            <a:pPr lvl="1" indent="-285750"/>
            <a:r>
              <a:rPr lang="zh-CN" altLang="en-US" sz="1800" dirty="0"/>
              <a:t>返回值：</a:t>
            </a:r>
            <a:r>
              <a:rPr lang="en-US" altLang="zh-CN" sz="1800" dirty="0"/>
              <a:t>0</a:t>
            </a:r>
            <a:r>
              <a:rPr lang="zh-CN" altLang="en-US" sz="1800" dirty="0"/>
              <a:t>成功或非</a:t>
            </a:r>
            <a:r>
              <a:rPr lang="en-US" altLang="zh-CN" sz="1800" dirty="0"/>
              <a:t>0 </a:t>
            </a:r>
            <a:r>
              <a:rPr lang="zh-CN" altLang="en-US" sz="1800" dirty="0"/>
              <a:t>失败</a:t>
            </a:r>
            <a:endParaRPr lang="en-US" altLang="zh-CN" sz="1800" b="1" dirty="0">
              <a:latin typeface="Courier New" panose="02070309020205020404" pitchFamily="49" charset="0"/>
            </a:endParaRPr>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4198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bind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0" indent="0" eaLnBrk="1" fontAlgn="base" hangingPunct="1">
              <a:lnSpc>
                <a:spcPct val="80000"/>
              </a:lnSpc>
              <a:buNone/>
            </a:pPr>
            <a:r>
              <a:rPr lang="zh-CN" altLang="en-US" sz="1800" strike="noStrike" noProof="1" dirty="0">
                <a:sym typeface="+mn-ea"/>
              </a:rPr>
              <a:t>定义一个</a:t>
            </a:r>
            <a:r>
              <a:rPr lang="en-US" altLang="zh-CN" sz="1800" strike="noStrike" noProof="1" dirty="0">
                <a:sym typeface="+mn-ea"/>
              </a:rPr>
              <a:t>struct sockaddr_in</a:t>
            </a:r>
            <a:r>
              <a:rPr lang="zh-CN" altLang="en-US" sz="1800" strike="noStrike" noProof="1" dirty="0">
                <a:sym typeface="+mn-ea"/>
              </a:rPr>
              <a:t>类型的变量并清空</a:t>
            </a:r>
            <a:endParaRPr lang="en-US" altLang="ja-JP" sz="1800" b="1" i="1" strike="noStrike" noProof="1" dirty="0">
              <a:latin typeface="Times New Roman" panose="02020603050405020304" pitchFamily="2" charset="0"/>
              <a:ea typeface="MS PGothic" panose="020B0600070205080204" pitchFamily="34" charset="-128"/>
              <a:sym typeface="+mn-ea"/>
            </a:endParaRPr>
          </a:p>
          <a:p>
            <a:pPr marL="0" indent="0" eaLnBrk="1" fontAlgn="base" hangingPunct="1">
              <a:lnSpc>
                <a:spcPct val="80000"/>
              </a:lnSpc>
              <a:buNone/>
            </a:pPr>
            <a:r>
              <a:rPr lang="en-US" altLang="ja-JP" sz="1800" b="1" i="1" strike="noStrike" noProof="1" dirty="0">
                <a:latin typeface="Times New Roman" panose="02020603050405020304" pitchFamily="2" charset="0"/>
                <a:ea typeface="MS PGothic" panose="020B0600070205080204" pitchFamily="34" charset="-128"/>
                <a:sym typeface="+mn-ea"/>
              </a:rPr>
              <a:t>struct</a:t>
            </a:r>
            <a:r>
              <a:rPr lang="en-US" altLang="ja-JP" sz="1800" strike="noStrike" noProof="1" dirty="0">
                <a:latin typeface="Times New Roman" panose="02020603050405020304" pitchFamily="2" charset="0"/>
                <a:ea typeface="MS PGothic" panose="020B0600070205080204" pitchFamily="34" charset="-128"/>
                <a:sym typeface="+mn-ea"/>
              </a:rPr>
              <a:t> sockaddr_in   my_addr;</a:t>
            </a:r>
            <a:endParaRPr lang="en-US" altLang="ja-JP" sz="1800" strike="noStrike" noProof="1" dirty="0">
              <a:latin typeface="Times New Roman" panose="02020603050405020304" pitchFamily="2" charset="0"/>
              <a:ea typeface="MS PGothic" panose="020B0600070205080204" pitchFamily="34" charset="-128"/>
              <a:sym typeface="+mn-ea"/>
            </a:endParaRPr>
          </a:p>
          <a:p>
            <a:pPr marL="0" indent="0" eaLnBrk="1" fontAlgn="base" hangingPunct="1">
              <a:lnSpc>
                <a:spcPct val="80000"/>
              </a:lnSpc>
              <a:buNone/>
            </a:pPr>
            <a:r>
              <a:rPr lang="en-US" altLang="ja-JP" sz="1800" strike="noStrike" noProof="1" dirty="0">
                <a:latin typeface="Times New Roman" panose="02020603050405020304" pitchFamily="2" charset="0"/>
                <a:ea typeface="MS PGothic" panose="020B0600070205080204" pitchFamily="34" charset="-128"/>
                <a:sym typeface="+mn-ea"/>
              </a:rPr>
              <a:t>memset(&amp;my_addr, 0, sizeof(struct sockaddr_in));</a:t>
            </a:r>
            <a:endParaRPr lang="en-US" altLang="ja-JP" sz="1800" strike="noStrike" noProof="1" dirty="0">
              <a:latin typeface="Times New Roman" panose="02020603050405020304" pitchFamily="2" charset="0"/>
              <a:ea typeface="MS PGothic" panose="020B0600070205080204" pitchFamily="34" charset="-128"/>
              <a:sym typeface="+mn-ea"/>
            </a:endParaRPr>
          </a:p>
          <a:p>
            <a:pPr marL="0" indent="0" eaLnBrk="1" fontAlgn="base" hangingPunct="1">
              <a:lnSpc>
                <a:spcPct val="80000"/>
              </a:lnSpc>
              <a:buNone/>
            </a:pPr>
            <a:endParaRPr lang="en-US" altLang="ja-JP" sz="1800" strike="noStrike" noProof="1" dirty="0">
              <a:latin typeface="Times New Roman" panose="02020603050405020304" pitchFamily="2" charset="0"/>
              <a:ea typeface="MS PGothic" panose="020B0600070205080204" pitchFamily="34" charset="-128"/>
              <a:sym typeface="+mn-ea"/>
            </a:endParaRPr>
          </a:p>
          <a:p>
            <a:pPr marL="0" indent="0" eaLnBrk="1" fontAlgn="base" hangingPunct="1">
              <a:lnSpc>
                <a:spcPct val="80000"/>
              </a:lnSpc>
              <a:buNone/>
            </a:pPr>
            <a:r>
              <a:rPr lang="zh-CN" altLang="en-US" sz="1800" strike="noStrike" noProof="1" dirty="0">
                <a:sym typeface="+mn-ea"/>
              </a:rPr>
              <a:t>填充地址信息</a:t>
            </a:r>
            <a:endParaRPr lang="en-US" altLang="ja-JP" sz="1800" strike="noStrike" noProof="1" dirty="0">
              <a:latin typeface="Times New Roman" panose="02020603050405020304" pitchFamily="2" charset="0"/>
              <a:ea typeface="MS PGothic" panose="020B0600070205080204" pitchFamily="34" charset="-128"/>
              <a:sym typeface="+mn-ea"/>
            </a:endParaRPr>
          </a:p>
          <a:p>
            <a:pPr eaLnBrk="1" fontAlgn="base" hangingPunct="1">
              <a:buFont typeface="Arial" panose="020B0604020202020204" pitchFamily="34" charset="0"/>
              <a:buNone/>
            </a:pPr>
            <a:r>
              <a:rPr lang="en-US" altLang="ja-JP" sz="1800" strike="noStrike" noProof="1" dirty="0">
                <a:latin typeface="Times New Roman" panose="02020603050405020304" pitchFamily="2" charset="0"/>
                <a:ea typeface="MS PGothic" panose="020B0600070205080204" pitchFamily="34" charset="-128"/>
                <a:sym typeface="+mn-ea"/>
              </a:rPr>
              <a:t>my_addr.sin_family = </a:t>
            </a:r>
            <a:r>
              <a:rPr lang="en-US" altLang="zh-CN" sz="1800" strike="noStrike" noProof="1" dirty="0">
                <a:latin typeface="Times New Roman" panose="02020603050405020304" pitchFamily="2" charset="0"/>
                <a:ea typeface="MS PGothic" panose="020B0600070205080204" pitchFamily="34" charset="-128"/>
                <a:sym typeface="+mn-ea"/>
              </a:rPr>
              <a:t>P</a:t>
            </a:r>
            <a:r>
              <a:rPr lang="en-US" altLang="ja-JP" sz="1800" strike="noStrike" noProof="1" dirty="0">
                <a:latin typeface="Times New Roman" panose="02020603050405020304" pitchFamily="2" charset="0"/>
                <a:ea typeface="MS PGothic" panose="020B0600070205080204" pitchFamily="34" charset="-128"/>
                <a:sym typeface="+mn-ea"/>
              </a:rPr>
              <a:t>F_INET;     /* </a:t>
            </a:r>
            <a:r>
              <a:rPr lang="en-US" altLang="zh-CN" sz="1800" strike="noStrike" noProof="1" dirty="0">
                <a:latin typeface="Times New Roman" panose="02020603050405020304" pitchFamily="2" charset="0"/>
                <a:ea typeface="MS PGothic" panose="020B0600070205080204" pitchFamily="34" charset="-128"/>
                <a:sym typeface="+mn-ea"/>
              </a:rPr>
              <a:t>Protocol</a:t>
            </a:r>
            <a:r>
              <a:rPr lang="en-US" altLang="ja-JP" sz="1800" strike="noStrike" noProof="1" dirty="0">
                <a:latin typeface="Times New Roman" panose="02020603050405020304" pitchFamily="2" charset="0"/>
                <a:ea typeface="MS PGothic" panose="020B0600070205080204" pitchFamily="34" charset="-128"/>
                <a:sym typeface="+mn-ea"/>
              </a:rPr>
              <a:t> Family To Be Used */  </a:t>
            </a:r>
            <a:endParaRPr lang="en-US" altLang="ja-JP" sz="1800" strike="noStrike" noProof="1" dirty="0">
              <a:latin typeface="Times New Roman" panose="02020603050405020304" pitchFamily="2" charset="0"/>
              <a:ea typeface="MS PGothic" panose="020B0600070205080204" pitchFamily="34" charset="-128"/>
            </a:endParaRPr>
          </a:p>
          <a:p>
            <a:pPr eaLnBrk="1" fontAlgn="base" hangingPunct="1">
              <a:buFont typeface="Arial" panose="020B0604020202020204" pitchFamily="34" charset="0"/>
              <a:buNone/>
            </a:pPr>
            <a:r>
              <a:rPr lang="en-US" altLang="ja-JP" sz="1800" strike="noStrike" noProof="1" dirty="0">
                <a:latin typeface="Times New Roman" panose="02020603050405020304" pitchFamily="2" charset="0"/>
                <a:ea typeface="MS PGothic" panose="020B0600070205080204" pitchFamily="34" charset="-128"/>
                <a:sym typeface="+mn-ea"/>
              </a:rPr>
              <a:t>my_addr.sin_port  = </a:t>
            </a:r>
            <a:r>
              <a:rPr lang="en-US" altLang="ja-JP" sz="1800" b="1" i="1" strike="noStrike" noProof="1" dirty="0">
                <a:latin typeface="Times New Roman" panose="02020603050405020304" pitchFamily="2" charset="0"/>
                <a:ea typeface="MS PGothic" panose="020B0600070205080204" pitchFamily="34" charset="-128"/>
                <a:sym typeface="+mn-ea"/>
              </a:rPr>
              <a:t>htons </a:t>
            </a:r>
            <a:r>
              <a:rPr lang="en-US" altLang="ja-JP" sz="1800" strike="noStrike" noProof="1" dirty="0">
                <a:latin typeface="Times New Roman" panose="02020603050405020304" pitchFamily="2" charset="0"/>
                <a:ea typeface="MS PGothic" panose="020B0600070205080204" pitchFamily="34" charset="-128"/>
                <a:sym typeface="+mn-ea"/>
              </a:rPr>
              <a:t>(</a:t>
            </a:r>
            <a:r>
              <a:rPr lang="en-US" altLang="zh-CN" sz="1800" strike="noStrike" noProof="1" dirty="0">
                <a:latin typeface="Times New Roman" panose="02020603050405020304" pitchFamily="2" charset="0"/>
                <a:ea typeface="MS PGothic" panose="020B0600070205080204" pitchFamily="34" charset="-128"/>
                <a:sym typeface="+mn-ea"/>
              </a:rPr>
              <a:t>6666</a:t>
            </a:r>
            <a:r>
              <a:rPr lang="en-US" altLang="ja-JP" sz="1800" strike="noStrike" noProof="1" dirty="0">
                <a:latin typeface="Times New Roman" panose="02020603050405020304" pitchFamily="2" charset="0"/>
                <a:ea typeface="MS PGothic" panose="020B0600070205080204" pitchFamily="34" charset="-128"/>
                <a:sym typeface="+mn-ea"/>
              </a:rPr>
              <a:t>);   /* Port number to use */ </a:t>
            </a:r>
            <a:endParaRPr lang="en-US" altLang="ja-JP" sz="1800" strike="noStrike" noProof="1" dirty="0">
              <a:latin typeface="Times New Roman" panose="02020603050405020304" pitchFamily="2" charset="0"/>
              <a:ea typeface="MS PGothic" panose="020B0600070205080204" pitchFamily="34" charset="-128"/>
            </a:endParaRPr>
          </a:p>
          <a:p>
            <a:pPr eaLnBrk="1" fontAlgn="base" hangingPunct="1">
              <a:buFont typeface="Arial" panose="020B0604020202020204" pitchFamily="34" charset="0"/>
              <a:buNone/>
            </a:pPr>
            <a:r>
              <a:rPr lang="en-US" altLang="ja-JP" sz="1800" strike="noStrike" noProof="1" dirty="0">
                <a:latin typeface="Times New Roman" panose="02020603050405020304" pitchFamily="2" charset="0"/>
                <a:ea typeface="MS PGothic" panose="020B0600070205080204" pitchFamily="34" charset="-128"/>
                <a:sym typeface="+mn-ea"/>
              </a:rPr>
              <a:t>my_addr.sin_addr.s_addr = </a:t>
            </a:r>
            <a:r>
              <a:rPr lang="en-US" altLang="zh-CN" sz="1800" b="1" i="1" strike="noStrike" noProof="1" dirty="0">
                <a:latin typeface="Times New Roman" panose="02020603050405020304" pitchFamily="2" charset="0"/>
                <a:ea typeface="MS PGothic" panose="020B0600070205080204" pitchFamily="34" charset="-128"/>
                <a:sym typeface="+mn-ea"/>
              </a:rPr>
              <a:t>inet_addr(“192.168.1.100”)</a:t>
            </a:r>
            <a:r>
              <a:rPr lang="en-US" altLang="ja-JP" sz="1800" strike="noStrike" noProof="1" dirty="0">
                <a:latin typeface="Times New Roman" panose="02020603050405020304" pitchFamily="2" charset="0"/>
                <a:ea typeface="MS PGothic" panose="020B0600070205080204" pitchFamily="34" charset="-128"/>
                <a:sym typeface="+mn-ea"/>
              </a:rPr>
              <a:t>;</a:t>
            </a:r>
            <a:endParaRPr lang="en-US" altLang="ja-JP" sz="1800" strike="noStrike" noProof="1" dirty="0">
              <a:latin typeface="Times New Roman" panose="02020603050405020304" pitchFamily="2" charset="0"/>
              <a:ea typeface="MS PGothic" panose="020B0600070205080204" pitchFamily="34" charset="-128"/>
              <a:sym typeface="+mn-ea"/>
            </a:endParaRPr>
          </a:p>
          <a:p>
            <a:pPr eaLnBrk="1" fontAlgn="base" hangingPunct="1">
              <a:buFont typeface="Arial" panose="020B0604020202020204" pitchFamily="34" charset="0"/>
              <a:buNone/>
            </a:pPr>
            <a:endParaRPr lang="en-US" altLang="ja-JP" sz="1800" b="1" strike="noStrike" noProof="1" dirty="0">
              <a:latin typeface="Times New Roman" panose="02020603050405020304" pitchFamily="2" charset="0"/>
              <a:ea typeface="MS PGothic" panose="020B0600070205080204" pitchFamily="34" charset="-128"/>
              <a:sym typeface="+mn-ea"/>
            </a:endParaRPr>
          </a:p>
          <a:p>
            <a:pPr marL="0" indent="0" eaLnBrk="1" fontAlgn="base" hangingPunct="1">
              <a:lnSpc>
                <a:spcPct val="90000"/>
              </a:lnSpc>
              <a:buFont typeface="Wingdings" panose="05000000000000000000" pitchFamily="2" charset="2"/>
              <a:buNone/>
            </a:pPr>
            <a:r>
              <a:rPr lang="zh-CN" altLang="en-US" sz="1800" strike="noStrike" noProof="1" dirty="0">
                <a:sym typeface="+mn-ea"/>
              </a:rPr>
              <a:t>将该变量强制转换为</a:t>
            </a:r>
            <a:r>
              <a:rPr lang="en-US" altLang="zh-CN" sz="1800" strike="noStrike" noProof="1" dirty="0">
                <a:sym typeface="+mn-ea"/>
              </a:rPr>
              <a:t>struct sockaddr</a:t>
            </a:r>
            <a:r>
              <a:rPr lang="zh-CN" altLang="en-US" sz="1800" strike="noStrike" noProof="1" dirty="0">
                <a:sym typeface="+mn-ea"/>
              </a:rPr>
              <a:t>类型在函数中使用</a:t>
            </a:r>
            <a:endParaRPr lang="zh-CN" altLang="en-US" sz="1800" strike="noStrike" noProof="1" dirty="0">
              <a:sym typeface="+mn-ea"/>
            </a:endParaRPr>
          </a:p>
          <a:p>
            <a:pPr marL="0" indent="0" eaLnBrk="1" fontAlgn="base" hangingPunct="1">
              <a:lnSpc>
                <a:spcPct val="90000"/>
              </a:lnSpc>
              <a:buFont typeface="Wingdings" panose="05000000000000000000" pitchFamily="2" charset="2"/>
              <a:buNone/>
            </a:pPr>
            <a:r>
              <a:rPr lang="en-US" altLang="zh-CN" sz="1800" strike="noStrike" noProof="1" dirty="0">
                <a:solidFill>
                  <a:srgbClr val="3333CC"/>
                </a:solidFill>
                <a:sym typeface="+mn-ea"/>
              </a:rPr>
              <a:t>bind(listenfd, (struct sockaddr*)(&amp;myaddr), sizeof(myaddr));</a:t>
            </a:r>
            <a:endParaRPr lang="en-US" altLang="zh-CN" sz="1800" strike="noStrike" noProof="1" dirty="0">
              <a:solidFill>
                <a:srgbClr val="3333CC"/>
              </a:solidFill>
            </a:endParaRPr>
          </a:p>
          <a:p>
            <a:pPr eaLnBrk="1" fontAlgn="base" hangingPunct="1">
              <a:buFont typeface="Arial" panose="020B0604020202020204" pitchFamily="34" charset="0"/>
              <a:buNone/>
            </a:pPr>
            <a:endParaRPr lang="en-US" altLang="zh-CN" sz="1800" b="1" strike="noStrike" noProof="1" dirty="0">
              <a:latin typeface="Courier New" panose="02070309020205020404" pitchFamily="49" charset="0"/>
            </a:endParaRPr>
          </a:p>
          <a:p>
            <a:pPr marL="0" lvl="0" indent="0" fontAlgn="base">
              <a:buNone/>
            </a:pPr>
            <a:endParaRPr lang="zh-CN" altLang="en-US" sz="1800" strike="noStrike" noProof="1" dirty="0">
              <a:latin typeface="宋体" panose="02010600030101010101" pitchFamily="2" charset="-122"/>
            </a:endParaRPr>
          </a:p>
        </p:txBody>
      </p:sp>
      <p:sp>
        <p:nvSpPr>
          <p:cNvPr id="4301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bind</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marL="609600" indent="-609600" eaLnBrk="1" fontAlgn="base" hangingPunct="1">
              <a:buNone/>
            </a:pPr>
            <a:r>
              <a:rPr lang="en-US" altLang="zh-CN" sz="1800" b="1" strike="noStrike" noProof="1" dirty="0">
                <a:sym typeface="+mn-ea"/>
              </a:rPr>
              <a:t>int listen (int sockfd, int backlog);</a:t>
            </a:r>
            <a:endParaRPr lang="en-US" altLang="zh-CN" sz="1800" b="1" strike="noStrike" noProof="1" dirty="0"/>
          </a:p>
          <a:p>
            <a:pPr marL="914400" lvl="1" indent="-639445" eaLnBrk="1" fontAlgn="base" hangingPunct="1">
              <a:lnSpc>
                <a:spcPct val="120000"/>
              </a:lnSpc>
            </a:pPr>
            <a:r>
              <a:rPr lang="en-US" altLang="zh-CN" sz="1800" b="1" strike="noStrike" noProof="1" dirty="0">
                <a:latin typeface="宋体" panose="02010600030101010101" pitchFamily="2" charset="-122"/>
                <a:sym typeface="+mn-ea"/>
              </a:rPr>
              <a:t>sockfd:</a:t>
            </a:r>
            <a:r>
              <a:rPr lang="zh-CN" altLang="en-US" sz="1800" strike="noStrike" noProof="1" dirty="0">
                <a:latin typeface="宋体" panose="02010600030101010101" pitchFamily="2" charset="-122"/>
                <a:sym typeface="+mn-ea"/>
              </a:rPr>
              <a:t>监听连接的套接字</a:t>
            </a:r>
            <a:endParaRPr lang="zh-CN" altLang="en-US" sz="1800" strike="noStrike" noProof="1" dirty="0">
              <a:latin typeface="宋体" panose="02010600030101010101" pitchFamily="2" charset="-122"/>
            </a:endParaRPr>
          </a:p>
          <a:p>
            <a:pPr marL="914400" lvl="1" indent="-639445" eaLnBrk="1" fontAlgn="base" hangingPunct="1">
              <a:lnSpc>
                <a:spcPct val="120000"/>
              </a:lnSpc>
            </a:pPr>
            <a:r>
              <a:rPr lang="en-US" altLang="zh-CN" sz="1800" b="1" strike="noStrike" noProof="1" dirty="0">
                <a:latin typeface="宋体" panose="02010600030101010101" pitchFamily="2" charset="-122"/>
                <a:sym typeface="+mn-ea"/>
              </a:rPr>
              <a:t>backlog</a:t>
            </a:r>
            <a:endParaRPr lang="en-US" altLang="zh-CN" sz="1800" b="1" strike="noStrike" noProof="1" dirty="0">
              <a:latin typeface="宋体" panose="02010600030101010101" pitchFamily="2" charset="-122"/>
            </a:endParaRPr>
          </a:p>
          <a:p>
            <a:pPr marL="1371600" lvl="2" indent="-777875" eaLnBrk="1" fontAlgn="base" hangingPunct="1">
              <a:lnSpc>
                <a:spcPct val="120000"/>
              </a:lnSpc>
            </a:pPr>
            <a:r>
              <a:rPr lang="zh-CN" altLang="en-US" sz="1800" strike="noStrike" noProof="1" dirty="0">
                <a:sym typeface="+mn-ea"/>
              </a:rPr>
              <a:t>指定了正在等待连接的最大队列长度，它的作用在于处理可能同时出现的几个连接请求。</a:t>
            </a:r>
            <a:endParaRPr lang="zh-CN" altLang="en-US" sz="1800" strike="noStrike" noProof="1" dirty="0"/>
          </a:p>
          <a:p>
            <a:pPr marL="1371600" lvl="2" indent="-777875" eaLnBrk="1" fontAlgn="base" hangingPunct="1">
              <a:lnSpc>
                <a:spcPct val="120000"/>
              </a:lnSpc>
            </a:pPr>
            <a:r>
              <a:rPr lang="en-US" altLang="zh-CN" sz="1800" strike="noStrike" noProof="1" dirty="0">
                <a:sym typeface="+mn-ea"/>
              </a:rPr>
              <a:t>DoS(</a:t>
            </a:r>
            <a:r>
              <a:rPr lang="zh-CN" altLang="en-US" sz="1800" strike="noStrike" noProof="1" dirty="0">
                <a:sym typeface="+mn-ea"/>
              </a:rPr>
              <a:t>拒绝服务</a:t>
            </a:r>
            <a:r>
              <a:rPr lang="en-US" altLang="zh-CN" sz="1800" strike="noStrike" noProof="1" dirty="0">
                <a:sym typeface="+mn-ea"/>
              </a:rPr>
              <a:t>)</a:t>
            </a:r>
            <a:r>
              <a:rPr lang="zh-CN" altLang="en-US" sz="1800" strike="noStrike" noProof="1" dirty="0">
                <a:sym typeface="+mn-ea"/>
              </a:rPr>
              <a:t>攻击即利用了这个原理，非法的连接占用了全部的连接数，造成正常的连接请求被拒绝。</a:t>
            </a:r>
            <a:endParaRPr lang="zh-CN" altLang="en-US" sz="1800" strike="noStrike" noProof="1" dirty="0"/>
          </a:p>
          <a:p>
            <a:pPr marL="914400" lvl="1" indent="-639445" eaLnBrk="1" fontAlgn="base" hangingPunct="1"/>
            <a:r>
              <a:rPr lang="zh-CN" altLang="en-US" sz="1800" strike="noStrike" noProof="1" dirty="0">
                <a:sym typeface="+mn-ea"/>
              </a:rPr>
              <a:t>返回值： </a:t>
            </a:r>
            <a:r>
              <a:rPr lang="en-US" altLang="zh-CN" sz="1800" strike="noStrike" noProof="1" dirty="0">
                <a:sym typeface="+mn-ea"/>
              </a:rPr>
              <a:t>0 </a:t>
            </a:r>
            <a:r>
              <a:rPr lang="zh-CN" altLang="en-US" sz="1800" strike="noStrike" noProof="1" dirty="0">
                <a:sym typeface="+mn-ea"/>
              </a:rPr>
              <a:t>或 </a:t>
            </a:r>
            <a:r>
              <a:rPr lang="en-US" altLang="zh-CN" sz="1800" strike="noStrike" noProof="1" dirty="0">
                <a:sym typeface="+mn-ea"/>
              </a:rPr>
              <a:t>-1</a:t>
            </a:r>
            <a:endParaRPr lang="en-US" altLang="zh-CN" sz="1800" strike="noStrike" noProof="1" dirty="0">
              <a:sym typeface="+mn-ea"/>
            </a:endParaRPr>
          </a:p>
          <a:p>
            <a:pPr marL="274955" lvl="1" indent="0" eaLnBrk="1" fontAlgn="base" hangingPunct="1">
              <a:buNone/>
            </a:pPr>
            <a:r>
              <a:rPr lang="zh-CN" altLang="en-US" sz="1800" b="1" strike="noStrike" noProof="1" dirty="0">
                <a:solidFill>
                  <a:srgbClr val="0000FF"/>
                </a:solidFill>
                <a:latin typeface="MS Reference Sans Serif" panose="020B0604030504040204" pitchFamily="34" charset="0"/>
                <a:sym typeface="+mn-ea"/>
              </a:rPr>
              <a:t>完成</a:t>
            </a:r>
            <a:r>
              <a:rPr lang="en-US" altLang="zh-CN" sz="1800" b="1" strike="noStrike" noProof="1" dirty="0">
                <a:solidFill>
                  <a:srgbClr val="0000FF"/>
                </a:solidFill>
                <a:latin typeface="MS Reference Sans Serif" panose="020B0604030504040204" pitchFamily="34" charset="0"/>
                <a:sym typeface="+mn-ea"/>
              </a:rPr>
              <a:t>listen()</a:t>
            </a:r>
            <a:r>
              <a:rPr lang="zh-CN" altLang="en-US" sz="1800" b="1" strike="noStrike" noProof="1" dirty="0">
                <a:solidFill>
                  <a:srgbClr val="0000FF"/>
                </a:solidFill>
                <a:latin typeface="MS Reference Sans Serif" panose="020B0604030504040204" pitchFamily="34" charset="0"/>
                <a:sym typeface="+mn-ea"/>
              </a:rPr>
              <a:t>调用后，</a:t>
            </a:r>
            <a:r>
              <a:rPr lang="en-US" altLang="zh-CN" sz="1800" b="1" strike="noStrike" noProof="1" dirty="0">
                <a:solidFill>
                  <a:srgbClr val="0000FF"/>
                </a:solidFill>
                <a:latin typeface="MS Reference Sans Serif" panose="020B0604030504040204" pitchFamily="34" charset="0"/>
                <a:sym typeface="+mn-ea"/>
              </a:rPr>
              <a:t>socket</a:t>
            </a:r>
            <a:r>
              <a:rPr lang="zh-CN" altLang="en-US" sz="1800" b="1" strike="noStrike" noProof="1" dirty="0">
                <a:solidFill>
                  <a:srgbClr val="0000FF"/>
                </a:solidFill>
                <a:latin typeface="MS Reference Sans Serif" panose="020B0604030504040204" pitchFamily="34" charset="0"/>
                <a:sym typeface="+mn-ea"/>
              </a:rPr>
              <a:t>变成了监听</a:t>
            </a:r>
            <a:r>
              <a:rPr lang="en-US" altLang="zh-CN" sz="1800" b="1" strike="noStrike" noProof="1" dirty="0">
                <a:solidFill>
                  <a:srgbClr val="0000FF"/>
                </a:solidFill>
                <a:latin typeface="MS Reference Sans Serif" panose="020B0604030504040204" pitchFamily="34" charset="0"/>
                <a:sym typeface="+mn-ea"/>
              </a:rPr>
              <a:t>socket(listening socket).</a:t>
            </a:r>
            <a:endParaRPr lang="en-US" altLang="zh-CN" sz="1800" strike="noStrike" noProof="1" dirty="0"/>
          </a:p>
          <a:p>
            <a:pPr eaLnBrk="1" fontAlgn="base" hangingPunct="1">
              <a:lnSpc>
                <a:spcPct val="80000"/>
              </a:lnSpc>
            </a:pPr>
            <a:endParaRPr lang="en-US" altLang="zh-CN" sz="1800" b="1" strike="noStrike" noProof="1" dirty="0">
              <a:latin typeface="Courier New" panose="02070309020205020404" pitchFamily="49" charset="0"/>
            </a:endParaRPr>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4403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listen</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altLang="zh-CN" sz="1800" strike="noStrike" noProof="1" dirty="0">
                <a:sym typeface="+mn-ea"/>
              </a:rPr>
              <a:t>int</a:t>
            </a:r>
            <a:r>
              <a:rPr lang="en-US" altLang="zh-CN" sz="1800" strike="noStrike" noProof="1" dirty="0">
                <a:latin typeface="Arial" panose="020B0604020202020204" pitchFamily="34" charset="0"/>
                <a:sym typeface="+mn-ea"/>
              </a:rPr>
              <a:t> </a:t>
            </a:r>
            <a:r>
              <a:rPr lang="en-US" altLang="zh-CN" sz="1800" strike="noStrike" noProof="1" dirty="0">
                <a:sym typeface="+mn-ea"/>
              </a:rPr>
              <a:t>accept(int</a:t>
            </a:r>
            <a:r>
              <a:rPr lang="en-US" altLang="zh-CN" sz="1800" strike="noStrike" noProof="1" dirty="0">
                <a:latin typeface="Arial" panose="020B0604020202020204" pitchFamily="34" charset="0"/>
                <a:sym typeface="+mn-ea"/>
              </a:rPr>
              <a:t> </a:t>
            </a:r>
            <a:r>
              <a:rPr lang="en-US" altLang="zh-CN" sz="1800" strike="noStrike" noProof="1" dirty="0">
                <a:sym typeface="+mn-ea"/>
              </a:rPr>
              <a:t>sockfd,</a:t>
            </a:r>
            <a:r>
              <a:rPr lang="en-US" altLang="zh-CN" sz="1800" strike="noStrike" noProof="1" dirty="0">
                <a:latin typeface="Arial" panose="020B0604020202020204" pitchFamily="34" charset="0"/>
                <a:sym typeface="+mn-ea"/>
              </a:rPr>
              <a:t> </a:t>
            </a:r>
            <a:r>
              <a:rPr lang="en-US" altLang="zh-CN" sz="1800" strike="noStrike" noProof="1" dirty="0">
                <a:sym typeface="+mn-ea"/>
              </a:rPr>
              <a:t>struct</a:t>
            </a:r>
            <a:r>
              <a:rPr lang="en-US" altLang="zh-CN" sz="1800" strike="noStrike" noProof="1" dirty="0">
                <a:latin typeface="Arial" panose="020B0604020202020204" pitchFamily="34" charset="0"/>
                <a:sym typeface="+mn-ea"/>
              </a:rPr>
              <a:t> </a:t>
            </a:r>
            <a:r>
              <a:rPr lang="en-US" altLang="zh-CN" sz="1800" strike="noStrike" noProof="1" dirty="0">
                <a:sym typeface="+mn-ea"/>
              </a:rPr>
              <a:t>sockaddr</a:t>
            </a:r>
            <a:r>
              <a:rPr lang="en-US" altLang="zh-CN" sz="1800" strike="noStrike" noProof="1" dirty="0">
                <a:latin typeface="Arial" panose="020B0604020202020204" pitchFamily="34" charset="0"/>
                <a:sym typeface="+mn-ea"/>
              </a:rPr>
              <a:t> </a:t>
            </a:r>
            <a:r>
              <a:rPr lang="en-US" altLang="zh-CN" sz="1800" strike="noStrike" noProof="1" dirty="0">
                <a:sym typeface="+mn-ea"/>
              </a:rPr>
              <a:t>*addr, socklen_t</a:t>
            </a:r>
            <a:r>
              <a:rPr lang="en-US" altLang="zh-CN" sz="1800" strike="noStrike" noProof="1" dirty="0">
                <a:latin typeface="Arial" panose="020B0604020202020204" pitchFamily="34" charset="0"/>
                <a:sym typeface="+mn-ea"/>
              </a:rPr>
              <a:t> </a:t>
            </a:r>
            <a:r>
              <a:rPr lang="en-US" altLang="zh-CN" sz="1800" strike="noStrike" noProof="1" dirty="0">
                <a:sym typeface="+mn-ea"/>
              </a:rPr>
              <a:t>*addrlen) ;</a:t>
            </a:r>
            <a:endParaRPr lang="en-US" altLang="zh-CN" sz="1800" strike="noStrike" noProof="1" dirty="0"/>
          </a:p>
          <a:p>
            <a:pPr lvl="1" eaLnBrk="1" fontAlgn="base" hangingPunct="1"/>
            <a:r>
              <a:rPr lang="zh-CN" altLang="en-US" sz="1800" strike="noStrike" noProof="1" dirty="0">
                <a:sym typeface="+mn-ea"/>
              </a:rPr>
              <a:t>返回值：已建立好连接的套接字或</a:t>
            </a:r>
            <a:r>
              <a:rPr lang="en-US" altLang="zh-CN" sz="1800" strike="noStrike" noProof="1" dirty="0">
                <a:sym typeface="+mn-ea"/>
              </a:rPr>
              <a:t>-1</a:t>
            </a:r>
            <a:endParaRPr lang="en-US" altLang="zh-CN" sz="1800" strike="noStrike" noProof="1" dirty="0"/>
          </a:p>
          <a:p>
            <a:pPr lvl="1" eaLnBrk="1" fontAlgn="base" hangingPunct="1"/>
            <a:r>
              <a:rPr lang="zh-CN" altLang="en-US" sz="1800" strike="noStrike" noProof="1" dirty="0">
                <a:sym typeface="+mn-ea"/>
              </a:rPr>
              <a:t>头文件</a:t>
            </a:r>
            <a:endParaRPr lang="zh-CN" altLang="en-US" sz="1800" strike="noStrike" noProof="1" dirty="0"/>
          </a:p>
          <a:p>
            <a:pPr lvl="2" eaLnBrk="1" fontAlgn="base" hangingPunct="1">
              <a:buNone/>
            </a:pPr>
            <a:r>
              <a:rPr lang="en-US" altLang="zh-CN" sz="1800" strike="noStrike" noProof="1" dirty="0">
                <a:sym typeface="+mn-ea"/>
              </a:rPr>
              <a:t>#include &lt;sys/types.h&gt;</a:t>
            </a:r>
            <a:endParaRPr lang="en-US" altLang="zh-CN" sz="1800" strike="noStrike" noProof="1" dirty="0"/>
          </a:p>
          <a:p>
            <a:pPr lvl="2" eaLnBrk="1" fontAlgn="base" hangingPunct="1">
              <a:buNone/>
            </a:pPr>
            <a:r>
              <a:rPr lang="en-US" altLang="zh-CN" sz="1800" strike="noStrike" noProof="1" dirty="0">
                <a:sym typeface="+mn-ea"/>
              </a:rPr>
              <a:t>#include &lt;sys/socket.h&gt;  </a:t>
            </a:r>
            <a:endParaRPr lang="en-US" altLang="zh-CN" sz="1800" strike="noStrike" noProof="1" dirty="0"/>
          </a:p>
          <a:p>
            <a:pPr lvl="1" eaLnBrk="1" fontAlgn="base" hangingPunct="1"/>
            <a:r>
              <a:rPr lang="en-US" altLang="zh-CN" sz="1800" strike="noStrike" noProof="1" dirty="0">
                <a:sym typeface="+mn-ea"/>
              </a:rPr>
              <a:t>sockfd : </a:t>
            </a:r>
            <a:r>
              <a:rPr lang="zh-CN" altLang="en-US" sz="1800" strike="noStrike" noProof="1" dirty="0">
                <a:sym typeface="+mn-ea"/>
              </a:rPr>
              <a:t>监听套接字 </a:t>
            </a:r>
            <a:endParaRPr lang="zh-CN" altLang="en-US" sz="1800" strike="noStrike" noProof="1" dirty="0"/>
          </a:p>
          <a:p>
            <a:pPr lvl="1" eaLnBrk="1" fontAlgn="base" hangingPunct="1"/>
            <a:r>
              <a:rPr lang="en-US" altLang="zh-CN" sz="1800" strike="noStrike" noProof="1" dirty="0">
                <a:sym typeface="+mn-ea"/>
              </a:rPr>
              <a:t>addr : </a:t>
            </a:r>
            <a:r>
              <a:rPr lang="zh-CN" altLang="en-US" sz="1800" strike="noStrike" noProof="1" dirty="0">
                <a:sym typeface="+mn-ea"/>
              </a:rPr>
              <a:t>对方地址</a:t>
            </a:r>
            <a:endParaRPr lang="zh-CN" altLang="en-US" sz="1800" strike="noStrike" noProof="1" dirty="0"/>
          </a:p>
          <a:p>
            <a:pPr lvl="1" eaLnBrk="1" fontAlgn="base" hangingPunct="1"/>
            <a:r>
              <a:rPr lang="en-US" altLang="zh-CN" sz="1800" strike="noStrike" noProof="1" dirty="0">
                <a:sym typeface="+mn-ea"/>
              </a:rPr>
              <a:t>addrlen</a:t>
            </a:r>
            <a:r>
              <a:rPr lang="zh-CN" altLang="en-US" sz="1800" strike="noStrike" noProof="1" dirty="0">
                <a:sym typeface="+mn-ea"/>
              </a:rPr>
              <a:t>：地址长度</a:t>
            </a:r>
            <a:endParaRPr lang="zh-CN" altLang="en-US" sz="1800" strike="noStrike" noProof="1" dirty="0"/>
          </a:p>
          <a:p>
            <a:pPr marL="609600" indent="-609600" eaLnBrk="1" fontAlgn="base" hangingPunct="1">
              <a:buNone/>
            </a:pPr>
            <a:endParaRPr lang="en-US" altLang="zh-CN" sz="1800" strike="noStrike" noProof="1" dirty="0">
              <a:sym typeface="+mn-ea"/>
            </a:endParaRPr>
          </a:p>
          <a:p>
            <a:pPr marL="274955" lvl="1" indent="0" eaLnBrk="1" fontAlgn="base" hangingPunct="1">
              <a:buNone/>
            </a:pPr>
            <a:r>
              <a:rPr lang="en-US" altLang="zh-CN" sz="1800" b="1" strike="noStrike" noProof="1" dirty="0">
                <a:solidFill>
                  <a:srgbClr val="0000FF"/>
                </a:solidFill>
                <a:latin typeface="Times New Roman" panose="02020603050405020304" pitchFamily="2" charset="0"/>
                <a:sym typeface="+mn-ea"/>
              </a:rPr>
              <a:t>listen()</a:t>
            </a:r>
            <a:r>
              <a:rPr lang="zh-CN" altLang="en-US" sz="1800" b="1" strike="noStrike" noProof="1" dirty="0">
                <a:solidFill>
                  <a:srgbClr val="0000FF"/>
                </a:solidFill>
                <a:latin typeface="Times New Roman" panose="02020603050405020304" pitchFamily="2" charset="0"/>
                <a:sym typeface="+mn-ea"/>
              </a:rPr>
              <a:t>和</a:t>
            </a:r>
            <a:r>
              <a:rPr lang="en-US" altLang="zh-CN" sz="1800" b="1" strike="noStrike" noProof="1" dirty="0">
                <a:solidFill>
                  <a:srgbClr val="0000FF"/>
                </a:solidFill>
                <a:latin typeface="Times New Roman" panose="02020603050405020304" pitchFamily="2" charset="0"/>
                <a:sym typeface="+mn-ea"/>
              </a:rPr>
              <a:t>accept()</a:t>
            </a:r>
            <a:r>
              <a:rPr lang="zh-CN" altLang="en-US" sz="1800" b="1" strike="noStrike" noProof="1" dirty="0">
                <a:solidFill>
                  <a:srgbClr val="0000FF"/>
                </a:solidFill>
                <a:latin typeface="Times New Roman" panose="02020603050405020304" pitchFamily="2" charset="0"/>
                <a:sym typeface="+mn-ea"/>
              </a:rPr>
              <a:t>是</a:t>
            </a:r>
            <a:r>
              <a:rPr lang="en-US" altLang="zh-CN" sz="1800" b="1" strike="noStrike" noProof="1" dirty="0">
                <a:solidFill>
                  <a:srgbClr val="0000FF"/>
                </a:solidFill>
                <a:latin typeface="Times New Roman" panose="02020603050405020304" pitchFamily="2" charset="0"/>
                <a:sym typeface="+mn-ea"/>
              </a:rPr>
              <a:t>TCP</a:t>
            </a:r>
            <a:r>
              <a:rPr lang="zh-CN" altLang="en-US" sz="1800" b="1" strike="noStrike" noProof="1" dirty="0">
                <a:solidFill>
                  <a:srgbClr val="0000FF"/>
                </a:solidFill>
                <a:latin typeface="Times New Roman" panose="02020603050405020304" pitchFamily="2" charset="0"/>
                <a:sym typeface="+mn-ea"/>
              </a:rPr>
              <a:t>服务器端使用的函数</a:t>
            </a:r>
            <a:endParaRPr lang="en-US" altLang="zh-CN" sz="1800" strike="noStrike" noProof="1" dirty="0"/>
          </a:p>
          <a:p>
            <a:pPr eaLnBrk="1" fontAlgn="base" hangingPunct="1">
              <a:lnSpc>
                <a:spcPct val="80000"/>
              </a:lnSpc>
            </a:pPr>
            <a:endParaRPr lang="en-US" altLang="zh-CN" sz="1800" b="1" strike="noStrike" noProof="1" dirty="0">
              <a:latin typeface="Courier New" panose="02070309020205020404" pitchFamily="49" charset="0"/>
            </a:endParaRPr>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4505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accept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altLang="zh-CN" sz="1800" strike="noStrike" noProof="1" dirty="0">
                <a:sym typeface="+mn-ea"/>
              </a:rPr>
              <a:t>int</a:t>
            </a:r>
            <a:r>
              <a:rPr lang="en-US" altLang="zh-CN" sz="1800" strike="noStrike" noProof="1" dirty="0">
                <a:latin typeface="Arial" panose="020B0604020202020204" pitchFamily="34" charset="0"/>
                <a:sym typeface="+mn-ea"/>
              </a:rPr>
              <a:t> </a:t>
            </a:r>
            <a:r>
              <a:rPr lang="en-US" altLang="zh-CN" sz="1800" strike="noStrike" noProof="1" dirty="0">
                <a:sym typeface="+mn-ea"/>
              </a:rPr>
              <a:t>connect(int</a:t>
            </a:r>
            <a:r>
              <a:rPr lang="en-US" altLang="zh-CN" sz="1800" strike="noStrike" noProof="1" dirty="0">
                <a:latin typeface="Arial" panose="020B0604020202020204" pitchFamily="34" charset="0"/>
                <a:sym typeface="+mn-ea"/>
              </a:rPr>
              <a:t> </a:t>
            </a:r>
            <a:r>
              <a:rPr lang="en-US" altLang="zh-CN" sz="1800" strike="noStrike" noProof="1" dirty="0">
                <a:sym typeface="+mn-ea"/>
              </a:rPr>
              <a:t>sockfd,</a:t>
            </a:r>
            <a:r>
              <a:rPr lang="en-US" altLang="zh-CN" sz="1800" strike="noStrike" noProof="1" dirty="0">
                <a:latin typeface="Arial" panose="020B0604020202020204" pitchFamily="34" charset="0"/>
                <a:sym typeface="+mn-ea"/>
              </a:rPr>
              <a:t> </a:t>
            </a:r>
            <a:r>
              <a:rPr lang="en-US" altLang="zh-CN" sz="1800" strike="noStrike" noProof="1" dirty="0">
                <a:sym typeface="+mn-ea"/>
              </a:rPr>
              <a:t>struct</a:t>
            </a:r>
            <a:r>
              <a:rPr lang="en-US" altLang="zh-CN" sz="1800" strike="noStrike" noProof="1" dirty="0">
                <a:latin typeface="Arial" panose="020B0604020202020204" pitchFamily="34" charset="0"/>
                <a:sym typeface="+mn-ea"/>
              </a:rPr>
              <a:t> </a:t>
            </a:r>
            <a:r>
              <a:rPr lang="en-US" altLang="zh-CN" sz="1800" strike="noStrike" noProof="1" dirty="0">
                <a:sym typeface="+mn-ea"/>
              </a:rPr>
              <a:t>sockaddr</a:t>
            </a:r>
            <a:r>
              <a:rPr lang="en-US" altLang="zh-CN" sz="1800" strike="noStrike" noProof="1" dirty="0">
                <a:latin typeface="Arial" panose="020B0604020202020204" pitchFamily="34" charset="0"/>
                <a:sym typeface="+mn-ea"/>
              </a:rPr>
              <a:t> </a:t>
            </a:r>
            <a:r>
              <a:rPr lang="en-US" altLang="zh-CN" sz="1800" strike="noStrike" noProof="1" dirty="0">
                <a:sym typeface="+mn-ea"/>
              </a:rPr>
              <a:t>*serv_addr, int</a:t>
            </a:r>
            <a:r>
              <a:rPr lang="en-US" altLang="zh-CN" sz="1800" strike="noStrike" noProof="1" dirty="0">
                <a:latin typeface="Arial" panose="020B0604020202020204" pitchFamily="34" charset="0"/>
                <a:sym typeface="+mn-ea"/>
              </a:rPr>
              <a:t> </a:t>
            </a:r>
            <a:r>
              <a:rPr lang="en-US" altLang="zh-CN" sz="1800" strike="noStrike" noProof="1" dirty="0">
                <a:sym typeface="+mn-ea"/>
              </a:rPr>
              <a:t>addrlen);</a:t>
            </a:r>
            <a:endParaRPr lang="en-US" altLang="zh-CN" sz="1800" strike="noStrike" noProof="1" dirty="0"/>
          </a:p>
          <a:p>
            <a:pPr lvl="1" eaLnBrk="1" fontAlgn="base" hangingPunct="1"/>
            <a:r>
              <a:rPr lang="zh-CN" altLang="en-US" sz="1800" strike="noStrike" noProof="1" dirty="0">
                <a:sym typeface="+mn-ea"/>
              </a:rPr>
              <a:t>返回值：</a:t>
            </a:r>
            <a:r>
              <a:rPr lang="en-US" altLang="zh-CN" sz="1800" strike="noStrike" noProof="1" dirty="0">
                <a:sym typeface="+mn-ea"/>
              </a:rPr>
              <a:t>0 </a:t>
            </a:r>
            <a:r>
              <a:rPr lang="zh-CN" altLang="en-US" sz="1800" strike="noStrike" noProof="1" dirty="0">
                <a:sym typeface="+mn-ea"/>
              </a:rPr>
              <a:t>或 </a:t>
            </a:r>
            <a:r>
              <a:rPr lang="en-US" altLang="zh-CN" sz="1800" strike="noStrike" noProof="1" dirty="0">
                <a:sym typeface="+mn-ea"/>
              </a:rPr>
              <a:t>-1</a:t>
            </a:r>
            <a:endParaRPr lang="en-US" altLang="zh-CN" sz="1800" strike="noStrike" noProof="1" dirty="0"/>
          </a:p>
          <a:p>
            <a:pPr lvl="1" eaLnBrk="1" fontAlgn="base" hangingPunct="1"/>
            <a:r>
              <a:rPr lang="zh-CN" altLang="en-US" sz="1800" strike="noStrike" noProof="1" dirty="0">
                <a:sym typeface="+mn-ea"/>
              </a:rPr>
              <a:t>头文件：</a:t>
            </a:r>
            <a:endParaRPr lang="zh-CN" altLang="en-US" sz="1800" strike="noStrike" noProof="1" dirty="0"/>
          </a:p>
          <a:p>
            <a:pPr lvl="2" eaLnBrk="1" fontAlgn="base" hangingPunct="1">
              <a:buNone/>
            </a:pPr>
            <a:r>
              <a:rPr lang="en-US" altLang="zh-CN" sz="1800" strike="noStrike" noProof="1" dirty="0">
                <a:sym typeface="+mn-ea"/>
              </a:rPr>
              <a:t>#include &lt;sys/types.h&gt;</a:t>
            </a:r>
            <a:endParaRPr lang="en-US" altLang="zh-CN" sz="1800" strike="noStrike" noProof="1" dirty="0"/>
          </a:p>
          <a:p>
            <a:pPr lvl="2" eaLnBrk="1" fontAlgn="base" hangingPunct="1">
              <a:buNone/>
            </a:pPr>
            <a:r>
              <a:rPr lang="en-US" altLang="zh-CN" sz="1800" strike="noStrike" noProof="1" dirty="0">
                <a:sym typeface="+mn-ea"/>
              </a:rPr>
              <a:t>#include &lt;sys/socket.h&gt;  </a:t>
            </a:r>
            <a:endParaRPr lang="en-US" altLang="zh-CN" sz="1800" strike="noStrike" noProof="1" dirty="0"/>
          </a:p>
          <a:p>
            <a:pPr lvl="1" eaLnBrk="1" fontAlgn="base" hangingPunct="1"/>
            <a:r>
              <a:rPr lang="en-US" altLang="zh-CN" sz="1800" strike="noStrike" noProof="1" dirty="0">
                <a:sym typeface="+mn-ea"/>
              </a:rPr>
              <a:t>sockfd : socket</a:t>
            </a:r>
            <a:r>
              <a:rPr lang="zh-CN" altLang="en-US" sz="1800" strike="noStrike" noProof="1" dirty="0">
                <a:sym typeface="+mn-ea"/>
              </a:rPr>
              <a:t>返回的文件描述符</a:t>
            </a:r>
            <a:endParaRPr lang="zh-CN" altLang="en-US" sz="1800" strike="noStrike" noProof="1" dirty="0"/>
          </a:p>
          <a:p>
            <a:pPr lvl="1" eaLnBrk="1" fontAlgn="base" hangingPunct="1"/>
            <a:r>
              <a:rPr lang="en-US" altLang="zh-CN" sz="1800" strike="noStrike" noProof="1" dirty="0">
                <a:sym typeface="+mn-ea"/>
              </a:rPr>
              <a:t>serv_addr : </a:t>
            </a:r>
            <a:r>
              <a:rPr lang="zh-CN" altLang="en-US" sz="1800" strike="noStrike" noProof="1" dirty="0">
                <a:sym typeface="+mn-ea"/>
              </a:rPr>
              <a:t>服务器端的地址信息  </a:t>
            </a:r>
            <a:endParaRPr lang="zh-CN" altLang="en-US" sz="1800" strike="noStrike" noProof="1" dirty="0"/>
          </a:p>
          <a:p>
            <a:pPr lvl="1" eaLnBrk="1" fontAlgn="base" hangingPunct="1"/>
            <a:r>
              <a:rPr lang="en-US" altLang="zh-CN" sz="1800" strike="noStrike" noProof="1" dirty="0">
                <a:sym typeface="+mn-ea"/>
              </a:rPr>
              <a:t>addrlen : serv_addr</a:t>
            </a:r>
            <a:r>
              <a:rPr lang="zh-CN" altLang="en-US" sz="1800" strike="noStrike" noProof="1" dirty="0">
                <a:sym typeface="+mn-ea"/>
              </a:rPr>
              <a:t>的长度 </a:t>
            </a:r>
            <a:endParaRPr lang="zh-CN" altLang="en-US" sz="1800" strike="noStrike" noProof="1" dirty="0"/>
          </a:p>
          <a:p>
            <a:pPr eaLnBrk="1" fontAlgn="base" hangingPunct="1"/>
            <a:endParaRPr lang="zh-CN" altLang="en-US" sz="1800" strike="noStrike" noProof="1" dirty="0"/>
          </a:p>
          <a:p>
            <a:pPr marL="609600" indent="-609600" eaLnBrk="1" fontAlgn="base" hangingPunct="1">
              <a:buNone/>
            </a:pPr>
            <a:endParaRPr lang="en-US" altLang="zh-CN" sz="1800" strike="noStrike" noProof="1" dirty="0">
              <a:sym typeface="+mn-ea"/>
            </a:endParaRPr>
          </a:p>
          <a:p>
            <a:pPr marL="274955" lvl="1" indent="0" eaLnBrk="1" fontAlgn="base" hangingPunct="1">
              <a:buNone/>
            </a:pPr>
            <a:r>
              <a:rPr lang="en-US" altLang="zh-CN" sz="1800" b="1" strike="noStrike" noProof="1" dirty="0">
                <a:solidFill>
                  <a:srgbClr val="0000FF"/>
                </a:solidFill>
                <a:latin typeface="MS Reference Sans Serif" panose="020B0604030504040204" pitchFamily="34" charset="0"/>
                <a:sym typeface="+mn-ea"/>
              </a:rPr>
              <a:t>connect()</a:t>
            </a:r>
            <a:r>
              <a:rPr lang="zh-CN" altLang="en-US" sz="1800" b="1" strike="noStrike" noProof="1" dirty="0">
                <a:solidFill>
                  <a:srgbClr val="0000FF"/>
                </a:solidFill>
                <a:latin typeface="MS Reference Sans Serif" panose="020B0604030504040204" pitchFamily="34" charset="0"/>
                <a:sym typeface="+mn-ea"/>
              </a:rPr>
              <a:t>是客户端使用的系统调用</a:t>
            </a:r>
            <a:endParaRPr lang="en-US" altLang="zh-CN" sz="1800" strike="noStrike" noProof="1" dirty="0"/>
          </a:p>
          <a:p>
            <a:pPr eaLnBrk="1" fontAlgn="base" hangingPunct="1">
              <a:lnSpc>
                <a:spcPct val="80000"/>
              </a:lnSpc>
            </a:pPr>
            <a:endParaRPr lang="en-US" altLang="zh-CN" sz="1800" b="1" strike="noStrike" noProof="1" dirty="0">
              <a:latin typeface="Courier New" panose="02070309020205020404" pitchFamily="49" charset="0"/>
            </a:endParaRPr>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4608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connect</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sym typeface="宋体" panose="02010600030101010101" pitchFamily="2" charset="-122"/>
              </a:rPr>
              <a:t>ssize_t  send(int  socket,  const  void  *buffer,  size_t  length, int flags);</a:t>
            </a:r>
            <a:endParaRPr lang="en-US" altLang="zh-CN" sz="1800" dirty="0"/>
          </a:p>
          <a:p>
            <a:pPr lvl="1" indent="-285750"/>
            <a:r>
              <a:rPr lang="zh-CN" altLang="en-US" sz="1800" dirty="0">
                <a:sym typeface="宋体" panose="02010600030101010101" pitchFamily="2" charset="-122"/>
              </a:rPr>
              <a:t>返回值：</a:t>
            </a:r>
            <a:endParaRPr lang="zh-CN" altLang="en-US" sz="1800" dirty="0"/>
          </a:p>
          <a:p>
            <a:pPr lvl="2" indent="-228600"/>
            <a:r>
              <a:rPr lang="zh-CN" altLang="en-US" sz="1800" dirty="0">
                <a:sym typeface="宋体" panose="02010600030101010101" pitchFamily="2" charset="-122"/>
              </a:rPr>
              <a:t>成功：实际发送的字节数</a:t>
            </a:r>
            <a:endParaRPr lang="zh-CN" altLang="en-US" sz="1800" dirty="0"/>
          </a:p>
          <a:p>
            <a:pPr lvl="2" indent="-228600"/>
            <a:r>
              <a:rPr lang="zh-CN" altLang="en-US" sz="1800" dirty="0">
                <a:sym typeface="宋体" panose="02010600030101010101" pitchFamily="2" charset="-122"/>
              </a:rPr>
              <a:t>失败：</a:t>
            </a:r>
            <a:r>
              <a:rPr lang="en-US" altLang="zh-CN" sz="1800" dirty="0">
                <a:sym typeface="宋体" panose="02010600030101010101" pitchFamily="2" charset="-122"/>
              </a:rPr>
              <a:t>-1, </a:t>
            </a:r>
            <a:r>
              <a:rPr lang="zh-CN" altLang="en-US" sz="1800" dirty="0">
                <a:sym typeface="宋体" panose="02010600030101010101" pitchFamily="2" charset="-122"/>
              </a:rPr>
              <a:t>并设置</a:t>
            </a:r>
            <a:r>
              <a:rPr lang="en-US" altLang="zh-CN" sz="1800" dirty="0">
                <a:sym typeface="宋体" panose="02010600030101010101" pitchFamily="2" charset="-122"/>
              </a:rPr>
              <a:t>errno</a:t>
            </a:r>
            <a:endParaRPr lang="en-US" altLang="zh-CN" sz="1800" dirty="0"/>
          </a:p>
          <a:p>
            <a:pPr lvl="1" indent="-285750"/>
            <a:r>
              <a:rPr lang="zh-CN" altLang="en-US" sz="1800" dirty="0">
                <a:sym typeface="宋体" panose="02010600030101010101" pitchFamily="2" charset="-122"/>
              </a:rPr>
              <a:t>头文件：</a:t>
            </a:r>
            <a:endParaRPr lang="zh-CN" altLang="en-US" sz="1800" dirty="0"/>
          </a:p>
          <a:p>
            <a:pPr lvl="2" indent="-228600"/>
            <a:r>
              <a:rPr lang="en-US" altLang="zh-CN" sz="1800" dirty="0">
                <a:sym typeface="宋体" panose="02010600030101010101" pitchFamily="2" charset="-122"/>
              </a:rPr>
              <a:t>#include &lt;sys/socket.h&gt;</a:t>
            </a:r>
            <a:endParaRPr lang="en-US" altLang="zh-CN" sz="1800" dirty="0"/>
          </a:p>
          <a:p>
            <a:pPr lvl="1" indent="-285750"/>
            <a:r>
              <a:rPr lang="en-US" altLang="zh-CN" sz="1800" dirty="0">
                <a:sym typeface="宋体" panose="02010600030101010101" pitchFamily="2" charset="-122"/>
              </a:rPr>
              <a:t>buffer : </a:t>
            </a:r>
            <a:r>
              <a:rPr lang="zh-CN" altLang="en-US" sz="1800" dirty="0">
                <a:sym typeface="宋体" panose="02010600030101010101" pitchFamily="2" charset="-122"/>
              </a:rPr>
              <a:t>发送缓冲区首地址</a:t>
            </a:r>
            <a:endParaRPr lang="zh-CN" altLang="en-US" sz="1800" dirty="0"/>
          </a:p>
          <a:p>
            <a:pPr lvl="1" indent="-285750"/>
            <a:r>
              <a:rPr lang="en-US" altLang="zh-CN" sz="1800" dirty="0">
                <a:sym typeface="宋体" panose="02010600030101010101" pitchFamily="2" charset="-122"/>
              </a:rPr>
              <a:t>length : </a:t>
            </a:r>
            <a:r>
              <a:rPr lang="zh-CN" altLang="en-US" sz="1800" dirty="0">
                <a:sym typeface="宋体" panose="02010600030101010101" pitchFamily="2" charset="-122"/>
              </a:rPr>
              <a:t>发送的字节数</a:t>
            </a:r>
            <a:endParaRPr lang="zh-CN" altLang="en-US" sz="1800" dirty="0"/>
          </a:p>
          <a:p>
            <a:pPr lvl="1" indent="-285750"/>
            <a:r>
              <a:rPr lang="en-US" altLang="zh-CN" sz="1800" dirty="0">
                <a:sym typeface="宋体" panose="02010600030101010101" pitchFamily="2" charset="-122"/>
              </a:rPr>
              <a:t>flags : </a:t>
            </a:r>
            <a:r>
              <a:rPr lang="zh-CN" altLang="en-US" sz="1800" dirty="0">
                <a:sym typeface="宋体" panose="02010600030101010101" pitchFamily="2" charset="-122"/>
              </a:rPr>
              <a:t>发送方式（通常为</a:t>
            </a:r>
            <a:r>
              <a:rPr lang="en-US" altLang="zh-CN" sz="1800" dirty="0">
                <a:sym typeface="宋体" panose="02010600030101010101" pitchFamily="2" charset="-122"/>
              </a:rPr>
              <a:t>0</a:t>
            </a:r>
            <a:r>
              <a:rPr lang="zh-CN" altLang="en-US" sz="1800" dirty="0">
                <a:sym typeface="宋体" panose="02010600030101010101" pitchFamily="2" charset="-122"/>
              </a:rPr>
              <a:t>）</a:t>
            </a:r>
            <a:endParaRPr lang="zh-CN" altLang="en-US" sz="1800" dirty="0">
              <a:sym typeface="宋体" panose="02010600030101010101" pitchFamily="2" charset="-122"/>
            </a:endParaRPr>
          </a:p>
          <a:p>
            <a:pPr lvl="1" indent="-285750"/>
            <a:r>
              <a:rPr lang="zh-CN" altLang="en-US" sz="1800" dirty="0"/>
              <a:t>返回值：成功发送的字节数</a:t>
            </a:r>
            <a:endParaRPr lang="en-US" altLang="zh-CN" sz="1800" dirty="0"/>
          </a:p>
          <a:p>
            <a:pPr lvl="0" indent="-342900">
              <a:lnSpc>
                <a:spcPct val="80000"/>
              </a:lnSpc>
            </a:pPr>
            <a:endParaRPr lang="en-US" altLang="zh-CN" sz="1800" b="1" dirty="0">
              <a:latin typeface="Courier New" panose="02070309020205020404" pitchFamily="49" charset="0"/>
            </a:endParaRPr>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471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send</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ssize_t  recv(int  socket, void  *buffer,  size_t  length, int flags);</a:t>
            </a:r>
            <a:endParaRPr lang="en-US" altLang="zh-CN" sz="1800" dirty="0"/>
          </a:p>
          <a:p>
            <a:pPr lvl="1" indent="-285750"/>
            <a:r>
              <a:rPr lang="zh-CN" altLang="en-US" sz="1800" dirty="0"/>
              <a:t>返回值：</a:t>
            </a:r>
            <a:endParaRPr lang="zh-CN" altLang="en-US" sz="1800" dirty="0"/>
          </a:p>
          <a:p>
            <a:pPr lvl="2" indent="-228600"/>
            <a:r>
              <a:rPr lang="zh-CN" altLang="en-US" sz="1800" dirty="0"/>
              <a:t>成功：实际接收的字节数</a:t>
            </a:r>
            <a:endParaRPr lang="zh-CN" altLang="en-US" sz="1800" dirty="0"/>
          </a:p>
          <a:p>
            <a:pPr lvl="2" indent="-228600"/>
            <a:r>
              <a:rPr lang="zh-CN" altLang="en-US" sz="1800" dirty="0"/>
              <a:t>失败：</a:t>
            </a:r>
            <a:r>
              <a:rPr lang="en-US" altLang="zh-CN" sz="1800" dirty="0"/>
              <a:t>-1, </a:t>
            </a:r>
            <a:r>
              <a:rPr lang="zh-CN" altLang="en-US" sz="1800" dirty="0"/>
              <a:t>并设置</a:t>
            </a:r>
            <a:r>
              <a:rPr lang="en-US" altLang="zh-CN" sz="1800" dirty="0"/>
              <a:t>errno</a:t>
            </a:r>
            <a:endParaRPr lang="en-US" altLang="zh-CN" sz="1800" dirty="0"/>
          </a:p>
          <a:p>
            <a:pPr lvl="1" indent="-285750"/>
            <a:r>
              <a:rPr lang="zh-CN" altLang="en-US" sz="1800" dirty="0"/>
              <a:t>头文件：</a:t>
            </a:r>
            <a:endParaRPr lang="zh-CN" altLang="en-US" sz="1800" dirty="0"/>
          </a:p>
          <a:p>
            <a:pPr lvl="2" indent="-228600"/>
            <a:r>
              <a:rPr lang="en-US" altLang="zh-CN" sz="1800" dirty="0"/>
              <a:t>#include &lt;sys/socket.h&gt;</a:t>
            </a:r>
            <a:endParaRPr lang="en-US" altLang="zh-CN" sz="1800" dirty="0"/>
          </a:p>
          <a:p>
            <a:pPr lvl="1" indent="-285750"/>
            <a:r>
              <a:rPr lang="en-US" altLang="zh-CN" sz="1800" dirty="0"/>
              <a:t>buffer : </a:t>
            </a:r>
            <a:r>
              <a:rPr lang="zh-CN" altLang="en-US" sz="1800" dirty="0"/>
              <a:t>发送缓冲区首地址</a:t>
            </a:r>
            <a:endParaRPr lang="zh-CN" altLang="en-US" sz="1800" dirty="0"/>
          </a:p>
          <a:p>
            <a:pPr lvl="1" indent="-285750"/>
            <a:r>
              <a:rPr lang="en-US" altLang="zh-CN" sz="1800" dirty="0"/>
              <a:t>length : </a:t>
            </a:r>
            <a:r>
              <a:rPr lang="zh-CN" altLang="en-US" sz="1800" dirty="0"/>
              <a:t>发送的字节数</a:t>
            </a:r>
            <a:endParaRPr lang="zh-CN" altLang="en-US" sz="1800" dirty="0"/>
          </a:p>
          <a:p>
            <a:pPr lvl="1" indent="-285750"/>
            <a:r>
              <a:rPr lang="en-US" altLang="zh-CN" sz="1800" dirty="0"/>
              <a:t>flags : </a:t>
            </a:r>
            <a:r>
              <a:rPr lang="zh-CN" altLang="en-US" sz="1800" dirty="0"/>
              <a:t>接收方式（通常为</a:t>
            </a:r>
            <a:r>
              <a:rPr lang="en-US" altLang="zh-CN" sz="1800" dirty="0"/>
              <a:t>0</a:t>
            </a:r>
            <a:r>
              <a:rPr lang="zh-CN" altLang="en-US" sz="1800" dirty="0"/>
              <a:t>）</a:t>
            </a:r>
            <a:endParaRPr lang="zh-CN" altLang="en-US" sz="1800" dirty="0"/>
          </a:p>
          <a:p>
            <a:pPr lvl="1" indent="-285750"/>
            <a:r>
              <a:rPr lang="zh-CN" altLang="en-US" sz="1800" dirty="0"/>
              <a:t>返回值：成功接收的字节数</a:t>
            </a:r>
            <a:endParaRPr lang="zh-CN" altLang="en-US" sz="1800" dirty="0"/>
          </a:p>
          <a:p>
            <a:pPr lvl="0" indent="-342900"/>
            <a:endParaRPr lang="en-US" altLang="zh-CN" sz="1800" dirty="0"/>
          </a:p>
          <a:p>
            <a:pPr lvl="0" indent="-342900">
              <a:lnSpc>
                <a:spcPct val="80000"/>
              </a:lnSpc>
            </a:pPr>
            <a:endParaRPr lang="en-US" altLang="zh-CN" sz="1800" b="1" dirty="0">
              <a:latin typeface="Courier New" panose="02070309020205020404" pitchFamily="49" charset="0"/>
            </a:endParaRPr>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481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recv</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altLang="zh-CN" sz="1800" strike="noStrike" noProof="1" dirty="0">
                <a:sym typeface="+mn-ea"/>
              </a:rPr>
              <a:t>ssize_t read(int fd, void *buf, size_t count);</a:t>
            </a:r>
            <a:endParaRPr lang="en-US" altLang="zh-CN" sz="1800" strike="noStrike" noProof="1" dirty="0"/>
          </a:p>
          <a:p>
            <a:pPr eaLnBrk="1" fontAlgn="base" hangingPunct="1"/>
            <a:r>
              <a:rPr lang="en-US" altLang="zh-CN" sz="1800" strike="noStrike" noProof="1" dirty="0">
                <a:sym typeface="+mn-ea"/>
              </a:rPr>
              <a:t>ssize_t write(int fd, const void *buf, size_t count);</a:t>
            </a:r>
            <a:endParaRPr lang="en-US" altLang="zh-CN" sz="1800" strike="noStrike" noProof="1" dirty="0">
              <a:sym typeface="+mn-ea"/>
            </a:endParaRPr>
          </a:p>
          <a:p>
            <a:pPr eaLnBrk="1" fontAlgn="base" hangingPunct="1"/>
            <a:endParaRPr lang="en-US" altLang="zh-CN" sz="1800" strike="noStrike" noProof="1" dirty="0">
              <a:sym typeface="+mn-ea"/>
            </a:endParaRPr>
          </a:p>
          <a:p>
            <a:pPr marL="457200" indent="-457200" eaLnBrk="1" fontAlgn="base" hangingPunct="1">
              <a:lnSpc>
                <a:spcPct val="120000"/>
              </a:lnSpc>
              <a:spcBef>
                <a:spcPct val="20000"/>
              </a:spcBef>
              <a:buClr>
                <a:srgbClr val="0000FF"/>
              </a:buClr>
              <a:buFont typeface="Wingdings" panose="05000000000000000000" pitchFamily="2" charset="2"/>
              <a:buChar char="Ø"/>
            </a:pPr>
            <a:r>
              <a:rPr lang="en-US" altLang="zh-CN" sz="1800" strike="noStrike" noProof="1" dirty="0">
                <a:solidFill>
                  <a:srgbClr val="0000FF"/>
                </a:solidFill>
                <a:latin typeface="Arial" panose="020B0604020202020204" pitchFamily="34" charset="0"/>
                <a:sym typeface="+mn-ea"/>
              </a:rPr>
              <a:t>read()</a:t>
            </a:r>
            <a:r>
              <a:rPr lang="zh-CN" altLang="en-US" sz="1800" strike="noStrike" noProof="1" dirty="0">
                <a:solidFill>
                  <a:srgbClr val="0000FF"/>
                </a:solidFill>
                <a:latin typeface="Arial" panose="020B0604020202020204" pitchFamily="34" charset="0"/>
                <a:sym typeface="+mn-ea"/>
              </a:rPr>
              <a:t>和</a:t>
            </a:r>
            <a:r>
              <a:rPr lang="en-US" altLang="zh-CN" sz="1800" strike="noStrike" noProof="1" dirty="0">
                <a:solidFill>
                  <a:srgbClr val="0000FF"/>
                </a:solidFill>
                <a:latin typeface="Arial" panose="020B0604020202020204" pitchFamily="34" charset="0"/>
                <a:sym typeface="+mn-ea"/>
              </a:rPr>
              <a:t>write()</a:t>
            </a:r>
            <a:r>
              <a:rPr lang="zh-CN" altLang="en-US" sz="1800" strike="noStrike" noProof="1" dirty="0">
                <a:solidFill>
                  <a:srgbClr val="0000FF"/>
                </a:solidFill>
                <a:latin typeface="Arial" panose="020B0604020202020204" pitchFamily="34" charset="0"/>
                <a:sym typeface="+mn-ea"/>
              </a:rPr>
              <a:t>经常会代替</a:t>
            </a:r>
            <a:r>
              <a:rPr lang="en-US" altLang="zh-CN" sz="1800" strike="noStrike" noProof="1" dirty="0">
                <a:solidFill>
                  <a:srgbClr val="0000FF"/>
                </a:solidFill>
                <a:latin typeface="Arial" panose="020B0604020202020204" pitchFamily="34" charset="0"/>
                <a:sym typeface="+mn-ea"/>
              </a:rPr>
              <a:t>recv()</a:t>
            </a:r>
            <a:r>
              <a:rPr lang="zh-CN" altLang="en-US" sz="1800" strike="noStrike" noProof="1" dirty="0">
                <a:solidFill>
                  <a:srgbClr val="0000FF"/>
                </a:solidFill>
                <a:latin typeface="Arial" panose="020B0604020202020204" pitchFamily="34" charset="0"/>
                <a:sym typeface="+mn-ea"/>
              </a:rPr>
              <a:t>和</a:t>
            </a:r>
            <a:r>
              <a:rPr lang="en-US" altLang="zh-CN" sz="1800" strike="noStrike" noProof="1" dirty="0">
                <a:solidFill>
                  <a:srgbClr val="0000FF"/>
                </a:solidFill>
                <a:latin typeface="Arial" panose="020B0604020202020204" pitchFamily="34" charset="0"/>
                <a:sym typeface="+mn-ea"/>
              </a:rPr>
              <a:t>send()</a:t>
            </a:r>
            <a:r>
              <a:rPr lang="zh-CN" altLang="en-US" sz="1800" strike="noStrike" noProof="1" dirty="0">
                <a:solidFill>
                  <a:srgbClr val="0000FF"/>
                </a:solidFill>
                <a:latin typeface="Arial" panose="020B0604020202020204" pitchFamily="34" charset="0"/>
                <a:sym typeface="+mn-ea"/>
              </a:rPr>
              <a:t>，通常情况下，看程序员的偏好</a:t>
            </a:r>
            <a:endParaRPr lang="zh-CN" altLang="en-US" sz="1800" strike="noStrike" noProof="1" dirty="0">
              <a:solidFill>
                <a:srgbClr val="0000FF"/>
              </a:solidFill>
              <a:latin typeface="Arial" panose="020B0604020202020204" pitchFamily="34" charset="0"/>
            </a:endParaRPr>
          </a:p>
          <a:p>
            <a:pPr marL="457200" indent="-457200" eaLnBrk="1" fontAlgn="base" hangingPunct="1">
              <a:lnSpc>
                <a:spcPct val="120000"/>
              </a:lnSpc>
              <a:spcBef>
                <a:spcPct val="20000"/>
              </a:spcBef>
              <a:buClr>
                <a:srgbClr val="0000FF"/>
              </a:buClr>
              <a:buFont typeface="Wingdings" panose="05000000000000000000" pitchFamily="2" charset="2"/>
              <a:buChar char="Ø"/>
            </a:pPr>
            <a:r>
              <a:rPr lang="zh-CN" altLang="en-US" sz="1800" strike="noStrike" noProof="1" dirty="0">
                <a:solidFill>
                  <a:srgbClr val="0000FF"/>
                </a:solidFill>
                <a:latin typeface="Arial" panose="020B0604020202020204" pitchFamily="34" charset="0"/>
                <a:sym typeface="+mn-ea"/>
              </a:rPr>
              <a:t>使用</a:t>
            </a:r>
            <a:r>
              <a:rPr lang="en-US" altLang="zh-CN" sz="1800" strike="noStrike" noProof="1" dirty="0">
                <a:solidFill>
                  <a:srgbClr val="0000FF"/>
                </a:solidFill>
                <a:latin typeface="Arial" panose="020B0604020202020204" pitchFamily="34" charset="0"/>
                <a:sym typeface="+mn-ea"/>
              </a:rPr>
              <a:t>read()/write()</a:t>
            </a:r>
            <a:r>
              <a:rPr lang="zh-CN" altLang="en-US" sz="1800" strike="noStrike" noProof="1" dirty="0">
                <a:solidFill>
                  <a:srgbClr val="0000FF"/>
                </a:solidFill>
                <a:latin typeface="Arial" panose="020B0604020202020204" pitchFamily="34" charset="0"/>
                <a:sym typeface="+mn-ea"/>
              </a:rPr>
              <a:t>和</a:t>
            </a:r>
            <a:r>
              <a:rPr lang="en-US" altLang="zh-CN" sz="1800" strike="noStrike" noProof="1" dirty="0">
                <a:solidFill>
                  <a:srgbClr val="0000FF"/>
                </a:solidFill>
                <a:latin typeface="Arial" panose="020B0604020202020204" pitchFamily="34" charset="0"/>
                <a:sym typeface="+mn-ea"/>
              </a:rPr>
              <a:t>recv()/send()</a:t>
            </a:r>
            <a:r>
              <a:rPr lang="zh-CN" altLang="en-US" sz="1800" strike="noStrike" noProof="1" dirty="0">
                <a:solidFill>
                  <a:srgbClr val="0000FF"/>
                </a:solidFill>
                <a:latin typeface="Arial" panose="020B0604020202020204" pitchFamily="34" charset="0"/>
                <a:sym typeface="+mn-ea"/>
              </a:rPr>
              <a:t>时最好统一</a:t>
            </a:r>
            <a:endParaRPr lang="zh-CN" altLang="en-US" sz="1800" strike="noStrike" noProof="1" dirty="0">
              <a:solidFill>
                <a:srgbClr val="0000FF"/>
              </a:solidFill>
              <a:latin typeface="Arial" panose="020B0604020202020204" pitchFamily="34" charset="0"/>
            </a:endParaRPr>
          </a:p>
          <a:p>
            <a:pPr eaLnBrk="1" fontAlgn="base" hangingPunct="1"/>
            <a:endParaRPr lang="en-US" altLang="zh-CN" sz="1800" strike="noStrike" noProof="1" dirty="0"/>
          </a:p>
          <a:p>
            <a:pPr eaLnBrk="1" fontAlgn="base" hangingPunct="1"/>
            <a:endParaRPr lang="en-US" altLang="zh-CN" sz="1800" strike="noStrike" noProof="1" dirty="0"/>
          </a:p>
          <a:p>
            <a:pPr eaLnBrk="1" fontAlgn="base" hangingPunct="1">
              <a:lnSpc>
                <a:spcPct val="80000"/>
              </a:lnSpc>
            </a:pPr>
            <a:endParaRPr lang="en-US" altLang="zh-CN" sz="1800" b="1" strike="noStrike" noProof="1" dirty="0">
              <a:latin typeface="Courier New" panose="02070309020205020404" pitchFamily="49" charset="0"/>
            </a:endParaRPr>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491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ssize_t sendto(int socket, const void *message, size_t length, int flags, struct sockaddr *dest_addr, socklen_t dest_len);</a:t>
            </a:r>
            <a:endParaRPr lang="en-US" altLang="zh-CN" sz="1800" dirty="0"/>
          </a:p>
          <a:p>
            <a:pPr lvl="0" indent="-342900"/>
            <a:endParaRPr lang="en-US" altLang="zh-CN" sz="1800" dirty="0"/>
          </a:p>
          <a:p>
            <a:pPr lvl="0" indent="-342900"/>
            <a:r>
              <a:rPr lang="en-US" altLang="zh-CN" sz="1800" dirty="0"/>
              <a:t>ssize_t recvfrom(int socket, void *buffer, size_t length, int flags, struct sockaddr *address, socklen_t *address_len);</a:t>
            </a:r>
            <a:endParaRPr lang="en-US" altLang="zh-CN" sz="1800" dirty="0"/>
          </a:p>
          <a:p>
            <a:pPr lvl="0" indent="-342900"/>
            <a:endParaRPr lang="zh-CN" altLang="en-US" sz="1800" dirty="0">
              <a:solidFill>
                <a:srgbClr val="0000FF"/>
              </a:solidFill>
              <a:latin typeface="Arial" panose="020B0604020202020204" pitchFamily="34" charset="0"/>
            </a:endParaRPr>
          </a:p>
          <a:p>
            <a:pPr lvl="0" indent="-342900"/>
            <a:r>
              <a:rPr lang="zh-CN" altLang="en-US" sz="1800" dirty="0">
                <a:solidFill>
                  <a:srgbClr val="0000FF"/>
                </a:solidFill>
                <a:latin typeface="Times New Roman" panose="02020603050405020304" pitchFamily="2" charset="0"/>
              </a:rPr>
              <a:t>这两个函数一般在使用</a:t>
            </a:r>
            <a:r>
              <a:rPr lang="en-US" altLang="zh-CN" sz="1800" dirty="0">
                <a:solidFill>
                  <a:srgbClr val="0000FF"/>
                </a:solidFill>
                <a:latin typeface="Times New Roman" panose="02020603050405020304" pitchFamily="2" charset="0"/>
              </a:rPr>
              <a:t>UDP</a:t>
            </a:r>
            <a:r>
              <a:rPr lang="zh-CN" altLang="en-US" sz="1800" dirty="0">
                <a:solidFill>
                  <a:srgbClr val="0000FF"/>
                </a:solidFill>
                <a:latin typeface="Times New Roman" panose="02020603050405020304" pitchFamily="2" charset="0"/>
              </a:rPr>
              <a:t>协议时使用</a:t>
            </a:r>
            <a:endParaRPr lang="zh-CN" altLang="en-US" sz="1800" dirty="0">
              <a:solidFill>
                <a:srgbClr val="0000FF"/>
              </a:solidFill>
              <a:latin typeface="Arial" panose="020B0604020202020204" pitchFamily="34" charset="0"/>
            </a:endParaRPr>
          </a:p>
          <a:p>
            <a:pPr lvl="0" indent="-342900"/>
            <a:endParaRPr lang="en-US" altLang="zh-CN" sz="1800" dirty="0"/>
          </a:p>
          <a:p>
            <a:pPr lvl="0" indent="-342900"/>
            <a:endParaRPr lang="en-US" altLang="zh-CN" sz="1800" dirty="0"/>
          </a:p>
          <a:p>
            <a:pPr lvl="0" indent="-342900">
              <a:lnSpc>
                <a:spcPct val="80000"/>
              </a:lnSpc>
            </a:pPr>
            <a:endParaRPr lang="en-US" altLang="zh-CN" sz="1800" b="1" dirty="0">
              <a:latin typeface="Courier New" panose="02070309020205020404" pitchFamily="49" charset="0"/>
            </a:endParaRPr>
          </a:p>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501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sendto recvfrom</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文本占位符 1"/>
          <p:cNvSpPr>
            <a:spLocks noGrp="1"/>
          </p:cNvSpPr>
          <p:nvPr>
            <p:ph sz="quarter"/>
          </p:nvPr>
        </p:nvSpPr>
        <p:spPr>
          <a:xfrm>
            <a:off x="612775" y="933450"/>
            <a:ext cx="799147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altLang="zh-CN" sz="1800" strike="noStrike" noProof="1" dirty="0">
                <a:sym typeface="+mn-ea"/>
              </a:rPr>
              <a:t>int close(int sockfd);</a:t>
            </a:r>
            <a:endParaRPr lang="en-US" altLang="zh-CN" sz="1800" strike="noStrike" noProof="1" dirty="0"/>
          </a:p>
          <a:p>
            <a:pPr lvl="1" eaLnBrk="1" fontAlgn="base" hangingPunct="1"/>
            <a:r>
              <a:rPr lang="zh-CN" altLang="en-US" sz="1800" strike="noStrike" noProof="1" dirty="0">
                <a:sym typeface="+mn-ea"/>
              </a:rPr>
              <a:t>关闭双向通讯</a:t>
            </a:r>
            <a:endParaRPr lang="zh-CN" altLang="en-US" sz="1800" strike="noStrike" noProof="1" dirty="0">
              <a:sym typeface="+mn-ea"/>
            </a:endParaRPr>
          </a:p>
          <a:p>
            <a:pPr lvl="1" eaLnBrk="1" fontAlgn="base" hangingPunct="1"/>
            <a:endParaRPr lang="zh-CN" altLang="en-US" sz="1800" strike="noStrike" noProof="1" dirty="0">
              <a:sym typeface="+mn-ea"/>
            </a:endParaRPr>
          </a:p>
          <a:p>
            <a:pPr marL="273050" lvl="0" indent="-273050" eaLnBrk="1" fontAlgn="base" hangingPunct="1"/>
            <a:r>
              <a:rPr lang="en-US" altLang="zh-CN" sz="1800" strike="noStrike" noProof="1" dirty="0">
                <a:sym typeface="+mn-ea"/>
              </a:rPr>
              <a:t>int shutdown(int sockfd, int howto);</a:t>
            </a:r>
            <a:endParaRPr lang="en-US" altLang="zh-CN" sz="1800" strike="noStrike" noProof="1" dirty="0"/>
          </a:p>
          <a:p>
            <a:pPr marL="548005" lvl="1" indent="-273050" eaLnBrk="1" fontAlgn="base" hangingPunct="1">
              <a:lnSpc>
                <a:spcPct val="120000"/>
              </a:lnSpc>
            </a:pPr>
            <a:r>
              <a:rPr lang="en-US" altLang="zh-CN" sz="1800" strike="noStrike" noProof="1" dirty="0">
                <a:sym typeface="+mn-ea"/>
              </a:rPr>
              <a:t>TCP</a:t>
            </a:r>
            <a:r>
              <a:rPr lang="zh-CN" altLang="en-US" sz="1800" strike="noStrike" noProof="1" dirty="0">
                <a:sym typeface="+mn-ea"/>
              </a:rPr>
              <a:t>连接是双向的</a:t>
            </a:r>
            <a:r>
              <a:rPr lang="en-US" altLang="zh-CN" sz="1800" strike="noStrike" noProof="1" dirty="0">
                <a:sym typeface="+mn-ea"/>
              </a:rPr>
              <a:t>(</a:t>
            </a:r>
            <a:r>
              <a:rPr lang="zh-CN" altLang="en-US" sz="1800" strike="noStrike" noProof="1" dirty="0">
                <a:sym typeface="+mn-ea"/>
              </a:rPr>
              <a:t>是可读写的</a:t>
            </a:r>
            <a:r>
              <a:rPr lang="en-US" altLang="zh-CN" sz="1800" strike="noStrike" noProof="1" dirty="0">
                <a:sym typeface="+mn-ea"/>
              </a:rPr>
              <a:t>)</a:t>
            </a:r>
            <a:r>
              <a:rPr lang="zh-CN" altLang="en-US" sz="1800" strike="noStrike" noProof="1" dirty="0">
                <a:sym typeface="+mn-ea"/>
              </a:rPr>
              <a:t>，当我们使用</a:t>
            </a:r>
            <a:r>
              <a:rPr lang="en-US" altLang="zh-CN" sz="1800" strike="noStrike" noProof="1" dirty="0">
                <a:sym typeface="+mn-ea"/>
              </a:rPr>
              <a:t>close</a:t>
            </a:r>
            <a:r>
              <a:rPr lang="zh-CN" altLang="en-US" sz="1800" strike="noStrike" noProof="1" dirty="0">
                <a:sym typeface="+mn-ea"/>
              </a:rPr>
              <a:t>时</a:t>
            </a:r>
            <a:r>
              <a:rPr lang="en-US" altLang="zh-CN" sz="1800" strike="noStrike" noProof="1" dirty="0">
                <a:sym typeface="+mn-ea"/>
              </a:rPr>
              <a:t>,</a:t>
            </a:r>
            <a:r>
              <a:rPr lang="zh-CN" altLang="en-US" sz="1800" strike="noStrike" noProof="1" dirty="0">
                <a:sym typeface="+mn-ea"/>
              </a:rPr>
              <a:t>会把读写通道都关闭，有时侯我们希望只关闭一个方向，这个时候我们可以使用</a:t>
            </a:r>
            <a:r>
              <a:rPr lang="en-US" altLang="zh-CN" sz="1800" strike="noStrike" noProof="1" dirty="0">
                <a:sym typeface="+mn-ea"/>
              </a:rPr>
              <a:t>shutdown</a:t>
            </a:r>
            <a:r>
              <a:rPr lang="zh-CN" altLang="en-US" sz="1800" strike="noStrike" noProof="1" dirty="0">
                <a:sym typeface="+mn-ea"/>
              </a:rPr>
              <a:t>。</a:t>
            </a:r>
            <a:endParaRPr lang="zh-CN" altLang="en-US" sz="1800" strike="noStrike" noProof="1" dirty="0"/>
          </a:p>
          <a:p>
            <a:pPr marL="548005" lvl="1" indent="-273050" eaLnBrk="1" fontAlgn="base" hangingPunct="1">
              <a:lnSpc>
                <a:spcPct val="120000"/>
              </a:lnSpc>
            </a:pPr>
            <a:r>
              <a:rPr lang="zh-CN" altLang="en-US" sz="1800" strike="noStrike" noProof="1" dirty="0">
                <a:sym typeface="+mn-ea"/>
              </a:rPr>
              <a:t>针对不同的</a:t>
            </a:r>
            <a:r>
              <a:rPr lang="en-US" altLang="zh-CN" sz="1800" strike="noStrike" noProof="1" dirty="0">
                <a:sym typeface="+mn-ea"/>
              </a:rPr>
              <a:t>howto</a:t>
            </a:r>
            <a:r>
              <a:rPr lang="zh-CN" altLang="en-US" sz="1800" strike="noStrike" noProof="1" dirty="0">
                <a:sym typeface="+mn-ea"/>
              </a:rPr>
              <a:t>，系统回采取不同的关闭方式。</a:t>
            </a:r>
            <a:endParaRPr lang="zh-CN" altLang="en-US" sz="1800" strike="noStrike" noProof="1" dirty="0">
              <a:sym typeface="+mn-ea"/>
            </a:endParaRPr>
          </a:p>
          <a:p>
            <a:pPr marL="609600" indent="-609600" eaLnBrk="1" fontAlgn="base" hangingPunct="1"/>
            <a:r>
              <a:rPr lang="en-US" altLang="zh-CN" sz="1800" strike="noStrike" noProof="1" dirty="0">
                <a:sym typeface="+mn-ea"/>
              </a:rPr>
              <a:t>howto = 0 </a:t>
            </a:r>
            <a:r>
              <a:rPr lang="zh-CN" altLang="en-US" sz="1800" strike="noStrike" noProof="1" dirty="0">
                <a:sym typeface="+mn-ea"/>
              </a:rPr>
              <a:t>关闭读通道，但是可以继续往套接字写数据。</a:t>
            </a:r>
            <a:endParaRPr lang="zh-CN" altLang="en-US" sz="1800" strike="noStrike" noProof="1" dirty="0"/>
          </a:p>
          <a:p>
            <a:pPr marL="609600" indent="-609600" eaLnBrk="1" fontAlgn="base" hangingPunct="1"/>
            <a:r>
              <a:rPr lang="en-US" altLang="zh-CN" sz="1800" strike="noStrike" noProof="1" dirty="0">
                <a:sym typeface="+mn-ea"/>
              </a:rPr>
              <a:t>howto = 1 </a:t>
            </a:r>
            <a:r>
              <a:rPr lang="zh-CN" altLang="en-US" sz="1800" strike="noStrike" noProof="1" dirty="0">
                <a:sym typeface="+mn-ea"/>
              </a:rPr>
              <a:t>关闭写通道。只能从套接字读取数据。 </a:t>
            </a:r>
            <a:endParaRPr lang="zh-CN" altLang="en-US" sz="1800" strike="noStrike" noProof="1" dirty="0"/>
          </a:p>
          <a:p>
            <a:pPr marL="609600" indent="-609600" eaLnBrk="1" fontAlgn="base" hangingPunct="1"/>
            <a:r>
              <a:rPr lang="en-US" altLang="zh-CN" sz="1800" strike="noStrike" noProof="1" dirty="0">
                <a:sym typeface="+mn-ea"/>
              </a:rPr>
              <a:t>howto = 2 </a:t>
            </a:r>
            <a:r>
              <a:rPr lang="zh-CN" altLang="en-US" sz="1800" strike="noStrike" noProof="1" dirty="0">
                <a:sym typeface="+mn-ea"/>
              </a:rPr>
              <a:t>关闭读写通道，和</a:t>
            </a:r>
            <a:r>
              <a:rPr lang="en-US" altLang="zh-CN" sz="1800" strike="noStrike" noProof="1" dirty="0">
                <a:sym typeface="+mn-ea"/>
              </a:rPr>
              <a:t>close()</a:t>
            </a:r>
            <a:r>
              <a:rPr lang="zh-CN" altLang="en-US" sz="1800" strike="noStrike" noProof="1" dirty="0">
                <a:sym typeface="+mn-ea"/>
              </a:rPr>
              <a:t>一样</a:t>
            </a:r>
            <a:endParaRPr lang="zh-CN" altLang="en-US" sz="1800" strike="noStrike" noProof="1" dirty="0"/>
          </a:p>
          <a:p>
            <a:pPr marL="548005" lvl="1" indent="-273050" eaLnBrk="1" fontAlgn="base" hangingPunct="1">
              <a:lnSpc>
                <a:spcPct val="120000"/>
              </a:lnSpc>
            </a:pPr>
            <a:endParaRPr lang="zh-CN" altLang="en-US" sz="1800" strike="noStrike" noProof="1" dirty="0"/>
          </a:p>
          <a:p>
            <a:pPr eaLnBrk="1" fontAlgn="base" hangingPunct="1"/>
            <a:endParaRPr lang="zh-CN" altLang="en-US" sz="1800" strike="noStrike" noProof="1" dirty="0">
              <a:solidFill>
                <a:srgbClr val="0000FF"/>
              </a:solidFill>
              <a:latin typeface="Arial" panose="020B0604020202020204" pitchFamily="34" charset="0"/>
            </a:endParaRPr>
          </a:p>
          <a:p>
            <a:pPr eaLnBrk="1" fontAlgn="base" hangingPunct="1"/>
            <a:endParaRPr lang="en-US" altLang="zh-CN" sz="1800" strike="noStrike" noProof="1" dirty="0"/>
          </a:p>
          <a:p>
            <a:pPr eaLnBrk="1" fontAlgn="base" hangingPunct="1"/>
            <a:endParaRPr lang="en-US" altLang="zh-CN" sz="1800" strike="noStrike" noProof="1" dirty="0"/>
          </a:p>
          <a:p>
            <a:pPr eaLnBrk="1" fontAlgn="base" hangingPunct="1">
              <a:lnSpc>
                <a:spcPct val="80000"/>
              </a:lnSpc>
            </a:pPr>
            <a:endParaRPr lang="en-US" altLang="zh-CN" sz="1800" b="1" strike="noStrike" noProof="1" dirty="0">
              <a:latin typeface="Courier New" panose="02070309020205020404" pitchFamily="49" charset="0"/>
            </a:endParaRPr>
          </a:p>
          <a:p>
            <a:pPr lvl="0" indent="-342900" fontAlgn="base"/>
            <a:endParaRPr lang="zh-CN" altLang="en-US" sz="1800" strike="noStrike" noProof="1" dirty="0"/>
          </a:p>
          <a:p>
            <a:pPr lvl="0" indent="-342900" fontAlgn="base">
              <a:spcBef>
                <a:spcPct val="0"/>
              </a:spcBef>
              <a:spcAft>
                <a:spcPct val="0"/>
              </a:spcAft>
            </a:pPr>
            <a:endParaRPr lang="zh-CN" altLang="en-US" sz="1800" strike="noStrike" noProof="1" dirty="0">
              <a:latin typeface="宋体" panose="02010600030101010101" pitchFamily="2" charset="-122"/>
            </a:endParaRPr>
          </a:p>
        </p:txBody>
      </p:sp>
      <p:sp>
        <p:nvSpPr>
          <p:cNvPr id="512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系统调用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close</a:t>
            </a:r>
            <a:r>
              <a:rPr lang="zh-CN"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solidFill>
                  <a:srgbClr val="FF0000"/>
                </a:solidFill>
                <a:latin typeface="宋体" panose="02010600030101010101" pitchFamily="2" charset="-122"/>
                <a:sym typeface="宋体" panose="02010600030101010101" pitchFamily="2" charset="-122"/>
              </a:rPr>
              <a:t>TCP</a:t>
            </a:r>
            <a:r>
              <a:rPr lang="zh-CN" altLang="en-US" sz="1800" dirty="0">
                <a:solidFill>
                  <a:srgbClr val="FF0000"/>
                </a:solidFill>
                <a:latin typeface="宋体" panose="02010600030101010101" pitchFamily="2" charset="-122"/>
                <a:sym typeface="宋体" panose="02010600030101010101" pitchFamily="2" charset="-122"/>
              </a:rPr>
              <a:t>服务器</a:t>
            </a:r>
            <a:r>
              <a:rPr lang="en-US" altLang="zh-CN" sz="1800" dirty="0">
                <a:solidFill>
                  <a:srgbClr val="FF0000"/>
                </a:solidFill>
                <a:latin typeface="宋体" panose="02010600030101010101" pitchFamily="2" charset="-122"/>
                <a:sym typeface="宋体" panose="02010600030101010101" pitchFamily="2" charset="-122"/>
              </a:rPr>
              <a:t>/</a:t>
            </a:r>
            <a:r>
              <a:rPr lang="zh-CN" altLang="en-US" sz="1800" dirty="0">
                <a:solidFill>
                  <a:srgbClr val="FF0000"/>
                </a:solidFill>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522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532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tcp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客户端与服务端</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53251" name="图片 1"/>
          <p:cNvPicPr>
            <a:picLocks noChangeAspect="1"/>
          </p:cNvPicPr>
          <p:nvPr/>
        </p:nvPicPr>
        <p:blipFill>
          <a:blip r:embed="rId1"/>
          <a:stretch>
            <a:fillRect/>
          </a:stretch>
        </p:blipFill>
        <p:spPr>
          <a:xfrm>
            <a:off x="612775" y="1076325"/>
            <a:ext cx="3419475" cy="3219450"/>
          </a:xfrm>
          <a:prstGeom prst="rect">
            <a:avLst/>
          </a:prstGeom>
          <a:noFill/>
          <a:ln w="9525">
            <a:noFill/>
          </a:ln>
        </p:spPr>
      </p:pic>
      <p:pic>
        <p:nvPicPr>
          <p:cNvPr id="53252" name="图片 2"/>
          <p:cNvPicPr>
            <a:picLocks noChangeAspect="1"/>
          </p:cNvPicPr>
          <p:nvPr/>
        </p:nvPicPr>
        <p:blipFill>
          <a:blip r:embed="rId2"/>
          <a:stretch>
            <a:fillRect/>
          </a:stretch>
        </p:blipFill>
        <p:spPr>
          <a:xfrm>
            <a:off x="5495925" y="933450"/>
            <a:ext cx="2638425" cy="3343275"/>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spcBef>
                <a:spcPct val="0"/>
              </a:spcBef>
              <a:spcAft>
                <a:spcPct val="0"/>
              </a:spcAft>
            </a:pPr>
            <a:endParaRPr lang="zh-CN" altLang="en-US" sz="1800" dirty="0">
              <a:latin typeface="宋体" panose="02010600030101010101" pitchFamily="2" charset="-122"/>
            </a:endParaRPr>
          </a:p>
        </p:txBody>
      </p:sp>
      <p:sp>
        <p:nvSpPr>
          <p:cNvPr id="542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udp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客户端与服务端</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54275" name="图片 1"/>
          <p:cNvPicPr>
            <a:picLocks noChangeAspect="1"/>
          </p:cNvPicPr>
          <p:nvPr/>
        </p:nvPicPr>
        <p:blipFill>
          <a:blip r:embed="rId1"/>
          <a:stretch>
            <a:fillRect/>
          </a:stretch>
        </p:blipFill>
        <p:spPr>
          <a:xfrm>
            <a:off x="679450" y="1014413"/>
            <a:ext cx="2943225" cy="3113087"/>
          </a:xfrm>
          <a:prstGeom prst="rect">
            <a:avLst/>
          </a:prstGeom>
          <a:noFill/>
          <a:ln w="9525">
            <a:noFill/>
          </a:ln>
        </p:spPr>
      </p:pic>
      <p:pic>
        <p:nvPicPr>
          <p:cNvPr id="54276" name="图片 2"/>
          <p:cNvPicPr>
            <a:picLocks noChangeAspect="1"/>
          </p:cNvPicPr>
          <p:nvPr/>
        </p:nvPicPr>
        <p:blipFill>
          <a:blip r:embed="rId2"/>
          <a:stretch>
            <a:fillRect/>
          </a:stretch>
        </p:blipFill>
        <p:spPr>
          <a:xfrm>
            <a:off x="4579938" y="976313"/>
            <a:ext cx="3217862" cy="3190875"/>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solidFill>
                  <a:srgbClr val="FF0000"/>
                </a:solidFill>
                <a:latin typeface="宋体" panose="02010600030101010101" pitchFamily="2" charset="-122"/>
                <a:sym typeface="宋体" panose="02010600030101010101" pitchFamily="2" charset="-122"/>
              </a:rPr>
              <a:t>I/O</a:t>
            </a:r>
            <a:r>
              <a:rPr lang="zh-CN" altLang="en-US" sz="1800" dirty="0">
                <a:solidFill>
                  <a:srgbClr val="FF0000"/>
                </a:solidFill>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552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90000"/>
              </a:lnSpc>
            </a:pPr>
            <a:r>
              <a:rPr lang="zh-CN" altLang="en-US" sz="1800" dirty="0"/>
              <a:t>在</a:t>
            </a:r>
            <a:r>
              <a:rPr lang="en-US" altLang="zh-CN" sz="1800" dirty="0"/>
              <a:t>UNIX/Linux</a:t>
            </a:r>
            <a:r>
              <a:rPr lang="zh-CN" altLang="en-US" sz="1800" dirty="0"/>
              <a:t>下主要有</a:t>
            </a:r>
            <a:r>
              <a:rPr lang="en-US" altLang="zh-CN" sz="1800" dirty="0"/>
              <a:t>4</a:t>
            </a:r>
            <a:r>
              <a:rPr lang="zh-CN" altLang="en-US" sz="1800" dirty="0"/>
              <a:t>种</a:t>
            </a:r>
            <a:r>
              <a:rPr lang="en-US" altLang="zh-CN" sz="1800" dirty="0"/>
              <a:t>I/O </a:t>
            </a:r>
            <a:r>
              <a:rPr lang="zh-CN" altLang="en-US" sz="1800" dirty="0"/>
              <a:t>模型：</a:t>
            </a:r>
            <a:endParaRPr lang="zh-CN" altLang="en-US" sz="1800" dirty="0"/>
          </a:p>
          <a:p>
            <a:pPr lvl="1" indent="-285750">
              <a:lnSpc>
                <a:spcPct val="120000"/>
              </a:lnSpc>
            </a:pPr>
            <a:r>
              <a:rPr lang="zh-CN" altLang="en-US" sz="1800" dirty="0"/>
              <a:t>阻塞</a:t>
            </a:r>
            <a:r>
              <a:rPr lang="en-US" altLang="zh-CN" sz="1800" dirty="0"/>
              <a:t>I/O</a:t>
            </a:r>
            <a:r>
              <a:rPr lang="zh-CN" altLang="en-US" sz="1800" dirty="0"/>
              <a:t>：</a:t>
            </a:r>
            <a:endParaRPr lang="zh-CN" altLang="en-US" sz="1800" dirty="0"/>
          </a:p>
          <a:p>
            <a:pPr lvl="2" indent="-228600">
              <a:lnSpc>
                <a:spcPct val="120000"/>
              </a:lnSpc>
            </a:pPr>
            <a:r>
              <a:rPr lang="zh-CN" altLang="en-US" sz="1800" dirty="0">
                <a:solidFill>
                  <a:srgbClr val="0000FF"/>
                </a:solidFill>
              </a:rPr>
              <a:t>最常用、最简单、效率最低</a:t>
            </a:r>
            <a:endParaRPr lang="zh-CN" altLang="en-US" sz="1800" dirty="0">
              <a:solidFill>
                <a:srgbClr val="0000FF"/>
              </a:solidFill>
            </a:endParaRPr>
          </a:p>
          <a:p>
            <a:pPr lvl="1" indent="-285750">
              <a:lnSpc>
                <a:spcPct val="120000"/>
              </a:lnSpc>
            </a:pPr>
            <a:r>
              <a:rPr lang="zh-CN" altLang="en-US" sz="1800" dirty="0"/>
              <a:t>非阻塞</a:t>
            </a:r>
            <a:r>
              <a:rPr lang="en-US" altLang="zh-CN" sz="1800" dirty="0"/>
              <a:t>I/O</a:t>
            </a:r>
            <a:r>
              <a:rPr lang="zh-CN" altLang="en-US" sz="1800" dirty="0"/>
              <a:t>：</a:t>
            </a:r>
            <a:endParaRPr lang="zh-CN" altLang="en-US" sz="1800" dirty="0"/>
          </a:p>
          <a:p>
            <a:pPr lvl="2" indent="-228600">
              <a:lnSpc>
                <a:spcPct val="120000"/>
              </a:lnSpc>
            </a:pPr>
            <a:r>
              <a:rPr lang="zh-CN" altLang="en-US" sz="1800" dirty="0">
                <a:solidFill>
                  <a:srgbClr val="0000FF"/>
                </a:solidFill>
              </a:rPr>
              <a:t>可防止进程阻塞在</a:t>
            </a:r>
            <a:r>
              <a:rPr lang="en-US" altLang="zh-CN" sz="1800" dirty="0">
                <a:solidFill>
                  <a:srgbClr val="0000FF"/>
                </a:solidFill>
              </a:rPr>
              <a:t>I/O</a:t>
            </a:r>
            <a:r>
              <a:rPr lang="zh-CN" altLang="en-US" sz="1800" dirty="0">
                <a:solidFill>
                  <a:srgbClr val="0000FF"/>
                </a:solidFill>
              </a:rPr>
              <a:t>操作上，需要轮询</a:t>
            </a:r>
            <a:endParaRPr lang="zh-CN" altLang="en-US" sz="1800" dirty="0">
              <a:solidFill>
                <a:srgbClr val="0000FF"/>
              </a:solidFill>
            </a:endParaRPr>
          </a:p>
          <a:p>
            <a:pPr lvl="1" indent="-285750">
              <a:lnSpc>
                <a:spcPct val="120000"/>
              </a:lnSpc>
            </a:pPr>
            <a:r>
              <a:rPr lang="en-US" altLang="zh-CN" sz="1800" dirty="0"/>
              <a:t>I/O </a:t>
            </a:r>
            <a:r>
              <a:rPr lang="zh-CN" altLang="en-US" sz="1800" dirty="0"/>
              <a:t>多路复用：</a:t>
            </a:r>
            <a:endParaRPr lang="zh-CN" altLang="en-US" sz="1800" dirty="0"/>
          </a:p>
          <a:p>
            <a:pPr lvl="2" indent="-228600">
              <a:lnSpc>
                <a:spcPct val="120000"/>
              </a:lnSpc>
            </a:pPr>
            <a:r>
              <a:rPr lang="zh-CN" altLang="en-US" sz="1800" dirty="0">
                <a:solidFill>
                  <a:srgbClr val="0000FF"/>
                </a:solidFill>
              </a:rPr>
              <a:t>允许同时对多个</a:t>
            </a:r>
            <a:r>
              <a:rPr lang="en-US" altLang="zh-CN" sz="1800" dirty="0">
                <a:solidFill>
                  <a:srgbClr val="0000FF"/>
                </a:solidFill>
              </a:rPr>
              <a:t>I/O</a:t>
            </a:r>
            <a:r>
              <a:rPr lang="zh-CN" altLang="en-US" sz="1800" dirty="0">
                <a:solidFill>
                  <a:srgbClr val="0000FF"/>
                </a:solidFill>
              </a:rPr>
              <a:t>进行控制</a:t>
            </a:r>
            <a:endParaRPr lang="zh-CN" altLang="en-US" sz="1800" dirty="0">
              <a:solidFill>
                <a:srgbClr val="0000FF"/>
              </a:solidFill>
            </a:endParaRPr>
          </a:p>
          <a:p>
            <a:pPr lvl="1" indent="-285750">
              <a:lnSpc>
                <a:spcPct val="120000"/>
              </a:lnSpc>
            </a:pPr>
            <a:r>
              <a:rPr lang="zh-CN" altLang="en-US" sz="1800" dirty="0"/>
              <a:t>信号驱动</a:t>
            </a:r>
            <a:r>
              <a:rPr lang="en-US" altLang="zh-CN" sz="1800" dirty="0"/>
              <a:t>I/O:</a:t>
            </a:r>
            <a:endParaRPr lang="en-US" altLang="zh-CN" sz="1800" dirty="0"/>
          </a:p>
          <a:p>
            <a:pPr lvl="2" indent="-228600">
              <a:lnSpc>
                <a:spcPct val="120000"/>
              </a:lnSpc>
            </a:pPr>
            <a:r>
              <a:rPr lang="zh-CN" altLang="en-US" sz="1800" dirty="0">
                <a:solidFill>
                  <a:srgbClr val="0000FF"/>
                </a:solidFill>
              </a:rPr>
              <a:t>一种异步通信模型</a:t>
            </a:r>
            <a:endParaRPr lang="zh-CN" altLang="en-US" sz="1800" dirty="0">
              <a:solidFill>
                <a:srgbClr val="0000FF"/>
              </a:solidFill>
            </a:endParaRPr>
          </a:p>
          <a:p>
            <a:pPr lvl="0" indent="-342900">
              <a:spcBef>
                <a:spcPct val="0"/>
              </a:spcBef>
              <a:spcAft>
                <a:spcPct val="0"/>
              </a:spcAft>
            </a:pPr>
            <a:endParaRPr lang="zh-CN" altLang="en-US" sz="1800" dirty="0">
              <a:latin typeface="宋体" panose="02010600030101010101" pitchFamily="2" charset="-122"/>
            </a:endParaRPr>
          </a:p>
        </p:txBody>
      </p:sp>
      <p:sp>
        <p:nvSpPr>
          <p:cNvPr id="563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阻塞</a:t>
            </a:r>
            <a:r>
              <a:rPr lang="en-US" altLang="zh-CN" sz="1800" strike="noStrike" noProof="1" dirty="0">
                <a:ea typeface="黑体,Bold"/>
                <a:sym typeface="+mn-ea"/>
              </a:rPr>
              <a:t>I/O </a:t>
            </a:r>
            <a:r>
              <a:rPr lang="zh-CN" altLang="en-US" sz="1800" strike="noStrike" noProof="1" dirty="0">
                <a:sym typeface="+mn-ea"/>
              </a:rPr>
              <a:t>模式是最普遍使用的</a:t>
            </a:r>
            <a:r>
              <a:rPr lang="en-US" altLang="zh-CN" sz="1800" strike="noStrike" noProof="1" dirty="0">
                <a:ea typeface="黑体,Bold"/>
                <a:sym typeface="+mn-ea"/>
              </a:rPr>
              <a:t>I/O </a:t>
            </a:r>
            <a:r>
              <a:rPr lang="zh-CN" altLang="en-US" sz="1800" strike="noStrike" noProof="1" dirty="0">
                <a:sym typeface="+mn-ea"/>
              </a:rPr>
              <a:t>模式，大部分程序使用的都是阻塞模式的</a:t>
            </a:r>
            <a:r>
              <a:rPr lang="en-US" altLang="zh-CN" sz="1800" strike="noStrike" noProof="1" dirty="0">
                <a:ea typeface="黑体,Bold"/>
                <a:sym typeface="+mn-ea"/>
              </a:rPr>
              <a:t>I/O </a:t>
            </a:r>
            <a:r>
              <a:rPr lang="zh-CN" altLang="en-US" sz="1800" strike="noStrike" noProof="1" dirty="0">
                <a:sym typeface="+mn-ea"/>
              </a:rPr>
              <a:t>。</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缺省情况下，套接字建立后所处于的模式就是阻塞</a:t>
            </a:r>
            <a:r>
              <a:rPr lang="en-US" altLang="zh-CN" sz="1800" strike="noStrike" noProof="1" dirty="0">
                <a:ea typeface="黑体,Bold"/>
                <a:sym typeface="+mn-ea"/>
              </a:rPr>
              <a:t>I/O </a:t>
            </a:r>
            <a:r>
              <a:rPr lang="zh-CN" altLang="en-US" sz="1800" strike="noStrike" noProof="1" dirty="0">
                <a:sym typeface="+mn-ea"/>
              </a:rPr>
              <a:t>模式。</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前面学习的很多读写函数在调用过程中会发生阻塞。</a:t>
            </a:r>
            <a:endParaRPr lang="zh-CN" altLang="en-US" sz="1800" strike="noStrike" noProof="1" dirty="0">
              <a:sym typeface="+mn-ea"/>
            </a:endParaRPr>
          </a:p>
          <a:p>
            <a:pPr lvl="1" eaLnBrk="1" fontAlgn="base" hangingPunct="1"/>
            <a:r>
              <a:rPr lang="zh-CN" altLang="en-US" sz="1575" strike="noStrike" noProof="1" dirty="0">
                <a:sym typeface="+mn-ea"/>
              </a:rPr>
              <a:t>读操作中的</a:t>
            </a:r>
            <a:r>
              <a:rPr lang="en-US" altLang="zh-CN" sz="1575" strike="noStrike" noProof="1" dirty="0">
                <a:sym typeface="+mn-ea"/>
              </a:rPr>
              <a:t>read</a:t>
            </a:r>
            <a:r>
              <a:rPr lang="zh-CN" altLang="en-US" sz="1575" strike="noStrike" noProof="1" dirty="0">
                <a:sym typeface="+mn-ea"/>
              </a:rPr>
              <a:t>、</a:t>
            </a:r>
            <a:r>
              <a:rPr lang="en-US" altLang="zh-CN" sz="1575" strike="noStrike" noProof="1" dirty="0">
                <a:sym typeface="+mn-ea"/>
              </a:rPr>
              <a:t>recv</a:t>
            </a:r>
            <a:r>
              <a:rPr lang="zh-CN" altLang="en-US" sz="1575" strike="noStrike" noProof="1" dirty="0">
                <a:sym typeface="+mn-ea"/>
              </a:rPr>
              <a:t>、</a:t>
            </a:r>
            <a:r>
              <a:rPr lang="en-US" altLang="zh-CN" sz="1575" strike="noStrike" noProof="1" dirty="0">
                <a:sym typeface="+mn-ea"/>
              </a:rPr>
              <a:t>recvfrom</a:t>
            </a:r>
            <a:endParaRPr lang="en-US" altLang="zh-CN" sz="1575" strike="noStrike" noProof="1" dirty="0"/>
          </a:p>
          <a:p>
            <a:pPr lvl="1" eaLnBrk="1" fontAlgn="base" hangingPunct="1">
              <a:lnSpc>
                <a:spcPct val="150000"/>
              </a:lnSpc>
            </a:pPr>
            <a:r>
              <a:rPr lang="zh-CN" altLang="en-US" sz="1800" strike="noStrike" noProof="1" dirty="0">
                <a:sym typeface="+mn-ea"/>
              </a:rPr>
              <a:t>写操作中的</a:t>
            </a:r>
            <a:r>
              <a:rPr lang="en-US" altLang="zh-CN" sz="1800" strike="noStrike" noProof="1" dirty="0">
                <a:sym typeface="+mn-ea"/>
              </a:rPr>
              <a:t>write</a:t>
            </a:r>
            <a:r>
              <a:rPr lang="zh-CN" altLang="en-US" sz="1800" strike="noStrike" noProof="1" dirty="0">
                <a:sym typeface="+mn-ea"/>
              </a:rPr>
              <a:t>、</a:t>
            </a:r>
            <a:r>
              <a:rPr lang="en-US" altLang="zh-CN" sz="1800" strike="noStrike" noProof="1" dirty="0">
                <a:sym typeface="+mn-ea"/>
              </a:rPr>
              <a:t>send</a:t>
            </a:r>
            <a:endParaRPr lang="en-US" altLang="zh-CN" sz="1800" strike="noStrike" noProof="1" dirty="0"/>
          </a:p>
          <a:p>
            <a:pPr lvl="1" eaLnBrk="1" fontAlgn="base" hangingPunct="1">
              <a:lnSpc>
                <a:spcPct val="150000"/>
              </a:lnSpc>
            </a:pPr>
            <a:r>
              <a:rPr lang="zh-CN" altLang="en-US" sz="1800" strike="noStrike" noProof="1" dirty="0">
                <a:sym typeface="+mn-ea"/>
              </a:rPr>
              <a:t>其他操作：</a:t>
            </a:r>
            <a:r>
              <a:rPr lang="en-US" altLang="zh-CN" sz="1800" strike="noStrike" noProof="1" dirty="0">
                <a:sym typeface="+mn-ea"/>
              </a:rPr>
              <a:t>accept</a:t>
            </a:r>
            <a:r>
              <a:rPr lang="zh-CN" altLang="en-US" sz="1800" strike="noStrike" noProof="1" dirty="0">
                <a:sym typeface="+mn-ea"/>
              </a:rPr>
              <a:t>、</a:t>
            </a:r>
            <a:r>
              <a:rPr lang="en-US" altLang="zh-CN" sz="1800" strike="noStrike" noProof="1" dirty="0">
                <a:sym typeface="+mn-ea"/>
              </a:rPr>
              <a:t>connect</a:t>
            </a:r>
            <a:endParaRPr lang="en-US" altLang="zh-CN" sz="1800" strike="noStrike" noProof="1" dirty="0"/>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5734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t>读阻塞以</a:t>
            </a:r>
            <a:r>
              <a:rPr lang="en-US" altLang="zh-CN" sz="1800" dirty="0"/>
              <a:t>read</a:t>
            </a:r>
            <a:r>
              <a:rPr lang="zh-CN" altLang="en-US" sz="1800" dirty="0"/>
              <a:t>函数为例：</a:t>
            </a:r>
            <a:endParaRPr lang="zh-CN" altLang="en-US" sz="1800" dirty="0"/>
          </a:p>
          <a:p>
            <a:pPr lvl="1" indent="-285750">
              <a:lnSpc>
                <a:spcPct val="120000"/>
              </a:lnSpc>
            </a:pPr>
            <a:r>
              <a:rPr lang="zh-CN" altLang="en-US" sz="1800" dirty="0"/>
              <a:t>进程调用</a:t>
            </a:r>
            <a:r>
              <a:rPr lang="en-US" altLang="zh-CN" sz="1800" dirty="0"/>
              <a:t>read</a:t>
            </a:r>
            <a:r>
              <a:rPr lang="zh-CN" altLang="en-US" sz="1800" dirty="0"/>
              <a:t>函数从套接字上读取数据，当套接字的接收缓冲区中还没有数据可读，函数</a:t>
            </a:r>
            <a:r>
              <a:rPr lang="en-US" altLang="zh-CN" sz="1800" dirty="0"/>
              <a:t>read</a:t>
            </a:r>
            <a:r>
              <a:rPr lang="zh-CN" altLang="en-US" sz="1800" dirty="0"/>
              <a:t>将发生阻塞。</a:t>
            </a:r>
            <a:endParaRPr lang="zh-CN" altLang="en-US" sz="1800" dirty="0"/>
          </a:p>
          <a:p>
            <a:pPr lvl="1" indent="-285750">
              <a:lnSpc>
                <a:spcPct val="120000"/>
              </a:lnSpc>
            </a:pPr>
            <a:r>
              <a:rPr lang="zh-CN" altLang="en-US" sz="1800" dirty="0"/>
              <a:t>它会一直阻塞下去，等待套接字的接收缓冲区中有数据可读。</a:t>
            </a:r>
            <a:endParaRPr lang="zh-CN" altLang="en-US" sz="1800" dirty="0"/>
          </a:p>
          <a:p>
            <a:pPr lvl="1" indent="-285750">
              <a:lnSpc>
                <a:spcPct val="120000"/>
              </a:lnSpc>
            </a:pPr>
            <a:r>
              <a:rPr lang="zh-CN" altLang="en-US" sz="1800" dirty="0"/>
              <a:t>经过一段时间后，缓冲区内接收到数据，于是内核便去唤醒该进程，通过</a:t>
            </a:r>
            <a:r>
              <a:rPr lang="en-US" altLang="zh-CN" sz="1800" dirty="0"/>
              <a:t>read</a:t>
            </a:r>
            <a:r>
              <a:rPr lang="zh-CN" altLang="en-US" sz="1800" dirty="0"/>
              <a:t>访问这些数据。</a:t>
            </a:r>
            <a:endParaRPr lang="zh-CN" altLang="en-US" sz="1800" dirty="0"/>
          </a:p>
          <a:p>
            <a:pPr lvl="1" indent="-285750">
              <a:lnSpc>
                <a:spcPct val="120000"/>
              </a:lnSpc>
            </a:pPr>
            <a:r>
              <a:rPr lang="zh-CN" altLang="en-US" sz="1800" dirty="0"/>
              <a:t>如果在进程阻塞过程中，对方发生故障，那这个进程将永远阻塞下去。</a:t>
            </a:r>
            <a:endParaRPr lang="zh-CN" altLang="en-US" sz="1800" dirty="0"/>
          </a:p>
          <a:p>
            <a:pPr lvl="0" indent="-342900"/>
            <a:endParaRPr lang="en-US" altLang="zh-CN" sz="1800" dirty="0"/>
          </a:p>
          <a:p>
            <a:pPr lvl="0" indent="-342900">
              <a:spcBef>
                <a:spcPct val="0"/>
              </a:spcBef>
              <a:spcAft>
                <a:spcPct val="0"/>
              </a:spcAft>
            </a:pPr>
            <a:endParaRPr lang="zh-CN" altLang="en-US" sz="1800" dirty="0">
              <a:latin typeface="宋体" panose="02010600030101010101" pitchFamily="2" charset="-122"/>
            </a:endParaRPr>
          </a:p>
        </p:txBody>
      </p:sp>
      <p:sp>
        <p:nvSpPr>
          <p:cNvPr id="5837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  读阻塞</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30000"/>
              </a:lnSpc>
            </a:pPr>
            <a:r>
              <a:rPr lang="zh-CN" altLang="en-US" sz="1800" dirty="0"/>
              <a:t>在写操作时发生阻塞的情况要比读操作少。主要发生在要写入的缓冲区的大小小于要写入的数据量的情况下。</a:t>
            </a:r>
            <a:endParaRPr lang="zh-CN" altLang="en-US" sz="1800" dirty="0"/>
          </a:p>
          <a:p>
            <a:pPr lvl="0" indent="-342900">
              <a:lnSpc>
                <a:spcPct val="130000"/>
              </a:lnSpc>
            </a:pPr>
            <a:r>
              <a:rPr lang="zh-CN" altLang="en-US" sz="1800" dirty="0"/>
              <a:t>这时，写操作不进行任何拷贝工作，将发生阻塞。</a:t>
            </a:r>
            <a:endParaRPr lang="zh-CN" altLang="en-US" sz="1800" dirty="0"/>
          </a:p>
          <a:p>
            <a:pPr lvl="0" indent="-342900">
              <a:lnSpc>
                <a:spcPct val="130000"/>
              </a:lnSpc>
            </a:pPr>
            <a:r>
              <a:rPr lang="zh-CN" altLang="en-US" sz="1800" dirty="0"/>
              <a:t>一旦发送缓冲区内有足够的空间，内核将唤醒进程，将数据从用户缓冲区中拷贝到相应的发送数据缓冲区。</a:t>
            </a:r>
            <a:endParaRPr lang="zh-CN" altLang="en-US" sz="1800" dirty="0"/>
          </a:p>
          <a:p>
            <a:pPr lvl="0" indent="-342900">
              <a:lnSpc>
                <a:spcPct val="130000"/>
              </a:lnSpc>
            </a:pPr>
            <a:r>
              <a:rPr lang="en-US" altLang="zh-CN" sz="1800" dirty="0"/>
              <a:t>UDP</a:t>
            </a:r>
            <a:r>
              <a:rPr lang="zh-CN" altLang="en-US" sz="1800" dirty="0"/>
              <a:t>不用等待确认，没有实际的发送缓冲区，所以</a:t>
            </a:r>
            <a:r>
              <a:rPr lang="en-US" altLang="zh-CN" sz="1800" dirty="0"/>
              <a:t>UDP</a:t>
            </a:r>
            <a:r>
              <a:rPr lang="zh-CN" altLang="en-US" sz="1800" dirty="0"/>
              <a:t>协议中不存在发送缓冲区满的情况，在</a:t>
            </a:r>
            <a:r>
              <a:rPr lang="en-US" altLang="zh-CN" sz="1800" dirty="0"/>
              <a:t>UDP</a:t>
            </a:r>
            <a:r>
              <a:rPr lang="zh-CN" altLang="en-US" sz="1800" dirty="0"/>
              <a:t>套接字上执行的写操作永远都不会阻塞。</a:t>
            </a:r>
            <a:endParaRPr lang="zh-CN" altLang="en-US" sz="1800" dirty="0"/>
          </a:p>
          <a:p>
            <a:pPr lvl="0" indent="-342900"/>
            <a:endParaRPr lang="zh-CN" altLang="en-US" sz="1800" dirty="0"/>
          </a:p>
          <a:p>
            <a:pPr lvl="0" indent="-342900"/>
            <a:endParaRPr lang="en-US" altLang="zh-CN" sz="1800" dirty="0"/>
          </a:p>
          <a:p>
            <a:pPr lvl="0" indent="-342900">
              <a:spcBef>
                <a:spcPct val="0"/>
              </a:spcBef>
              <a:spcAft>
                <a:spcPct val="0"/>
              </a:spcAft>
            </a:pPr>
            <a:endParaRPr lang="zh-CN" altLang="en-US" sz="1800" dirty="0">
              <a:latin typeface="宋体" panose="02010600030101010101" pitchFamily="2" charset="-122"/>
            </a:endParaRPr>
          </a:p>
        </p:txBody>
      </p:sp>
      <p:sp>
        <p:nvSpPr>
          <p:cNvPr id="5939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 写阻塞</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latin typeface="宋体" panose="02010600030101010101" pitchFamily="2" charset="-122"/>
              </a:rPr>
              <a:t>当我们将一个套接字设置为非阻塞模式，我们相当于告诉了系统内核：</a:t>
            </a:r>
            <a:r>
              <a:rPr lang="zh-CN" altLang="en-US" sz="1800" dirty="0">
                <a:latin typeface="Arial" panose="020B0604020202020204" pitchFamily="34" charset="0"/>
              </a:rPr>
              <a:t>“</a:t>
            </a:r>
            <a:r>
              <a:rPr lang="zh-CN" altLang="en-US" sz="1800" dirty="0">
                <a:latin typeface="宋体" panose="02010600030101010101" pitchFamily="2" charset="-122"/>
              </a:rPr>
              <a:t>当我请求的</a:t>
            </a:r>
            <a:r>
              <a:rPr lang="en-US" altLang="zh-CN" sz="1800" dirty="0"/>
              <a:t>I/O </a:t>
            </a:r>
            <a:r>
              <a:rPr lang="zh-CN" altLang="en-US" sz="1800" dirty="0">
                <a:latin typeface="宋体" panose="02010600030101010101" pitchFamily="2" charset="-122"/>
              </a:rPr>
              <a:t>操作不能够马上完成，你想让我的进程进行休眠等待的时候，不要这么做，请马上返回一个错误给我。</a:t>
            </a:r>
            <a:r>
              <a:rPr lang="zh-CN" altLang="en-US" sz="1800" dirty="0">
                <a:latin typeface="Arial" panose="020B0604020202020204" pitchFamily="34" charset="0"/>
              </a:rPr>
              <a:t>”</a:t>
            </a:r>
            <a:endParaRPr lang="zh-CN" altLang="en-US" sz="1800" dirty="0">
              <a:latin typeface="宋体" panose="02010600030101010101" pitchFamily="2" charset="-122"/>
            </a:endParaRPr>
          </a:p>
          <a:p>
            <a:pPr lvl="0" indent="-342900"/>
            <a:r>
              <a:rPr lang="zh-CN" altLang="en-US" sz="1800" dirty="0">
                <a:latin typeface="宋体" panose="02010600030101010101" pitchFamily="2" charset="-122"/>
              </a:rPr>
              <a:t>当一个应用程序使用了非阻塞模式的套接字，它需要使用一个循环来不停地测试是否一个文件描述符有数据可读（称做</a:t>
            </a:r>
            <a:r>
              <a:rPr lang="en-US" altLang="zh-CN" sz="1800" dirty="0"/>
              <a:t>polling</a:t>
            </a:r>
            <a:r>
              <a:rPr lang="zh-CN" altLang="en-US" sz="1800" dirty="0">
                <a:latin typeface="宋体" panose="02010600030101010101" pitchFamily="2" charset="-122"/>
              </a:rPr>
              <a:t>）轮询。</a:t>
            </a:r>
            <a:endParaRPr lang="zh-CN" altLang="en-US" sz="1800" dirty="0">
              <a:latin typeface="宋体" panose="02010600030101010101" pitchFamily="2" charset="-122"/>
            </a:endParaRPr>
          </a:p>
          <a:p>
            <a:pPr lvl="0" indent="-342900"/>
            <a:r>
              <a:rPr lang="zh-CN" altLang="en-US" sz="1800" dirty="0">
                <a:latin typeface="宋体" panose="02010600030101010101" pitchFamily="2" charset="-122"/>
              </a:rPr>
              <a:t>应用程序不停的</a:t>
            </a:r>
            <a:r>
              <a:rPr lang="en-US" altLang="zh-CN" sz="1800" dirty="0"/>
              <a:t>polling </a:t>
            </a:r>
            <a:r>
              <a:rPr lang="zh-CN" altLang="en-US" sz="1800" dirty="0">
                <a:latin typeface="宋体" panose="02010600030101010101" pitchFamily="2" charset="-122"/>
              </a:rPr>
              <a:t>内核来检查是否</a:t>
            </a:r>
            <a:r>
              <a:rPr lang="en-US" altLang="zh-CN" sz="1800" dirty="0"/>
              <a:t>I/O</a:t>
            </a:r>
            <a:r>
              <a:rPr lang="zh-CN" altLang="en-US" sz="1800" dirty="0">
                <a:latin typeface="宋体" panose="02010600030101010101" pitchFamily="2" charset="-122"/>
              </a:rPr>
              <a:t>操作已经就绪。这将是一个极浪费</a:t>
            </a:r>
            <a:r>
              <a:rPr lang="en-US" altLang="zh-CN" sz="1800" dirty="0"/>
              <a:t>CPU </a:t>
            </a:r>
            <a:r>
              <a:rPr lang="zh-CN" altLang="en-US" sz="1800" dirty="0">
                <a:latin typeface="宋体" panose="02010600030101010101" pitchFamily="2" charset="-122"/>
              </a:rPr>
              <a:t>资源的操作。</a:t>
            </a:r>
            <a:endParaRPr lang="zh-CN" altLang="en-US" sz="1800" dirty="0">
              <a:latin typeface="宋体" panose="02010600030101010101" pitchFamily="2" charset="-122"/>
            </a:endParaRPr>
          </a:p>
          <a:p>
            <a:pPr lvl="0" indent="-342900"/>
            <a:r>
              <a:rPr lang="en-US" altLang="zh-CN" sz="1800" dirty="0">
                <a:ea typeface="黑体,Bold"/>
              </a:rPr>
              <a:t>fcntl()</a:t>
            </a:r>
            <a:r>
              <a:rPr lang="zh-CN" altLang="en-US" sz="1800" dirty="0">
                <a:ea typeface="黑体,Bold"/>
              </a:rPr>
              <a:t>函数</a:t>
            </a:r>
            <a:endParaRPr lang="zh-CN" altLang="en-US" sz="1800" dirty="0"/>
          </a:p>
          <a:p>
            <a:pPr lvl="1" indent="-285750">
              <a:lnSpc>
                <a:spcPct val="120000"/>
              </a:lnSpc>
            </a:pPr>
            <a:r>
              <a:rPr lang="en-US" altLang="zh-CN" sz="1800" dirty="0">
                <a:solidFill>
                  <a:srgbClr val="0000FF"/>
                </a:solidFill>
              </a:rPr>
              <a:t>int fcntl(int fd, int cmd, long arg);</a:t>
            </a:r>
            <a:endParaRPr lang="en-US" altLang="zh-CN" sz="1800" dirty="0">
              <a:solidFill>
                <a:srgbClr val="0000FF"/>
              </a:solidFill>
            </a:endParaRPr>
          </a:p>
          <a:p>
            <a:pPr lvl="1" indent="-285750">
              <a:buNone/>
            </a:pPr>
            <a:r>
              <a:rPr lang="en-US" altLang="zh-CN" sz="1800" dirty="0">
                <a:solidFill>
                  <a:srgbClr val="0000FF"/>
                </a:solidFill>
              </a:rPr>
              <a:t>      int flag</a:t>
            </a:r>
            <a:r>
              <a:rPr lang="zh-CN" altLang="en-US" sz="1800" dirty="0">
                <a:solidFill>
                  <a:srgbClr val="0000FF"/>
                </a:solidFill>
              </a:rPr>
              <a:t>；</a:t>
            </a:r>
            <a:endParaRPr lang="zh-CN" altLang="en-US" sz="1800" dirty="0">
              <a:solidFill>
                <a:srgbClr val="0000FF"/>
              </a:solidFill>
            </a:endParaRPr>
          </a:p>
          <a:p>
            <a:pPr lvl="1" indent="-285750">
              <a:buNone/>
            </a:pPr>
            <a:r>
              <a:rPr lang="zh-CN" altLang="en-US" sz="1800" dirty="0">
                <a:solidFill>
                  <a:srgbClr val="0000FF"/>
                </a:solidFill>
              </a:rPr>
              <a:t>      </a:t>
            </a:r>
            <a:r>
              <a:rPr lang="en-US" altLang="zh-CN" sz="1800" dirty="0">
                <a:solidFill>
                  <a:srgbClr val="0000FF"/>
                </a:solidFill>
              </a:rPr>
              <a:t>flag = fcntl(sockfd, F_GETFL, 0);</a:t>
            </a:r>
            <a:endParaRPr lang="en-US" altLang="zh-CN" sz="1800" dirty="0">
              <a:solidFill>
                <a:srgbClr val="0000FF"/>
              </a:solidFill>
            </a:endParaRPr>
          </a:p>
          <a:p>
            <a:pPr lvl="1" indent="-285750">
              <a:buNone/>
            </a:pPr>
            <a:r>
              <a:rPr lang="en-US" altLang="zh-CN" sz="1800" dirty="0">
                <a:solidFill>
                  <a:srgbClr val="0000FF"/>
                </a:solidFill>
              </a:rPr>
              <a:t>      flag |= O_NONBLOCK;</a:t>
            </a:r>
            <a:endParaRPr lang="en-US" altLang="zh-CN" sz="1800" dirty="0">
              <a:solidFill>
                <a:srgbClr val="0000FF"/>
              </a:solidFill>
            </a:endParaRPr>
          </a:p>
          <a:p>
            <a:pPr lvl="1" indent="-285750">
              <a:buNone/>
            </a:pPr>
            <a:r>
              <a:rPr lang="en-US" altLang="zh-CN" sz="1800" dirty="0">
                <a:solidFill>
                  <a:srgbClr val="0000FF"/>
                </a:solidFill>
              </a:rPr>
              <a:t>      fcntl(sockfd, F_SETFL, flag);</a:t>
            </a:r>
            <a:endParaRPr lang="en-US" altLang="zh-CN" sz="1800" dirty="0"/>
          </a:p>
          <a:p>
            <a:pPr lvl="0" indent="-342900"/>
            <a:endParaRPr lang="zh-CN" altLang="en-US" sz="1800" dirty="0"/>
          </a:p>
          <a:p>
            <a:pPr lvl="0" indent="-342900"/>
            <a:endParaRPr lang="en-US" altLang="zh-CN" sz="1800" dirty="0"/>
          </a:p>
          <a:p>
            <a:pPr lvl="0" indent="-342900">
              <a:spcBef>
                <a:spcPct val="0"/>
              </a:spcBef>
              <a:spcAft>
                <a:spcPct val="0"/>
              </a:spcAft>
            </a:pPr>
            <a:endParaRPr lang="zh-CN" altLang="en-US" sz="1800" dirty="0">
              <a:latin typeface="宋体" panose="02010600030101010101" pitchFamily="2" charset="-122"/>
            </a:endParaRPr>
          </a:p>
        </p:txBody>
      </p:sp>
      <p:sp>
        <p:nvSpPr>
          <p:cNvPr id="6041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  非阻塞</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endParaRPr lang="zh-CN" altLang="en-US" sz="1800" dirty="0"/>
          </a:p>
          <a:p>
            <a:pPr lvl="0" indent="-342900"/>
            <a:endParaRPr lang="en-US" altLang="zh-CN" sz="1800" dirty="0"/>
          </a:p>
          <a:p>
            <a:pPr lvl="0" indent="-342900">
              <a:spcBef>
                <a:spcPct val="0"/>
              </a:spcBef>
              <a:spcAft>
                <a:spcPct val="0"/>
              </a:spcAft>
            </a:pPr>
            <a:endParaRPr lang="zh-CN" altLang="en-US" sz="1800" dirty="0">
              <a:latin typeface="宋体" panose="02010600030101010101" pitchFamily="2" charset="-122"/>
            </a:endParaRPr>
          </a:p>
        </p:txBody>
      </p:sp>
      <p:sp>
        <p:nvSpPr>
          <p:cNvPr id="6144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  非阻塞</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pic>
        <p:nvPicPr>
          <p:cNvPr id="61443" name="图片 1"/>
          <p:cNvPicPr>
            <a:picLocks noChangeAspect="1"/>
          </p:cNvPicPr>
          <p:nvPr/>
        </p:nvPicPr>
        <p:blipFill>
          <a:blip r:embed="rId1"/>
          <a:stretch>
            <a:fillRect/>
          </a:stretch>
        </p:blipFill>
        <p:spPr>
          <a:xfrm>
            <a:off x="1003300" y="933450"/>
            <a:ext cx="6486525" cy="3724275"/>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文本占位符 1"/>
          <p:cNvSpPr>
            <a:spLocks noGrp="1"/>
          </p:cNvSpPr>
          <p:nvPr>
            <p:ph sz="quarter"/>
          </p:nvPr>
        </p:nvSpPr>
        <p:spPr>
          <a:xfrm>
            <a:off x="612775" y="93345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10000"/>
              </a:lnSpc>
            </a:pPr>
            <a:r>
              <a:rPr lang="zh-CN" altLang="en-US" sz="1800" dirty="0"/>
              <a:t>应用程序中同时处理</a:t>
            </a:r>
            <a:r>
              <a:rPr lang="zh-CN" altLang="en-US" sz="1800" dirty="0">
                <a:solidFill>
                  <a:srgbClr val="FF3300"/>
                </a:solidFill>
              </a:rPr>
              <a:t>多路</a:t>
            </a:r>
            <a:r>
              <a:rPr lang="zh-CN" altLang="en-US" sz="1800" dirty="0"/>
              <a:t>输入输出流，若采用</a:t>
            </a:r>
            <a:r>
              <a:rPr lang="zh-CN" altLang="en-US" sz="1800" dirty="0">
                <a:solidFill>
                  <a:srgbClr val="0000FF"/>
                </a:solidFill>
              </a:rPr>
              <a:t>阻塞模式</a:t>
            </a:r>
            <a:r>
              <a:rPr lang="zh-CN" altLang="en-US" sz="1800" dirty="0"/>
              <a:t>，将得不到预期的目的；</a:t>
            </a:r>
            <a:endParaRPr lang="zh-CN" altLang="en-US" sz="1800" dirty="0"/>
          </a:p>
          <a:p>
            <a:pPr lvl="0" indent="-342900">
              <a:lnSpc>
                <a:spcPct val="110000"/>
              </a:lnSpc>
            </a:pPr>
            <a:r>
              <a:rPr lang="zh-CN" altLang="en-US" sz="1800" dirty="0"/>
              <a:t>若采用</a:t>
            </a:r>
            <a:r>
              <a:rPr lang="zh-CN" altLang="en-US" sz="1800" dirty="0">
                <a:solidFill>
                  <a:srgbClr val="0000FF"/>
                </a:solidFill>
              </a:rPr>
              <a:t>非阻塞模式</a:t>
            </a:r>
            <a:r>
              <a:rPr lang="zh-CN" altLang="en-US" sz="1800" dirty="0"/>
              <a:t>，对多个输入进行轮询，但又太浪费</a:t>
            </a:r>
            <a:r>
              <a:rPr lang="en-US" altLang="zh-CN" sz="1800" dirty="0"/>
              <a:t>CPU</a:t>
            </a:r>
            <a:r>
              <a:rPr lang="zh-CN" altLang="en-US" sz="1800" dirty="0"/>
              <a:t>时间；</a:t>
            </a:r>
            <a:endParaRPr lang="zh-CN" altLang="en-US" sz="1800" dirty="0"/>
          </a:p>
          <a:p>
            <a:pPr lvl="0" indent="-342900">
              <a:lnSpc>
                <a:spcPct val="110000"/>
              </a:lnSpc>
            </a:pPr>
            <a:r>
              <a:rPr lang="zh-CN" altLang="en-US" sz="1800" dirty="0"/>
              <a:t>若设置</a:t>
            </a:r>
            <a:r>
              <a:rPr lang="zh-CN" altLang="en-US" sz="1800" dirty="0">
                <a:solidFill>
                  <a:srgbClr val="0000FF"/>
                </a:solidFill>
              </a:rPr>
              <a:t>多个进程</a:t>
            </a:r>
            <a:r>
              <a:rPr lang="zh-CN" altLang="en-US" sz="1800" dirty="0"/>
              <a:t>，分别处理一条数据通路，将产生进程间的同步与通信问题，使程序变得更加复杂；</a:t>
            </a:r>
            <a:endParaRPr lang="zh-CN" altLang="en-US" sz="1800" dirty="0"/>
          </a:p>
          <a:p>
            <a:pPr lvl="0" indent="-342900">
              <a:lnSpc>
                <a:spcPct val="110000"/>
              </a:lnSpc>
            </a:pPr>
            <a:r>
              <a:rPr lang="zh-CN" altLang="en-US" sz="1800" dirty="0"/>
              <a:t>比较好的方法是使用</a:t>
            </a:r>
            <a:r>
              <a:rPr lang="en-US" altLang="zh-CN" sz="1800" dirty="0">
                <a:solidFill>
                  <a:srgbClr val="FF3300"/>
                </a:solidFill>
              </a:rPr>
              <a:t>I/O</a:t>
            </a:r>
            <a:r>
              <a:rPr lang="zh-CN" altLang="en-US" sz="1800" dirty="0">
                <a:solidFill>
                  <a:srgbClr val="FF3300"/>
                </a:solidFill>
              </a:rPr>
              <a:t>多路复用</a:t>
            </a:r>
            <a:r>
              <a:rPr lang="zh-CN" altLang="en-US" sz="1800" dirty="0"/>
              <a:t>。其基本思想是：</a:t>
            </a:r>
            <a:endParaRPr lang="zh-CN" altLang="en-US" sz="1800" dirty="0"/>
          </a:p>
          <a:p>
            <a:pPr lvl="1" indent="-285750">
              <a:lnSpc>
                <a:spcPct val="120000"/>
              </a:lnSpc>
            </a:pPr>
            <a:r>
              <a:rPr lang="zh-CN" altLang="en-US" sz="1800" dirty="0"/>
              <a:t>先构造一张有关描述符的表，然后调用一个函数。当这些文件描述符中的一个或多个已准备好进行</a:t>
            </a:r>
            <a:r>
              <a:rPr lang="en-US" altLang="zh-CN" sz="1800" dirty="0"/>
              <a:t>I/O</a:t>
            </a:r>
            <a:r>
              <a:rPr lang="zh-CN" altLang="en-US" sz="1800" dirty="0"/>
              <a:t>时函数才返回。</a:t>
            </a:r>
            <a:endParaRPr lang="zh-CN" altLang="en-US" sz="1800" dirty="0"/>
          </a:p>
          <a:p>
            <a:pPr lvl="1" indent="-285750">
              <a:lnSpc>
                <a:spcPct val="120000"/>
              </a:lnSpc>
            </a:pPr>
            <a:r>
              <a:rPr lang="zh-CN" altLang="en-US" sz="1800" dirty="0"/>
              <a:t>函数返回时告诉进程那个描述符已就绪，可以进行</a:t>
            </a:r>
            <a:r>
              <a:rPr lang="en-US" altLang="zh-CN" sz="1800" dirty="0"/>
              <a:t>I/O</a:t>
            </a:r>
            <a:r>
              <a:rPr lang="zh-CN" altLang="en-US" sz="1800" dirty="0"/>
              <a:t>操作。</a:t>
            </a:r>
            <a:endParaRPr lang="zh-CN" altLang="en-US" sz="1800" dirty="0"/>
          </a:p>
          <a:p>
            <a:pPr lvl="0" indent="-342900"/>
            <a:endParaRPr lang="en-US" altLang="zh-CN" sz="1800" dirty="0"/>
          </a:p>
          <a:p>
            <a:pPr lvl="0" indent="-342900">
              <a:spcBef>
                <a:spcPct val="0"/>
              </a:spcBef>
              <a:spcAft>
                <a:spcPct val="0"/>
              </a:spcAft>
            </a:pPr>
            <a:endParaRPr lang="zh-CN" altLang="en-US" sz="1800" dirty="0">
              <a:latin typeface="宋体" panose="02010600030101010101" pitchFamily="2" charset="-122"/>
            </a:endParaRPr>
          </a:p>
        </p:txBody>
      </p:sp>
      <p:sp>
        <p:nvSpPr>
          <p:cNvPr id="6246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模型  多路复用</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endParaRPr lang="zh-CN" altLang="en-US" sz="1800" strike="noStrike" noProof="1" dirty="0"/>
          </a:p>
          <a:p>
            <a:pPr lvl="0" fontAlgn="base">
              <a:spcBef>
                <a:spcPct val="20000"/>
              </a:spcBef>
              <a:buClr>
                <a:srgbClr val="FF0000"/>
              </a:buClr>
            </a:pPr>
            <a:r>
              <a:rPr lang="en-US" altLang="zh-CN" sz="1800" b="1" strike="noStrike" noProof="1" dirty="0">
                <a:latin typeface="MS Reference Sans Serif" panose="020B0604030504040204" pitchFamily="34" charset="0"/>
                <a:ea typeface="宋体" panose="02010600030101010101" pitchFamily="2" charset="-122"/>
                <a:sym typeface="+mn-ea"/>
              </a:rPr>
              <a:t>#include &lt;sys/time.h&gt;</a:t>
            </a:r>
            <a:endParaRPr lang="en-US" altLang="zh-CN" sz="1800" b="1" strike="noStrike" noProof="1" dirty="0">
              <a:latin typeface="MS Reference Sans Serif" panose="020B0604030504040204" pitchFamily="34" charset="0"/>
              <a:ea typeface="宋体" panose="02010600030101010101" pitchFamily="2" charset="-122"/>
            </a:endParaRPr>
          </a:p>
          <a:p>
            <a:pPr lvl="0" fontAlgn="base">
              <a:spcBef>
                <a:spcPct val="20000"/>
              </a:spcBef>
              <a:buClr>
                <a:srgbClr val="FF0000"/>
              </a:buClr>
            </a:pPr>
            <a:r>
              <a:rPr lang="en-US" altLang="zh-CN" sz="1800" b="1" strike="noStrike" noProof="1" dirty="0">
                <a:latin typeface="MS Reference Sans Serif" panose="020B0604030504040204" pitchFamily="34" charset="0"/>
                <a:ea typeface="宋体" panose="02010600030101010101" pitchFamily="2" charset="-122"/>
                <a:sym typeface="+mn-ea"/>
              </a:rPr>
              <a:t>#include &lt;sys/types.h&gt;</a:t>
            </a:r>
            <a:endParaRPr lang="en-US" altLang="zh-CN" sz="1800" b="1" strike="noStrike" noProof="1" dirty="0">
              <a:latin typeface="MS Reference Sans Serif" panose="020B0604030504040204" pitchFamily="34" charset="0"/>
              <a:ea typeface="宋体" panose="02010600030101010101" pitchFamily="2" charset="-122"/>
            </a:endParaRPr>
          </a:p>
          <a:p>
            <a:pPr lvl="0" fontAlgn="base">
              <a:spcBef>
                <a:spcPct val="20000"/>
              </a:spcBef>
              <a:buClr>
                <a:srgbClr val="FF0000"/>
              </a:buClr>
            </a:pPr>
            <a:r>
              <a:rPr lang="en-US" altLang="zh-CN" sz="1800" b="1" strike="noStrike" noProof="1" dirty="0">
                <a:latin typeface="MS Reference Sans Serif" panose="020B0604030504040204" pitchFamily="34" charset="0"/>
                <a:ea typeface="宋体" panose="02010600030101010101" pitchFamily="2" charset="-122"/>
                <a:sym typeface="+mn-ea"/>
              </a:rPr>
              <a:t>#include &lt;unistd.h&gt;</a:t>
            </a:r>
            <a:endParaRPr lang="en-US" altLang="zh-CN" sz="1800" b="1" strike="noStrike" noProof="1" dirty="0">
              <a:latin typeface="MS Reference Sans Serif" panose="020B0604030504040204" pitchFamily="34" charset="0"/>
              <a:ea typeface="宋体" panose="02010600030101010101" pitchFamily="2" charset="-122"/>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spcBef>
                <a:spcPct val="20000"/>
              </a:spcBef>
              <a:buClr>
                <a:srgbClr val="FF0000"/>
              </a:buClr>
            </a:pPr>
            <a:r>
              <a:rPr lang="en-US" altLang="zh-CN" sz="1800" b="1" strike="noStrike" noProof="1" dirty="0">
                <a:latin typeface="MS Reference Sans Serif" panose="020B0604030504040204" pitchFamily="34" charset="0"/>
                <a:ea typeface="宋体" panose="02010600030101010101" pitchFamily="2" charset="-122"/>
                <a:sym typeface="+mn-ea"/>
              </a:rPr>
              <a:t>int select(int n, fd_set *read_fds, fd_set *write_fds, fd_set *except_fds, struct timeval *timeout);</a:t>
            </a:r>
            <a:endParaRPr lang="en-US" altLang="zh-CN" sz="1800" b="1" strike="noStrike" noProof="1" dirty="0">
              <a:latin typeface="MS Reference Sans Serif" panose="020B0604030504040204" pitchFamily="34" charset="0"/>
              <a:ea typeface="宋体" panose="02010600030101010101" pitchFamily="2" charset="-122"/>
              <a:sym typeface="+mn-ea"/>
            </a:endParaRPr>
          </a:p>
          <a:p>
            <a:pPr lvl="1" eaLnBrk="1" fontAlgn="base" hangingPunct="1">
              <a:lnSpc>
                <a:spcPct val="120000"/>
              </a:lnSpc>
            </a:pPr>
            <a:r>
              <a:rPr lang="en-US" altLang="zh-CN" sz="1800" strike="noStrike" noProof="1" dirty="0">
                <a:sym typeface="+mn-ea"/>
              </a:rPr>
              <a:t>void FD_ZERO(fd_set *fdset)</a:t>
            </a:r>
            <a:endParaRPr lang="en-US" altLang="zh-CN" sz="1800" strike="noStrike" noProof="1" dirty="0"/>
          </a:p>
          <a:p>
            <a:pPr lvl="1" eaLnBrk="1" fontAlgn="base" hangingPunct="1">
              <a:lnSpc>
                <a:spcPct val="120000"/>
              </a:lnSpc>
            </a:pPr>
            <a:r>
              <a:rPr lang="en-US" altLang="zh-CN" sz="1800" strike="noStrike" noProof="1" dirty="0">
                <a:sym typeface="+mn-ea"/>
              </a:rPr>
              <a:t>void FD_SET(int fd,fd_set *fdset) </a:t>
            </a:r>
            <a:endParaRPr lang="en-US" altLang="zh-CN" sz="1800" strike="noStrike" noProof="1" dirty="0"/>
          </a:p>
          <a:p>
            <a:pPr lvl="1" eaLnBrk="1" fontAlgn="base" hangingPunct="1">
              <a:lnSpc>
                <a:spcPct val="120000"/>
              </a:lnSpc>
            </a:pPr>
            <a:r>
              <a:rPr lang="en-US" altLang="zh-CN" sz="1800" strike="noStrike" noProof="1" dirty="0">
                <a:sym typeface="+mn-ea"/>
              </a:rPr>
              <a:t>void FD_CLR(int fd,fd_set *fdset) </a:t>
            </a:r>
            <a:endParaRPr lang="en-US" altLang="zh-CN" sz="1800" strike="noStrike" noProof="1" dirty="0"/>
          </a:p>
          <a:p>
            <a:pPr lvl="1" eaLnBrk="1" fontAlgn="base" hangingPunct="1">
              <a:lnSpc>
                <a:spcPct val="120000"/>
              </a:lnSpc>
            </a:pPr>
            <a:r>
              <a:rPr lang="en-US" altLang="zh-CN" sz="1800" strike="noStrike" noProof="1" dirty="0">
                <a:sym typeface="+mn-ea"/>
              </a:rPr>
              <a:t>int FD_ISSET(int fd,fd_set *fdset) </a:t>
            </a: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6349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select</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endParaRPr lang="zh-CN" altLang="en-US" sz="1800" strike="noStrike" noProof="1" dirty="0"/>
          </a:p>
          <a:p>
            <a:pPr eaLnBrk="1" fontAlgn="base" hangingPunct="1"/>
            <a:r>
              <a:rPr lang="en-US" altLang="zh-CN" sz="1400" b="1" strike="noStrike" noProof="1" dirty="0">
                <a:sym typeface="+mn-ea"/>
              </a:rPr>
              <a:t>maxfd</a:t>
            </a:r>
            <a:endParaRPr lang="en-US" altLang="zh-CN" sz="1400" b="1" strike="noStrike" noProof="1" dirty="0"/>
          </a:p>
          <a:p>
            <a:pPr lvl="1" eaLnBrk="1" fontAlgn="base" hangingPunct="1"/>
            <a:r>
              <a:rPr lang="zh-CN" altLang="en-US" sz="1400" strike="noStrike" noProof="1" dirty="0">
                <a:sym typeface="+mn-ea"/>
              </a:rPr>
              <a:t>所有监控的文件描述符中最大的那一个加</a:t>
            </a:r>
            <a:r>
              <a:rPr lang="en-US" altLang="zh-CN" sz="1400" strike="noStrike" noProof="1" dirty="0">
                <a:sym typeface="+mn-ea"/>
              </a:rPr>
              <a:t>1</a:t>
            </a:r>
            <a:endParaRPr lang="en-US" altLang="zh-CN" sz="1400" strike="noStrike" noProof="1" dirty="0"/>
          </a:p>
          <a:p>
            <a:pPr eaLnBrk="1" fontAlgn="base" hangingPunct="1"/>
            <a:r>
              <a:rPr lang="en-US" altLang="zh-CN" sz="1400" b="1" strike="noStrike" noProof="1" dirty="0">
                <a:sym typeface="+mn-ea"/>
              </a:rPr>
              <a:t>read_fds</a:t>
            </a:r>
            <a:endParaRPr lang="en-US" altLang="zh-CN" sz="1400" b="1" strike="noStrike" noProof="1" dirty="0"/>
          </a:p>
          <a:p>
            <a:pPr lvl="1" eaLnBrk="1" fontAlgn="base" hangingPunct="1"/>
            <a:r>
              <a:rPr lang="zh-CN" altLang="en-US" sz="1400" strike="noStrike" noProof="1" dirty="0">
                <a:sym typeface="+mn-ea"/>
              </a:rPr>
              <a:t>所有要读的文件文件描述符的集合 </a:t>
            </a:r>
            <a:endParaRPr lang="zh-CN" altLang="en-US" sz="1400" strike="noStrike" noProof="1" dirty="0"/>
          </a:p>
          <a:p>
            <a:pPr eaLnBrk="1" fontAlgn="base" hangingPunct="1"/>
            <a:r>
              <a:rPr lang="en-US" altLang="zh-CN" sz="1400" b="1" strike="noStrike" noProof="1" dirty="0">
                <a:sym typeface="+mn-ea"/>
              </a:rPr>
              <a:t>write_fds</a:t>
            </a:r>
            <a:endParaRPr lang="en-US" altLang="zh-CN" sz="1400" b="1" strike="noStrike" noProof="1" dirty="0"/>
          </a:p>
          <a:p>
            <a:pPr lvl="1" eaLnBrk="1" fontAlgn="base" hangingPunct="1"/>
            <a:r>
              <a:rPr lang="zh-CN" altLang="en-US" sz="1400" strike="noStrike" noProof="1" dirty="0">
                <a:sym typeface="+mn-ea"/>
              </a:rPr>
              <a:t>所有要的写文件文件描述符的集合 </a:t>
            </a:r>
            <a:endParaRPr lang="zh-CN" altLang="en-US" sz="1400" strike="noStrike" noProof="1" dirty="0"/>
          </a:p>
          <a:p>
            <a:pPr eaLnBrk="1" fontAlgn="base" hangingPunct="1"/>
            <a:r>
              <a:rPr lang="en-US" altLang="zh-CN" sz="1400" b="1" strike="noStrike" noProof="1" dirty="0">
                <a:sym typeface="+mn-ea"/>
              </a:rPr>
              <a:t>except_fds</a:t>
            </a:r>
            <a:endParaRPr lang="en-US" altLang="zh-CN" sz="1400" b="1" strike="noStrike" noProof="1" dirty="0"/>
          </a:p>
          <a:p>
            <a:pPr lvl="1" eaLnBrk="1" fontAlgn="base" hangingPunct="1"/>
            <a:r>
              <a:rPr lang="zh-CN" altLang="en-US" sz="1400" strike="noStrike" noProof="1" dirty="0">
                <a:sym typeface="+mn-ea"/>
              </a:rPr>
              <a:t>其他要向我们通知的文件描述符 </a:t>
            </a:r>
            <a:endParaRPr lang="zh-CN" altLang="en-US" sz="1400" strike="noStrike" noProof="1" dirty="0"/>
          </a:p>
          <a:p>
            <a:pPr eaLnBrk="1" fontAlgn="base" hangingPunct="1"/>
            <a:r>
              <a:rPr lang="en-US" altLang="zh-CN" sz="1400" b="1" strike="noStrike" noProof="1" dirty="0">
                <a:sym typeface="+mn-ea"/>
              </a:rPr>
              <a:t>timeout</a:t>
            </a:r>
            <a:endParaRPr lang="en-US" altLang="zh-CN" sz="1400" b="1" strike="noStrike" noProof="1" dirty="0"/>
          </a:p>
          <a:p>
            <a:pPr lvl="1" eaLnBrk="1" fontAlgn="base" hangingPunct="1"/>
            <a:r>
              <a:rPr lang="zh-CN" altLang="en-US" sz="1400" strike="noStrike" noProof="1" dirty="0">
                <a:sym typeface="+mn-ea"/>
              </a:rPr>
              <a:t>超时设置</a:t>
            </a:r>
            <a:r>
              <a:rPr lang="en-US" altLang="zh-CN" sz="1400" strike="noStrike" noProof="1" dirty="0">
                <a:sym typeface="+mn-ea"/>
              </a:rPr>
              <a:t>. </a:t>
            </a:r>
            <a:endParaRPr lang="en-US" altLang="zh-CN" sz="1400" strike="noStrike" noProof="1" dirty="0"/>
          </a:p>
          <a:p>
            <a:pPr lvl="1" eaLnBrk="1" fontAlgn="base" hangingPunct="1"/>
            <a:r>
              <a:rPr lang="en-US" altLang="zh-CN" sz="1400" strike="noStrike" noProof="1" dirty="0">
                <a:sym typeface="+mn-ea"/>
              </a:rPr>
              <a:t>NULL</a:t>
            </a:r>
            <a:r>
              <a:rPr lang="zh-CN" altLang="en-US" sz="1400" strike="noStrike" noProof="1" dirty="0">
                <a:sym typeface="+mn-ea"/>
              </a:rPr>
              <a:t>：一直阻塞，直到有文件描述符就绪或出错</a:t>
            </a:r>
            <a:endParaRPr lang="zh-CN" altLang="en-US" sz="1400" strike="noStrike" noProof="1" dirty="0"/>
          </a:p>
          <a:p>
            <a:pPr lvl="1" eaLnBrk="1" fontAlgn="base" hangingPunct="1"/>
            <a:r>
              <a:rPr lang="zh-CN" altLang="en-US" sz="1400" strike="noStrike" noProof="1" dirty="0">
                <a:sym typeface="+mn-ea"/>
              </a:rPr>
              <a:t>时间值为</a:t>
            </a:r>
            <a:r>
              <a:rPr lang="en-US" altLang="zh-CN" sz="1400" strike="noStrike" noProof="1" dirty="0">
                <a:sym typeface="+mn-ea"/>
              </a:rPr>
              <a:t>0</a:t>
            </a:r>
            <a:r>
              <a:rPr lang="zh-CN" altLang="en-US" sz="1400" strike="noStrike" noProof="1" dirty="0">
                <a:sym typeface="+mn-ea"/>
              </a:rPr>
              <a:t>：仅仅检测文件描述符集的状态，然后立即返回</a:t>
            </a:r>
            <a:endParaRPr lang="zh-CN" altLang="en-US" sz="1400" strike="noStrike" noProof="1" dirty="0"/>
          </a:p>
          <a:p>
            <a:pPr lvl="1" eaLnBrk="1" fontAlgn="base" hangingPunct="1"/>
            <a:r>
              <a:rPr lang="zh-CN" altLang="en-US" sz="1400" strike="noStrike" noProof="1" dirty="0">
                <a:sym typeface="+mn-ea"/>
              </a:rPr>
              <a:t>时间值不为</a:t>
            </a:r>
            <a:r>
              <a:rPr lang="en-US" altLang="zh-CN" sz="1400" strike="noStrike" noProof="1" dirty="0">
                <a:sym typeface="+mn-ea"/>
              </a:rPr>
              <a:t>0</a:t>
            </a:r>
            <a:r>
              <a:rPr lang="zh-CN" altLang="en-US" sz="1400" strike="noStrike" noProof="1" dirty="0">
                <a:sym typeface="+mn-ea"/>
              </a:rPr>
              <a:t>：在指定时间内，如果没有事件发生，则超时返回。</a:t>
            </a:r>
            <a:endParaRPr lang="zh-CN" altLang="en-US" sz="1400" strike="noStrike" noProof="1" dirty="0">
              <a:latin typeface="宋体" panose="02010600030101010101" pitchFamily="2" charset="-122"/>
              <a:ea typeface="宋体" panose="02010600030101010101" pitchFamily="2" charset="-122"/>
            </a:endParaRPr>
          </a:p>
        </p:txBody>
      </p:sp>
      <p:sp>
        <p:nvSpPr>
          <p:cNvPr id="6451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select</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endParaRPr lang="zh-CN" altLang="en-US" sz="1800" strike="noStrike" noProof="1" dirty="0"/>
          </a:p>
          <a:p>
            <a:pPr eaLnBrk="1" fontAlgn="base" hangingPunct="1"/>
            <a:r>
              <a:rPr lang="zh-CN" altLang="en-US" sz="1400" strike="noStrike" noProof="1" dirty="0">
                <a:sym typeface="+mn-ea"/>
              </a:rPr>
              <a:t>在我们调用</a:t>
            </a:r>
            <a:r>
              <a:rPr lang="en-US" altLang="zh-CN" sz="1400" strike="noStrike" noProof="1" dirty="0">
                <a:sym typeface="+mn-ea"/>
              </a:rPr>
              <a:t>select</a:t>
            </a:r>
            <a:r>
              <a:rPr lang="zh-CN" altLang="en-US" sz="1400" strike="noStrike" noProof="1" dirty="0">
                <a:sym typeface="+mn-ea"/>
              </a:rPr>
              <a:t>时进程会一直阻塞直到以下的一种情况发生</a:t>
            </a:r>
            <a:r>
              <a:rPr lang="en-US" altLang="zh-CN" sz="1400" strike="noStrike" noProof="1" dirty="0">
                <a:sym typeface="+mn-ea"/>
              </a:rPr>
              <a:t>. </a:t>
            </a:r>
            <a:endParaRPr lang="en-US" altLang="zh-CN" sz="1400" strike="noStrike" noProof="1" dirty="0"/>
          </a:p>
          <a:p>
            <a:pPr lvl="1" eaLnBrk="1" fontAlgn="base" hangingPunct="1"/>
            <a:r>
              <a:rPr lang="zh-CN" altLang="en-US" sz="1400" strike="noStrike" noProof="1" dirty="0">
                <a:sym typeface="+mn-ea"/>
              </a:rPr>
              <a:t>有文件可以读</a:t>
            </a:r>
            <a:r>
              <a:rPr lang="en-US" altLang="zh-CN" sz="1400" strike="noStrike" noProof="1" dirty="0">
                <a:sym typeface="+mn-ea"/>
              </a:rPr>
              <a:t>.</a:t>
            </a:r>
            <a:endParaRPr lang="en-US" altLang="zh-CN" sz="1400" strike="noStrike" noProof="1" dirty="0"/>
          </a:p>
          <a:p>
            <a:pPr lvl="1" eaLnBrk="1" fontAlgn="base" hangingPunct="1"/>
            <a:r>
              <a:rPr lang="zh-CN" altLang="en-US" sz="1400" strike="noStrike" noProof="1" dirty="0">
                <a:sym typeface="+mn-ea"/>
              </a:rPr>
              <a:t>有文件可以写</a:t>
            </a:r>
            <a:r>
              <a:rPr lang="en-US" altLang="zh-CN" sz="1400" strike="noStrike" noProof="1" dirty="0">
                <a:sym typeface="+mn-ea"/>
              </a:rPr>
              <a:t>.</a:t>
            </a:r>
            <a:endParaRPr lang="en-US" altLang="zh-CN" sz="1400" strike="noStrike" noProof="1" dirty="0"/>
          </a:p>
          <a:p>
            <a:pPr lvl="1" eaLnBrk="1" fontAlgn="base" hangingPunct="1"/>
            <a:r>
              <a:rPr lang="zh-CN" altLang="en-US" sz="1400" strike="noStrike" noProof="1" dirty="0">
                <a:sym typeface="+mn-ea"/>
              </a:rPr>
              <a:t>超时所设置的时间到</a:t>
            </a:r>
            <a:r>
              <a:rPr lang="en-US" altLang="zh-CN" sz="1400" strike="noStrike" noProof="1" dirty="0">
                <a:sym typeface="+mn-ea"/>
              </a:rPr>
              <a:t>. </a:t>
            </a:r>
            <a:endParaRPr lang="en-US" altLang="zh-CN" sz="1400" strike="noStrike" noProof="1" dirty="0"/>
          </a:p>
          <a:p>
            <a:pPr lvl="1" eaLnBrk="1" fontAlgn="base" hangingPunct="1"/>
            <a:endParaRPr lang="en-US" altLang="zh-CN" sz="1400" strike="noStrike" noProof="1" dirty="0"/>
          </a:p>
          <a:p>
            <a:pPr eaLnBrk="1" fontAlgn="base" hangingPunct="1"/>
            <a:r>
              <a:rPr lang="zh-CN" altLang="en-US" sz="1400" strike="noStrike" noProof="1" dirty="0">
                <a:sym typeface="+mn-ea"/>
              </a:rPr>
              <a:t>为了设置文件描述符我们要使用几个宏：</a:t>
            </a:r>
            <a:endParaRPr lang="zh-CN" altLang="en-US" sz="1400" strike="noStrike" noProof="1" dirty="0"/>
          </a:p>
          <a:p>
            <a:pPr lvl="1" eaLnBrk="1" fontAlgn="base" hangingPunct="1"/>
            <a:r>
              <a:rPr lang="en-US" altLang="zh-CN" sz="1400" b="1" strike="noStrike" noProof="1" dirty="0">
                <a:sym typeface="+mn-ea"/>
              </a:rPr>
              <a:t>FD_SET       </a:t>
            </a:r>
            <a:r>
              <a:rPr lang="zh-CN" altLang="en-US" sz="1400" strike="noStrike" noProof="1" dirty="0">
                <a:sym typeface="+mn-ea"/>
              </a:rPr>
              <a:t>将</a:t>
            </a:r>
            <a:r>
              <a:rPr lang="en-US" altLang="zh-CN" sz="1400" strike="noStrike" noProof="1" dirty="0">
                <a:sym typeface="+mn-ea"/>
              </a:rPr>
              <a:t>fd</a:t>
            </a:r>
            <a:r>
              <a:rPr lang="zh-CN" altLang="en-US" sz="1400" strike="noStrike" noProof="1" dirty="0">
                <a:sym typeface="+mn-ea"/>
              </a:rPr>
              <a:t>加入到</a:t>
            </a:r>
            <a:r>
              <a:rPr lang="en-US" altLang="zh-CN" sz="1400" strike="noStrike" noProof="1" dirty="0">
                <a:sym typeface="+mn-ea"/>
              </a:rPr>
              <a:t>fdset </a:t>
            </a:r>
            <a:endParaRPr lang="en-US" altLang="zh-CN" sz="1400" strike="noStrike" noProof="1" dirty="0"/>
          </a:p>
          <a:p>
            <a:pPr lvl="1" eaLnBrk="1" fontAlgn="base" hangingPunct="1"/>
            <a:r>
              <a:rPr lang="en-US" altLang="zh-CN" sz="1400" b="1" strike="noStrike" noProof="1" dirty="0">
                <a:sym typeface="+mn-ea"/>
              </a:rPr>
              <a:t>FD_CLR      </a:t>
            </a:r>
            <a:r>
              <a:rPr lang="zh-CN" altLang="en-US" sz="1400" strike="noStrike" noProof="1" dirty="0">
                <a:sym typeface="+mn-ea"/>
              </a:rPr>
              <a:t>将</a:t>
            </a:r>
            <a:r>
              <a:rPr lang="en-US" altLang="zh-CN" sz="1400" strike="noStrike" noProof="1" dirty="0">
                <a:sym typeface="+mn-ea"/>
              </a:rPr>
              <a:t>fd</a:t>
            </a:r>
            <a:r>
              <a:rPr lang="zh-CN" altLang="en-US" sz="1400" strike="noStrike" noProof="1" dirty="0">
                <a:sym typeface="+mn-ea"/>
              </a:rPr>
              <a:t>从</a:t>
            </a:r>
            <a:r>
              <a:rPr lang="en-US" altLang="zh-CN" sz="1400" strike="noStrike" noProof="1" dirty="0">
                <a:sym typeface="+mn-ea"/>
              </a:rPr>
              <a:t>fdset</a:t>
            </a:r>
            <a:r>
              <a:rPr lang="zh-CN" altLang="en-US" sz="1400" strike="noStrike" noProof="1" dirty="0">
                <a:sym typeface="+mn-ea"/>
              </a:rPr>
              <a:t>里面清除 </a:t>
            </a:r>
            <a:endParaRPr lang="zh-CN" altLang="en-US" sz="1400" strike="noStrike" noProof="1" dirty="0"/>
          </a:p>
          <a:p>
            <a:pPr lvl="1" eaLnBrk="1" fontAlgn="base" hangingPunct="1"/>
            <a:r>
              <a:rPr lang="en-US" altLang="zh-CN" sz="1400" b="1" strike="noStrike" noProof="1" dirty="0">
                <a:sym typeface="+mn-ea"/>
              </a:rPr>
              <a:t>FD_ZERO   </a:t>
            </a:r>
            <a:r>
              <a:rPr lang="zh-CN" altLang="en-US" sz="1400" strike="noStrike" noProof="1" dirty="0">
                <a:sym typeface="+mn-ea"/>
              </a:rPr>
              <a:t>从</a:t>
            </a:r>
            <a:r>
              <a:rPr lang="en-US" altLang="zh-CN" sz="1400" strike="noStrike" noProof="1" dirty="0">
                <a:sym typeface="+mn-ea"/>
              </a:rPr>
              <a:t>fdset</a:t>
            </a:r>
            <a:r>
              <a:rPr lang="zh-CN" altLang="en-US" sz="1400" strike="noStrike" noProof="1" dirty="0">
                <a:sym typeface="+mn-ea"/>
              </a:rPr>
              <a:t>中清除所有的文件描述符 </a:t>
            </a:r>
            <a:endParaRPr lang="zh-CN" altLang="en-US" sz="1400" strike="noStrike" noProof="1" dirty="0"/>
          </a:p>
          <a:p>
            <a:pPr lvl="1" eaLnBrk="1" fontAlgn="base" hangingPunct="1"/>
            <a:r>
              <a:rPr lang="en-US" altLang="zh-CN" sz="1400" b="1" strike="noStrike" noProof="1" dirty="0">
                <a:sym typeface="+mn-ea"/>
              </a:rPr>
              <a:t>FD_ISSET   </a:t>
            </a:r>
            <a:r>
              <a:rPr lang="zh-CN" altLang="en-US" sz="1400" strike="noStrike" noProof="1" dirty="0">
                <a:sym typeface="+mn-ea"/>
              </a:rPr>
              <a:t>判断</a:t>
            </a:r>
            <a:r>
              <a:rPr lang="en-US" altLang="zh-CN" sz="1400" strike="noStrike" noProof="1" dirty="0">
                <a:sym typeface="+mn-ea"/>
              </a:rPr>
              <a:t>fd</a:t>
            </a:r>
            <a:r>
              <a:rPr lang="zh-CN" altLang="en-US" sz="1400" strike="noStrike" noProof="1" dirty="0">
                <a:sym typeface="+mn-ea"/>
              </a:rPr>
              <a:t>是否在</a:t>
            </a:r>
            <a:r>
              <a:rPr lang="en-US" altLang="zh-CN" sz="1400" strike="noStrike" noProof="1" dirty="0">
                <a:sym typeface="+mn-ea"/>
              </a:rPr>
              <a:t>fdset</a:t>
            </a:r>
            <a:r>
              <a:rPr lang="zh-CN" altLang="en-US" sz="1400" strike="noStrike" noProof="1" dirty="0">
                <a:sym typeface="+mn-ea"/>
              </a:rPr>
              <a:t>集合中 </a:t>
            </a:r>
            <a:endParaRPr lang="zh-CN" altLang="en-US" sz="1400" strike="noStrike" noProof="1" dirty="0"/>
          </a:p>
          <a:p>
            <a:pPr eaLnBrk="1" fontAlgn="base" hangingPunct="1"/>
            <a:endParaRPr lang="zh-CN" altLang="en-US" sz="1400" strike="noStrike" noProof="1" dirty="0">
              <a:latin typeface="宋体" panose="02010600030101010101" pitchFamily="2" charset="-122"/>
              <a:ea typeface="宋体" panose="02010600030101010101" pitchFamily="2" charset="-122"/>
            </a:endParaRPr>
          </a:p>
        </p:txBody>
      </p:sp>
      <p:sp>
        <p:nvSpPr>
          <p:cNvPr id="6553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select</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solidFill>
                  <a:srgbClr val="FF0000"/>
                </a:solidFill>
                <a:latin typeface="宋体" panose="02010600030101010101" pitchFamily="2" charset="-122"/>
                <a:sym typeface="宋体" panose="02010600030101010101" pitchFamily="2" charset="-122"/>
              </a:rPr>
              <a:t>服务器模型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6656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400" strike="noStrike" noProof="1" dirty="0">
                <a:sym typeface="+mn-ea"/>
              </a:rPr>
              <a:t>目前最常用的服务器模型</a:t>
            </a:r>
            <a:r>
              <a:rPr lang="en-US" altLang="zh-CN" sz="1400" strike="noStrike" noProof="1" dirty="0">
                <a:sym typeface="+mn-ea"/>
              </a:rPr>
              <a:t>. </a:t>
            </a:r>
            <a:endParaRPr lang="en-US" altLang="zh-CN" sz="1400" strike="noStrike" noProof="1" dirty="0"/>
          </a:p>
          <a:p>
            <a:pPr lvl="1" eaLnBrk="1" fontAlgn="base" hangingPunct="1">
              <a:lnSpc>
                <a:spcPct val="120000"/>
              </a:lnSpc>
            </a:pPr>
            <a:r>
              <a:rPr lang="zh-CN" altLang="en-US" sz="1400" strike="noStrike" noProof="1" dirty="0">
                <a:sym typeface="+mn-ea"/>
              </a:rPr>
              <a:t>循环服务器</a:t>
            </a:r>
            <a:r>
              <a:rPr lang="en-US" altLang="zh-CN" sz="1400" strike="noStrike" noProof="1" dirty="0">
                <a:sym typeface="+mn-ea"/>
              </a:rPr>
              <a:t>:</a:t>
            </a:r>
            <a:endParaRPr lang="en-US" altLang="zh-CN" sz="1400" strike="noStrike" noProof="1" dirty="0"/>
          </a:p>
          <a:p>
            <a:pPr lvl="2" eaLnBrk="1" fontAlgn="base" hangingPunct="1">
              <a:lnSpc>
                <a:spcPct val="120000"/>
              </a:lnSpc>
              <a:buNone/>
            </a:pPr>
            <a:r>
              <a:rPr lang="en-US" altLang="zh-CN" sz="1400" strike="noStrike" noProof="1" dirty="0">
                <a:sym typeface="+mn-ea"/>
              </a:rPr>
              <a:t>    </a:t>
            </a:r>
            <a:r>
              <a:rPr lang="zh-CN" altLang="en-US" sz="1400" strike="noStrike" noProof="1" dirty="0">
                <a:sym typeface="+mn-ea"/>
              </a:rPr>
              <a:t>循环服务器在同一个时刻只能响应一个客户端的请求 </a:t>
            </a:r>
            <a:endParaRPr lang="zh-CN" altLang="en-US" sz="1400" strike="noStrike" noProof="1" dirty="0"/>
          </a:p>
          <a:p>
            <a:pPr lvl="1" eaLnBrk="1" fontAlgn="base" hangingPunct="1">
              <a:lnSpc>
                <a:spcPct val="120000"/>
              </a:lnSpc>
            </a:pPr>
            <a:r>
              <a:rPr lang="zh-CN" altLang="en-US" sz="1400" strike="noStrike" noProof="1" dirty="0">
                <a:sym typeface="+mn-ea"/>
              </a:rPr>
              <a:t>并发服务器</a:t>
            </a:r>
            <a:r>
              <a:rPr lang="en-US" altLang="zh-CN" sz="1400" strike="noStrike" noProof="1" dirty="0">
                <a:sym typeface="+mn-ea"/>
              </a:rPr>
              <a:t>:</a:t>
            </a:r>
            <a:endParaRPr lang="en-US" altLang="zh-CN" sz="1400" strike="noStrike" noProof="1" dirty="0"/>
          </a:p>
          <a:p>
            <a:pPr lvl="2" eaLnBrk="1" fontAlgn="base" hangingPunct="1">
              <a:lnSpc>
                <a:spcPct val="120000"/>
              </a:lnSpc>
              <a:buNone/>
            </a:pPr>
            <a:r>
              <a:rPr lang="en-US" altLang="zh-CN" sz="1400" strike="noStrike" noProof="1" dirty="0">
                <a:sym typeface="+mn-ea"/>
              </a:rPr>
              <a:t>    </a:t>
            </a:r>
            <a:r>
              <a:rPr lang="zh-CN" altLang="en-US" sz="1400" strike="noStrike" noProof="1" dirty="0">
                <a:sym typeface="+mn-ea"/>
              </a:rPr>
              <a:t>并发服务器在同一个时刻可以响应多个客户端的请求 </a:t>
            </a:r>
            <a:endParaRPr lang="zh-CN" altLang="en-US" sz="1400" strike="noStrike" noProof="1" dirty="0">
              <a:sym typeface="+mn-ea"/>
            </a:endParaRPr>
          </a:p>
          <a:p>
            <a:pPr lvl="2" eaLnBrk="1" fontAlgn="base" hangingPunct="1">
              <a:lnSpc>
                <a:spcPct val="120000"/>
              </a:lnSpc>
              <a:buNone/>
            </a:pPr>
            <a:r>
              <a:rPr lang="zh-CN" altLang="en-US" sz="1400" strike="noStrike" noProof="1" dirty="0">
                <a:sym typeface="+mn-ea"/>
              </a:rPr>
              <a:t>    多进程模型、多线程模型、</a:t>
            </a:r>
            <a:r>
              <a:rPr lang="en-US" altLang="zh-CN" sz="1400" strike="noStrike" noProof="1" dirty="0">
                <a:sym typeface="+mn-ea"/>
              </a:rPr>
              <a:t>I/O</a:t>
            </a:r>
            <a:r>
              <a:rPr lang="zh-CN" altLang="en-US" sz="1400" strike="noStrike" noProof="1" dirty="0">
                <a:sym typeface="+mn-ea"/>
              </a:rPr>
              <a:t>多路复用模型</a:t>
            </a:r>
            <a:endParaRPr lang="zh-CN" altLang="en-US" sz="1400" strike="noStrike" noProof="1" dirty="0"/>
          </a:p>
          <a:p>
            <a:pPr marL="0" indent="0" eaLnBrk="1" fontAlgn="base" hangingPunct="1">
              <a:buNone/>
            </a:pPr>
            <a:endParaRPr lang="zh-CN" altLang="en-US" sz="1400" strike="noStrike" noProof="1" dirty="0"/>
          </a:p>
          <a:p>
            <a:pPr eaLnBrk="1" fontAlgn="base" hangingPunct="1"/>
            <a:endParaRPr lang="zh-CN" altLang="en-US" sz="1400" strike="noStrike" noProof="1" dirty="0">
              <a:latin typeface="宋体" panose="02010600030101010101" pitchFamily="2" charset="-122"/>
              <a:ea typeface="宋体" panose="02010600030101010101" pitchFamily="2" charset="-122"/>
            </a:endParaRPr>
          </a:p>
        </p:txBody>
      </p:sp>
      <p:sp>
        <p:nvSpPr>
          <p:cNvPr id="6758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服务器模型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5267325" cy="4210050"/>
          </a:xfrm>
          <a:prstGeom prst="rect">
            <a:avLst/>
          </a:prstGeom>
          <a:noFill/>
          <a:ln w="9525" cap="flat" cmpd="sng" algn="ctr">
            <a:noFill/>
            <a:prstDash val="solid"/>
          </a:ln>
        </p:spPr>
        <p:txBody>
          <a:bodyPr/>
          <a:p>
            <a:pPr eaLnBrk="1" fontAlgn="base" hangingPunct="1"/>
            <a:r>
              <a:rPr lang="en-US" altLang="zh-CN" sz="1400" b="1" strike="noStrike" noProof="1" dirty="0">
                <a:sym typeface="+mn-ea"/>
              </a:rPr>
              <a:t>TCP</a:t>
            </a:r>
            <a:r>
              <a:rPr lang="zh-CN" altLang="en-US" sz="1400" b="1" strike="noStrike" noProof="1" dirty="0">
                <a:sym typeface="+mn-ea"/>
              </a:rPr>
              <a:t>服务器</a:t>
            </a:r>
            <a:endParaRPr lang="zh-CN" altLang="en-US" sz="1400" b="1" strike="noStrike" noProof="1" dirty="0"/>
          </a:p>
          <a:p>
            <a:pPr lvl="1" eaLnBrk="1" fontAlgn="base" hangingPunct="1">
              <a:lnSpc>
                <a:spcPct val="120000"/>
              </a:lnSpc>
            </a:pPr>
            <a:r>
              <a:rPr lang="en-US" altLang="zh-CN" sz="1400" strike="noStrike" noProof="1" dirty="0">
                <a:sym typeface="+mn-ea"/>
              </a:rPr>
              <a:t>TCP</a:t>
            </a:r>
            <a:r>
              <a:rPr lang="zh-CN" altLang="en-US" sz="1400" strike="noStrike" noProof="1" dirty="0">
                <a:sym typeface="+mn-ea"/>
              </a:rPr>
              <a:t>服务器端运行后等待客户端的连接请求。</a:t>
            </a:r>
            <a:endParaRPr lang="zh-CN" altLang="en-US" sz="1400" strike="noStrike" noProof="1" dirty="0"/>
          </a:p>
          <a:p>
            <a:pPr lvl="1" eaLnBrk="1" fontAlgn="base" hangingPunct="1">
              <a:lnSpc>
                <a:spcPct val="120000"/>
              </a:lnSpc>
            </a:pPr>
            <a:r>
              <a:rPr lang="en-US" altLang="zh-CN" sz="1400" strike="noStrike" noProof="1" dirty="0">
                <a:sym typeface="+mn-ea"/>
              </a:rPr>
              <a:t>TCP</a:t>
            </a:r>
            <a:r>
              <a:rPr lang="zh-CN" altLang="en-US" sz="1400" strike="noStrike" noProof="1" dirty="0">
                <a:sym typeface="+mn-ea"/>
              </a:rPr>
              <a:t>服务器接受一个客户端的连接后开始处理，完成了客户的所有请求后断开连接。 </a:t>
            </a:r>
            <a:endParaRPr lang="zh-CN" altLang="en-US" sz="1400" strike="noStrike" noProof="1" dirty="0"/>
          </a:p>
          <a:p>
            <a:pPr lvl="1" eaLnBrk="1" fontAlgn="base" hangingPunct="1">
              <a:lnSpc>
                <a:spcPct val="120000"/>
              </a:lnSpc>
            </a:pPr>
            <a:r>
              <a:rPr lang="en-US" altLang="zh-CN" sz="1400" strike="noStrike" noProof="1" dirty="0">
                <a:sym typeface="+mn-ea"/>
              </a:rPr>
              <a:t>TCP</a:t>
            </a:r>
            <a:r>
              <a:rPr lang="zh-CN" altLang="en-US" sz="1400" strike="noStrike" noProof="1" dirty="0">
                <a:sym typeface="+mn-ea"/>
              </a:rPr>
              <a:t>循环服务器一次只能处理一个客户端的请求。</a:t>
            </a:r>
            <a:endParaRPr lang="zh-CN" altLang="en-US" sz="1400" strike="noStrike" noProof="1" dirty="0"/>
          </a:p>
          <a:p>
            <a:pPr lvl="1" eaLnBrk="1" fontAlgn="base" hangingPunct="1">
              <a:lnSpc>
                <a:spcPct val="120000"/>
              </a:lnSpc>
            </a:pPr>
            <a:r>
              <a:rPr lang="zh-CN" altLang="en-US" sz="1400" strike="noStrike" noProof="1" dirty="0">
                <a:sym typeface="+mn-ea"/>
              </a:rPr>
              <a:t>只有在当前客户的所有请求都完成后，服务器才能处理下一个客户的连接</a:t>
            </a:r>
            <a:r>
              <a:rPr lang="en-US" altLang="zh-CN" sz="1400" strike="noStrike" noProof="1" dirty="0">
                <a:sym typeface="+mn-ea"/>
              </a:rPr>
              <a:t>/</a:t>
            </a:r>
            <a:r>
              <a:rPr lang="zh-CN" altLang="en-US" sz="1400" strike="noStrike" noProof="1" dirty="0">
                <a:sym typeface="+mn-ea"/>
              </a:rPr>
              <a:t>服务请求。</a:t>
            </a:r>
            <a:endParaRPr lang="zh-CN" altLang="en-US" sz="1400" strike="noStrike" noProof="1" dirty="0"/>
          </a:p>
          <a:p>
            <a:pPr lvl="1" eaLnBrk="1" fontAlgn="base" hangingPunct="1">
              <a:lnSpc>
                <a:spcPct val="120000"/>
              </a:lnSpc>
            </a:pPr>
            <a:r>
              <a:rPr lang="zh-CN" altLang="en-US" sz="1400" strike="noStrike" noProof="1" dirty="0">
                <a:sym typeface="+mn-ea"/>
              </a:rPr>
              <a:t>如果某个客户端一直占用服务器资源，那么其它的客户端都不能被处理。</a:t>
            </a:r>
            <a:r>
              <a:rPr lang="en-US" altLang="zh-CN" sz="1400" strike="noStrike" noProof="1" dirty="0">
                <a:sym typeface="+mn-ea"/>
              </a:rPr>
              <a:t>TCP</a:t>
            </a:r>
            <a:r>
              <a:rPr lang="zh-CN" altLang="en-US" sz="1400" strike="noStrike" noProof="1" dirty="0">
                <a:sym typeface="+mn-ea"/>
              </a:rPr>
              <a:t>服务器一般很少采用循环服务器模型。 </a:t>
            </a:r>
            <a:endParaRPr lang="zh-CN" altLang="en-US" sz="1400" strike="noStrike" noProof="1" dirty="0"/>
          </a:p>
          <a:p>
            <a:pPr marL="0" indent="0" eaLnBrk="1" fontAlgn="base" hangingPunct="1">
              <a:buNone/>
            </a:pPr>
            <a:endParaRPr lang="zh-CN" altLang="en-US" sz="1400" strike="noStrike" noProof="1" dirty="0"/>
          </a:p>
          <a:p>
            <a:pPr eaLnBrk="1" fontAlgn="base" hangingPunct="1"/>
            <a:endParaRPr lang="zh-CN" altLang="en-US" sz="1400" strike="noStrike" noProof="1" dirty="0">
              <a:latin typeface="宋体" panose="02010600030101010101" pitchFamily="2" charset="-122"/>
              <a:ea typeface="宋体" panose="02010600030101010101" pitchFamily="2" charset="-122"/>
            </a:endParaRPr>
          </a:p>
        </p:txBody>
      </p:sp>
      <p:sp>
        <p:nvSpPr>
          <p:cNvPr id="6861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循环服务器模型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68611" name="文本框 1"/>
          <p:cNvSpPr txBox="1"/>
          <p:nvPr/>
        </p:nvSpPr>
        <p:spPr>
          <a:xfrm>
            <a:off x="6273800" y="1054100"/>
            <a:ext cx="2398713" cy="3968750"/>
          </a:xfrm>
          <a:prstGeom prst="rect">
            <a:avLst/>
          </a:prstGeom>
          <a:noFill/>
          <a:ln w="9525">
            <a:noFill/>
          </a:ln>
        </p:spPr>
        <p:txBody>
          <a:bodyPr wrap="square" anchor="t" anchorCtr="0">
            <a:spAutoFit/>
          </a:bodyPr>
          <a:p>
            <a:pPr lvl="1" indent="0">
              <a:buNone/>
            </a:pPr>
            <a:r>
              <a:rPr lang="en-US" altLang="zh-CN" dirty="0">
                <a:latin typeface="Arial" panose="020B0604020202020204" pitchFamily="34" charset="0"/>
                <a:ea typeface="宋体" panose="02010600030101010101" pitchFamily="2" charset="-122"/>
              </a:rPr>
              <a:t>socket(...);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bind(...);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listen(...);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while(1) </a:t>
            </a:r>
            <a:endParaRPr lang="en-US" altLang="zh-CN" dirty="0">
              <a:latin typeface="Arial" panose="020B0604020202020204" pitchFamily="34" charset="0"/>
              <a:ea typeface="宋体" panose="02010600030101010101" pitchFamily="2" charset="-122"/>
            </a:endParaRPr>
          </a:p>
          <a:p>
            <a:pPr lvl="1" indent="0">
              <a:buNone/>
            </a:pPr>
            <a:r>
              <a:rPr lang="en-US" altLang="zh-CN" dirty="0">
                <a:latin typeface="Arial" panose="020B0604020202020204" pitchFamily="34" charset="0"/>
                <a:ea typeface="宋体" panose="02010600030101010101" pitchFamily="2" charset="-122"/>
              </a:rPr>
              <a:t>    {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accept(...);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while(1) </a:t>
            </a:r>
            <a:endParaRPr lang="en-US" altLang="zh-CN" dirty="0">
              <a:latin typeface="Arial" panose="020B0604020202020204" pitchFamily="34" charset="0"/>
              <a:ea typeface="宋体" panose="02010600030101010101" pitchFamily="2" charset="-122"/>
            </a:endParaRPr>
          </a:p>
          <a:p>
            <a:pPr lvl="1" indent="0">
              <a:buNone/>
            </a:pPr>
            <a:r>
              <a:rPr lang="en-US" altLang="zh-CN" dirty="0">
                <a:latin typeface="Arial" panose="020B0604020202020204" pitchFamily="34" charset="0"/>
                <a:ea typeface="宋体" panose="02010600030101010101" pitchFamily="2" charset="-122"/>
              </a:rPr>
              <a:t>        {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recv(...);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process(...);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send(...);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    close(...); </a:t>
            </a:r>
            <a:br>
              <a:rPr lang="en-US" altLang="zh-CN" dirty="0">
                <a:latin typeface="Arial" panose="020B0604020202020204" pitchFamily="34" charset="0"/>
                <a:ea typeface="宋体" panose="02010600030101010101" pitchFamily="2" charset="-122"/>
              </a:rPr>
            </a:br>
            <a:r>
              <a:rPr lang="en-US" altLang="zh-CN" dirty="0">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文本占位符 1"/>
          <p:cNvSpPr>
            <a:spLocks noGrp="1"/>
          </p:cNvSpPr>
          <p:nvPr>
            <p:ph sz="quarter"/>
          </p:nvPr>
        </p:nvSpPr>
        <p:spPr>
          <a:xfrm>
            <a:off x="612775" y="933450"/>
            <a:ext cx="526732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400" b="1" dirty="0"/>
              <a:t>UDP</a:t>
            </a:r>
            <a:r>
              <a:rPr lang="zh-CN" altLang="en-US" sz="1400" b="1" dirty="0"/>
              <a:t>服务器</a:t>
            </a:r>
            <a:endParaRPr lang="zh-CN" altLang="en-US" sz="1400" b="1" dirty="0"/>
          </a:p>
          <a:p>
            <a:pPr lvl="1" indent="-285750">
              <a:lnSpc>
                <a:spcPct val="120000"/>
              </a:lnSpc>
            </a:pPr>
            <a:r>
              <a:rPr lang="en-US" altLang="zh-CN" sz="1400" dirty="0"/>
              <a:t>UDP</a:t>
            </a:r>
            <a:r>
              <a:rPr lang="zh-CN" altLang="en-US" sz="1400" dirty="0"/>
              <a:t>服务器每次从套接字上读取一个客户端的请求，处理后将结果返回给客户机</a:t>
            </a:r>
            <a:r>
              <a:rPr lang="en-US" altLang="zh-CN" sz="1400" dirty="0"/>
              <a:t>.</a:t>
            </a:r>
            <a:endParaRPr lang="en-US" altLang="zh-CN" sz="1400" dirty="0"/>
          </a:p>
          <a:p>
            <a:pPr lvl="1" indent="-285750">
              <a:lnSpc>
                <a:spcPct val="120000"/>
              </a:lnSpc>
            </a:pPr>
            <a:r>
              <a:rPr lang="zh-CN" altLang="en-US" sz="1400" dirty="0"/>
              <a:t>可以用下面的算法来实现</a:t>
            </a:r>
            <a:r>
              <a:rPr lang="en-US" altLang="zh-CN" sz="1400" dirty="0"/>
              <a:t>(</a:t>
            </a:r>
            <a:r>
              <a:rPr lang="zh-CN" altLang="en-US" sz="1400" dirty="0"/>
              <a:t>伪代码</a:t>
            </a:r>
            <a:r>
              <a:rPr lang="en-US" altLang="zh-CN" sz="1400" dirty="0"/>
              <a:t>):</a:t>
            </a:r>
            <a:br>
              <a:rPr lang="en-US" altLang="zh-CN" sz="1400" dirty="0"/>
            </a:br>
            <a:r>
              <a:rPr lang="en-US" altLang="zh-CN" sz="1400" dirty="0"/>
              <a:t>socket(...);</a:t>
            </a:r>
            <a:br>
              <a:rPr lang="en-US" altLang="zh-CN" sz="1400" dirty="0"/>
            </a:br>
            <a:r>
              <a:rPr lang="en-US" altLang="zh-CN" sz="1400" dirty="0"/>
              <a:t>bind(...);</a:t>
            </a:r>
            <a:br>
              <a:rPr lang="en-US" altLang="zh-CN" sz="1400" dirty="0"/>
            </a:br>
            <a:r>
              <a:rPr lang="en-US" altLang="zh-CN" sz="1400" dirty="0"/>
              <a:t>while(1) </a:t>
            </a:r>
            <a:endParaRPr lang="en-US" altLang="zh-CN" sz="1400" dirty="0"/>
          </a:p>
          <a:p>
            <a:pPr lvl="1" indent="-285750">
              <a:buNone/>
            </a:pPr>
            <a:r>
              <a:rPr lang="en-US" altLang="zh-CN" sz="1400" dirty="0"/>
              <a:t>      { </a:t>
            </a:r>
            <a:br>
              <a:rPr lang="en-US" altLang="zh-CN" sz="1400" dirty="0"/>
            </a:br>
            <a:r>
              <a:rPr lang="en-US" altLang="zh-CN" sz="1400" dirty="0"/>
              <a:t>    recvfrom(...); </a:t>
            </a:r>
            <a:br>
              <a:rPr lang="en-US" altLang="zh-CN" sz="1400" dirty="0"/>
            </a:br>
            <a:r>
              <a:rPr lang="en-US" altLang="zh-CN" sz="1400" dirty="0"/>
              <a:t>    process(...); </a:t>
            </a:r>
            <a:br>
              <a:rPr lang="en-US" altLang="zh-CN" sz="1400" dirty="0"/>
            </a:br>
            <a:r>
              <a:rPr lang="en-US" altLang="zh-CN" sz="1400" dirty="0"/>
              <a:t>    sendto(...); </a:t>
            </a:r>
            <a:br>
              <a:rPr lang="en-US" altLang="zh-CN" sz="1400" dirty="0"/>
            </a:br>
            <a:r>
              <a:rPr lang="en-US" altLang="zh-CN" sz="1400" dirty="0"/>
              <a:t>}</a:t>
            </a:r>
            <a:endParaRPr lang="en-US" altLang="zh-CN" sz="1400" dirty="0"/>
          </a:p>
          <a:p>
            <a:pPr lvl="0" indent="-342900"/>
            <a:endParaRPr lang="zh-CN" altLang="en-US" sz="1400" dirty="0">
              <a:latin typeface="宋体" panose="02010600030101010101" pitchFamily="2" charset="-122"/>
            </a:endParaRPr>
          </a:p>
        </p:txBody>
      </p:sp>
      <p:sp>
        <p:nvSpPr>
          <p:cNvPr id="6963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循环服务器模型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占位符 1"/>
          <p:cNvSpPr>
            <a:spLocks noGrp="1"/>
          </p:cNvSpPr>
          <p:nvPr>
            <p:ph sz="quarter"/>
          </p:nvPr>
        </p:nvSpPr>
        <p:spPr>
          <a:xfrm>
            <a:off x="612775" y="933450"/>
            <a:ext cx="4230688"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400" b="1" dirty="0"/>
              <a:t>TCP</a:t>
            </a:r>
            <a:r>
              <a:rPr lang="zh-CN" altLang="en-US" sz="1400" b="1" dirty="0"/>
              <a:t>服务器</a:t>
            </a:r>
            <a:endParaRPr lang="zh-CN" altLang="en-US" sz="1400" b="1" dirty="0"/>
          </a:p>
          <a:p>
            <a:pPr lvl="1" indent="-285750">
              <a:lnSpc>
                <a:spcPct val="120000"/>
              </a:lnSpc>
            </a:pPr>
            <a:r>
              <a:rPr lang="zh-CN" altLang="en-US" sz="1400" dirty="0"/>
              <a:t>为了弥补</a:t>
            </a:r>
            <a:r>
              <a:rPr lang="en-US" altLang="zh-CN" sz="1400" dirty="0"/>
              <a:t>TCP</a:t>
            </a:r>
            <a:r>
              <a:rPr lang="zh-CN" altLang="en-US" sz="1400" dirty="0"/>
              <a:t>循环服务器的缺陷，人们又设计了并发服务器的模型。 </a:t>
            </a:r>
            <a:endParaRPr lang="zh-CN" altLang="en-US" sz="1400" dirty="0"/>
          </a:p>
          <a:p>
            <a:pPr lvl="2" indent="-228600">
              <a:lnSpc>
                <a:spcPct val="120000"/>
              </a:lnSpc>
              <a:buNone/>
            </a:pPr>
            <a:r>
              <a:rPr lang="zh-CN" altLang="en-US" sz="1400" dirty="0"/>
              <a:t>    并发服务器的设计思想是服务器接受客户端的连接请求后创建子进程</a:t>
            </a:r>
            <a:r>
              <a:rPr lang="en-US" altLang="zh-CN" sz="1400" dirty="0"/>
              <a:t>/</a:t>
            </a:r>
            <a:r>
              <a:rPr lang="zh-CN" altLang="en-US" sz="1400" dirty="0"/>
              <a:t>线程来为客户端服务 </a:t>
            </a:r>
            <a:endParaRPr lang="zh-CN" altLang="en-US" sz="1400" dirty="0"/>
          </a:p>
          <a:p>
            <a:pPr lvl="1" indent="-285750">
              <a:lnSpc>
                <a:spcPct val="120000"/>
              </a:lnSpc>
            </a:pPr>
            <a:r>
              <a:rPr lang="en-US" altLang="zh-CN" sz="1400" dirty="0"/>
              <a:t>TCP</a:t>
            </a:r>
            <a:r>
              <a:rPr lang="zh-CN" altLang="en-US" sz="1400" dirty="0"/>
              <a:t>并发服务器可以避免</a:t>
            </a:r>
            <a:r>
              <a:rPr lang="en-US" altLang="zh-CN" sz="1400" dirty="0"/>
              <a:t>TCP</a:t>
            </a:r>
            <a:r>
              <a:rPr lang="zh-CN" altLang="en-US" sz="1400" dirty="0"/>
              <a:t>循环服务器中客户端独占服务器的情况。</a:t>
            </a:r>
            <a:endParaRPr lang="zh-CN" altLang="en-US" sz="1400" dirty="0"/>
          </a:p>
          <a:p>
            <a:pPr lvl="1" indent="-285750">
              <a:lnSpc>
                <a:spcPct val="120000"/>
              </a:lnSpc>
            </a:pPr>
            <a:r>
              <a:rPr lang="zh-CN" altLang="en-US" sz="1400" dirty="0"/>
              <a:t>为了响应客户机的请求</a:t>
            </a:r>
            <a:r>
              <a:rPr lang="en-US" altLang="zh-CN" sz="1400" dirty="0"/>
              <a:t>,</a:t>
            </a:r>
            <a:r>
              <a:rPr lang="zh-CN" altLang="en-US" sz="1400" dirty="0"/>
              <a:t>服务器要创建子进程</a:t>
            </a:r>
            <a:r>
              <a:rPr lang="en-US" altLang="zh-CN" sz="1400" dirty="0"/>
              <a:t>/</a:t>
            </a:r>
            <a:r>
              <a:rPr lang="zh-CN" altLang="en-US" sz="1400" dirty="0"/>
              <a:t>线程来处理。 如果有多个客户端的话，服务器端需要创建多个子进程</a:t>
            </a:r>
            <a:r>
              <a:rPr lang="en-US" altLang="zh-CN" sz="1400" dirty="0"/>
              <a:t>/</a:t>
            </a:r>
            <a:r>
              <a:rPr lang="zh-CN" altLang="en-US" sz="1400" dirty="0"/>
              <a:t>线程。过多的子进程会影响服务器端的运行效率</a:t>
            </a:r>
            <a:endParaRPr lang="zh-CN" altLang="en-US" sz="1400" dirty="0"/>
          </a:p>
          <a:p>
            <a:pPr lvl="0" indent="-342900"/>
            <a:endParaRPr lang="zh-CN" altLang="en-US" sz="1400" dirty="0">
              <a:latin typeface="宋体" panose="02010600030101010101" pitchFamily="2" charset="-122"/>
            </a:endParaRPr>
          </a:p>
        </p:txBody>
      </p:sp>
      <p:sp>
        <p:nvSpPr>
          <p:cNvPr id="7065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并发服务器模型 进程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线程</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70659" name="文本框 1"/>
          <p:cNvSpPr txBox="1"/>
          <p:nvPr/>
        </p:nvSpPr>
        <p:spPr>
          <a:xfrm>
            <a:off x="5162550" y="1204913"/>
            <a:ext cx="3598863" cy="3449637"/>
          </a:xfrm>
          <a:prstGeom prst="rect">
            <a:avLst/>
          </a:prstGeom>
          <a:noFill/>
          <a:ln w="9525">
            <a:noFill/>
          </a:ln>
        </p:spPr>
        <p:txBody>
          <a:bodyPr wrap="square" anchor="t" anchorCtr="0">
            <a:spAutoFit/>
          </a:bodyPr>
          <a:p>
            <a:pPr lvl="1" indent="0">
              <a:lnSpc>
                <a:spcPct val="120000"/>
              </a:lnSpc>
            </a:pPr>
            <a:r>
              <a:rPr lang="en-US" altLang="zh-CN" sz="1400" dirty="0">
                <a:latin typeface="Arial" panose="020B0604020202020204" pitchFamily="34" charset="0"/>
                <a:ea typeface="宋体" panose="02010600030101010101" pitchFamily="2" charset="-122"/>
              </a:rPr>
              <a:t>socket(...);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bind(...);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listen(...);</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while(1) {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accept(...);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if (fork() == 0) {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while(1) { recv(...); 		process(...); send(...);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close(...);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exit(...);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close(...); </a:t>
            </a:r>
            <a:br>
              <a:rPr lang="en-US" altLang="zh-CN" sz="1400" dirty="0">
                <a:latin typeface="Arial" panose="020B0604020202020204" pitchFamily="34" charset="0"/>
                <a:ea typeface="宋体" panose="02010600030101010101" pitchFamily="2" charset="-122"/>
              </a:rPr>
            </a:br>
            <a:r>
              <a:rPr lang="en-US" altLang="zh-CN" sz="1400" dirty="0">
                <a:latin typeface="Arial" panose="020B0604020202020204" pitchFamily="34" charset="0"/>
                <a:ea typeface="宋体" panose="02010600030101010101" pitchFamily="2" charset="-122"/>
              </a:rPr>
              <a:t> }</a:t>
            </a:r>
            <a:endParaRPr lang="zh-CN" altLang="en-US" sz="1400">
              <a:latin typeface="Arial" panose="020B0604020202020204" pitchFamily="34"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文本占位符 1"/>
          <p:cNvSpPr>
            <a:spLocks noGrp="1"/>
          </p:cNvSpPr>
          <p:nvPr>
            <p:ph sz="quarter"/>
          </p:nvPr>
        </p:nvSpPr>
        <p:spPr>
          <a:xfrm>
            <a:off x="612775" y="933450"/>
            <a:ext cx="7235825" cy="4210050"/>
          </a:xfrm>
          <a:prstGeom prst="rect">
            <a:avLst/>
          </a:prstGeom>
          <a:noFill/>
          <a:ln w="9525" cap="flat" cmpd="sng" algn="ctr">
            <a:noFill/>
            <a:prstDash val="solid"/>
          </a:ln>
        </p:spPr>
        <p:txBody>
          <a:bodyPr anchor="t"/>
          <a:lstStyle>
            <a:lvl1pPr lvl="0">
              <a:defRPr sz="2400"/>
            </a:lvl1pPr>
            <a:lvl2pPr lvl="1">
              <a:defRPr sz="2000"/>
            </a:lvl2pPr>
            <a:lvl3pPr lvl="2">
              <a:defRPr sz="1800"/>
            </a:lvl3pPr>
            <a:lvl4pPr lvl="3">
              <a:defRPr sz="1600"/>
            </a:lvl4pPr>
            <a:lvl5pPr lvl="4">
              <a:defRPr sz="1600"/>
            </a:lvl5pPr>
          </a:lstStyle>
          <a:p>
            <a:pPr eaLnBrk="1" fontAlgn="base" hangingPunct="1"/>
            <a:r>
              <a:rPr lang="en-US" sz="1600" b="1" strike="noStrike" noProof="1" dirty="0">
                <a:sym typeface="+mn-ea"/>
              </a:rPr>
              <a:t>I/O</a:t>
            </a:r>
            <a:r>
              <a:rPr lang="zh-CN" altLang="en-US" sz="1600" b="1" strike="noStrike" noProof="1" dirty="0">
                <a:sym typeface="+mn-ea"/>
              </a:rPr>
              <a:t>多路复用模型</a:t>
            </a:r>
            <a:endParaRPr lang="zh-CN" altLang="en-US" sz="1600" b="1" strike="noStrike" noProof="1" dirty="0"/>
          </a:p>
          <a:p>
            <a:pPr marL="0" lvl="1" indent="0" eaLnBrk="1" fontAlgn="base" hangingPunct="1">
              <a:lnSpc>
                <a:spcPct val="120000"/>
              </a:lnSpc>
              <a:buNone/>
            </a:pPr>
            <a:r>
              <a:rPr lang="zh-CN" altLang="en-US" sz="1600" strike="noStrike" noProof="1" dirty="0">
                <a:sym typeface="+mn-ea"/>
              </a:rPr>
              <a:t>初始化</a:t>
            </a:r>
            <a:r>
              <a:rPr lang="en-US" altLang="zh-CN" sz="1600" strike="noStrike" noProof="1" dirty="0">
                <a:sym typeface="+mn-ea"/>
              </a:rPr>
              <a:t>(socket -&gt; bind -&gt; listen); </a:t>
            </a:r>
            <a:br>
              <a:rPr lang="en-US" altLang="zh-CN" sz="1600" dirty="0">
                <a:sym typeface="+mn-ea"/>
              </a:rPr>
            </a:br>
            <a:r>
              <a:rPr lang="en-US" altLang="zh-CN" sz="1600" strike="noStrike" noProof="1" dirty="0">
                <a:sym typeface="+mn-ea"/>
              </a:rPr>
              <a:t>while(1) { </a:t>
            </a:r>
            <a:br>
              <a:rPr lang="en-US" altLang="zh-CN" sz="1600" dirty="0">
                <a:sym typeface="+mn-ea"/>
              </a:rPr>
            </a:br>
            <a:r>
              <a:rPr lang="en-US" altLang="zh-CN" sz="1600" strike="noStrike" noProof="1" dirty="0">
                <a:sym typeface="+mn-ea"/>
              </a:rPr>
              <a:t>    </a:t>
            </a:r>
            <a:r>
              <a:rPr lang="zh-CN" altLang="en-US" sz="1600" strike="noStrike" noProof="1" dirty="0">
                <a:sym typeface="+mn-ea"/>
              </a:rPr>
              <a:t>设置监听读写文件描述符集合</a:t>
            </a:r>
            <a:r>
              <a:rPr lang="en-US" altLang="zh-CN" sz="1600" strike="noStrike" noProof="1" dirty="0">
                <a:sym typeface="+mn-ea"/>
              </a:rPr>
              <a:t>(FD_*); </a:t>
            </a:r>
            <a:br>
              <a:rPr lang="en-US" altLang="zh-CN" sz="1600" dirty="0">
                <a:sym typeface="+mn-ea"/>
              </a:rPr>
            </a:br>
            <a:r>
              <a:rPr lang="en-US" altLang="zh-CN" sz="1600" strike="noStrike" noProof="1" dirty="0">
                <a:sym typeface="+mn-ea"/>
              </a:rPr>
              <a:t>    </a:t>
            </a:r>
            <a:r>
              <a:rPr lang="zh-CN" altLang="en-US" sz="1600" strike="noStrike" noProof="1" dirty="0">
                <a:sym typeface="+mn-ea"/>
              </a:rPr>
              <a:t>调用</a:t>
            </a:r>
            <a:r>
              <a:rPr lang="en-US" altLang="zh-CN" sz="1600" strike="noStrike" noProof="1" dirty="0">
                <a:sym typeface="+mn-ea"/>
              </a:rPr>
              <a:t>select; </a:t>
            </a:r>
            <a:br>
              <a:rPr lang="en-US" altLang="zh-CN" sz="1600" dirty="0">
                <a:sym typeface="+mn-ea"/>
              </a:rPr>
            </a:br>
            <a:r>
              <a:rPr lang="en-US" altLang="zh-CN" sz="1600" strike="noStrike" noProof="1" dirty="0">
                <a:sym typeface="+mn-ea"/>
              </a:rPr>
              <a:t>    </a:t>
            </a:r>
            <a:r>
              <a:rPr lang="zh-CN" altLang="en-US" sz="1600" strike="noStrike" noProof="1" dirty="0">
                <a:sym typeface="+mn-ea"/>
              </a:rPr>
              <a:t>如果是监听套接字就绪</a:t>
            </a:r>
            <a:r>
              <a:rPr lang="en-US" altLang="zh-CN" sz="1600" strike="noStrike" noProof="1" dirty="0">
                <a:sym typeface="+mn-ea"/>
              </a:rPr>
              <a:t>,</a:t>
            </a:r>
            <a:r>
              <a:rPr lang="zh-CN" altLang="en-US" sz="1600" strike="noStrike" noProof="1" dirty="0">
                <a:sym typeface="+mn-ea"/>
              </a:rPr>
              <a:t>说明有新的连接请求 </a:t>
            </a:r>
            <a:r>
              <a:rPr lang="en-US" altLang="zh-CN" sz="1600" strike="noStrike" noProof="1" dirty="0">
                <a:sym typeface="+mn-ea"/>
              </a:rPr>
              <a:t>{ </a:t>
            </a:r>
            <a:br>
              <a:rPr lang="en-US" altLang="zh-CN" sz="1600" dirty="0">
                <a:sym typeface="+mn-ea"/>
              </a:rPr>
            </a:br>
            <a:r>
              <a:rPr lang="en-US" altLang="zh-CN" sz="1600" strike="noStrike" noProof="1" dirty="0">
                <a:sym typeface="+mn-ea"/>
              </a:rPr>
              <a:t>           </a:t>
            </a:r>
            <a:r>
              <a:rPr lang="zh-CN" altLang="en-US" sz="1600" strike="noStrike" noProof="1" dirty="0">
                <a:sym typeface="+mn-ea"/>
              </a:rPr>
              <a:t>建立连接</a:t>
            </a:r>
            <a:r>
              <a:rPr lang="en-US" altLang="zh-CN" sz="1600" strike="noStrike" noProof="1" dirty="0">
                <a:sym typeface="+mn-ea"/>
              </a:rPr>
              <a:t>(accept); </a:t>
            </a:r>
            <a:br>
              <a:rPr lang="en-US" altLang="zh-CN" sz="1600" dirty="0">
                <a:sym typeface="+mn-ea"/>
              </a:rPr>
            </a:br>
            <a:r>
              <a:rPr lang="en-US" altLang="zh-CN" sz="1600" strike="noStrike" noProof="1" dirty="0">
                <a:sym typeface="+mn-ea"/>
              </a:rPr>
              <a:t>           </a:t>
            </a:r>
            <a:r>
              <a:rPr lang="zh-CN" altLang="en-US" sz="1600" strike="noStrike" noProof="1" dirty="0">
                <a:sym typeface="+mn-ea"/>
              </a:rPr>
              <a:t>加入到监听文件描述符集合</a:t>
            </a:r>
            <a:r>
              <a:rPr lang="en-US" altLang="zh-CN" sz="1600" strike="noStrike" noProof="1" dirty="0">
                <a:sym typeface="+mn-ea"/>
              </a:rPr>
              <a:t>; </a:t>
            </a:r>
            <a:br>
              <a:rPr lang="en-US" altLang="zh-CN" sz="1600" dirty="0">
                <a:sym typeface="+mn-ea"/>
              </a:rPr>
            </a:br>
            <a:r>
              <a:rPr lang="en-US" altLang="zh-CN" sz="1600" strike="noStrike" noProof="1" dirty="0">
                <a:sym typeface="+mn-ea"/>
              </a:rPr>
              <a:t>     } </a:t>
            </a:r>
            <a:br>
              <a:rPr lang="en-US" altLang="zh-CN" sz="1600" dirty="0">
                <a:sym typeface="+mn-ea"/>
              </a:rPr>
            </a:br>
            <a:r>
              <a:rPr lang="en-US" altLang="zh-CN" sz="1600" strike="noStrike" noProof="1" dirty="0">
                <a:sym typeface="+mn-ea"/>
              </a:rPr>
              <a:t>    </a:t>
            </a:r>
            <a:r>
              <a:rPr lang="zh-CN" altLang="en-US" sz="1600" strike="noStrike" noProof="1" dirty="0">
                <a:sym typeface="+mn-ea"/>
              </a:rPr>
              <a:t>否则说明是一个已经连接过的描述符 </a:t>
            </a:r>
            <a:r>
              <a:rPr lang="en-US" altLang="zh-CN" sz="1600" strike="noStrike" noProof="1" dirty="0">
                <a:sym typeface="+mn-ea"/>
              </a:rPr>
              <a:t>{ </a:t>
            </a:r>
            <a:br>
              <a:rPr lang="en-US" altLang="zh-CN" sz="1600" dirty="0">
                <a:sym typeface="+mn-ea"/>
              </a:rPr>
            </a:br>
            <a:r>
              <a:rPr lang="en-US" altLang="zh-CN" sz="1600" strike="noStrike" noProof="1" dirty="0">
                <a:sym typeface="+mn-ea"/>
              </a:rPr>
              <a:t>           </a:t>
            </a:r>
            <a:r>
              <a:rPr lang="zh-CN" altLang="en-US" sz="1600" strike="noStrike" noProof="1" dirty="0">
                <a:sym typeface="+mn-ea"/>
              </a:rPr>
              <a:t>进行操作</a:t>
            </a:r>
            <a:r>
              <a:rPr lang="en-US" altLang="zh-CN" sz="1600" strike="noStrike" noProof="1" dirty="0">
                <a:sym typeface="+mn-ea"/>
              </a:rPr>
              <a:t>(send</a:t>
            </a:r>
            <a:r>
              <a:rPr lang="zh-CN" altLang="en-US" sz="1600" strike="noStrike" noProof="1" dirty="0">
                <a:sym typeface="+mn-ea"/>
              </a:rPr>
              <a:t>或者</a:t>
            </a:r>
            <a:r>
              <a:rPr lang="en-US" altLang="zh-CN" sz="1600" strike="noStrike" noProof="1" dirty="0">
                <a:sym typeface="+mn-ea"/>
              </a:rPr>
              <a:t>recv); </a:t>
            </a:r>
            <a:br>
              <a:rPr lang="en-US" altLang="zh-CN" sz="1600" dirty="0">
                <a:sym typeface="+mn-ea"/>
              </a:rPr>
            </a:br>
            <a:r>
              <a:rPr lang="en-US" altLang="zh-CN" sz="1600" strike="noStrike" noProof="1" dirty="0">
                <a:sym typeface="+mn-ea"/>
              </a:rPr>
              <a:t>    } </a:t>
            </a:r>
            <a:br>
              <a:rPr lang="en-US" altLang="zh-CN" sz="1600" dirty="0">
                <a:sym typeface="+mn-ea"/>
              </a:rPr>
            </a:br>
            <a:r>
              <a:rPr lang="en-US" altLang="zh-CN" sz="1600" strike="noStrike" noProof="1" dirty="0">
                <a:sym typeface="+mn-ea"/>
              </a:rPr>
              <a:t>} </a:t>
            </a:r>
            <a:endParaRPr lang="en-US" altLang="zh-CN" sz="1115" strike="noStrike" noProof="1" dirty="0"/>
          </a:p>
          <a:p>
            <a:pPr lvl="3" eaLnBrk="1" fontAlgn="base" hangingPunct="1">
              <a:lnSpc>
                <a:spcPct val="120000"/>
              </a:lnSpc>
            </a:pPr>
            <a:endParaRPr lang="zh-CN" altLang="en-US" sz="1400" strike="noStrike" noProof="1" dirty="0"/>
          </a:p>
          <a:p>
            <a:pPr lvl="0" indent="-342900" fontAlgn="base"/>
            <a:endParaRPr lang="zh-CN" altLang="en-US" sz="1400" strike="noStrike" noProof="1" dirty="0">
              <a:latin typeface="宋体" panose="02010600030101010101" pitchFamily="2" charset="-122"/>
            </a:endParaRPr>
          </a:p>
        </p:txBody>
      </p:sp>
      <p:sp>
        <p:nvSpPr>
          <p:cNvPr id="71682" name="文本占位符 2"/>
          <p:cNvSpPr>
            <a:spLocks noGrp="1"/>
          </p:cNvSpPr>
          <p:nvPr>
            <p:ph sz="quarter"/>
          </p:nvPr>
        </p:nvSpPr>
        <p:spPr>
          <a:xfrm>
            <a:off x="611188" y="466725"/>
            <a:ext cx="7312025"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并发服务器模型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IO</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多路复用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select</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3763963"/>
          </a:xfrm>
          <a:prstGeom prst="rect">
            <a:avLst/>
          </a:prstGeom>
          <a:noFill/>
          <a:ln w="9525" cap="flat" cmpd="sng" algn="ctr">
            <a:noFill/>
            <a:prstDash val="solid"/>
          </a:ln>
        </p:spPr>
        <p:txBody>
          <a:bodyPr/>
          <a:p>
            <a:pPr marL="0" indent="0" eaLnBrk="1" fontAlgn="base" hangingPunct="1">
              <a:buNone/>
            </a:pPr>
            <a:endParaRPr lang="zh-CN" altLang="en-US" sz="1800" strike="noStrike" noProof="1" dirty="0"/>
          </a:p>
          <a:p>
            <a:pPr eaLnBrk="1" fontAlgn="base" hangingPunct="1">
              <a:lnSpc>
                <a:spcPct val="90000"/>
              </a:lnSpc>
            </a:pPr>
            <a:r>
              <a:rPr lang="en-US" altLang="zh-CN" sz="1800" strike="noStrike" noProof="1" dirty="0">
                <a:sym typeface="+mn-ea"/>
              </a:rPr>
              <a:t>epoll</a:t>
            </a:r>
            <a:r>
              <a:rPr lang="zh-CN" altLang="en-US" sz="1800" strike="noStrike" noProof="1" dirty="0">
                <a:sym typeface="+mn-ea"/>
              </a:rPr>
              <a:t>是一种新的</a:t>
            </a:r>
            <a:r>
              <a:rPr lang="en-US" altLang="zh-CN" sz="1800" strike="noStrike" noProof="1" dirty="0">
                <a:sym typeface="+mn-ea"/>
              </a:rPr>
              <a:t>IO</a:t>
            </a:r>
            <a:r>
              <a:rPr lang="zh-CN" altLang="en-US" sz="1800" strike="noStrike" noProof="1" dirty="0">
                <a:sym typeface="+mn-ea"/>
              </a:rPr>
              <a:t>多路复用技术</a:t>
            </a:r>
            <a:endParaRPr lang="en-US" altLang="zh-CN" sz="1800" strike="noStrike" noProof="1" dirty="0"/>
          </a:p>
          <a:p>
            <a:pPr eaLnBrk="1" fontAlgn="base" hangingPunct="1">
              <a:lnSpc>
                <a:spcPct val="90000"/>
              </a:lnSpc>
            </a:pPr>
            <a:r>
              <a:rPr lang="en-US" altLang="zh-CN" sz="1800" strike="noStrike" noProof="1" dirty="0">
                <a:sym typeface="+mn-ea"/>
              </a:rPr>
              <a:t>epoll</a:t>
            </a:r>
            <a:r>
              <a:rPr lang="zh-CN" altLang="en-US" sz="1800" strike="noStrike" noProof="1" dirty="0">
                <a:sym typeface="+mn-ea"/>
              </a:rPr>
              <a:t>是</a:t>
            </a:r>
            <a:r>
              <a:rPr lang="en-US" altLang="zh-CN" sz="1800" strike="noStrike" noProof="1" dirty="0">
                <a:sym typeface="+mn-ea"/>
              </a:rPr>
              <a:t>Linux</a:t>
            </a:r>
            <a:r>
              <a:rPr lang="zh-CN" altLang="en-US" sz="1800" strike="noStrike" noProof="1" dirty="0">
                <a:sym typeface="+mn-ea"/>
              </a:rPr>
              <a:t>内核为处理大批量文件描述符而作了改进的</a:t>
            </a:r>
            <a:r>
              <a:rPr lang="en-US" altLang="zh-CN" sz="1800" strike="noStrike" noProof="1" dirty="0">
                <a:sym typeface="+mn-ea"/>
              </a:rPr>
              <a:t>poll</a:t>
            </a:r>
            <a:r>
              <a:rPr lang="zh-CN" altLang="en-US" sz="1800" strike="noStrike" noProof="1" dirty="0">
                <a:sym typeface="+mn-ea"/>
              </a:rPr>
              <a:t>，是</a:t>
            </a:r>
            <a:r>
              <a:rPr lang="en-US" altLang="zh-CN" sz="1800" strike="noStrike" noProof="1" dirty="0">
                <a:sym typeface="+mn-ea"/>
              </a:rPr>
              <a:t>Linux</a:t>
            </a:r>
            <a:r>
              <a:rPr lang="zh-CN" altLang="en-US" sz="1800" strike="noStrike" noProof="1" dirty="0">
                <a:sym typeface="+mn-ea"/>
              </a:rPr>
              <a:t>下多路复用</a:t>
            </a:r>
            <a:r>
              <a:rPr lang="en-US" altLang="zh-CN" sz="1800" strike="noStrike" noProof="1" dirty="0">
                <a:sym typeface="+mn-ea"/>
              </a:rPr>
              <a:t>IO</a:t>
            </a:r>
            <a:r>
              <a:rPr lang="zh-CN" altLang="en-US" sz="1800" strike="noStrike" noProof="1" dirty="0">
                <a:sym typeface="+mn-ea"/>
              </a:rPr>
              <a:t>接口</a:t>
            </a:r>
            <a:r>
              <a:rPr lang="en-US" altLang="zh-CN" sz="1800" strike="noStrike" noProof="1" dirty="0">
                <a:sym typeface="+mn-ea"/>
              </a:rPr>
              <a:t>select/poll</a:t>
            </a:r>
            <a:r>
              <a:rPr lang="zh-CN" altLang="en-US" sz="1800" strike="noStrike" noProof="1" dirty="0">
                <a:sym typeface="+mn-ea"/>
              </a:rPr>
              <a:t>的增强版本，它能显著提高程序在大量并发连接中只有少量活跃的情况下的系统</a:t>
            </a:r>
            <a:r>
              <a:rPr lang="en-US" altLang="zh-CN" sz="1800" strike="noStrike" noProof="1" dirty="0">
                <a:sym typeface="+mn-ea"/>
              </a:rPr>
              <a:t>CPU</a:t>
            </a:r>
            <a:r>
              <a:rPr lang="zh-CN" altLang="en-US" sz="1800" strike="noStrike" noProof="1" dirty="0">
                <a:sym typeface="+mn-ea"/>
              </a:rPr>
              <a:t>利用率。</a:t>
            </a:r>
            <a:endParaRPr lang="en-US" altLang="zh-CN" sz="1800" strike="noStrike" noProof="1" dirty="0"/>
          </a:p>
          <a:p>
            <a:pPr eaLnBrk="1" fontAlgn="base" hangingPunct="1">
              <a:lnSpc>
                <a:spcPct val="90000"/>
              </a:lnSpc>
            </a:pPr>
            <a:r>
              <a:rPr lang="en-US" altLang="zh-CN" sz="1800" strike="noStrike" noProof="1" dirty="0">
                <a:sym typeface="+mn-ea"/>
              </a:rPr>
              <a:t>epoll</a:t>
            </a:r>
            <a:r>
              <a:rPr lang="zh-CN" altLang="en-US" sz="1800" strike="noStrike" noProof="1" dirty="0">
                <a:sym typeface="+mn-ea"/>
              </a:rPr>
              <a:t>获取事件的时候，它无须遍历整个被侦听的描述符集，只要遍历那些被内核</a:t>
            </a:r>
            <a:r>
              <a:rPr lang="en-US" altLang="zh-CN" sz="1800" strike="noStrike" noProof="1" dirty="0">
                <a:sym typeface="+mn-ea"/>
              </a:rPr>
              <a:t>IO</a:t>
            </a:r>
            <a:r>
              <a:rPr lang="zh-CN" altLang="en-US" sz="1800" strike="noStrike" noProof="1" dirty="0">
                <a:sym typeface="+mn-ea"/>
              </a:rPr>
              <a:t>事件异步唤醒而加入</a:t>
            </a:r>
            <a:r>
              <a:rPr lang="en-US" altLang="zh-CN" sz="1800" strike="noStrike" noProof="1" dirty="0">
                <a:sym typeface="+mn-ea"/>
              </a:rPr>
              <a:t>Ready</a:t>
            </a:r>
            <a:r>
              <a:rPr lang="zh-CN" altLang="en-US" sz="1800" strike="noStrike" noProof="1" dirty="0">
                <a:sym typeface="+mn-ea"/>
              </a:rPr>
              <a:t>队列的描述符集合就行了。</a:t>
            </a:r>
            <a:endParaRPr lang="en-US" altLang="zh-CN" sz="1800" b="1" strike="noStrike" noProof="1" dirty="0">
              <a:latin typeface="华文仿宋" panose="02010600040101010101" pitchFamily="2" charset="-122"/>
              <a:ea typeface="华文仿宋" panose="02010600040101010101" pitchFamily="2" charset="-122"/>
            </a:endParaRPr>
          </a:p>
          <a:p>
            <a:pPr lvl="0" fontAlgn="base">
              <a:spcBef>
                <a:spcPct val="20000"/>
              </a:spcBef>
              <a:buClr>
                <a:srgbClr val="FF0000"/>
              </a:buClr>
            </a:pPr>
            <a:r>
              <a:rPr lang="zh-CN" altLang="en-US" sz="1800" b="1" strike="noStrike" noProof="1" dirty="0">
                <a:latin typeface="华文仿宋" panose="02010600040101010101" pitchFamily="2" charset="-122"/>
                <a:ea typeface="华文仿宋" panose="02010600040101010101" pitchFamily="2" charset="-122"/>
                <a:sym typeface="+mn-ea"/>
              </a:rPr>
              <a:t>接口 </a:t>
            </a:r>
            <a:r>
              <a:rPr lang="en-US" altLang="zh-CN" sz="1800" b="1" strike="noStrike" noProof="1" dirty="0">
                <a:latin typeface="华文仿宋" panose="02010600040101010101" pitchFamily="2" charset="-122"/>
                <a:ea typeface="华文仿宋" panose="02010600040101010101" pitchFamily="2" charset="-122"/>
                <a:sym typeface="+mn-ea"/>
              </a:rPr>
              <a:t>: epoll_create</a:t>
            </a:r>
            <a:r>
              <a:rPr lang="zh-CN" altLang="en-US" sz="1800" b="1" strike="noStrike" noProof="1" dirty="0">
                <a:latin typeface="华文仿宋" panose="02010600040101010101" pitchFamily="2" charset="-122"/>
                <a:ea typeface="华文仿宋" panose="02010600040101010101" pitchFamily="2" charset="-122"/>
                <a:sym typeface="+mn-ea"/>
              </a:rPr>
              <a:t>、</a:t>
            </a:r>
            <a:r>
              <a:rPr lang="en-US" altLang="zh-CN" sz="1800" b="1" strike="noStrike" noProof="1" dirty="0">
                <a:latin typeface="华文仿宋" panose="02010600040101010101" pitchFamily="2" charset="-122"/>
                <a:ea typeface="华文仿宋" panose="02010600040101010101" pitchFamily="2" charset="-122"/>
                <a:sym typeface="+mn-ea"/>
              </a:rPr>
              <a:t>epoll_ctl</a:t>
            </a:r>
            <a:r>
              <a:rPr lang="zh-CN" altLang="en-US" sz="1800" b="1" strike="noStrike" noProof="1" dirty="0">
                <a:latin typeface="华文仿宋" panose="02010600040101010101" pitchFamily="2" charset="-122"/>
                <a:ea typeface="华文仿宋" panose="02010600040101010101" pitchFamily="2" charset="-122"/>
                <a:sym typeface="+mn-ea"/>
              </a:rPr>
              <a:t>、</a:t>
            </a:r>
            <a:r>
              <a:rPr lang="en-US" altLang="zh-CN" sz="1800" b="1" strike="noStrike" noProof="1" dirty="0">
                <a:latin typeface="华文仿宋" panose="02010600040101010101" pitchFamily="2" charset="-122"/>
                <a:ea typeface="华文仿宋" panose="02010600040101010101" pitchFamily="2" charset="-122"/>
                <a:sym typeface="+mn-ea"/>
              </a:rPr>
              <a:t>epoll_wait</a:t>
            </a:r>
            <a:endParaRPr lang="en-US" altLang="zh-CN" sz="1800" b="1" strike="noStrike" noProof="1" dirty="0">
              <a:latin typeface="华文仿宋" panose="02010600040101010101" pitchFamily="2" charset="-122"/>
              <a:ea typeface="华文仿宋" panose="02010600040101010101" pitchFamily="2" charset="-122"/>
            </a:endParaRPr>
          </a:p>
          <a:p>
            <a:pPr lvl="0" fontAlgn="base">
              <a:spcBef>
                <a:spcPct val="20000"/>
              </a:spcBef>
              <a:buClr>
                <a:srgbClr val="FF0000"/>
              </a:buClr>
            </a:pPr>
            <a:r>
              <a:rPr lang="zh-CN" altLang="en-US" sz="1800" b="1" strike="noStrike" noProof="1" dirty="0">
                <a:latin typeface="华文仿宋" panose="02010600040101010101" pitchFamily="2" charset="-122"/>
                <a:ea typeface="华文仿宋" panose="02010600040101010101" pitchFamily="2" charset="-122"/>
                <a:sym typeface="+mn-ea"/>
              </a:rPr>
              <a:t>结构体 ：</a:t>
            </a:r>
            <a:r>
              <a:rPr lang="en-US" altLang="zh-CN" sz="1800" b="1" strike="noStrike" noProof="1" dirty="0">
                <a:latin typeface="华文仿宋" panose="02010600040101010101" pitchFamily="2" charset="-122"/>
                <a:ea typeface="华文仿宋" panose="02010600040101010101" pitchFamily="2" charset="-122"/>
                <a:sym typeface="+mn-ea"/>
              </a:rPr>
              <a:t>struct epoll_event </a:t>
            </a:r>
            <a:r>
              <a:rPr lang="zh-CN" altLang="en-US" sz="1800" b="1" strike="noStrike" noProof="1" dirty="0">
                <a:latin typeface="华文仿宋" panose="02010600040101010101" pitchFamily="2" charset="-122"/>
                <a:ea typeface="华文仿宋" panose="02010600040101010101" pitchFamily="2" charset="-122"/>
                <a:sym typeface="+mn-ea"/>
              </a:rPr>
              <a:t>、</a:t>
            </a:r>
            <a:r>
              <a:rPr lang="en-US" altLang="zh-CN" sz="1800" b="1" strike="noStrike" noProof="1" dirty="0">
                <a:latin typeface="华文仿宋" panose="02010600040101010101" pitchFamily="2" charset="-122"/>
                <a:ea typeface="华文仿宋" panose="02010600040101010101" pitchFamily="2" charset="-122"/>
                <a:sym typeface="+mn-ea"/>
              </a:rPr>
              <a:t>union epoll_data</a:t>
            </a:r>
            <a:endParaRPr lang="en-US" altLang="zh-CN" sz="1800" b="1" strike="noStrike" noProof="1" dirty="0">
              <a:latin typeface="华文仿宋" panose="02010600040101010101" pitchFamily="2" charset="-122"/>
              <a:ea typeface="华文仿宋" panose="02010600040101010101" pitchFamily="2" charset="-122"/>
            </a:endParaRPr>
          </a:p>
          <a:p>
            <a:pPr lvl="0" fontAlgn="base">
              <a:spcBef>
                <a:spcPct val="20000"/>
              </a:spcBef>
              <a:buClr>
                <a:srgbClr val="FF0000"/>
              </a:buClr>
            </a:pPr>
            <a:r>
              <a:rPr lang="zh-CN" altLang="en-US" sz="1800" b="1" strike="noStrike" noProof="1" dirty="0">
                <a:latin typeface="华文仿宋" panose="02010600040101010101" pitchFamily="2" charset="-122"/>
                <a:ea typeface="华文仿宋" panose="02010600040101010101" pitchFamily="2" charset="-122"/>
                <a:sym typeface="+mn-ea"/>
              </a:rPr>
              <a:t>工作方式 ：水平触发   边沿触发</a:t>
            </a:r>
            <a:endParaRPr lang="zh-CN" altLang="en-US" sz="1800" b="1" strike="noStrike" noProof="1" dirty="0">
              <a:latin typeface="华文仿宋" panose="02010600040101010101" pitchFamily="2" charset="-122"/>
              <a:ea typeface="华文仿宋" panose="02010600040101010101" pitchFamily="2" charset="-122"/>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27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endParaRPr lang="zh-CN" altLang="en-US"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int</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epoll_create</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a:t>
            </a: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int</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 size);</a:t>
            </a:r>
            <a:endParaRPr kumimoji="0" lang="en-US" altLang="zh-CN" sz="1800" b="1"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头文件：</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#include &lt;sys/</a:t>
            </a: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epoll.h</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&gt;</a:t>
            </a:r>
            <a:endParaRPr kumimoji="0" lang="en-US" altLang="zh-CN" sz="1800" b="1"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说明：创建一个</a:t>
            </a: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epoll</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的描述符，并通过</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size</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指定创建的</a:t>
            </a:r>
            <a:r>
              <a:rPr lang="en-US" altLang="zh-CN" sz="1800" b="1" strike="noStrike" noProof="0" dirty="0" err="1" smtClean="0">
                <a:ln>
                  <a:noFill/>
                </a:ln>
                <a:effectLst/>
                <a:uLnTx/>
                <a:uFillTx/>
                <a:latin typeface="华文仿宋" panose="02010600040101010101" pitchFamily="2" charset="-122"/>
                <a:ea typeface="华文仿宋" panose="02010600040101010101" pitchFamily="2" charset="-122"/>
                <a:sym typeface="+mn-ea"/>
              </a:rPr>
              <a:t>epoll</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描述符所能关注的描述符个数。</a:t>
            </a:r>
            <a:r>
              <a:rPr lang="zh-CN" altLang="en-US" sz="1800" b="1"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使用结束后需要关闭此描述符。</a:t>
            </a:r>
            <a:endParaRPr kumimoji="0" lang="en-US" altLang="zh-CN" sz="1800" b="1" i="0" u="none" strike="noStrike" kern="120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返回值：成功返回非负文件描述符，失败返回</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-1</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，具体含义查看</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errno</a:t>
            </a:r>
            <a:endPar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int epoll_ctl(int epfd, int op, int fd, struct epoll_event *event);</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头文件：</a:t>
            </a:r>
            <a:r>
              <a:rPr lang="en-US" altLang="zh-CN" sz="1800" b="1" strike="noStrike" noProof="1" dirty="0">
                <a:latin typeface="华文仿宋" panose="02010600040101010101" pitchFamily="2" charset="-122"/>
                <a:ea typeface="华文仿宋" panose="02010600040101010101" pitchFamily="2" charset="-122"/>
                <a:sym typeface="+mn-ea"/>
              </a:rPr>
              <a:t>#include &lt;sys/epoll.h&gt;</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说明：指定</a:t>
            </a:r>
            <a:r>
              <a:rPr lang="en-US" altLang="zh-CN" sz="1800" b="1" strike="noStrike" noProof="1" dirty="0">
                <a:latin typeface="华文仿宋" panose="02010600040101010101" pitchFamily="2" charset="-122"/>
                <a:ea typeface="华文仿宋" panose="02010600040101010101" pitchFamily="2" charset="-122"/>
                <a:sym typeface="+mn-ea"/>
              </a:rPr>
              <a:t>epoll</a:t>
            </a:r>
            <a:r>
              <a:rPr lang="zh-CN" altLang="en-US" sz="1800" b="1" strike="noStrike" noProof="1" dirty="0">
                <a:latin typeface="华文仿宋" panose="02010600040101010101" pitchFamily="2" charset="-122"/>
                <a:ea typeface="华文仿宋" panose="02010600040101010101" pitchFamily="2" charset="-122"/>
                <a:sym typeface="+mn-ea"/>
              </a:rPr>
              <a:t>注册的描述符的事件处理</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返回值：成功返回</a:t>
            </a:r>
            <a:r>
              <a:rPr lang="en-US" altLang="zh-CN" sz="1800" b="1" strike="noStrike" noProof="1" dirty="0">
                <a:latin typeface="华文仿宋" panose="02010600040101010101" pitchFamily="2" charset="-122"/>
                <a:ea typeface="华文仿宋" panose="02010600040101010101" pitchFamily="2" charset="-122"/>
                <a:sym typeface="+mn-ea"/>
              </a:rPr>
              <a:t>0</a:t>
            </a:r>
            <a:r>
              <a:rPr lang="zh-CN" altLang="en-US" sz="1800" b="1" strike="noStrike" noProof="1" dirty="0">
                <a:latin typeface="华文仿宋" panose="02010600040101010101" pitchFamily="2" charset="-122"/>
                <a:ea typeface="华文仿宋" panose="02010600040101010101" pitchFamily="2" charset="-122"/>
                <a:sym typeface="+mn-ea"/>
              </a:rPr>
              <a:t>，失败返回</a:t>
            </a:r>
            <a:r>
              <a:rPr lang="en-US" altLang="zh-CN" sz="1800" b="1" strike="noStrike" noProof="1" dirty="0">
                <a:latin typeface="华文仿宋" panose="02010600040101010101" pitchFamily="2" charset="-122"/>
                <a:ea typeface="华文仿宋" panose="02010600040101010101" pitchFamily="2" charset="-122"/>
                <a:sym typeface="+mn-ea"/>
              </a:rPr>
              <a:t>-1</a:t>
            </a:r>
            <a:endParaRPr lang="en-US" altLang="zh-CN" sz="1800" b="1" strike="noStrike" noProof="1" dirty="0">
              <a:latin typeface="华文仿宋" panose="02010600040101010101" pitchFamily="2" charset="-122"/>
              <a:ea typeface="华文仿宋" panose="02010600040101010101" pitchFamily="2" charset="-122"/>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37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r>
              <a:rPr lang="en-US" altLang="zh-CN" sz="1800" b="1" strike="noStrike" noProof="1" dirty="0">
                <a:latin typeface="华文仿宋" panose="02010600040101010101" pitchFamily="2" charset="-122"/>
                <a:ea typeface="华文仿宋" panose="02010600040101010101" pitchFamily="2" charset="-122"/>
                <a:sym typeface="+mn-ea"/>
              </a:rPr>
              <a:t>epoll_ctl </a:t>
            </a:r>
            <a:r>
              <a:rPr lang="zh-CN" altLang="en-US" sz="1800" b="1" strike="noStrike" noProof="1" dirty="0">
                <a:latin typeface="华文仿宋" panose="02010600040101010101" pitchFamily="2" charset="-122"/>
                <a:ea typeface="华文仿宋" panose="02010600040101010101" pitchFamily="2" charset="-122"/>
                <a:sym typeface="+mn-ea"/>
              </a:rPr>
              <a:t>参数说明</a:t>
            </a:r>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int epfd     epoll</a:t>
            </a:r>
            <a:r>
              <a:rPr lang="zh-CN" altLang="en-US" sz="1800" b="1" strike="noStrike" noProof="1" dirty="0">
                <a:latin typeface="华文仿宋" panose="02010600040101010101" pitchFamily="2" charset="-122"/>
                <a:ea typeface="华文仿宋" panose="02010600040101010101" pitchFamily="2" charset="-122"/>
                <a:sym typeface="+mn-ea"/>
              </a:rPr>
              <a:t>描述符</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int op	epoll</a:t>
            </a:r>
            <a:r>
              <a:rPr lang="zh-CN" altLang="en-US" sz="1800" b="1" strike="noStrike" noProof="1" dirty="0">
                <a:latin typeface="华文仿宋" panose="02010600040101010101" pitchFamily="2" charset="-122"/>
                <a:ea typeface="华文仿宋" panose="02010600040101010101" pitchFamily="2" charset="-122"/>
                <a:sym typeface="+mn-ea"/>
              </a:rPr>
              <a:t>对注册描述符的操作</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int fd	</a:t>
            </a:r>
            <a:r>
              <a:rPr lang="zh-CN" altLang="en-US" sz="1800" b="1" strike="noStrike" noProof="1" dirty="0">
                <a:latin typeface="华文仿宋" panose="02010600040101010101" pitchFamily="2" charset="-122"/>
                <a:ea typeface="华文仿宋" panose="02010600040101010101" pitchFamily="2" charset="-122"/>
                <a:sym typeface="+mn-ea"/>
              </a:rPr>
              <a:t>被注册的描述符</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epoll_event *event	</a:t>
            </a:r>
            <a:r>
              <a:rPr lang="zh-CN" altLang="en-US" sz="1800" b="1" strike="noStrike" noProof="1" dirty="0">
                <a:latin typeface="华文仿宋" panose="02010600040101010101" pitchFamily="2" charset="-122"/>
                <a:ea typeface="华文仿宋" panose="02010600040101010101" pitchFamily="2" charset="-122"/>
                <a:sym typeface="+mn-ea"/>
              </a:rPr>
              <a:t>指定注册描述符的事件</a:t>
            </a:r>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r>
              <a:rPr lang="en-US" altLang="zh-CN" sz="1800" b="1" strike="noStrike" noProof="0" dirty="0" smtClean="0">
                <a:ln>
                  <a:noFill/>
                </a:ln>
                <a:solidFill>
                  <a:schemeClr val="tx1"/>
                </a:solidFill>
                <a:effectLst/>
                <a:uLnTx/>
                <a:uFillTx/>
                <a:latin typeface="华文仿宋" panose="02010600040101010101" pitchFamily="2" charset="-122"/>
                <a:ea typeface="华文仿宋" panose="02010600040101010101" pitchFamily="2" charset="-122"/>
                <a:sym typeface="+mn-ea"/>
              </a:rPr>
              <a:t>op	</a:t>
            </a:r>
            <a:r>
              <a:rPr lang="zh-CN" altLang="en-US" sz="1800" b="1" strike="noStrike" noProof="0" dirty="0" smtClean="0">
                <a:ln>
                  <a:noFill/>
                </a:ln>
                <a:solidFill>
                  <a:schemeClr val="tx1"/>
                </a:solidFill>
                <a:effectLst/>
                <a:uLnTx/>
                <a:uFillTx/>
                <a:latin typeface="华文仿宋" panose="02010600040101010101" pitchFamily="2" charset="-122"/>
                <a:ea typeface="华文仿宋" panose="02010600040101010101" pitchFamily="2" charset="-122"/>
                <a:sym typeface="+mn-ea"/>
              </a:rPr>
              <a:t>取值范围</a:t>
            </a:r>
            <a:r>
              <a:rPr lang="en-US" altLang="zh-CN" sz="1800" b="1" strike="noStrike" noProof="0" dirty="0" smtClean="0">
                <a:ln>
                  <a:noFill/>
                </a:ln>
                <a:solidFill>
                  <a:schemeClr val="tx1"/>
                </a:solidFill>
                <a:effectLst/>
                <a:uLnTx/>
                <a:uFillTx/>
                <a:latin typeface="华文仿宋" panose="02010600040101010101" pitchFamily="2" charset="-122"/>
                <a:ea typeface="华文仿宋" panose="02010600040101010101" pitchFamily="2" charset="-122"/>
                <a:sym typeface="+mn-ea"/>
              </a:rPr>
              <a:t>&amp;</a:t>
            </a:r>
            <a:r>
              <a:rPr lang="zh-CN" altLang="en-US" sz="1800" b="1" strike="noStrike" noProof="0" dirty="0" smtClean="0">
                <a:ln>
                  <a:noFill/>
                </a:ln>
                <a:solidFill>
                  <a:schemeClr val="tx1"/>
                </a:solidFill>
                <a:effectLst/>
                <a:uLnTx/>
                <a:uFillTx/>
                <a:latin typeface="华文仿宋" panose="02010600040101010101" pitchFamily="2" charset="-122"/>
                <a:ea typeface="华文仿宋" panose="02010600040101010101" pitchFamily="2" charset="-122"/>
                <a:sym typeface="+mn-ea"/>
              </a:rPr>
              <a:t>含义</a:t>
            </a:r>
            <a:endParaRPr lang="zh-CN" altLang="en-US" sz="1800" b="1" strike="noStrike" noProof="0" dirty="0" smtClean="0">
              <a:ln>
                <a:noFill/>
              </a:ln>
              <a:solidFill>
                <a:schemeClr val="tx1"/>
              </a:solidFill>
              <a:effectLst/>
              <a:uLnTx/>
              <a:uFillTx/>
              <a:latin typeface="华文仿宋" panose="02010600040101010101" pitchFamily="2" charset="-122"/>
              <a:ea typeface="华文仿宋" panose="02010600040101010101" pitchFamily="2" charset="-122"/>
              <a:sym typeface="+mn-ea"/>
            </a:endParaRPr>
          </a:p>
          <a:p>
            <a:pPr lvl="1" eaLnBrk="1" fontAlgn="base" hangingPunct="1"/>
            <a:r>
              <a:rPr lang="en-US" altLang="zh-CN" sz="1575" b="1" strike="noStrike" noProof="0" dirty="0" smtClean="0">
                <a:ln>
                  <a:noFill/>
                </a:ln>
                <a:effectLst/>
                <a:uLnTx/>
                <a:uFillTx/>
                <a:latin typeface="华文仿宋" panose="02010600040101010101" pitchFamily="2" charset="-122"/>
                <a:ea typeface="华文仿宋" panose="02010600040101010101" pitchFamily="2" charset="-122"/>
                <a:sym typeface="+mn-ea"/>
              </a:rPr>
              <a:t>EPOLL_CTL_ADD </a:t>
            </a:r>
            <a:r>
              <a:rPr lang="zh-CN" altLang="en-US" sz="1575" b="1" strike="noStrike" noProof="0" dirty="0" smtClean="0">
                <a:ln>
                  <a:noFill/>
                </a:ln>
                <a:effectLst/>
                <a:uLnTx/>
                <a:uFillTx/>
                <a:latin typeface="华文仿宋" panose="02010600040101010101" pitchFamily="2" charset="-122"/>
                <a:ea typeface="华文仿宋" panose="02010600040101010101" pitchFamily="2" charset="-122"/>
                <a:sym typeface="+mn-ea"/>
              </a:rPr>
              <a:t>向</a:t>
            </a:r>
            <a:r>
              <a:rPr lang="en-US" altLang="zh-CN" sz="1575" b="1" strike="noStrike" noProof="0" dirty="0" err="1" smtClean="0">
                <a:ln>
                  <a:noFill/>
                </a:ln>
                <a:effectLst/>
                <a:uLnTx/>
                <a:uFillTx/>
                <a:latin typeface="华文仿宋" panose="02010600040101010101" pitchFamily="2" charset="-122"/>
                <a:ea typeface="华文仿宋" panose="02010600040101010101" pitchFamily="2" charset="-122"/>
                <a:sym typeface="+mn-ea"/>
              </a:rPr>
              <a:t>epoll</a:t>
            </a:r>
            <a:r>
              <a:rPr lang="zh-CN" altLang="en-US" sz="1575" b="1" strike="noStrike" noProof="0" dirty="0" smtClean="0">
                <a:ln>
                  <a:noFill/>
                </a:ln>
                <a:effectLst/>
                <a:uLnTx/>
                <a:uFillTx/>
                <a:latin typeface="华文仿宋" panose="02010600040101010101" pitchFamily="2" charset="-122"/>
                <a:ea typeface="华文仿宋" panose="02010600040101010101" pitchFamily="2" charset="-122"/>
                <a:sym typeface="+mn-ea"/>
              </a:rPr>
              <a:t>注册，同时指定</a:t>
            </a:r>
            <a:r>
              <a:rPr lang="en-US" altLang="zh-CN" sz="1575" b="1" strike="noStrike" noProof="0" dirty="0" smtClean="0">
                <a:ln>
                  <a:noFill/>
                </a:ln>
                <a:effectLst/>
                <a:uLnTx/>
                <a:uFillTx/>
                <a:latin typeface="华文仿宋" panose="02010600040101010101" pitchFamily="2" charset="-122"/>
                <a:ea typeface="华文仿宋" panose="02010600040101010101" pitchFamily="2" charset="-122"/>
                <a:sym typeface="+mn-ea"/>
              </a:rPr>
              <a:t>events</a:t>
            </a:r>
            <a:endParaRPr lang="en-US" altLang="zh-CN" sz="1575"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1" eaLnBrk="1" fontAlgn="base" hangingPunct="1"/>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EPOLL_CTL_MOD </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修改注册描述符的事件</a:t>
            </a: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1" eaLnBrk="1" fontAlgn="base" hangingPunct="1"/>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EPOLL_CTL_DEL </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删除 一个注册的描述符</a:t>
            </a:r>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47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r>
              <a:rPr lang="en-US" altLang="zh-CN" sz="1800" b="1" strike="noStrike" noProof="1" dirty="0">
                <a:latin typeface="华文仿宋" panose="02010600040101010101" pitchFamily="2" charset="-122"/>
                <a:ea typeface="华文仿宋" panose="02010600040101010101" pitchFamily="2" charset="-122"/>
                <a:sym typeface="+mn-ea"/>
              </a:rPr>
              <a:t>epoll_ctl </a:t>
            </a:r>
            <a:r>
              <a:rPr lang="zh-CN" altLang="en-US" sz="1800" b="1" strike="noStrike" noProof="1" dirty="0">
                <a:latin typeface="华文仿宋" panose="02010600040101010101" pitchFamily="2" charset="-122"/>
                <a:ea typeface="华文仿宋" panose="02010600040101010101" pitchFamily="2" charset="-122"/>
                <a:sym typeface="+mn-ea"/>
              </a:rPr>
              <a:t>参数说明</a:t>
            </a:r>
            <a:endParaRPr lang="zh-CN" altLang="en-US" sz="1800" b="1" strike="noStrike" noProof="1" dirty="0">
              <a:latin typeface="华文仿宋" panose="02010600040101010101" pitchFamily="2" charset="-122"/>
              <a:ea typeface="华文仿宋" panose="02010600040101010101" pitchFamily="2" charset="-122"/>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b="1" strike="noStrike" noProof="0" dirty="0" err="1"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epoll_event</a:t>
            </a:r>
            <a:r>
              <a:rPr lang="en-US" altLang="zh-CN" sz="1800" b="1" strike="noStrike"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 </a:t>
            </a:r>
            <a:r>
              <a:rPr lang="zh-CN" altLang="en-US" sz="1800" b="1" strike="noStrike"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结构体定义</a:t>
            </a:r>
            <a:endParaRPr kumimoji="0" lang="en-US" altLang="zh-CN" sz="1800" b="1" i="0" u="none" strike="noStrike" kern="1200" cap="none" spc="0" normalizeH="0" baseline="0"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typedef</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union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epoll_data</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void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ptr</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solidFill>
                  <a:srgbClr val="FF0000"/>
                </a:solidFill>
                <a:effectLst/>
                <a:uLnTx/>
                <a:uFillTx/>
                <a:latin typeface="华文仿宋" panose="02010600040101010101" pitchFamily="2" charset="-122"/>
                <a:ea typeface="华文仿宋" panose="02010600040101010101" pitchFamily="2" charset="-122"/>
                <a:sym typeface="+mn-ea"/>
              </a:rPr>
              <a:t>int</a:t>
            </a:r>
            <a:r>
              <a:rPr lang="en-US" altLang="zh-CN" sz="1800"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solidFill>
                  <a:srgbClr val="FF0000"/>
                </a:solidFill>
                <a:effectLst/>
                <a:uLnTx/>
                <a:uFillTx/>
                <a:latin typeface="华文仿宋" panose="02010600040101010101" pitchFamily="2" charset="-122"/>
                <a:ea typeface="华文仿宋" panose="02010600040101010101" pitchFamily="2" charset="-122"/>
                <a:sym typeface="+mn-ea"/>
              </a:rPr>
              <a:t>fd</a:t>
            </a:r>
            <a:r>
              <a:rPr lang="en-US" altLang="zh-CN" sz="1800"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a:t>
            </a:r>
            <a:endParaRPr kumimoji="0" lang="en-US" altLang="zh-CN" sz="1800" b="0" i="0" u="none" strike="noStrike" kern="120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__uint32_t   u32;</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__uint64_t   u64;</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epoll_data_t</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struct</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epoll_event</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__uint32_t   events;      </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Epoll</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events */</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en-US" altLang="zh-CN" sz="1800" strike="noStrike" noProof="0" dirty="0" err="1" smtClean="0">
                <a:ln>
                  <a:noFill/>
                </a:ln>
                <a:effectLst/>
                <a:uLnTx/>
                <a:uFillTx/>
                <a:latin typeface="华文仿宋" panose="02010600040101010101" pitchFamily="2" charset="-122"/>
                <a:ea typeface="华文仿宋" panose="02010600040101010101" pitchFamily="2" charset="-122"/>
                <a:sym typeface="+mn-ea"/>
              </a:rPr>
              <a:t>epoll_data_t</a:t>
            </a: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 data;        /* User data variable */</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lang="en-US" altLang="zh-CN" sz="1800" strike="noStrike" noProof="0" dirty="0" smtClean="0">
                <a:ln>
                  <a:noFill/>
                </a:ln>
                <a:effectLst/>
                <a:uLnTx/>
                <a:uFillTx/>
                <a:latin typeface="华文仿宋" panose="02010600040101010101" pitchFamily="2" charset="-122"/>
                <a:ea typeface="华文仿宋" panose="02010600040101010101" pitchFamily="2" charset="-122"/>
                <a:sym typeface="+mn-ea"/>
              </a:rPr>
              <a:t>};</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57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r>
              <a:rPr lang="en-US" altLang="zh-CN" sz="1800" b="1" strike="noStrike" noProof="1" dirty="0">
                <a:latin typeface="华文仿宋" panose="02010600040101010101" pitchFamily="2" charset="-122"/>
                <a:ea typeface="华文仿宋" panose="02010600040101010101" pitchFamily="2" charset="-122"/>
                <a:sym typeface="+mn-ea"/>
              </a:rPr>
              <a:t>epoll_ctl </a:t>
            </a:r>
            <a:r>
              <a:rPr lang="zh-CN" altLang="en-US" sz="1800" b="1" strike="noStrike" noProof="1" dirty="0">
                <a:latin typeface="华文仿宋" panose="02010600040101010101" pitchFamily="2" charset="-122"/>
                <a:ea typeface="华文仿宋" panose="02010600040101010101" pitchFamily="2" charset="-122"/>
                <a:sym typeface="+mn-ea"/>
              </a:rPr>
              <a:t>参数说明</a:t>
            </a:r>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err="1"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Epoll</a:t>
            </a:r>
            <a:r>
              <a:rPr lang="en-US" altLang="zh-CN" sz="1800" b="1" strike="noStrike"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 events</a:t>
            </a:r>
            <a:r>
              <a:rPr lang="zh-CN" altLang="en-US" sz="1800" b="1" strike="noStrike"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取值范围</a:t>
            </a:r>
            <a:endParaRPr kumimoji="0" lang="en-US" altLang="zh-CN" sz="1800" b="1" i="0" u="none" strike="noStrike" kern="1200" cap="none" spc="0" normalizeH="0" baseline="0" noProof="0" dirty="0" smtClean="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EPOLLIN	</a:t>
            </a:r>
            <a:r>
              <a:rPr lang="en-US" altLang="zh-CN" sz="1800" b="1" strike="noStrike" noProof="0" dirty="0" err="1">
                <a:ln>
                  <a:noFill/>
                </a:ln>
                <a:solidFill>
                  <a:srgbClr val="FF0000"/>
                </a:solidFill>
                <a:effectLst/>
                <a:uLnTx/>
                <a:uFillTx/>
                <a:latin typeface="华文仿宋" panose="02010600040101010101" pitchFamily="2" charset="-122"/>
                <a:ea typeface="华文仿宋" panose="02010600040101010101" pitchFamily="2" charset="-122"/>
                <a:sym typeface="+mn-ea"/>
              </a:rPr>
              <a:t>fd</a:t>
            </a:r>
            <a:r>
              <a:rPr lang="zh-CN" altLang="en-US" sz="1800" b="1" strike="noStrike" noProof="0" dirty="0" smtClean="0">
                <a:ln>
                  <a:noFill/>
                </a:ln>
                <a:solidFill>
                  <a:srgbClr val="FF0000"/>
                </a:solidFill>
                <a:effectLst/>
                <a:uLnTx/>
                <a:uFillTx/>
                <a:latin typeface="华文仿宋" panose="02010600040101010101" pitchFamily="2" charset="-122"/>
                <a:ea typeface="华文仿宋" panose="02010600040101010101" pitchFamily="2" charset="-122"/>
                <a:sym typeface="+mn-ea"/>
              </a:rPr>
              <a:t>可读</a:t>
            </a:r>
            <a:endParaRPr kumimoji="0" lang="en-US" altLang="zh-CN" sz="1800" b="1" i="0" u="none" strike="noStrike" kern="120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solidFill>
                  <a:srgbClr val="FF0000"/>
                </a:solidFill>
                <a:effectLst/>
                <a:uLnTx/>
                <a:uFillTx/>
                <a:latin typeface="华文仿宋" panose="02010600040101010101" pitchFamily="2" charset="-122"/>
                <a:ea typeface="华文仿宋" panose="02010600040101010101" pitchFamily="2" charset="-122"/>
                <a:sym typeface="+mn-ea"/>
              </a:rPr>
              <a:t>EPOLLOUT	</a:t>
            </a:r>
            <a:r>
              <a:rPr lang="en-US" altLang="zh-CN" sz="1800" b="1" strike="noStrike" noProof="0" dirty="0" err="1">
                <a:ln>
                  <a:noFill/>
                </a:ln>
                <a:solidFill>
                  <a:srgbClr val="FF0000"/>
                </a:solidFill>
                <a:effectLst/>
                <a:uLnTx/>
                <a:uFillTx/>
                <a:latin typeface="华文仿宋" panose="02010600040101010101" pitchFamily="2" charset="-122"/>
                <a:ea typeface="华文仿宋" panose="02010600040101010101" pitchFamily="2" charset="-122"/>
                <a:sym typeface="+mn-ea"/>
              </a:rPr>
              <a:t>fd</a:t>
            </a:r>
            <a:r>
              <a:rPr lang="zh-CN" altLang="en-US" sz="1800" b="1" strike="noStrike" noProof="0" dirty="0">
                <a:ln>
                  <a:noFill/>
                </a:ln>
                <a:solidFill>
                  <a:srgbClr val="FF0000"/>
                </a:solidFill>
                <a:effectLst/>
                <a:uLnTx/>
                <a:uFillTx/>
                <a:latin typeface="华文仿宋" panose="02010600040101010101" pitchFamily="2" charset="-122"/>
                <a:ea typeface="华文仿宋" panose="02010600040101010101" pitchFamily="2" charset="-122"/>
                <a:sym typeface="+mn-ea"/>
              </a:rPr>
              <a:t>可写</a:t>
            </a:r>
            <a:endParaRPr kumimoji="0" lang="en-US" altLang="zh-CN" sz="1800" b="1" i="0" u="none" strike="noStrike" kern="120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EPOLLRDHUP	</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 socket</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对端关闭</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socket</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或在工作过</a:t>
            </a:r>
            <a:r>
              <a:rPr lang="en-US" altLang="zh-CN" sz="1800" b="1" strike="noStrike" noProof="0" dirty="0" smtClean="0">
                <a:ln>
                  <a:noFill/>
                </a:ln>
                <a:effectLst/>
                <a:uLnTx/>
                <a:uFillTx/>
                <a:latin typeface="华文仿宋" panose="02010600040101010101" pitchFamily="2" charset="-122"/>
                <a:ea typeface="华文仿宋" panose="02010600040101010101" pitchFamily="2" charset="-122"/>
                <a:sym typeface="+mn-ea"/>
              </a:rPr>
              <a:t>			</a:t>
            </a:r>
            <a:r>
              <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rPr>
              <a:t>程中关闭</a:t>
            </a:r>
            <a:endParaRPr kumimoji="0" lang="en-US" altLang="zh-CN"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EPOLLPRI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外带数据</a:t>
            </a:r>
            <a:endParaRPr kumimoji="0" lang="en-US" altLang="zh-CN"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EPOLLERR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注册的描述符发生错误</a:t>
            </a:r>
            <a:endParaRPr kumimoji="0" lang="en-US" altLang="zh-CN"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EPOLLET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边沿触发事件</a:t>
            </a:r>
            <a:endParaRPr kumimoji="0" lang="en-US" altLang="zh-CN"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EPOLLHUP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注册的描述符关闭</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68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marL="0" indent="0" eaLnBrk="1" fontAlgn="base" hangingPunct="1">
              <a:buNone/>
            </a:pPr>
            <a:r>
              <a:rPr lang="en-US" altLang="zh-CN" sz="1800" b="1" strike="noStrike" noProof="1" dirty="0">
                <a:latin typeface="华文仿宋" panose="02010600040101010101" pitchFamily="2" charset="-122"/>
                <a:ea typeface="华文仿宋" panose="02010600040101010101" pitchFamily="2" charset="-122"/>
                <a:sym typeface="+mn-ea"/>
              </a:rPr>
              <a:t>epoll_ctl </a:t>
            </a:r>
            <a:r>
              <a:rPr lang="zh-CN" altLang="en-US" sz="1800" b="1" strike="noStrike" noProof="1" dirty="0">
                <a:latin typeface="华文仿宋" panose="02010600040101010101" pitchFamily="2" charset="-122"/>
                <a:ea typeface="华文仿宋" panose="02010600040101010101" pitchFamily="2" charset="-122"/>
                <a:sym typeface="+mn-ea"/>
              </a:rPr>
              <a:t>参数说明</a:t>
            </a:r>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lang="en-US" altLang="zh-CN" sz="1800" b="1" strike="noStrike" noProof="0" dirty="0" err="1">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Epoll</a:t>
            </a:r>
            <a:r>
              <a:rPr lang="en-US" altLang="zh-CN" sz="1800" b="1" strike="noStrike" noProof="0" dirty="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 </a:t>
            </a:r>
            <a:r>
              <a:rPr lang="zh-CN" altLang="en-US" sz="1800" b="1" strike="noStrike" noProof="0" dirty="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sym typeface="+mn-ea"/>
              </a:rPr>
              <a:t>事件工作方式</a:t>
            </a:r>
            <a:endParaRPr kumimoji="0" lang="en-US" altLang="zh-CN" sz="1800" b="1" i="0" u="none" strike="noStrike" kern="1200" cap="none" spc="0" normalizeH="0" baseline="0" noProof="0" dirty="0">
              <a:ln>
                <a:noFill/>
              </a:ln>
              <a:solidFill>
                <a:schemeClr val="accent2">
                  <a:lumMod val="60000"/>
                  <a:lumOff val="40000"/>
                </a:schemeClr>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1. 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水平触发（</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LT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）：当数据可读的时</a:t>
            </a:r>
            <a:r>
              <a:rPr lang="en-US" altLang="zh-CN" sz="1800" b="1" strike="noStrike" noProof="0" dirty="0" err="1">
                <a:ln>
                  <a:noFill/>
                </a:ln>
                <a:effectLst/>
                <a:uLnTx/>
                <a:uFillTx/>
                <a:latin typeface="华文仿宋" panose="02010600040101010101" pitchFamily="2" charset="-122"/>
                <a:ea typeface="华文仿宋" panose="02010600040101010101" pitchFamily="2" charset="-122"/>
                <a:sym typeface="+mn-ea"/>
              </a:rPr>
              <a:t>epoll_wait</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会一直返回就绪事件。如果你没有处理完全部数据，并且调用</a:t>
            </a:r>
            <a:r>
              <a:rPr lang="en-US" altLang="zh-CN" sz="1800" b="1" strike="noStrike" noProof="0" dirty="0" err="1">
                <a:ln>
                  <a:noFill/>
                </a:ln>
                <a:effectLst/>
                <a:uLnTx/>
                <a:uFillTx/>
                <a:latin typeface="华文仿宋" panose="02010600040101010101" pitchFamily="2" charset="-122"/>
                <a:ea typeface="华文仿宋" panose="02010600040101010101" pitchFamily="2" charset="-122"/>
                <a:sym typeface="+mn-ea"/>
              </a:rPr>
              <a:t>epoll_wait</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 时，它将会再次返回就绪事件，因为有数据可读。支持非阻塞和阻塞</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socket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LT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模式为默认模式。</a:t>
            </a:r>
            <a:endParaRPr kumimoji="0" lang="zh-CN" altLang="en-US"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2. </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边缘触发（</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ET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）：只能获取一次就绪通知，如果没有处理完全部数据，再次调用</a:t>
            </a:r>
            <a:r>
              <a:rPr lang="en-US" altLang="zh-CN" sz="1800" b="1" strike="noStrike" noProof="0" dirty="0" err="1">
                <a:ln>
                  <a:noFill/>
                </a:ln>
                <a:effectLst/>
                <a:uLnTx/>
                <a:uFillTx/>
                <a:latin typeface="华文仿宋" panose="02010600040101010101" pitchFamily="2" charset="-122"/>
                <a:ea typeface="华文仿宋" panose="02010600040101010101" pitchFamily="2" charset="-122"/>
                <a:sym typeface="+mn-ea"/>
              </a:rPr>
              <a:t>epoll_wait</a:t>
            </a:r>
            <a:r>
              <a:rPr lang="en-US" altLang="zh-CN" sz="1800" b="1" strike="noStrike" noProof="0" dirty="0">
                <a:ln>
                  <a:noFill/>
                </a:ln>
                <a:effectLst/>
                <a:uLnTx/>
                <a:uFillTx/>
                <a:latin typeface="华文仿宋" panose="02010600040101010101" pitchFamily="2" charset="-122"/>
                <a:ea typeface="华文仿宋" panose="02010600040101010101" pitchFamily="2" charset="-122"/>
                <a:sym typeface="+mn-ea"/>
              </a:rPr>
              <a:t>()</a:t>
            </a:r>
            <a:r>
              <a:rPr lang="zh-CN" altLang="en-US" sz="1800" b="1" strike="noStrike" noProof="0" dirty="0">
                <a:ln>
                  <a:noFill/>
                </a:ln>
                <a:effectLst/>
                <a:uLnTx/>
                <a:uFillTx/>
                <a:latin typeface="华文仿宋" panose="02010600040101010101" pitchFamily="2" charset="-122"/>
                <a:ea typeface="华文仿宋" panose="02010600040101010101" pitchFamily="2" charset="-122"/>
                <a:sym typeface="+mn-ea"/>
              </a:rPr>
              <a:t>时，不会再次上报就绪事件，只支持非阻塞模式。</a:t>
            </a:r>
            <a:endParaRPr kumimoji="0" lang="en-US" altLang="zh-CN" sz="1800" b="1" i="0" u="none" strike="noStrike" kern="120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lang="zh-CN" altLang="en-US" sz="1800" b="1" strike="noStrike" noProof="0" dirty="0">
                <a:ln>
                  <a:noFill/>
                </a:ln>
                <a:solidFill>
                  <a:srgbClr val="FF0000"/>
                </a:solidFill>
                <a:effectLst/>
                <a:uLnTx/>
                <a:uFillTx/>
                <a:latin typeface="华文仿宋" panose="02010600040101010101" pitchFamily="2" charset="-122"/>
                <a:ea typeface="华文仿宋" panose="02010600040101010101" pitchFamily="2" charset="-122"/>
                <a:sym typeface="+mn-ea"/>
              </a:rPr>
              <a:t>使用</a:t>
            </a:r>
            <a:r>
              <a:rPr lang="en-US" altLang="zh-CN" sz="1800" b="1" strike="noStrike" noProof="0" dirty="0">
                <a:ln>
                  <a:noFill/>
                </a:ln>
                <a:solidFill>
                  <a:srgbClr val="FF0000"/>
                </a:solidFill>
                <a:effectLst/>
                <a:uLnTx/>
                <a:uFillTx/>
                <a:latin typeface="华文仿宋" panose="02010600040101010101" pitchFamily="2" charset="-122"/>
                <a:ea typeface="华文仿宋" panose="02010600040101010101" pitchFamily="2" charset="-122"/>
                <a:sym typeface="+mn-ea"/>
              </a:rPr>
              <a:t>ET</a:t>
            </a:r>
            <a:r>
              <a:rPr lang="zh-CN" altLang="en-US" sz="1800" b="1" strike="noStrike" noProof="0" dirty="0">
                <a:ln>
                  <a:noFill/>
                </a:ln>
                <a:solidFill>
                  <a:srgbClr val="FF0000"/>
                </a:solidFill>
                <a:effectLst/>
                <a:uLnTx/>
                <a:uFillTx/>
                <a:latin typeface="华文仿宋" panose="02010600040101010101" pitchFamily="2" charset="-122"/>
                <a:ea typeface="华文仿宋" panose="02010600040101010101" pitchFamily="2" charset="-122"/>
                <a:sym typeface="+mn-ea"/>
              </a:rPr>
              <a:t>模式需要注意，要将上报事件一次处理干净。</a:t>
            </a:r>
            <a:endParaRPr kumimoji="0" lang="en-US" altLang="zh-CN" sz="1800" b="0" i="0" u="none" strike="noStrike" kern="120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cs typeface="+mn-cs"/>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78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int epoll_wait(int epfd, struct epoll_event *events, int maxevents, </a:t>
            </a:r>
            <a:r>
              <a:rPr lang="en-US" altLang="zh-CN" sz="1800" b="1" strike="noStrike" noProof="1" dirty="0">
                <a:solidFill>
                  <a:srgbClr val="FF0000"/>
                </a:solidFill>
                <a:latin typeface="华文仿宋" panose="02010600040101010101" pitchFamily="2" charset="-122"/>
                <a:ea typeface="华文仿宋" panose="02010600040101010101" pitchFamily="2" charset="-122"/>
                <a:sym typeface="+mn-ea"/>
              </a:rPr>
              <a:t>int timeout</a:t>
            </a:r>
            <a:r>
              <a:rPr lang="en-US" altLang="zh-CN" sz="1800" b="1" strike="noStrike" noProof="1" dirty="0">
                <a:latin typeface="华文仿宋" panose="02010600040101010101" pitchFamily="2" charset="-122"/>
                <a:ea typeface="华文仿宋" panose="02010600040101010101" pitchFamily="2" charset="-122"/>
                <a:sym typeface="+mn-ea"/>
              </a:rPr>
              <a:t>);</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头文件：</a:t>
            </a:r>
            <a:r>
              <a:rPr lang="en-US" altLang="zh-CN" sz="1800" b="1" strike="noStrike" noProof="1" dirty="0">
                <a:latin typeface="华文仿宋" panose="02010600040101010101" pitchFamily="2" charset="-122"/>
                <a:ea typeface="华文仿宋" panose="02010600040101010101" pitchFamily="2" charset="-122"/>
                <a:sym typeface="+mn-ea"/>
              </a:rPr>
              <a:t>#include &lt;sys/epoll.h&gt;</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说明：将</a:t>
            </a:r>
            <a:r>
              <a:rPr lang="en-US" altLang="zh-CN" sz="1800" strike="noStrike" noProof="1" dirty="0">
                <a:sym typeface="+mn-ea"/>
              </a:rPr>
              <a:t>epoll</a:t>
            </a:r>
            <a:r>
              <a:rPr lang="zh-CN" altLang="en-US" sz="1800" strike="noStrike" noProof="1" dirty="0">
                <a:sym typeface="+mn-ea"/>
              </a:rPr>
              <a:t>监控的事件中已经发送的事件拷贝到</a:t>
            </a:r>
            <a:r>
              <a:rPr lang="en-US" altLang="zh-CN" sz="1800" strike="noStrike" noProof="1" dirty="0">
                <a:sym typeface="+mn-ea"/>
              </a:rPr>
              <a:t>events</a:t>
            </a:r>
            <a:r>
              <a:rPr lang="zh-CN" altLang="en-US" sz="1800" strike="noStrike" noProof="1" dirty="0">
                <a:sym typeface="+mn-ea"/>
              </a:rPr>
              <a:t>数组中</a:t>
            </a:r>
            <a:endParaRPr lang="en-US" altLang="zh-CN" sz="1800" strike="noStrike" noProof="1" dirty="0"/>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返回值：成功返回事件个数，失败返回</a:t>
            </a:r>
            <a:r>
              <a:rPr lang="en-US" altLang="zh-CN" sz="1800" b="1" strike="noStrike" noProof="1" dirty="0">
                <a:latin typeface="华文仿宋" panose="02010600040101010101" pitchFamily="2" charset="-122"/>
                <a:ea typeface="华文仿宋" panose="02010600040101010101" pitchFamily="2" charset="-122"/>
                <a:sym typeface="+mn-ea"/>
              </a:rPr>
              <a:t>-1</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epfd   	epoll</a:t>
            </a:r>
            <a:r>
              <a:rPr lang="zh-CN" altLang="en-US" sz="1800" b="1" strike="noStrike" noProof="1" dirty="0">
                <a:latin typeface="华文仿宋" panose="02010600040101010101" pitchFamily="2" charset="-122"/>
                <a:ea typeface="华文仿宋" panose="02010600040101010101" pitchFamily="2" charset="-122"/>
                <a:sym typeface="+mn-ea"/>
              </a:rPr>
              <a:t>文件描述符</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Events	</a:t>
            </a:r>
            <a:r>
              <a:rPr lang="zh-CN" altLang="en-US" sz="1800" b="1" strike="noStrike" noProof="1" dirty="0">
                <a:latin typeface="华文仿宋" panose="02010600040101010101" pitchFamily="2" charset="-122"/>
                <a:ea typeface="华文仿宋" panose="02010600040101010101" pitchFamily="2" charset="-122"/>
                <a:sym typeface="+mn-ea"/>
              </a:rPr>
              <a:t>内核将</a:t>
            </a:r>
            <a:r>
              <a:rPr lang="en-US" altLang="zh-CN" sz="1800" b="1" strike="noStrike" noProof="1" dirty="0">
                <a:latin typeface="华文仿宋" panose="02010600040101010101" pitchFamily="2" charset="-122"/>
                <a:ea typeface="华文仿宋" panose="02010600040101010101" pitchFamily="2" charset="-122"/>
                <a:sym typeface="+mn-ea"/>
              </a:rPr>
              <a:t>epoll</a:t>
            </a:r>
            <a:r>
              <a:rPr lang="zh-CN" altLang="en-US" sz="1800" b="1" strike="noStrike" noProof="1" dirty="0">
                <a:latin typeface="华文仿宋" panose="02010600040101010101" pitchFamily="2" charset="-122"/>
                <a:ea typeface="华文仿宋" panose="02010600040101010101" pitchFamily="2" charset="-122"/>
                <a:sym typeface="+mn-ea"/>
              </a:rPr>
              <a:t>注册的描述符上报的事件拷贝到此数组中</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Maxevents Events</a:t>
            </a:r>
            <a:r>
              <a:rPr lang="zh-CN" altLang="en-US" sz="1800" b="1" strike="noStrike" noProof="1" dirty="0">
                <a:latin typeface="华文仿宋" panose="02010600040101010101" pitchFamily="2" charset="-122"/>
                <a:ea typeface="华文仿宋" panose="02010600040101010101" pitchFamily="2" charset="-122"/>
                <a:sym typeface="+mn-ea"/>
              </a:rPr>
              <a:t>数组的大小</a:t>
            </a:r>
            <a:endParaRPr lang="en-US" altLang="zh-CN" sz="1800" b="1" strike="noStrike" noProof="1" dirty="0">
              <a:latin typeface="华文仿宋" panose="02010600040101010101" pitchFamily="2" charset="-122"/>
              <a:ea typeface="华文仿宋" panose="02010600040101010101" pitchFamily="2" charset="-122"/>
            </a:endParaRPr>
          </a:p>
          <a:p>
            <a:pPr eaLnBrk="1" fontAlgn="base" hangingPunct="1"/>
            <a:r>
              <a:rPr lang="en-US" altLang="zh-CN" sz="1800" b="1" strike="noStrike" noProof="1" dirty="0">
                <a:latin typeface="华文仿宋" panose="02010600040101010101" pitchFamily="2" charset="-122"/>
                <a:ea typeface="华文仿宋" panose="02010600040101010101" pitchFamily="2" charset="-122"/>
                <a:sym typeface="+mn-ea"/>
              </a:rPr>
              <a:t>Timeout 	 </a:t>
            </a:r>
            <a:r>
              <a:rPr lang="zh-CN" altLang="en-US" sz="1800" b="1" strike="noStrike" noProof="1" dirty="0">
                <a:latin typeface="华文仿宋" panose="02010600040101010101" pitchFamily="2" charset="-122"/>
                <a:ea typeface="华文仿宋" panose="02010600040101010101" pitchFamily="2" charset="-122"/>
                <a:sym typeface="+mn-ea"/>
              </a:rPr>
              <a:t>调用</a:t>
            </a:r>
            <a:r>
              <a:rPr lang="en-US" altLang="zh-CN" sz="1800" b="1" strike="noStrike" noProof="1" dirty="0">
                <a:latin typeface="华文仿宋" panose="02010600040101010101" pitchFamily="2" charset="-122"/>
                <a:ea typeface="华文仿宋" panose="02010600040101010101" pitchFamily="2" charset="-122"/>
                <a:sym typeface="+mn-ea"/>
              </a:rPr>
              <a:t>epoll_wait</a:t>
            </a:r>
            <a:r>
              <a:rPr lang="zh-CN" altLang="en-US" sz="1800" b="1" strike="noStrike" noProof="1" dirty="0">
                <a:latin typeface="华文仿宋" panose="02010600040101010101" pitchFamily="2" charset="-122"/>
                <a:ea typeface="华文仿宋" panose="02010600040101010101" pitchFamily="2" charset="-122"/>
                <a:sym typeface="+mn-ea"/>
              </a:rPr>
              <a:t>的超时时间，超时时间为</a:t>
            </a:r>
            <a:r>
              <a:rPr lang="en-US" altLang="zh-CN" sz="1800" b="1" strike="noStrike" noProof="1" dirty="0">
                <a:latin typeface="华文仿宋" panose="02010600040101010101" pitchFamily="2" charset="-122"/>
                <a:ea typeface="华文仿宋" panose="02010600040101010101" pitchFamily="2" charset="-122"/>
                <a:sym typeface="+mn-ea"/>
              </a:rPr>
              <a:t>0</a:t>
            </a:r>
            <a:r>
              <a:rPr lang="zh-CN" altLang="en-US" sz="1800" b="1" strike="noStrike" noProof="1" dirty="0">
                <a:latin typeface="华文仿宋" panose="02010600040101010101" pitchFamily="2" charset="-122"/>
                <a:ea typeface="华文仿宋" panose="02010600040101010101" pitchFamily="2" charset="-122"/>
                <a:sym typeface="+mn-ea"/>
              </a:rPr>
              <a:t>则立即返回，</a:t>
            </a:r>
            <a:r>
              <a:rPr lang="en-US" altLang="zh-CN" sz="1800" b="1" strike="noStrike" noProof="1" dirty="0">
                <a:latin typeface="华文仿宋" panose="02010600040101010101" pitchFamily="2" charset="-122"/>
                <a:ea typeface="华文仿宋" panose="02010600040101010101" pitchFamily="2" charset="-122"/>
                <a:sym typeface="+mn-ea"/>
              </a:rPr>
              <a:t>		</a:t>
            </a:r>
            <a:r>
              <a:rPr lang="zh-CN" altLang="en-US" sz="1800" b="1" strike="noStrike" noProof="1" dirty="0">
                <a:latin typeface="华文仿宋" panose="02010600040101010101" pitchFamily="2" charset="-122"/>
                <a:ea typeface="华文仿宋" panose="02010600040101010101" pitchFamily="2" charset="-122"/>
                <a:sym typeface="+mn-ea"/>
              </a:rPr>
              <a:t>负数未知</a:t>
            </a:r>
            <a:endParaRPr lang="zh-CN" altLang="en-US" sz="1800" b="1" strike="noStrike" noProof="1" dirty="0">
              <a:latin typeface="华文仿宋" panose="02010600040101010101" pitchFamily="2" charset="-122"/>
              <a:ea typeface="华文仿宋" panose="02010600040101010101" pitchFamily="2" charset="-122"/>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788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epoll</a:t>
            </a:r>
            <a:endPar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solidFill>
                <a:srgbClr val="FF0000"/>
              </a:solidFill>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solidFill>
                  <a:srgbClr val="FF0000"/>
                </a:solidFill>
                <a:latin typeface="宋体" panose="02010600030101010101" pitchFamily="2" charset="-122"/>
                <a:sym typeface="宋体" panose="02010600030101010101" pitchFamily="2" charset="-122"/>
              </a:rPr>
              <a:t>超时</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798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套接字属性设置</a:t>
            </a:r>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r>
              <a:rPr lang="en-US" altLang="zh-CN" sz="1800" b="1" strike="noStrike" noProof="1" dirty="0">
                <a:solidFill>
                  <a:srgbClr val="FF0000"/>
                </a:solidFill>
                <a:latin typeface="华文仿宋" panose="02010600040101010101" pitchFamily="2" charset="-122"/>
                <a:ea typeface="华文仿宋" panose="02010600040101010101" pitchFamily="2" charset="-122"/>
                <a:sym typeface="+mn-ea"/>
              </a:rPr>
              <a:t>select</a:t>
            </a:r>
            <a:r>
              <a:rPr lang="zh-CN" altLang="en-US" sz="1800" b="1" strike="noStrike" noProof="1" dirty="0">
                <a:solidFill>
                  <a:srgbClr val="FF0000"/>
                </a:solidFill>
                <a:latin typeface="华文仿宋" panose="02010600040101010101" pitchFamily="2" charset="-122"/>
                <a:ea typeface="华文仿宋" panose="02010600040101010101" pitchFamily="2" charset="-122"/>
                <a:sym typeface="+mn-ea"/>
              </a:rPr>
              <a:t>超时  </a:t>
            </a:r>
            <a:r>
              <a:rPr lang="en-US" altLang="zh-CN" sz="1800" b="1" strike="noStrike" noProof="1" dirty="0">
                <a:solidFill>
                  <a:srgbClr val="FF0000"/>
                </a:solidFill>
                <a:latin typeface="华文仿宋" panose="02010600040101010101" pitchFamily="2" charset="-122"/>
                <a:ea typeface="华文仿宋" panose="02010600040101010101" pitchFamily="2" charset="-122"/>
                <a:sym typeface="+mn-ea"/>
              </a:rPr>
              <a:t>**</a:t>
            </a:r>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接收超时</a:t>
            </a:r>
            <a:endParaRPr lang="zh-CN" altLang="en-US" sz="1800" b="1" strike="noStrike" noProof="1" dirty="0">
              <a:latin typeface="华文仿宋" panose="02010600040101010101" pitchFamily="2" charset="-122"/>
              <a:ea typeface="华文仿宋" panose="02010600040101010101" pitchFamily="2" charset="-122"/>
              <a:sym typeface="+mn-ea"/>
            </a:endParaRPr>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定时器超时  </a:t>
            </a:r>
            <a:endParaRPr lang="en-US" altLang="zh-CN"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08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超时</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lnSpc>
                <a:spcPct val="90000"/>
              </a:lnSpc>
            </a:pPr>
            <a:r>
              <a:rPr lang="en-US" altLang="zh-CN" sz="1800" strike="noStrike" noProof="1" dirty="0">
                <a:sym typeface="+mn-ea"/>
              </a:rPr>
              <a:t>getsockopt</a:t>
            </a:r>
            <a:r>
              <a:rPr lang="zh-CN" altLang="en-US" sz="1800" strike="noStrike" noProof="1" dirty="0">
                <a:sym typeface="+mn-ea"/>
              </a:rPr>
              <a:t>和</a:t>
            </a:r>
            <a:r>
              <a:rPr lang="en-US" altLang="zh-CN" sz="1800" strike="noStrike" noProof="1" dirty="0">
                <a:sym typeface="+mn-ea"/>
              </a:rPr>
              <a:t>setsockopt</a:t>
            </a:r>
            <a:r>
              <a:rPr lang="zh-CN" altLang="en-US" sz="1800" strike="noStrike" noProof="1" dirty="0">
                <a:sym typeface="+mn-ea"/>
              </a:rPr>
              <a:t>　</a:t>
            </a:r>
            <a:endParaRPr lang="zh-CN" altLang="en-US" sz="1800" strike="noStrike" noProof="1" dirty="0"/>
          </a:p>
          <a:p>
            <a:pPr eaLnBrk="1" fontAlgn="base" hangingPunct="1">
              <a:lnSpc>
                <a:spcPct val="90000"/>
              </a:lnSpc>
            </a:pPr>
            <a:endParaRPr lang="zh-CN" altLang="en-US" sz="1800" strike="noStrike" noProof="1" dirty="0"/>
          </a:p>
          <a:p>
            <a:pPr eaLnBrk="1" fontAlgn="base" hangingPunct="1">
              <a:lnSpc>
                <a:spcPct val="90000"/>
              </a:lnSpc>
            </a:pPr>
            <a:r>
              <a:rPr lang="en-US" altLang="zh-CN" sz="1800" strike="noStrike" noProof="1" dirty="0">
                <a:sym typeface="+mn-ea"/>
              </a:rPr>
              <a:t>int getsockopt(int sockfd,int level,int optname,void *optval,socklen_t *optlen)</a:t>
            </a:r>
            <a:endParaRPr lang="en-US" altLang="zh-CN" sz="1800" strike="noStrike" noProof="1" dirty="0"/>
          </a:p>
          <a:p>
            <a:pPr eaLnBrk="1" fontAlgn="base" hangingPunct="1">
              <a:lnSpc>
                <a:spcPct val="90000"/>
              </a:lnSpc>
            </a:pPr>
            <a:r>
              <a:rPr lang="en-US" altLang="zh-CN" sz="1800" strike="noStrike" noProof="1" dirty="0">
                <a:sym typeface="+mn-ea"/>
              </a:rPr>
              <a:t>int setsockopt(int sockfd,int level,int optname,const void *optval,socklen_t *optlen)</a:t>
            </a:r>
            <a:endParaRPr lang="en-US" altLang="zh-CN" sz="1800" strike="noStrike" noProof="1" dirty="0"/>
          </a:p>
          <a:p>
            <a:pPr eaLnBrk="1" fontAlgn="base" hangingPunct="1">
              <a:lnSpc>
                <a:spcPct val="90000"/>
              </a:lnSpc>
            </a:pPr>
            <a:endParaRPr lang="en-US" altLang="zh-CN" sz="1800" strike="noStrike" noProof="1" dirty="0"/>
          </a:p>
          <a:p>
            <a:pPr lvl="1" eaLnBrk="1" fontAlgn="base" hangingPunct="1">
              <a:lnSpc>
                <a:spcPct val="90000"/>
              </a:lnSpc>
            </a:pPr>
            <a:r>
              <a:rPr lang="en-US" altLang="zh-CN" sz="1800" strike="noStrike" noProof="1" dirty="0">
                <a:sym typeface="+mn-ea"/>
              </a:rPr>
              <a:t>level</a:t>
            </a:r>
            <a:r>
              <a:rPr lang="zh-CN" altLang="en-US" sz="1800" strike="noStrike" noProof="1" dirty="0">
                <a:sym typeface="+mn-ea"/>
              </a:rPr>
              <a:t>指定控制套接字的层次</a:t>
            </a:r>
            <a:r>
              <a:rPr lang="en-US" altLang="zh-CN" sz="1800" strike="noStrike" noProof="1" dirty="0">
                <a:sym typeface="+mn-ea"/>
              </a:rPr>
              <a:t>.</a:t>
            </a:r>
            <a:r>
              <a:rPr lang="zh-CN" altLang="en-US" sz="1800" strike="noStrike" noProof="1" dirty="0">
                <a:sym typeface="+mn-ea"/>
              </a:rPr>
              <a:t>可以取三种值</a:t>
            </a:r>
            <a:r>
              <a:rPr lang="en-US" altLang="zh-CN" sz="1800" strike="noStrike" noProof="1" dirty="0">
                <a:sym typeface="+mn-ea"/>
              </a:rPr>
              <a:t>: </a:t>
            </a:r>
            <a:br>
              <a:rPr lang="en-US" altLang="zh-CN" sz="1800" dirty="0">
                <a:sym typeface="+mn-ea"/>
              </a:rPr>
            </a:br>
            <a:r>
              <a:rPr lang="en-US" altLang="zh-CN" sz="1800" strike="noStrike" noProof="1" dirty="0">
                <a:sym typeface="+mn-ea"/>
              </a:rPr>
              <a:t>1)SOL_SOCKET:</a:t>
            </a:r>
            <a:r>
              <a:rPr lang="zh-CN" altLang="en-US" sz="1800" strike="noStrike" noProof="1" dirty="0">
                <a:sym typeface="+mn-ea"/>
              </a:rPr>
              <a:t>通用套接字选项</a:t>
            </a:r>
            <a:r>
              <a:rPr lang="en-US" altLang="zh-CN" sz="1800" strike="noStrike" noProof="1" dirty="0">
                <a:sym typeface="+mn-ea"/>
              </a:rPr>
              <a:t>. </a:t>
            </a:r>
            <a:br>
              <a:rPr lang="en-US" altLang="zh-CN" sz="1800" dirty="0">
                <a:sym typeface="+mn-ea"/>
              </a:rPr>
            </a:br>
            <a:r>
              <a:rPr lang="en-US" altLang="zh-CN" sz="1800" strike="noStrike" noProof="1" dirty="0">
                <a:sym typeface="+mn-ea"/>
              </a:rPr>
              <a:t>2)IPPROTO_IP:IP</a:t>
            </a:r>
            <a:r>
              <a:rPr lang="zh-CN" altLang="en-US" sz="1800" strike="noStrike" noProof="1" dirty="0">
                <a:sym typeface="+mn-ea"/>
              </a:rPr>
              <a:t>选项</a:t>
            </a:r>
            <a:r>
              <a:rPr lang="en-US" altLang="zh-CN" sz="1800" strike="noStrike" noProof="1" dirty="0">
                <a:sym typeface="+mn-ea"/>
              </a:rPr>
              <a:t>. </a:t>
            </a:r>
            <a:br>
              <a:rPr lang="en-US" altLang="zh-CN" sz="1800" dirty="0">
                <a:sym typeface="+mn-ea"/>
              </a:rPr>
            </a:br>
            <a:r>
              <a:rPr lang="en-US" altLang="zh-CN" sz="1800" strike="noStrike" noProof="1" dirty="0">
                <a:sym typeface="+mn-ea"/>
              </a:rPr>
              <a:t>3)IPPROTO_TCP:TCP</a:t>
            </a:r>
            <a:r>
              <a:rPr lang="zh-CN" altLang="en-US" sz="1800" strike="noStrike" noProof="1" dirty="0">
                <a:sym typeface="+mn-ea"/>
              </a:rPr>
              <a:t>选项</a:t>
            </a:r>
            <a:r>
              <a:rPr lang="en-US" altLang="zh-CN" sz="1800" strike="noStrike" noProof="1" dirty="0">
                <a:sym typeface="+mn-ea"/>
              </a:rPr>
              <a:t>.</a:t>
            </a:r>
            <a:r>
              <a:rPr lang="zh-CN" altLang="en-US" sz="1800" strike="noStrike" noProof="1" dirty="0">
                <a:sym typeface="+mn-ea"/>
              </a:rPr>
              <a:t>　</a:t>
            </a:r>
            <a:br>
              <a:rPr lang="zh-CN" altLang="en-US" sz="1800" dirty="0">
                <a:sym typeface="+mn-ea"/>
              </a:rPr>
            </a:br>
            <a:r>
              <a:rPr lang="en-US" altLang="zh-CN" sz="1800" strike="noStrike" noProof="1" dirty="0">
                <a:sym typeface="+mn-ea"/>
              </a:rPr>
              <a:t>optname</a:t>
            </a:r>
            <a:r>
              <a:rPr lang="zh-CN" altLang="en-US" sz="1800" strike="noStrike" noProof="1" dirty="0">
                <a:sym typeface="+mn-ea"/>
              </a:rPr>
              <a:t>指定控制的方式</a:t>
            </a:r>
            <a:r>
              <a:rPr lang="en-US" altLang="zh-CN" sz="1800" strike="noStrike" noProof="1" dirty="0">
                <a:sym typeface="+mn-ea"/>
              </a:rPr>
              <a:t>(</a:t>
            </a:r>
            <a:r>
              <a:rPr lang="zh-CN" altLang="en-US" sz="1800" strike="noStrike" noProof="1" dirty="0">
                <a:sym typeface="+mn-ea"/>
              </a:rPr>
              <a:t>选项的名称</a:t>
            </a:r>
            <a:r>
              <a:rPr lang="en-US" altLang="zh-CN" sz="1800" strike="noStrike" noProof="1" dirty="0">
                <a:sym typeface="+mn-ea"/>
              </a:rPr>
              <a:t>),</a:t>
            </a:r>
            <a:r>
              <a:rPr lang="zh-CN" altLang="en-US" sz="1800" strike="noStrike" noProof="1" dirty="0">
                <a:sym typeface="+mn-ea"/>
              </a:rPr>
              <a:t>我们下面详细解释　</a:t>
            </a:r>
            <a:endParaRPr lang="zh-CN" altLang="en-US" sz="1800" strike="noStrike" noProof="1" dirty="0"/>
          </a:p>
          <a:p>
            <a:pPr eaLnBrk="1" fontAlgn="base" hangingPunct="1">
              <a:lnSpc>
                <a:spcPct val="90000"/>
              </a:lnSpc>
            </a:pPr>
            <a:r>
              <a:rPr lang="en-US" altLang="zh-CN" sz="1800" strike="noStrike" noProof="1" dirty="0">
                <a:sym typeface="+mn-ea"/>
              </a:rPr>
              <a:t>optval</a:t>
            </a:r>
            <a:r>
              <a:rPr lang="zh-CN" altLang="en-US" sz="1800" strike="noStrike" noProof="1" dirty="0">
                <a:sym typeface="+mn-ea"/>
              </a:rPr>
              <a:t>获得或者是设置套接字选项</a:t>
            </a:r>
            <a:r>
              <a:rPr lang="en-US" altLang="zh-CN" sz="1800" strike="noStrike" noProof="1" dirty="0">
                <a:sym typeface="+mn-ea"/>
              </a:rPr>
              <a:t>.</a:t>
            </a:r>
            <a:r>
              <a:rPr lang="zh-CN" altLang="en-US" sz="1800" strike="noStrike" noProof="1" dirty="0">
                <a:sym typeface="+mn-ea"/>
              </a:rPr>
              <a:t>根据选项名称的数据类型进行转换　</a:t>
            </a:r>
            <a:endParaRPr lang="zh-CN" altLang="en-US" sz="1800" strike="noStrike" noProof="1" dirty="0"/>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 </a:t>
            </a:r>
            <a:endParaRPr lang="en-US" altLang="zh-CN"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19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套接字属性设置</a:t>
            </a:r>
            <a:endParaRPr lang="zh-CN" altLang="en-US" sz="2000" b="1" dirty="0">
              <a:latin typeface="华文仿宋" panose="02010600040101010101" pitchFamily="2" charset="-122"/>
              <a:ea typeface="华文仿宋" panose="02010600040101010101"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lnSpc>
                <a:spcPct val="80000"/>
              </a:lnSpc>
            </a:pPr>
            <a:r>
              <a:rPr lang="zh-CN" altLang="en-US" sz="1000" strike="noStrike" noProof="1" dirty="0">
                <a:sym typeface="+mn-ea"/>
              </a:rPr>
              <a:t>选项名称　　　　　　　　说明　　　　　　　　　　　　　　　　　　数据类型 </a:t>
            </a:r>
            <a:br>
              <a:rPr lang="zh-CN" altLang="en-US" sz="1000" dirty="0">
                <a:sym typeface="+mn-ea"/>
              </a:rPr>
            </a:br>
            <a:r>
              <a:rPr lang="en-US" altLang="zh-CN" sz="1000" strike="noStrike" noProof="1" dirty="0">
                <a:sym typeface="+mn-ea"/>
              </a:rPr>
              <a:t>======================================================================== </a:t>
            </a:r>
            <a:br>
              <a:rPr lang="en-US" altLang="zh-CN" sz="1000" dirty="0">
                <a:sym typeface="+mn-ea"/>
              </a:rPr>
            </a:br>
            <a:r>
              <a:rPr lang="zh-CN" altLang="en-US" sz="1000" strike="noStrike" noProof="1" dirty="0">
                <a:sym typeface="+mn-ea"/>
              </a:rPr>
              <a:t>　　　　　　　　　　　　</a:t>
            </a:r>
            <a:r>
              <a:rPr lang="en-US" altLang="zh-CN" sz="1000" strike="noStrike" noProof="1" dirty="0">
                <a:sym typeface="+mn-ea"/>
              </a:rPr>
              <a:t>SOL_SOCKET </a:t>
            </a:r>
            <a:br>
              <a:rPr lang="en-US" altLang="zh-CN" sz="1000" dirty="0">
                <a:sym typeface="+mn-ea"/>
              </a:rPr>
            </a:br>
            <a:r>
              <a:rPr lang="en-US" altLang="zh-CN" sz="1000" strike="noStrike" noProof="1" dirty="0">
                <a:sym typeface="+mn-ea"/>
              </a:rPr>
              <a:t>------------------------------------------------------------------------ </a:t>
            </a:r>
            <a:br>
              <a:rPr lang="en-US" altLang="zh-CN" sz="1000" dirty="0">
                <a:sym typeface="+mn-ea"/>
              </a:rPr>
            </a:br>
            <a:r>
              <a:rPr lang="en-US" altLang="zh-CN" sz="1000" b="1" strike="noStrike" noProof="1" dirty="0">
                <a:sym typeface="+mn-ea"/>
              </a:rPr>
              <a:t>SO_BROADCAST</a:t>
            </a:r>
            <a:r>
              <a:rPr lang="zh-CN" altLang="en-US" sz="1000" strike="noStrike" noProof="1" dirty="0">
                <a:sym typeface="+mn-ea"/>
              </a:rPr>
              <a:t>　　　　　允许发送广播数据　　　　　　　　　　　   </a:t>
            </a:r>
            <a:r>
              <a:rPr lang="en-US" altLang="zh-CN" sz="1000" strike="noStrike" noProof="1" dirty="0">
                <a:sym typeface="+mn-ea"/>
              </a:rPr>
              <a:t>int </a:t>
            </a:r>
            <a:br>
              <a:rPr lang="en-US" altLang="zh-CN" sz="1000" dirty="0">
                <a:sym typeface="+mn-ea"/>
              </a:rPr>
            </a:br>
            <a:r>
              <a:rPr lang="en-US" altLang="zh-CN" sz="1000" strike="noStrike" noProof="1" dirty="0">
                <a:sym typeface="+mn-ea"/>
              </a:rPr>
              <a:t>SO_DEBUG</a:t>
            </a:r>
            <a:r>
              <a:rPr lang="zh-CN" altLang="en-US" sz="1000" strike="noStrike" noProof="1" dirty="0">
                <a:sym typeface="+mn-ea"/>
              </a:rPr>
              <a:t>　　　　　　　　允许调试　　　　　　　　　　　　　　　   </a:t>
            </a:r>
            <a:r>
              <a:rPr lang="en-US" altLang="zh-CN" sz="1000" strike="noStrike" noProof="1" dirty="0">
                <a:sym typeface="+mn-ea"/>
              </a:rPr>
              <a:t>int </a:t>
            </a:r>
            <a:br>
              <a:rPr lang="en-US" altLang="zh-CN" sz="1000" dirty="0">
                <a:sym typeface="+mn-ea"/>
              </a:rPr>
            </a:br>
            <a:r>
              <a:rPr lang="en-US" altLang="zh-CN" sz="1000" strike="noStrike" noProof="1" dirty="0">
                <a:sym typeface="+mn-ea"/>
              </a:rPr>
              <a:t>SO_DONTROUTE</a:t>
            </a:r>
            <a:r>
              <a:rPr lang="zh-CN" altLang="en-US" sz="1000" strike="noStrike" noProof="1" dirty="0">
                <a:sym typeface="+mn-ea"/>
              </a:rPr>
              <a:t>　　　　　不查找路由　　　　　　　　　　　　　　　</a:t>
            </a:r>
            <a:r>
              <a:rPr lang="en-US" altLang="zh-CN" sz="1000" strike="noStrike" noProof="1" dirty="0">
                <a:sym typeface="+mn-ea"/>
              </a:rPr>
              <a:t>int </a:t>
            </a:r>
            <a:br>
              <a:rPr lang="en-US" altLang="zh-CN" sz="1000" dirty="0">
                <a:sym typeface="+mn-ea"/>
              </a:rPr>
            </a:br>
            <a:r>
              <a:rPr lang="en-US" altLang="zh-CN" sz="1000" strike="noStrike" noProof="1" dirty="0">
                <a:sym typeface="+mn-ea"/>
              </a:rPr>
              <a:t>SO_ERROR</a:t>
            </a:r>
            <a:r>
              <a:rPr lang="zh-CN" altLang="en-US" sz="1000" strike="noStrike" noProof="1" dirty="0">
                <a:sym typeface="+mn-ea"/>
              </a:rPr>
              <a:t>　　　　　　　　获得套接字错误　　　　　　　　　　　　   </a:t>
            </a:r>
            <a:r>
              <a:rPr lang="en-US" altLang="zh-CN" sz="1000" strike="noStrike" noProof="1" dirty="0">
                <a:sym typeface="+mn-ea"/>
              </a:rPr>
              <a:t>int </a:t>
            </a:r>
            <a:br>
              <a:rPr lang="en-US" altLang="zh-CN" sz="1000" dirty="0">
                <a:sym typeface="+mn-ea"/>
              </a:rPr>
            </a:br>
            <a:r>
              <a:rPr lang="en-US" altLang="zh-CN" sz="1000" b="1" strike="noStrike" noProof="1" dirty="0">
                <a:sym typeface="+mn-ea"/>
              </a:rPr>
              <a:t>SO_KEEPALIVE</a:t>
            </a:r>
            <a:r>
              <a:rPr lang="zh-CN" altLang="en-US" sz="1000" b="1" strike="noStrike" noProof="1" dirty="0">
                <a:sym typeface="+mn-ea"/>
              </a:rPr>
              <a:t>　</a:t>
            </a:r>
            <a:r>
              <a:rPr lang="zh-CN" altLang="en-US" sz="1000" strike="noStrike" noProof="1" dirty="0">
                <a:sym typeface="+mn-ea"/>
              </a:rPr>
              <a:t>　　　　 保持连接　　　　　　　　　　　　　　　   </a:t>
            </a:r>
            <a:r>
              <a:rPr lang="en-US" altLang="zh-CN" sz="1000" strike="noStrike" noProof="1" dirty="0">
                <a:sym typeface="+mn-ea"/>
              </a:rPr>
              <a:t>int </a:t>
            </a:r>
            <a:br>
              <a:rPr lang="en-US" altLang="zh-CN" sz="1000" dirty="0">
                <a:sym typeface="+mn-ea"/>
              </a:rPr>
            </a:br>
            <a:r>
              <a:rPr lang="en-US" altLang="zh-CN" sz="1000" strike="noStrike" noProof="1" dirty="0">
                <a:sym typeface="+mn-ea"/>
              </a:rPr>
              <a:t>SO_LINGER</a:t>
            </a:r>
            <a:r>
              <a:rPr lang="zh-CN" altLang="en-US" sz="1000" strike="noStrike" noProof="1" dirty="0">
                <a:sym typeface="+mn-ea"/>
              </a:rPr>
              <a:t>　　　　　　　  延迟关闭连接　　　　　　　　　　　　　　</a:t>
            </a:r>
            <a:r>
              <a:rPr lang="en-US" altLang="zh-CN" sz="1000" strike="noStrike" noProof="1" dirty="0">
                <a:sym typeface="+mn-ea"/>
              </a:rPr>
              <a:t>struct linger </a:t>
            </a:r>
            <a:br>
              <a:rPr lang="en-US" altLang="zh-CN" sz="1000" dirty="0">
                <a:sym typeface="+mn-ea"/>
              </a:rPr>
            </a:br>
            <a:r>
              <a:rPr lang="en-US" altLang="zh-CN" sz="1000" strike="noStrike" noProof="1" dirty="0">
                <a:sym typeface="+mn-ea"/>
              </a:rPr>
              <a:t>SO_OOBINLINE</a:t>
            </a:r>
            <a:r>
              <a:rPr lang="zh-CN" altLang="en-US" sz="1000" strike="noStrike" noProof="1" dirty="0">
                <a:sym typeface="+mn-ea"/>
              </a:rPr>
              <a:t>　　　　　   带外数据放入正常数据流　　　　　　　　   </a:t>
            </a:r>
            <a:r>
              <a:rPr lang="en-US" altLang="zh-CN" sz="1000" strike="noStrike" noProof="1" dirty="0">
                <a:sym typeface="+mn-ea"/>
              </a:rPr>
              <a:t>int </a:t>
            </a:r>
            <a:br>
              <a:rPr lang="en-US" altLang="zh-CN" sz="1000" dirty="0">
                <a:sym typeface="+mn-ea"/>
              </a:rPr>
            </a:br>
            <a:r>
              <a:rPr lang="en-US" altLang="zh-CN" sz="1000" b="1" strike="noStrike" noProof="1" dirty="0">
                <a:sym typeface="+mn-ea"/>
              </a:rPr>
              <a:t>SO_RCVBUF</a:t>
            </a:r>
            <a:r>
              <a:rPr lang="zh-CN" altLang="en-US" sz="1000" strike="noStrike" noProof="1" dirty="0">
                <a:sym typeface="+mn-ea"/>
              </a:rPr>
              <a:t>　　　　　　　接收缓冲区大小　　　　　　　　　　　　   </a:t>
            </a:r>
            <a:r>
              <a:rPr lang="en-US" altLang="zh-CN" sz="1000" strike="noStrike" noProof="1" dirty="0">
                <a:sym typeface="+mn-ea"/>
              </a:rPr>
              <a:t>int </a:t>
            </a:r>
            <a:br>
              <a:rPr lang="en-US" altLang="zh-CN" sz="1000" dirty="0">
                <a:sym typeface="+mn-ea"/>
              </a:rPr>
            </a:br>
            <a:r>
              <a:rPr lang="en-US" altLang="zh-CN" sz="1000" b="1" strike="noStrike" noProof="1" dirty="0">
                <a:sym typeface="+mn-ea"/>
              </a:rPr>
              <a:t>SO_SNDBUF</a:t>
            </a:r>
            <a:r>
              <a:rPr lang="zh-CN" altLang="en-US" sz="1000" strike="noStrike" noProof="1" dirty="0">
                <a:sym typeface="+mn-ea"/>
              </a:rPr>
              <a:t>　　　　　　　 发送缓冲区大小　　　　　　　　　　　　   </a:t>
            </a:r>
            <a:r>
              <a:rPr lang="en-US" altLang="zh-CN" sz="1000" strike="noStrike" noProof="1" dirty="0">
                <a:sym typeface="+mn-ea"/>
              </a:rPr>
              <a:t>int </a:t>
            </a:r>
            <a:br>
              <a:rPr lang="en-US" altLang="zh-CN" sz="1000" dirty="0">
                <a:sym typeface="+mn-ea"/>
              </a:rPr>
            </a:br>
            <a:r>
              <a:rPr lang="en-US" altLang="zh-CN" sz="1000" b="1" strike="noStrike" noProof="1" dirty="0">
                <a:sym typeface="+mn-ea"/>
              </a:rPr>
              <a:t>SO_RCVLOWAT</a:t>
            </a:r>
            <a:r>
              <a:rPr lang="zh-CN" altLang="en-US" sz="1000" strike="noStrike" noProof="1" dirty="0">
                <a:sym typeface="+mn-ea"/>
              </a:rPr>
              <a:t>　　　　　 接收缓冲区下限　　　　　　　　　　　　   </a:t>
            </a:r>
            <a:r>
              <a:rPr lang="en-US" altLang="zh-CN" sz="1000" strike="noStrike" noProof="1" dirty="0">
                <a:sym typeface="+mn-ea"/>
              </a:rPr>
              <a:t>int </a:t>
            </a:r>
            <a:br>
              <a:rPr lang="en-US" altLang="zh-CN" sz="1000" dirty="0">
                <a:sym typeface="+mn-ea"/>
              </a:rPr>
            </a:br>
            <a:r>
              <a:rPr lang="en-US" altLang="zh-CN" sz="1000" b="1" strike="noStrike" noProof="1" dirty="0">
                <a:sym typeface="+mn-ea"/>
              </a:rPr>
              <a:t>SO_SNDLOWAT</a:t>
            </a:r>
            <a:r>
              <a:rPr lang="zh-CN" altLang="en-US" sz="1000" strike="noStrike" noProof="1" dirty="0">
                <a:sym typeface="+mn-ea"/>
              </a:rPr>
              <a:t>　　　　　 发送缓冲区下限　　　　　　　　　　　　　</a:t>
            </a:r>
            <a:r>
              <a:rPr lang="en-US" altLang="zh-CN" sz="1000" strike="noStrike" noProof="1" dirty="0">
                <a:sym typeface="+mn-ea"/>
              </a:rPr>
              <a:t>int </a:t>
            </a:r>
            <a:br>
              <a:rPr lang="en-US" altLang="zh-CN" sz="1000" dirty="0">
                <a:sym typeface="+mn-ea"/>
              </a:rPr>
            </a:br>
            <a:r>
              <a:rPr lang="en-US" altLang="zh-CN" sz="1000" b="1" strike="noStrike" noProof="1" dirty="0">
                <a:sym typeface="+mn-ea"/>
              </a:rPr>
              <a:t>SO_RCVTIMEO</a:t>
            </a:r>
            <a:r>
              <a:rPr lang="zh-CN" altLang="en-US" sz="1000" strike="noStrike" noProof="1" dirty="0">
                <a:sym typeface="+mn-ea"/>
              </a:rPr>
              <a:t>　　　　　 接收超时　　　　　　　　　　　　　　　　 </a:t>
            </a:r>
            <a:r>
              <a:rPr lang="en-US" altLang="zh-CN" sz="1000" strike="noStrike" noProof="1" dirty="0">
                <a:sym typeface="+mn-ea"/>
              </a:rPr>
              <a:t>struct timeval </a:t>
            </a:r>
            <a:br>
              <a:rPr lang="en-US" altLang="zh-CN" sz="1000" dirty="0">
                <a:sym typeface="+mn-ea"/>
              </a:rPr>
            </a:br>
            <a:r>
              <a:rPr lang="en-US" altLang="zh-CN" sz="1000" b="1" strike="noStrike" noProof="1" dirty="0">
                <a:sym typeface="+mn-ea"/>
              </a:rPr>
              <a:t>SO_SNDTIMEO</a:t>
            </a:r>
            <a:r>
              <a:rPr lang="zh-CN" altLang="en-US" sz="1000" strike="noStrike" noProof="1" dirty="0">
                <a:sym typeface="+mn-ea"/>
              </a:rPr>
              <a:t>　　　　　  发送超时　　　　　　　　　　　　　　　 　</a:t>
            </a:r>
            <a:r>
              <a:rPr lang="en-US" altLang="zh-CN" sz="1000" strike="noStrike" noProof="1" dirty="0">
                <a:sym typeface="+mn-ea"/>
              </a:rPr>
              <a:t>struct timeval </a:t>
            </a:r>
            <a:br>
              <a:rPr lang="en-US" altLang="zh-CN" sz="1000" dirty="0">
                <a:sym typeface="+mn-ea"/>
              </a:rPr>
            </a:br>
            <a:r>
              <a:rPr lang="en-US" altLang="zh-CN" sz="1000" b="1" strike="noStrike" noProof="1" dirty="0">
                <a:sym typeface="+mn-ea"/>
              </a:rPr>
              <a:t>SO_REUSERADDR</a:t>
            </a:r>
            <a:r>
              <a:rPr lang="zh-CN" altLang="en-US" sz="1000" strike="noStrike" noProof="1" dirty="0">
                <a:sym typeface="+mn-ea"/>
              </a:rPr>
              <a:t>　　　　允许重用本地地址和端口　　　　　　　　 　</a:t>
            </a:r>
            <a:r>
              <a:rPr lang="en-US" altLang="zh-CN" sz="1000" strike="noStrike" noProof="1" dirty="0">
                <a:sym typeface="+mn-ea"/>
              </a:rPr>
              <a:t>int </a:t>
            </a:r>
            <a:br>
              <a:rPr lang="en-US" altLang="zh-CN" sz="1000" dirty="0">
                <a:sym typeface="+mn-ea"/>
              </a:rPr>
            </a:br>
            <a:r>
              <a:rPr lang="en-US" altLang="zh-CN" sz="1000" strike="noStrike" noProof="1" dirty="0">
                <a:sym typeface="+mn-ea"/>
              </a:rPr>
              <a:t>SO_TYPE</a:t>
            </a:r>
            <a:r>
              <a:rPr lang="zh-CN" altLang="en-US" sz="1000" strike="noStrike" noProof="1" dirty="0">
                <a:sym typeface="+mn-ea"/>
              </a:rPr>
              <a:t>　　　　　　　　  获得套接字类型　　　　　　　　　　　　 　</a:t>
            </a:r>
            <a:r>
              <a:rPr lang="en-US" altLang="zh-CN" sz="1000" strike="noStrike" noProof="1" dirty="0">
                <a:sym typeface="+mn-ea"/>
              </a:rPr>
              <a:t>int </a:t>
            </a:r>
            <a:br>
              <a:rPr lang="en-US" altLang="zh-CN" sz="1000" dirty="0">
                <a:sym typeface="+mn-ea"/>
              </a:rPr>
            </a:br>
            <a:r>
              <a:rPr lang="en-US" altLang="zh-CN" sz="1000" strike="noStrike" noProof="1" dirty="0">
                <a:sym typeface="+mn-ea"/>
              </a:rPr>
              <a:t>SO_BSDCOMPAT</a:t>
            </a:r>
            <a:r>
              <a:rPr lang="zh-CN" altLang="en-US" sz="1000" strike="noStrike" noProof="1" dirty="0">
                <a:sym typeface="+mn-ea"/>
              </a:rPr>
              <a:t>　　　　　与</a:t>
            </a:r>
            <a:r>
              <a:rPr lang="en-US" altLang="zh-CN" sz="1000" strike="noStrike" noProof="1" dirty="0">
                <a:sym typeface="+mn-ea"/>
              </a:rPr>
              <a:t>BSD</a:t>
            </a:r>
            <a:r>
              <a:rPr lang="zh-CN" altLang="en-US" sz="1000" strike="noStrike" noProof="1" dirty="0">
                <a:sym typeface="+mn-ea"/>
              </a:rPr>
              <a:t>系统兼容　　　　　　　　　　　　　 </a:t>
            </a:r>
            <a:r>
              <a:rPr lang="en-US" altLang="zh-CN" sz="1000" strike="noStrike" noProof="1" dirty="0">
                <a:sym typeface="+mn-ea"/>
              </a:rPr>
              <a:t>int </a:t>
            </a:r>
            <a:br>
              <a:rPr lang="en-US" altLang="zh-CN" sz="1000" dirty="0">
                <a:sym typeface="+mn-ea"/>
              </a:rPr>
            </a:br>
            <a:r>
              <a:rPr lang="en-US" altLang="zh-CN" sz="1000" strike="noStrike" noProof="1" dirty="0">
                <a:sym typeface="+mn-ea"/>
              </a:rPr>
              <a:t>========================================================================== </a:t>
            </a:r>
            <a:br>
              <a:rPr lang="en-US" altLang="zh-CN" sz="1000" dirty="0">
                <a:sym typeface="+mn-ea"/>
              </a:rPr>
            </a:br>
            <a:r>
              <a:rPr lang="zh-CN" altLang="en-US" sz="1000" strike="noStrike" noProof="1" dirty="0">
                <a:sym typeface="+mn-ea"/>
              </a:rPr>
              <a:t>　　　　　　　　　　　　</a:t>
            </a:r>
            <a:r>
              <a:rPr lang="en-US" altLang="zh-CN" sz="1000" strike="noStrike" noProof="1" dirty="0">
                <a:sym typeface="+mn-ea"/>
              </a:rPr>
              <a:t>IPPROTO_IP </a:t>
            </a:r>
            <a:br>
              <a:rPr lang="en-US" altLang="zh-CN" sz="1000" dirty="0">
                <a:sym typeface="+mn-ea"/>
              </a:rPr>
            </a:br>
            <a:r>
              <a:rPr lang="en-US" altLang="zh-CN" sz="1000" strike="noStrike" noProof="1" dirty="0">
                <a:sym typeface="+mn-ea"/>
              </a:rPr>
              <a:t>------------------------------------------------------------------------------------------------------------------------------- </a:t>
            </a:r>
            <a:endParaRPr lang="en-US" altLang="zh-CN" sz="1000" strike="noStrike" noProof="1" dirty="0"/>
          </a:p>
          <a:p>
            <a:pPr eaLnBrk="1" fontAlgn="base" hangingPunct="1">
              <a:lnSpc>
                <a:spcPct val="80000"/>
              </a:lnSpc>
            </a:pPr>
            <a:r>
              <a:rPr lang="en-US" altLang="zh-CN" sz="1000" strike="noStrike" noProof="1" dirty="0">
                <a:sym typeface="+mn-ea"/>
              </a:rPr>
              <a:t>IP_HDRINCL</a:t>
            </a:r>
            <a:r>
              <a:rPr lang="zh-CN" altLang="en-US" sz="1000" strike="noStrike" noProof="1" dirty="0">
                <a:sym typeface="+mn-ea"/>
              </a:rPr>
              <a:t>　　　　　　　在数据包中包含</a:t>
            </a:r>
            <a:r>
              <a:rPr lang="en-US" altLang="zh-CN" sz="1000" strike="noStrike" noProof="1" dirty="0">
                <a:sym typeface="+mn-ea"/>
              </a:rPr>
              <a:t>IP</a:t>
            </a:r>
            <a:r>
              <a:rPr lang="zh-CN" altLang="en-US" sz="1000" strike="noStrike" noProof="1" dirty="0">
                <a:sym typeface="+mn-ea"/>
              </a:rPr>
              <a:t>首部　　　　　　　　　　</a:t>
            </a:r>
            <a:r>
              <a:rPr lang="en-US" altLang="zh-CN" sz="1000" strike="noStrike" noProof="1" dirty="0">
                <a:sym typeface="+mn-ea"/>
              </a:rPr>
              <a:t>int </a:t>
            </a:r>
            <a:br>
              <a:rPr lang="en-US" altLang="zh-CN" sz="1000" dirty="0">
                <a:sym typeface="+mn-ea"/>
              </a:rPr>
            </a:br>
            <a:r>
              <a:rPr lang="en-US" altLang="zh-CN" sz="1000" strike="noStrike" noProof="1" dirty="0">
                <a:sym typeface="+mn-ea"/>
              </a:rPr>
              <a:t>IP_OPTINOS</a:t>
            </a:r>
            <a:r>
              <a:rPr lang="zh-CN" altLang="en-US" sz="1000" strike="noStrike" noProof="1" dirty="0">
                <a:sym typeface="+mn-ea"/>
              </a:rPr>
              <a:t>　　　　　　　 </a:t>
            </a:r>
            <a:r>
              <a:rPr lang="en-US" altLang="zh-CN" sz="1000" strike="noStrike" noProof="1" dirty="0">
                <a:sym typeface="+mn-ea"/>
              </a:rPr>
              <a:t>IP</a:t>
            </a:r>
            <a:r>
              <a:rPr lang="zh-CN" altLang="en-US" sz="1000" strike="noStrike" noProof="1" dirty="0">
                <a:sym typeface="+mn-ea"/>
              </a:rPr>
              <a:t>首部选项　　　　　　　　　　　　　　　</a:t>
            </a:r>
            <a:r>
              <a:rPr lang="en-US" altLang="zh-CN" sz="1000" strike="noStrike" noProof="1" dirty="0">
                <a:sym typeface="+mn-ea"/>
              </a:rPr>
              <a:t>int </a:t>
            </a:r>
            <a:br>
              <a:rPr lang="en-US" altLang="zh-CN" sz="1000" dirty="0">
                <a:sym typeface="+mn-ea"/>
              </a:rPr>
            </a:br>
            <a:r>
              <a:rPr lang="en-US" altLang="zh-CN" sz="1000" strike="noStrike" noProof="1" dirty="0">
                <a:sym typeface="+mn-ea"/>
              </a:rPr>
              <a:t>IP_TOS</a:t>
            </a:r>
            <a:r>
              <a:rPr lang="zh-CN" altLang="en-US" sz="1000" strike="noStrike" noProof="1" dirty="0">
                <a:sym typeface="+mn-ea"/>
              </a:rPr>
              <a:t>　　　　　　　　  　服务类型 </a:t>
            </a:r>
            <a:br>
              <a:rPr lang="zh-CN" altLang="en-US" sz="1000" dirty="0">
                <a:sym typeface="+mn-ea"/>
              </a:rPr>
            </a:br>
            <a:r>
              <a:rPr lang="en-US" altLang="zh-CN" sz="1000" strike="noStrike" noProof="1" dirty="0">
                <a:sym typeface="+mn-ea"/>
              </a:rPr>
              <a:t>IP_TTL</a:t>
            </a:r>
            <a:r>
              <a:rPr lang="zh-CN" altLang="en-US" sz="1000" strike="noStrike" noProof="1" dirty="0">
                <a:sym typeface="+mn-ea"/>
              </a:rPr>
              <a:t>　　　　　　　　　  生存时间　　　　　　　　　　　　　　　　</a:t>
            </a:r>
            <a:r>
              <a:rPr lang="en-US" altLang="zh-CN" sz="1000" strike="noStrike" noProof="1" dirty="0">
                <a:sym typeface="+mn-ea"/>
              </a:rPr>
              <a:t>int </a:t>
            </a:r>
            <a:br>
              <a:rPr lang="en-US" altLang="zh-CN" sz="1000" dirty="0">
                <a:sym typeface="+mn-ea"/>
              </a:rPr>
            </a:br>
            <a:r>
              <a:rPr lang="en-US" altLang="zh-CN" sz="1000" strike="noStrike" noProof="1" dirty="0">
                <a:sym typeface="+mn-ea"/>
              </a:rPr>
              <a:t>========================================================================== </a:t>
            </a:r>
            <a:br>
              <a:rPr lang="en-US" altLang="zh-CN" sz="1000" dirty="0">
                <a:sym typeface="+mn-ea"/>
              </a:rPr>
            </a:br>
            <a:r>
              <a:rPr lang="zh-CN" altLang="en-US" sz="1000" strike="noStrike" noProof="1" dirty="0">
                <a:sym typeface="+mn-ea"/>
              </a:rPr>
              <a:t>　　　　　　　　　　　　</a:t>
            </a:r>
            <a:r>
              <a:rPr lang="en-US" altLang="zh-CN" sz="1000" strike="noStrike" noProof="1" dirty="0">
                <a:sym typeface="+mn-ea"/>
              </a:rPr>
              <a:t>IPPRO_TCP </a:t>
            </a:r>
            <a:br>
              <a:rPr lang="en-US" altLang="zh-CN" sz="1000" dirty="0">
                <a:sym typeface="+mn-ea"/>
              </a:rPr>
            </a:br>
            <a:r>
              <a:rPr lang="en-US" altLang="zh-CN" sz="1000" strike="noStrike" noProof="1" dirty="0">
                <a:sym typeface="+mn-ea"/>
              </a:rPr>
              <a:t>----------------------------------------------------------------------------------------------------------------------------- </a:t>
            </a:r>
            <a:br>
              <a:rPr lang="en-US" altLang="zh-CN" sz="1000" dirty="0">
                <a:sym typeface="+mn-ea"/>
              </a:rPr>
            </a:br>
            <a:r>
              <a:rPr lang="en-US" altLang="zh-CN" sz="1000" strike="noStrike" noProof="1" dirty="0">
                <a:sym typeface="+mn-ea"/>
              </a:rPr>
              <a:t>TCP_MAXSEG</a:t>
            </a:r>
            <a:r>
              <a:rPr lang="zh-CN" altLang="en-US" sz="1000" strike="noStrike" noProof="1" dirty="0">
                <a:sym typeface="+mn-ea"/>
              </a:rPr>
              <a:t>　　　　　　　</a:t>
            </a:r>
            <a:r>
              <a:rPr lang="en-US" altLang="zh-CN" sz="1000" strike="noStrike" noProof="1" dirty="0">
                <a:sym typeface="+mn-ea"/>
              </a:rPr>
              <a:t>TCP</a:t>
            </a:r>
            <a:r>
              <a:rPr lang="zh-CN" altLang="en-US" sz="1000" strike="noStrike" noProof="1" dirty="0">
                <a:sym typeface="+mn-ea"/>
              </a:rPr>
              <a:t>最大数据段的大小　　　　　　　　　  </a:t>
            </a:r>
            <a:r>
              <a:rPr lang="en-US" altLang="zh-CN" sz="1000" strike="noStrike" noProof="1" dirty="0">
                <a:sym typeface="+mn-ea"/>
              </a:rPr>
              <a:t>int </a:t>
            </a:r>
            <a:br>
              <a:rPr lang="en-US" altLang="zh-CN" sz="1000" dirty="0">
                <a:sym typeface="+mn-ea"/>
              </a:rPr>
            </a:br>
            <a:r>
              <a:rPr lang="en-US" altLang="zh-CN" sz="1000" strike="noStrike" noProof="1" dirty="0">
                <a:sym typeface="+mn-ea"/>
              </a:rPr>
              <a:t>TCP_NODELAY</a:t>
            </a:r>
            <a:r>
              <a:rPr lang="zh-CN" altLang="en-US" sz="1000" strike="noStrike" noProof="1" dirty="0">
                <a:sym typeface="+mn-ea"/>
              </a:rPr>
              <a:t>　　　　　　 不使用</a:t>
            </a:r>
            <a:r>
              <a:rPr lang="en-US" altLang="zh-CN" sz="1000" strike="noStrike" noProof="1" dirty="0">
                <a:sym typeface="+mn-ea"/>
              </a:rPr>
              <a:t>Nagle</a:t>
            </a:r>
            <a:r>
              <a:rPr lang="zh-CN" altLang="en-US" sz="1000" strike="noStrike" noProof="1" dirty="0">
                <a:sym typeface="+mn-ea"/>
              </a:rPr>
              <a:t>算法　　　　　　　　　　　　 </a:t>
            </a:r>
            <a:r>
              <a:rPr lang="en-US" altLang="zh-CN" sz="1000" strike="noStrike" noProof="1" dirty="0">
                <a:sym typeface="+mn-ea"/>
              </a:rPr>
              <a:t>int </a:t>
            </a:r>
            <a:br>
              <a:rPr lang="en-US" altLang="zh-CN" sz="1000" dirty="0">
                <a:sym typeface="+mn-ea"/>
              </a:rPr>
            </a:br>
            <a:r>
              <a:rPr lang="en-US" altLang="zh-CN" sz="1000" strike="noStrike" noProof="1" dirty="0">
                <a:sym typeface="+mn-ea"/>
              </a:rPr>
              <a:t>========================================================== </a:t>
            </a:r>
            <a:endParaRPr lang="en-US" altLang="zh-CN" sz="1000" strike="noStrike" noProof="1" dirty="0"/>
          </a:p>
          <a:p>
            <a:pPr eaLnBrk="1" fontAlgn="base" hangingPunct="1"/>
            <a:r>
              <a:rPr lang="zh-CN" altLang="en-US" sz="1000" b="1" strike="noStrike" noProof="1" dirty="0">
                <a:latin typeface="华文仿宋" panose="02010600040101010101" pitchFamily="2" charset="-122"/>
                <a:ea typeface="华文仿宋" panose="02010600040101010101" pitchFamily="2" charset="-122"/>
                <a:sym typeface="+mn-ea"/>
              </a:rPr>
              <a:t> </a:t>
            </a:r>
            <a:endParaRPr lang="en-US" altLang="zh-CN"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294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18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18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18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18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套接字属性设置</a:t>
            </a:r>
            <a:endParaRPr lang="zh-CN" altLang="en-US" sz="1000" b="1" dirty="0">
              <a:latin typeface="华文仿宋" panose="02010600040101010101" pitchFamily="2" charset="-122"/>
              <a:ea typeface="华文仿宋" panose="02010600040101010101" pitchFamily="2" charset="-122"/>
              <a:sym typeface="宋体" panose="02010600030101010101" pitchFamily="2" charset="-122"/>
            </a:endParaRPr>
          </a:p>
          <a:p>
            <a:pPr lvl="0" indent="-342900">
              <a:buNone/>
            </a:pPr>
            <a:endParaRPr lang="zh-CN" altLang="en-US" sz="1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lnSpc>
                <a:spcPct val="90000"/>
              </a:lnSpc>
            </a:pPr>
            <a:r>
              <a:rPr lang="en-US" altLang="zh-CN" sz="1800" strike="noStrike" noProof="1" dirty="0">
                <a:sym typeface="+mn-ea"/>
              </a:rPr>
              <a:t>getsockopt</a:t>
            </a:r>
            <a:r>
              <a:rPr lang="zh-CN" altLang="en-US" sz="1800" strike="noStrike" noProof="1" dirty="0">
                <a:sym typeface="+mn-ea"/>
              </a:rPr>
              <a:t>和</a:t>
            </a:r>
            <a:r>
              <a:rPr lang="en-US" altLang="zh-CN" sz="1800" strike="noStrike" noProof="1" dirty="0">
                <a:sym typeface="+mn-ea"/>
              </a:rPr>
              <a:t>setsockopt</a:t>
            </a:r>
            <a:r>
              <a:rPr lang="zh-CN" altLang="en-US" sz="1800" strike="noStrike" noProof="1" dirty="0">
                <a:sym typeface="+mn-ea"/>
              </a:rPr>
              <a:t>　</a:t>
            </a:r>
            <a:endParaRPr lang="zh-CN" altLang="en-US" sz="1800" strike="noStrike" noProof="1" dirty="0"/>
          </a:p>
          <a:p>
            <a:pPr eaLnBrk="1" fontAlgn="base" hangingPunct="1">
              <a:lnSpc>
                <a:spcPct val="90000"/>
              </a:lnSpc>
            </a:pPr>
            <a:endParaRPr lang="zh-CN" altLang="en-US" sz="1800" strike="noStrike" noProof="1" dirty="0"/>
          </a:p>
          <a:p>
            <a:pPr eaLnBrk="1" fontAlgn="base" hangingPunct="1">
              <a:lnSpc>
                <a:spcPct val="90000"/>
              </a:lnSpc>
            </a:pPr>
            <a:r>
              <a:rPr lang="en-US" altLang="zh-CN" sz="1800" strike="noStrike" noProof="1" dirty="0">
                <a:sym typeface="+mn-ea"/>
              </a:rPr>
              <a:t>int getsockopt(int sockfd,int level,int optname,void *optval,socklen_t *optlen)</a:t>
            </a:r>
            <a:endParaRPr lang="en-US" altLang="zh-CN" sz="1800" strike="noStrike" noProof="1" dirty="0"/>
          </a:p>
          <a:p>
            <a:pPr eaLnBrk="1" fontAlgn="base" hangingPunct="1">
              <a:lnSpc>
                <a:spcPct val="90000"/>
              </a:lnSpc>
            </a:pPr>
            <a:r>
              <a:rPr lang="en-US" altLang="zh-CN" sz="1800" strike="noStrike" noProof="1" dirty="0">
                <a:sym typeface="+mn-ea"/>
              </a:rPr>
              <a:t>int setsockopt(int sockfd,int level,int optname,const void *optval,socklen_t *optlen)</a:t>
            </a:r>
            <a:endParaRPr lang="en-US" altLang="zh-CN" sz="1800" strike="noStrike" noProof="1" dirty="0"/>
          </a:p>
          <a:p>
            <a:pPr eaLnBrk="1" fontAlgn="base" hangingPunct="1">
              <a:lnSpc>
                <a:spcPct val="90000"/>
              </a:lnSpc>
            </a:pPr>
            <a:endParaRPr lang="en-US" altLang="zh-CN" sz="1800" strike="noStrike" noProof="1" dirty="0"/>
          </a:p>
          <a:p>
            <a:pPr lvl="1" eaLnBrk="1" fontAlgn="base" hangingPunct="1">
              <a:lnSpc>
                <a:spcPct val="90000"/>
              </a:lnSpc>
            </a:pPr>
            <a:r>
              <a:rPr lang="en-US" altLang="zh-CN" sz="1800" strike="noStrike" noProof="1" dirty="0">
                <a:sym typeface="+mn-ea"/>
              </a:rPr>
              <a:t>level</a:t>
            </a:r>
            <a:r>
              <a:rPr lang="zh-CN" altLang="en-US" sz="1800" strike="noStrike" noProof="1" dirty="0">
                <a:sym typeface="+mn-ea"/>
              </a:rPr>
              <a:t>指定控制套接字的层次</a:t>
            </a:r>
            <a:r>
              <a:rPr lang="en-US" altLang="zh-CN" sz="1800" strike="noStrike" noProof="1" dirty="0">
                <a:sym typeface="+mn-ea"/>
              </a:rPr>
              <a:t>.</a:t>
            </a:r>
            <a:r>
              <a:rPr lang="zh-CN" altLang="en-US" sz="1800" strike="noStrike" noProof="1" dirty="0">
                <a:sym typeface="+mn-ea"/>
              </a:rPr>
              <a:t>可以取三种值</a:t>
            </a:r>
            <a:r>
              <a:rPr lang="en-US" altLang="zh-CN" sz="1800" strike="noStrike" noProof="1" dirty="0">
                <a:sym typeface="+mn-ea"/>
              </a:rPr>
              <a:t>: </a:t>
            </a:r>
            <a:br>
              <a:rPr lang="en-US" altLang="zh-CN" sz="1800" dirty="0">
                <a:sym typeface="+mn-ea"/>
              </a:rPr>
            </a:br>
            <a:r>
              <a:rPr lang="en-US" altLang="zh-CN" sz="1800" strike="noStrike" noProof="1" dirty="0">
                <a:sym typeface="+mn-ea"/>
              </a:rPr>
              <a:t>1)SOL_SOCKET:</a:t>
            </a:r>
            <a:r>
              <a:rPr lang="zh-CN" altLang="en-US" sz="1800" strike="noStrike" noProof="1" dirty="0">
                <a:sym typeface="+mn-ea"/>
              </a:rPr>
              <a:t>通用套接字选项</a:t>
            </a:r>
            <a:r>
              <a:rPr lang="en-US" altLang="zh-CN" sz="1800" strike="noStrike" noProof="1" dirty="0">
                <a:sym typeface="+mn-ea"/>
              </a:rPr>
              <a:t>. </a:t>
            </a:r>
            <a:br>
              <a:rPr lang="en-US" altLang="zh-CN" sz="1800" dirty="0">
                <a:sym typeface="+mn-ea"/>
              </a:rPr>
            </a:br>
            <a:r>
              <a:rPr lang="en-US" altLang="zh-CN" sz="1800" strike="noStrike" noProof="1" dirty="0">
                <a:sym typeface="+mn-ea"/>
              </a:rPr>
              <a:t>2)IPPROTO_IP:IP</a:t>
            </a:r>
            <a:r>
              <a:rPr lang="zh-CN" altLang="en-US" sz="1800" strike="noStrike" noProof="1" dirty="0">
                <a:sym typeface="+mn-ea"/>
              </a:rPr>
              <a:t>选项</a:t>
            </a:r>
            <a:r>
              <a:rPr lang="en-US" altLang="zh-CN" sz="1800" strike="noStrike" noProof="1" dirty="0">
                <a:sym typeface="+mn-ea"/>
              </a:rPr>
              <a:t>. </a:t>
            </a:r>
            <a:br>
              <a:rPr lang="en-US" altLang="zh-CN" sz="1800" dirty="0">
                <a:sym typeface="+mn-ea"/>
              </a:rPr>
            </a:br>
            <a:r>
              <a:rPr lang="en-US" altLang="zh-CN" sz="1800" strike="noStrike" noProof="1" dirty="0">
                <a:sym typeface="+mn-ea"/>
              </a:rPr>
              <a:t>3)IPPROTO_TCP:TCP</a:t>
            </a:r>
            <a:r>
              <a:rPr lang="zh-CN" altLang="en-US" sz="1800" strike="noStrike" noProof="1" dirty="0">
                <a:sym typeface="+mn-ea"/>
              </a:rPr>
              <a:t>选项</a:t>
            </a:r>
            <a:r>
              <a:rPr lang="en-US" altLang="zh-CN" sz="1800" strike="noStrike" noProof="1" dirty="0">
                <a:sym typeface="+mn-ea"/>
              </a:rPr>
              <a:t>.</a:t>
            </a:r>
            <a:r>
              <a:rPr lang="zh-CN" altLang="en-US" sz="1800" strike="noStrike" noProof="1" dirty="0">
                <a:sym typeface="+mn-ea"/>
              </a:rPr>
              <a:t>　</a:t>
            </a:r>
            <a:br>
              <a:rPr lang="zh-CN" altLang="en-US" sz="1800" dirty="0">
                <a:sym typeface="+mn-ea"/>
              </a:rPr>
            </a:br>
            <a:r>
              <a:rPr lang="en-US" altLang="zh-CN" sz="1800" strike="noStrike" noProof="1" dirty="0">
                <a:sym typeface="+mn-ea"/>
              </a:rPr>
              <a:t>optname</a:t>
            </a:r>
            <a:r>
              <a:rPr lang="zh-CN" altLang="en-US" sz="1800" strike="noStrike" noProof="1" dirty="0">
                <a:sym typeface="+mn-ea"/>
              </a:rPr>
              <a:t>指定控制的方式</a:t>
            </a:r>
            <a:r>
              <a:rPr lang="en-US" altLang="zh-CN" sz="1800" strike="noStrike" noProof="1" dirty="0">
                <a:sym typeface="+mn-ea"/>
              </a:rPr>
              <a:t>(</a:t>
            </a:r>
            <a:r>
              <a:rPr lang="zh-CN" altLang="en-US" sz="1800" strike="noStrike" noProof="1" dirty="0">
                <a:sym typeface="+mn-ea"/>
              </a:rPr>
              <a:t>选项的名称</a:t>
            </a:r>
            <a:r>
              <a:rPr lang="en-US" altLang="zh-CN" sz="1800" strike="noStrike" noProof="1" dirty="0">
                <a:sym typeface="+mn-ea"/>
              </a:rPr>
              <a:t>),</a:t>
            </a:r>
            <a:r>
              <a:rPr lang="zh-CN" altLang="en-US" sz="1800" strike="noStrike" noProof="1" dirty="0">
                <a:sym typeface="+mn-ea"/>
              </a:rPr>
              <a:t>我们下面详细解释　</a:t>
            </a:r>
            <a:endParaRPr lang="zh-CN" altLang="en-US" sz="1800" strike="noStrike" noProof="1" dirty="0"/>
          </a:p>
          <a:p>
            <a:pPr eaLnBrk="1" fontAlgn="base" hangingPunct="1">
              <a:lnSpc>
                <a:spcPct val="90000"/>
              </a:lnSpc>
            </a:pPr>
            <a:r>
              <a:rPr lang="en-US" altLang="zh-CN" sz="1800" strike="noStrike" noProof="1" dirty="0">
                <a:sym typeface="+mn-ea"/>
              </a:rPr>
              <a:t>optval</a:t>
            </a:r>
            <a:r>
              <a:rPr lang="zh-CN" altLang="en-US" sz="1800" strike="noStrike" noProof="1" dirty="0">
                <a:sym typeface="+mn-ea"/>
              </a:rPr>
              <a:t>获得或者是设置套接字选项</a:t>
            </a:r>
            <a:r>
              <a:rPr lang="en-US" altLang="zh-CN" sz="1800" strike="noStrike" noProof="1" dirty="0">
                <a:sym typeface="+mn-ea"/>
              </a:rPr>
              <a:t>.</a:t>
            </a:r>
            <a:r>
              <a:rPr lang="zh-CN" altLang="en-US" sz="1800" strike="noStrike" noProof="1" dirty="0">
                <a:sym typeface="+mn-ea"/>
              </a:rPr>
              <a:t>根据选项名称的数据类型进行转换　</a:t>
            </a:r>
            <a:endParaRPr lang="zh-CN" altLang="en-US" sz="1800" strike="noStrike" noProof="1" dirty="0"/>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 </a:t>
            </a:r>
            <a:endParaRPr lang="en-US" altLang="zh-CN"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397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套接字属性设置</a:t>
            </a:r>
            <a:endParaRPr lang="zh-CN" altLang="en-US" sz="2000" b="1" dirty="0">
              <a:latin typeface="华文仿宋" panose="02010600040101010101" pitchFamily="2" charset="-122"/>
              <a:ea typeface="华文仿宋" panose="02010600040101010101" pitchFamily="2" charset="-122"/>
              <a:sym typeface="宋体" panose="02010600030101010101" pitchFamily="2" charset="-122"/>
            </a:endParaRPr>
          </a:p>
          <a:p>
            <a:pPr lvl="0" indent="-342900">
              <a:buNone/>
            </a:pP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在网络通信中，很多操作会使得进程阻塞</a:t>
            </a:r>
            <a:endParaRPr lang="zh-CN" altLang="en-US" sz="1800" strike="noStrike" noProof="1" dirty="0"/>
          </a:p>
          <a:p>
            <a:pPr eaLnBrk="1" fontAlgn="base" hangingPunct="1"/>
            <a:endParaRPr lang="zh-CN" altLang="en-US" sz="1800" strike="noStrike" noProof="1" dirty="0"/>
          </a:p>
          <a:p>
            <a:pPr eaLnBrk="1" fontAlgn="base" hangingPunct="1"/>
            <a:r>
              <a:rPr lang="en-US" altLang="zh-CN" sz="1800" strike="noStrike" noProof="1" dirty="0">
                <a:sym typeface="+mn-ea"/>
              </a:rPr>
              <a:t>TCP</a:t>
            </a:r>
            <a:r>
              <a:rPr lang="zh-CN" altLang="en-US" sz="1800" strike="noStrike" noProof="1" dirty="0">
                <a:sym typeface="+mn-ea"/>
              </a:rPr>
              <a:t>套接字中的</a:t>
            </a:r>
            <a:r>
              <a:rPr lang="en-US" altLang="zh-CN" sz="1800" strike="noStrike" noProof="1" dirty="0">
                <a:sym typeface="+mn-ea"/>
              </a:rPr>
              <a:t>recv/accept/connect</a:t>
            </a:r>
            <a:endParaRPr lang="en-US" altLang="zh-CN" sz="1800" strike="noStrike" noProof="1" dirty="0"/>
          </a:p>
          <a:p>
            <a:pPr eaLnBrk="1" fontAlgn="base" hangingPunct="1"/>
            <a:endParaRPr lang="en-US" altLang="zh-CN" sz="1800" strike="noStrike" noProof="1" dirty="0"/>
          </a:p>
          <a:p>
            <a:pPr eaLnBrk="1" fontAlgn="base" hangingPunct="1"/>
            <a:r>
              <a:rPr lang="en-US" altLang="zh-CN" sz="1800" strike="noStrike" noProof="1" dirty="0">
                <a:sym typeface="+mn-ea"/>
              </a:rPr>
              <a:t>UDP</a:t>
            </a:r>
            <a:r>
              <a:rPr lang="zh-CN" altLang="en-US" sz="1800" strike="noStrike" noProof="1" dirty="0">
                <a:sym typeface="+mn-ea"/>
              </a:rPr>
              <a:t>套接字中的</a:t>
            </a:r>
            <a:r>
              <a:rPr lang="en-US" altLang="zh-CN" sz="1800" strike="noStrike" noProof="1" dirty="0">
                <a:sym typeface="+mn-ea"/>
              </a:rPr>
              <a:t>recvfrom</a:t>
            </a:r>
            <a:endParaRPr lang="en-US" altLang="zh-CN" sz="1800" strike="noStrike" noProof="1" dirty="0"/>
          </a:p>
          <a:p>
            <a:pPr eaLnBrk="1" fontAlgn="base" hangingPunct="1"/>
            <a:endParaRPr lang="en-US" altLang="zh-CN" sz="1800" strike="noStrike" noProof="1" dirty="0"/>
          </a:p>
          <a:p>
            <a:pPr eaLnBrk="1" fontAlgn="base" hangingPunct="1"/>
            <a:r>
              <a:rPr lang="zh-CN" altLang="en-US" sz="1800" strike="noStrike" noProof="1" dirty="0">
                <a:sym typeface="+mn-ea"/>
              </a:rPr>
              <a:t>超时检测的必要性</a:t>
            </a:r>
            <a:endParaRPr lang="zh-CN" altLang="en-US" sz="1800" strike="noStrike" noProof="1" dirty="0"/>
          </a:p>
          <a:p>
            <a:pPr lvl="1" eaLnBrk="1" fontAlgn="base" hangingPunct="1">
              <a:lnSpc>
                <a:spcPct val="120000"/>
              </a:lnSpc>
            </a:pPr>
            <a:r>
              <a:rPr lang="zh-CN" altLang="en-US" sz="1800" strike="noStrike" noProof="1" dirty="0">
                <a:sym typeface="+mn-ea"/>
              </a:rPr>
              <a:t>避免进程在没有数据时无限制地阻塞</a:t>
            </a:r>
            <a:endParaRPr lang="zh-CN" altLang="en-US" sz="1800" strike="noStrike" noProof="1" dirty="0"/>
          </a:p>
          <a:p>
            <a:pPr lvl="1" eaLnBrk="1" fontAlgn="base" hangingPunct="1">
              <a:lnSpc>
                <a:spcPct val="120000"/>
              </a:lnSpc>
            </a:pPr>
            <a:r>
              <a:rPr lang="zh-CN" altLang="en-US" sz="1800" strike="noStrike" noProof="1" dirty="0">
                <a:sym typeface="+mn-ea"/>
              </a:rPr>
              <a:t>当设定的时间到时，进程从原操作返回继续运行</a:t>
            </a:r>
            <a:endParaRPr lang="zh-CN" altLang="en-US" sz="1800" strike="noStrike" noProof="1" dirty="0"/>
          </a:p>
          <a:p>
            <a:pPr eaLnBrk="1" fontAlgn="base" hangingPunct="1">
              <a:lnSpc>
                <a:spcPct val="90000"/>
              </a:lnSpc>
            </a:pPr>
            <a:r>
              <a:rPr lang="zh-CN" altLang="en-US" sz="1800" strike="noStrike" noProof="1" dirty="0">
                <a:sym typeface="+mn-ea"/>
              </a:rPr>
              <a:t>　</a:t>
            </a:r>
            <a:endParaRPr lang="zh-CN" altLang="en-US" sz="1800" strike="noStrike" noProof="1" dirty="0"/>
          </a:p>
          <a:p>
            <a:pPr eaLnBrk="1" fontAlgn="base" hangingPunct="1"/>
            <a:r>
              <a:rPr lang="zh-CN" altLang="en-US" sz="1800" b="1" strike="noStrike" noProof="1" dirty="0">
                <a:latin typeface="华文仿宋" panose="02010600040101010101" pitchFamily="2" charset="-122"/>
                <a:ea typeface="华文仿宋" panose="02010600040101010101" pitchFamily="2" charset="-122"/>
                <a:sym typeface="+mn-ea"/>
              </a:rPr>
              <a:t> </a:t>
            </a:r>
            <a:endParaRPr lang="en-US" altLang="zh-CN" sz="1800" b="1" strike="noStrike" noProof="1" dirty="0">
              <a:latin typeface="华文仿宋" panose="02010600040101010101" pitchFamily="2" charset="-122"/>
              <a:ea typeface="华文仿宋" panose="02010600040101010101" pitchFamily="2" charset="-122"/>
              <a:sym typeface="+mn-ea"/>
            </a:endParaRPr>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499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超时</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lnSpc>
                <a:spcPct val="90000"/>
              </a:lnSpc>
            </a:pPr>
            <a:r>
              <a:rPr lang="zh-CN" altLang="en-US" sz="1800" strike="noStrike" noProof="1" dirty="0">
                <a:sym typeface="+mn-ea"/>
              </a:rPr>
              <a:t>用</a:t>
            </a:r>
            <a:r>
              <a:rPr lang="en-US" altLang="zh-CN" sz="1800" strike="noStrike" noProof="1" dirty="0">
                <a:sym typeface="+mn-ea"/>
              </a:rPr>
              <a:t>select</a:t>
            </a:r>
            <a:r>
              <a:rPr lang="zh-CN" altLang="en-US" sz="1800" strike="noStrike" noProof="1" dirty="0">
                <a:sym typeface="+mn-ea"/>
              </a:rPr>
              <a:t>检测服务端监听</a:t>
            </a:r>
            <a:r>
              <a:rPr lang="en-US" altLang="zh-CN" sz="1800" strike="noStrike" noProof="1" dirty="0">
                <a:sym typeface="+mn-ea"/>
              </a:rPr>
              <a:t>socket</a:t>
            </a:r>
            <a:r>
              <a:rPr lang="zh-CN" altLang="en-US" sz="1800" strike="noStrike" noProof="1" dirty="0">
                <a:sym typeface="+mn-ea"/>
              </a:rPr>
              <a:t>是否</a:t>
            </a:r>
            <a:r>
              <a:rPr lang="zh-CN" altLang="en-US" sz="1800" strike="noStrike" noProof="1" dirty="0">
                <a:latin typeface="Arial" panose="020B0604020202020204" pitchFamily="34" charset="0"/>
                <a:sym typeface="+mn-ea"/>
              </a:rPr>
              <a:t>’</a:t>
            </a:r>
            <a:r>
              <a:rPr lang="en-US" altLang="zh-CN" sz="1800" strike="noStrike" noProof="1" dirty="0">
                <a:sym typeface="+mn-ea"/>
              </a:rPr>
              <a:t>ready</a:t>
            </a:r>
            <a:r>
              <a:rPr lang="en-US" altLang="zh-CN" sz="1800" strike="noStrike" noProof="1" dirty="0">
                <a:latin typeface="Arial" panose="020B0604020202020204" pitchFamily="34" charset="0"/>
                <a:sym typeface="+mn-ea"/>
              </a:rPr>
              <a:t>’</a:t>
            </a:r>
            <a:endParaRPr lang="en-US" altLang="zh-CN" sz="1800" strike="noStrike" noProof="1" dirty="0"/>
          </a:p>
          <a:p>
            <a:pPr eaLnBrk="1" fontAlgn="base" hangingPunct="1">
              <a:lnSpc>
                <a:spcPct val="90000"/>
              </a:lnSpc>
            </a:pPr>
            <a:endParaRPr lang="en-US" altLang="zh-CN" sz="1800" strike="noStrike" noProof="1" dirty="0"/>
          </a:p>
          <a:p>
            <a:pPr eaLnBrk="1" fontAlgn="base" hangingPunct="1">
              <a:lnSpc>
                <a:spcPct val="90000"/>
              </a:lnSpc>
            </a:pPr>
            <a:r>
              <a:rPr lang="zh-CN" altLang="en-US" sz="1800" strike="noStrike" noProof="1" dirty="0">
                <a:sym typeface="+mn-ea"/>
              </a:rPr>
              <a:t>参考代码如下</a:t>
            </a:r>
            <a:endParaRPr lang="zh-CN" altLang="en-US" sz="1800" strike="noStrike" noProof="1" dirty="0"/>
          </a:p>
          <a:p>
            <a:pPr eaLnBrk="1" fontAlgn="base" hangingPunct="1">
              <a:lnSpc>
                <a:spcPct val="90000"/>
              </a:lnSpc>
              <a:buNone/>
            </a:pPr>
            <a:r>
              <a:rPr lang="zh-CN" altLang="en-US" sz="1800" strike="noStrike" noProof="1" dirty="0">
                <a:sym typeface="+mn-ea"/>
              </a:rPr>
              <a:t>    </a:t>
            </a:r>
            <a:r>
              <a:rPr lang="en-US" altLang="zh-CN" sz="1800" strike="noStrike" noProof="1" dirty="0">
                <a:sym typeface="+mn-ea"/>
              </a:rPr>
              <a:t>struct fd_set rdfs;</a:t>
            </a:r>
            <a:endParaRPr lang="en-US" altLang="zh-CN" sz="1800" strike="noStrike" noProof="1" dirty="0"/>
          </a:p>
          <a:p>
            <a:pPr eaLnBrk="1" fontAlgn="base" hangingPunct="1">
              <a:lnSpc>
                <a:spcPct val="90000"/>
              </a:lnSpc>
              <a:buNone/>
            </a:pPr>
            <a:r>
              <a:rPr lang="en-US" altLang="zh-CN" sz="1800" strike="noStrike" noProof="1" dirty="0">
                <a:sym typeface="+mn-ea"/>
              </a:rPr>
              <a:t>    struct timeval  tv = {5 , 0};   // </a:t>
            </a:r>
            <a:r>
              <a:rPr lang="zh-CN" altLang="en-US" sz="1800" strike="noStrike" noProof="1" dirty="0">
                <a:sym typeface="+mn-ea"/>
              </a:rPr>
              <a:t>设置</a:t>
            </a:r>
            <a:r>
              <a:rPr lang="en-US" altLang="zh-CN" sz="1800" strike="noStrike" noProof="1" dirty="0">
                <a:sym typeface="+mn-ea"/>
              </a:rPr>
              <a:t>5</a:t>
            </a:r>
            <a:r>
              <a:rPr lang="zh-CN" altLang="en-US" sz="1800" strike="noStrike" noProof="1" dirty="0">
                <a:sym typeface="+mn-ea"/>
              </a:rPr>
              <a:t>秒时间</a:t>
            </a:r>
            <a:endParaRPr lang="zh-CN" altLang="en-US" sz="1800" strike="noStrike" noProof="1" dirty="0"/>
          </a:p>
          <a:p>
            <a:pPr eaLnBrk="1" fontAlgn="base" hangingPunct="1">
              <a:lnSpc>
                <a:spcPct val="90000"/>
              </a:lnSpc>
              <a:buNone/>
            </a:pPr>
            <a:endParaRPr lang="zh-CN" altLang="en-US" sz="1800" strike="noStrike" noProof="1" dirty="0"/>
          </a:p>
          <a:p>
            <a:pPr eaLnBrk="1" fontAlgn="base" hangingPunct="1">
              <a:lnSpc>
                <a:spcPct val="90000"/>
              </a:lnSpc>
              <a:buNone/>
            </a:pPr>
            <a:r>
              <a:rPr lang="zh-CN" altLang="en-US" sz="1800" strike="noStrike" noProof="1" dirty="0">
                <a:sym typeface="+mn-ea"/>
              </a:rPr>
              <a:t>    </a:t>
            </a:r>
            <a:r>
              <a:rPr lang="en-US" altLang="zh-CN" sz="1800" strike="noStrike" noProof="1" dirty="0">
                <a:sym typeface="+mn-ea"/>
              </a:rPr>
              <a:t>FD_ZERO(&amp;rdfs);</a:t>
            </a:r>
            <a:endParaRPr lang="en-US" altLang="zh-CN" sz="1800" strike="noStrike" noProof="1" dirty="0"/>
          </a:p>
          <a:p>
            <a:pPr eaLnBrk="1" fontAlgn="base" hangingPunct="1">
              <a:lnSpc>
                <a:spcPct val="90000"/>
              </a:lnSpc>
              <a:buNone/>
            </a:pPr>
            <a:r>
              <a:rPr lang="en-US" altLang="zh-CN" sz="1800" strike="noStrike" noProof="1" dirty="0">
                <a:sym typeface="+mn-ea"/>
              </a:rPr>
              <a:t>    FD_SET(sockfd, &amp;rdfs);</a:t>
            </a:r>
            <a:endParaRPr lang="en-US" altLang="zh-CN" sz="1800" strike="noStrike" noProof="1" dirty="0"/>
          </a:p>
          <a:p>
            <a:pPr eaLnBrk="1" fontAlgn="base" hangingPunct="1">
              <a:lnSpc>
                <a:spcPct val="90000"/>
              </a:lnSpc>
              <a:buNone/>
            </a:pPr>
            <a:endParaRPr lang="en-US" altLang="zh-CN" sz="1800" strike="noStrike" noProof="1" dirty="0"/>
          </a:p>
          <a:p>
            <a:pPr eaLnBrk="1" fontAlgn="base" hangingPunct="1">
              <a:lnSpc>
                <a:spcPct val="90000"/>
              </a:lnSpc>
              <a:buNone/>
            </a:pPr>
            <a:r>
              <a:rPr lang="en-US" altLang="zh-CN" sz="1800" strike="noStrike" noProof="1" dirty="0">
                <a:sym typeface="+mn-ea"/>
              </a:rPr>
              <a:t>    if (select(sockfd+1, &amp;rdfs, NULL, NULL, &amp;tv) &gt; 0)   // socket</a:t>
            </a:r>
            <a:r>
              <a:rPr lang="zh-CN" altLang="en-US" sz="1800" strike="noStrike" noProof="1" dirty="0">
                <a:sym typeface="+mn-ea"/>
              </a:rPr>
              <a:t>就绪</a:t>
            </a:r>
            <a:endParaRPr lang="zh-CN" altLang="en-US" sz="1800" strike="noStrike" noProof="1" dirty="0"/>
          </a:p>
          <a:p>
            <a:pPr eaLnBrk="1" fontAlgn="base" hangingPunct="1">
              <a:lnSpc>
                <a:spcPct val="90000"/>
              </a:lnSpc>
              <a:buNone/>
            </a:pPr>
            <a:r>
              <a:rPr lang="zh-CN" altLang="en-US" sz="1800" strike="noStrike" noProof="1" dirty="0">
                <a:sym typeface="+mn-ea"/>
              </a:rPr>
              <a:t>    </a:t>
            </a:r>
            <a:r>
              <a:rPr lang="en-US" altLang="zh-CN" sz="1800" strike="noStrike" noProof="1" dirty="0">
                <a:sym typeface="+mn-ea"/>
              </a:rPr>
              <a:t>{</a:t>
            </a:r>
            <a:endParaRPr lang="en-US" altLang="zh-CN" sz="1800" strike="noStrike" noProof="1" dirty="0"/>
          </a:p>
          <a:p>
            <a:pPr eaLnBrk="1" fontAlgn="base" hangingPunct="1">
              <a:lnSpc>
                <a:spcPct val="90000"/>
              </a:lnSpc>
              <a:buNone/>
            </a:pPr>
            <a:r>
              <a:rPr lang="en-US" altLang="zh-CN" sz="1800" strike="noStrike" noProof="1" dirty="0">
                <a:sym typeface="+mn-ea"/>
              </a:rPr>
              <a:t>          recv() /  recvfrom()    //  </a:t>
            </a:r>
            <a:r>
              <a:rPr lang="zh-CN" altLang="en-US" sz="1800" strike="noStrike" noProof="1" dirty="0">
                <a:sym typeface="+mn-ea"/>
              </a:rPr>
              <a:t>从</a:t>
            </a:r>
            <a:r>
              <a:rPr lang="en-US" altLang="zh-CN" sz="1800" strike="noStrike" noProof="1" dirty="0">
                <a:sym typeface="+mn-ea"/>
              </a:rPr>
              <a:t>socket</a:t>
            </a:r>
            <a:r>
              <a:rPr lang="zh-CN" altLang="en-US" sz="1800" strike="noStrike" noProof="1" dirty="0">
                <a:sym typeface="+mn-ea"/>
              </a:rPr>
              <a:t>读取数据</a:t>
            </a:r>
            <a:endParaRPr lang="zh-CN" altLang="en-US" sz="1800" strike="noStrike" noProof="1" dirty="0"/>
          </a:p>
          <a:p>
            <a:pPr eaLnBrk="1" fontAlgn="base" hangingPunct="1">
              <a:lnSpc>
                <a:spcPct val="90000"/>
              </a:lnSpc>
              <a:buNone/>
            </a:pPr>
            <a:r>
              <a:rPr lang="zh-CN" altLang="en-US" sz="1800" strike="noStrike" noProof="1" dirty="0">
                <a:sym typeface="+mn-ea"/>
              </a:rPr>
              <a:t>    </a:t>
            </a:r>
            <a:r>
              <a:rPr lang="en-US" altLang="zh-CN" sz="1800" strike="noStrike" noProof="1" dirty="0">
                <a:sym typeface="+mn-ea"/>
              </a:rPr>
              <a:t>}</a:t>
            </a:r>
            <a:endParaRPr lang="en-US" altLang="zh-CN" sz="1800" strike="noStrike" noProof="1" dirty="0"/>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601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超时</a:t>
            </a:r>
            <a:r>
              <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1</a:t>
            </a:r>
            <a:endPar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设置</a:t>
            </a:r>
            <a:r>
              <a:rPr lang="en-US" altLang="zh-CN" sz="1800" strike="noStrike" noProof="1" dirty="0">
                <a:sym typeface="+mn-ea"/>
              </a:rPr>
              <a:t>socket</a:t>
            </a:r>
            <a:r>
              <a:rPr lang="zh-CN" altLang="en-US" sz="1800" strike="noStrike" noProof="1" dirty="0">
                <a:sym typeface="+mn-ea"/>
              </a:rPr>
              <a:t>的属性 </a:t>
            </a:r>
            <a:r>
              <a:rPr lang="en-US" altLang="zh-CN" sz="1800" strike="noStrike" noProof="1" dirty="0">
                <a:sym typeface="+mn-ea"/>
              </a:rPr>
              <a:t>SO_RCVTIMEO</a:t>
            </a:r>
            <a:endParaRPr lang="en-US" altLang="zh-CN" sz="1800" strike="noStrike" noProof="1" dirty="0"/>
          </a:p>
          <a:p>
            <a:pPr eaLnBrk="1" fontAlgn="base" hangingPunct="1"/>
            <a:endParaRPr lang="en-US" altLang="zh-CN" sz="1800" strike="noStrike" noProof="1" dirty="0"/>
          </a:p>
          <a:p>
            <a:pPr eaLnBrk="1" fontAlgn="base" hangingPunct="1"/>
            <a:r>
              <a:rPr lang="zh-CN" altLang="en-US" sz="1800" strike="noStrike" noProof="1" dirty="0">
                <a:sym typeface="+mn-ea"/>
              </a:rPr>
              <a:t>参考代码如下</a:t>
            </a:r>
            <a:endParaRPr lang="zh-CN" altLang="en-US" sz="1800" strike="noStrike" noProof="1" dirty="0"/>
          </a:p>
          <a:p>
            <a:pPr eaLnBrk="1" fontAlgn="base" hangingPunct="1">
              <a:buNone/>
            </a:pPr>
            <a:r>
              <a:rPr lang="zh-CN" altLang="en-US" sz="1800" strike="noStrike" noProof="1" dirty="0">
                <a:sym typeface="+mn-ea"/>
              </a:rPr>
              <a:t>    </a:t>
            </a:r>
            <a:r>
              <a:rPr lang="en-US" altLang="zh-CN" sz="1800" strike="noStrike" noProof="1" dirty="0">
                <a:sym typeface="+mn-ea"/>
              </a:rPr>
              <a:t>struct timeval  tv;</a:t>
            </a:r>
            <a:endParaRPr lang="en-US" altLang="zh-CN" sz="1800" strike="noStrike" noProof="1" dirty="0"/>
          </a:p>
          <a:p>
            <a:pPr eaLnBrk="1" fontAlgn="base" hangingPunct="1">
              <a:buNone/>
            </a:pPr>
            <a:endParaRPr lang="en-US" altLang="zh-CN" sz="1800" strike="noStrike" noProof="1" dirty="0"/>
          </a:p>
          <a:p>
            <a:pPr eaLnBrk="1" fontAlgn="base" hangingPunct="1">
              <a:buNone/>
            </a:pPr>
            <a:r>
              <a:rPr lang="en-US" altLang="zh-CN" sz="1800" strike="noStrike" noProof="1" dirty="0">
                <a:sym typeface="+mn-ea"/>
              </a:rPr>
              <a:t>     tv.tv_sec = 5;   //  </a:t>
            </a:r>
            <a:r>
              <a:rPr lang="zh-CN" altLang="en-US" sz="1800" strike="noStrike" noProof="1" dirty="0">
                <a:sym typeface="+mn-ea"/>
              </a:rPr>
              <a:t>设置</a:t>
            </a:r>
            <a:r>
              <a:rPr lang="en-US" altLang="zh-CN" sz="1800" strike="noStrike" noProof="1" dirty="0">
                <a:sym typeface="+mn-ea"/>
              </a:rPr>
              <a:t>5</a:t>
            </a:r>
            <a:r>
              <a:rPr lang="zh-CN" altLang="en-US" sz="1800" strike="noStrike" noProof="1" dirty="0">
                <a:sym typeface="+mn-ea"/>
              </a:rPr>
              <a:t>秒时间</a:t>
            </a:r>
            <a:endParaRPr lang="zh-CN" altLang="en-US" sz="1800" strike="noStrike" noProof="1" dirty="0"/>
          </a:p>
          <a:p>
            <a:pPr eaLnBrk="1" fontAlgn="base" hangingPunct="1">
              <a:buNone/>
            </a:pPr>
            <a:r>
              <a:rPr lang="zh-CN" altLang="en-US" sz="1800" strike="noStrike" noProof="1" dirty="0">
                <a:sym typeface="+mn-ea"/>
              </a:rPr>
              <a:t>     </a:t>
            </a:r>
            <a:r>
              <a:rPr lang="en-US" altLang="zh-CN" sz="1800" strike="noStrike" noProof="1" dirty="0">
                <a:sym typeface="+mn-ea"/>
              </a:rPr>
              <a:t>tv.tv_usec = 0;</a:t>
            </a:r>
            <a:endParaRPr lang="en-US" altLang="zh-CN" sz="1800" strike="noStrike" noProof="1" dirty="0"/>
          </a:p>
          <a:p>
            <a:pPr eaLnBrk="1" fontAlgn="base" hangingPunct="1">
              <a:buNone/>
            </a:pPr>
            <a:endParaRPr lang="en-US" altLang="zh-CN" sz="1800" strike="noStrike" noProof="1" dirty="0"/>
          </a:p>
          <a:p>
            <a:pPr eaLnBrk="1" fontAlgn="base" hangingPunct="1">
              <a:buNone/>
            </a:pPr>
            <a:r>
              <a:rPr lang="en-US" altLang="zh-CN" sz="1800" strike="noStrike" noProof="1" dirty="0">
                <a:sym typeface="+mn-ea"/>
              </a:rPr>
              <a:t>     setsockopt(sockfd, SOL_SOCKET, SO_RCVTIMEO,  &amp;tv,  </a:t>
            </a:r>
            <a:endParaRPr lang="en-US" altLang="zh-CN" sz="1800" strike="noStrike" noProof="1" dirty="0"/>
          </a:p>
          <a:p>
            <a:pPr eaLnBrk="1" fontAlgn="base" hangingPunct="1">
              <a:buNone/>
            </a:pPr>
            <a:r>
              <a:rPr lang="en-US" altLang="zh-CN" sz="1800" strike="noStrike" noProof="1" dirty="0">
                <a:sym typeface="+mn-ea"/>
              </a:rPr>
              <a:t>                       sizeof(tv));     //  </a:t>
            </a:r>
            <a:r>
              <a:rPr lang="zh-CN" altLang="en-US" sz="1800" strike="noStrike" noProof="1" dirty="0">
                <a:sym typeface="+mn-ea"/>
              </a:rPr>
              <a:t>设置接收超时</a:t>
            </a:r>
            <a:endParaRPr lang="zh-CN" altLang="en-US" sz="1800" strike="noStrike" noProof="1" dirty="0"/>
          </a:p>
          <a:p>
            <a:pPr eaLnBrk="1" fontAlgn="base" hangingPunct="1">
              <a:buNone/>
            </a:pPr>
            <a:r>
              <a:rPr lang="zh-CN" altLang="en-US" sz="1800" strike="noStrike" noProof="1" dirty="0">
                <a:sym typeface="+mn-ea"/>
              </a:rPr>
              <a:t>      </a:t>
            </a:r>
            <a:r>
              <a:rPr lang="en-US" altLang="zh-CN" sz="1800" strike="noStrike" noProof="1" dirty="0">
                <a:sym typeface="+mn-ea"/>
              </a:rPr>
              <a:t>recv() / recvfrom()          //   </a:t>
            </a:r>
            <a:r>
              <a:rPr lang="zh-CN" altLang="en-US" sz="1800" strike="noStrike" noProof="1" dirty="0">
                <a:sym typeface="+mn-ea"/>
              </a:rPr>
              <a:t>从</a:t>
            </a:r>
            <a:r>
              <a:rPr lang="en-US" altLang="zh-CN" sz="1800" strike="noStrike" noProof="1" dirty="0">
                <a:sym typeface="+mn-ea"/>
              </a:rPr>
              <a:t>socket</a:t>
            </a:r>
            <a:r>
              <a:rPr lang="zh-CN" altLang="en-US" sz="1800" strike="noStrike" noProof="1" dirty="0">
                <a:sym typeface="+mn-ea"/>
              </a:rPr>
              <a:t>读取数据</a:t>
            </a:r>
            <a:endParaRPr lang="zh-CN" altLang="en-US" sz="1800" strike="noStrike" noProof="1" dirty="0"/>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704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超时</a:t>
            </a:r>
            <a:r>
              <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2</a:t>
            </a:r>
            <a:endPar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设置定时器</a:t>
            </a:r>
            <a:r>
              <a:rPr lang="en-US" altLang="zh-CN" sz="1800" strike="noStrike" noProof="1" dirty="0">
                <a:sym typeface="+mn-ea"/>
              </a:rPr>
              <a:t>(timer), </a:t>
            </a:r>
            <a:r>
              <a:rPr lang="zh-CN" altLang="en-US" sz="1800" strike="noStrike" noProof="1" dirty="0">
                <a:sym typeface="+mn-ea"/>
              </a:rPr>
              <a:t>捕捉</a:t>
            </a:r>
            <a:r>
              <a:rPr lang="en-US" altLang="zh-CN" sz="1800" strike="noStrike" noProof="1" dirty="0">
                <a:sym typeface="+mn-ea"/>
              </a:rPr>
              <a:t>SIGALRM</a:t>
            </a:r>
            <a:r>
              <a:rPr lang="zh-CN" altLang="en-US" sz="1800" strike="noStrike" noProof="1" dirty="0">
                <a:sym typeface="+mn-ea"/>
              </a:rPr>
              <a:t>信号</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参考代码如下</a:t>
            </a:r>
            <a:endParaRPr lang="zh-CN" altLang="en-US" sz="1800" strike="noStrike" noProof="1" dirty="0"/>
          </a:p>
          <a:p>
            <a:pPr eaLnBrk="1" fontAlgn="base" hangingPunct="1">
              <a:lnSpc>
                <a:spcPct val="80000"/>
              </a:lnSpc>
              <a:buNone/>
            </a:pPr>
            <a:r>
              <a:rPr lang="zh-CN" altLang="en-US" sz="1800" strike="noStrike" noProof="1" dirty="0">
                <a:sym typeface="+mn-ea"/>
              </a:rPr>
              <a:t>    </a:t>
            </a:r>
            <a:r>
              <a:rPr lang="en-US" altLang="zh-CN" sz="1800" strike="noStrike" noProof="1" dirty="0">
                <a:sym typeface="+mn-ea"/>
              </a:rPr>
              <a:t>void  handler(int signo)     {   return;  }</a:t>
            </a:r>
            <a:endParaRPr lang="en-US" altLang="zh-CN" sz="1800" strike="noStrike" noProof="1" dirty="0"/>
          </a:p>
          <a:p>
            <a:pPr eaLnBrk="1" fontAlgn="base" hangingPunct="1">
              <a:lnSpc>
                <a:spcPct val="80000"/>
              </a:lnSpc>
              <a:buNone/>
            </a:pPr>
            <a:endParaRPr lang="en-US" altLang="zh-CN" sz="1800" strike="noStrike" noProof="1" dirty="0"/>
          </a:p>
          <a:p>
            <a:pPr eaLnBrk="1" fontAlgn="base" hangingPunct="1">
              <a:lnSpc>
                <a:spcPct val="80000"/>
              </a:lnSpc>
              <a:buNone/>
            </a:pPr>
            <a:r>
              <a:rPr lang="en-US" altLang="zh-CN" sz="1800" strike="noStrike" noProof="1" dirty="0">
                <a:sym typeface="+mn-ea"/>
              </a:rPr>
              <a:t>      struct sigaction  act;</a:t>
            </a:r>
            <a:endParaRPr lang="en-US" altLang="zh-CN" sz="1800" strike="noStrike" noProof="1" dirty="0"/>
          </a:p>
          <a:p>
            <a:pPr eaLnBrk="1" fontAlgn="base" hangingPunct="1">
              <a:buNone/>
            </a:pPr>
            <a:r>
              <a:rPr lang="en-US" altLang="zh-CN" sz="1800" strike="noStrike" noProof="1" dirty="0">
                <a:sym typeface="+mn-ea"/>
              </a:rPr>
              <a:t>      sigaction(SIGALRM, NULL, &amp;act);</a:t>
            </a:r>
            <a:endParaRPr lang="en-US" altLang="zh-CN" sz="1800" strike="noStrike" noProof="1" dirty="0"/>
          </a:p>
          <a:p>
            <a:pPr eaLnBrk="1" fontAlgn="base" hangingPunct="1">
              <a:buNone/>
            </a:pPr>
            <a:r>
              <a:rPr lang="en-US" altLang="zh-CN" sz="1800" strike="noStrike" noProof="1" dirty="0">
                <a:sym typeface="+mn-ea"/>
              </a:rPr>
              <a:t>      act.sa_handler = handler;</a:t>
            </a:r>
            <a:endParaRPr lang="en-US" altLang="zh-CN" sz="1800" strike="noStrike" noProof="1" dirty="0"/>
          </a:p>
          <a:p>
            <a:pPr eaLnBrk="1" fontAlgn="base" hangingPunct="1">
              <a:buNone/>
            </a:pPr>
            <a:r>
              <a:rPr lang="en-US" altLang="zh-CN" sz="1800" strike="noStrike" noProof="1" dirty="0">
                <a:sym typeface="+mn-ea"/>
              </a:rPr>
              <a:t>      act.sa_flags &amp;= ~SA_RESTART;</a:t>
            </a:r>
            <a:endParaRPr lang="en-US" altLang="zh-CN" sz="1800" strike="noStrike" noProof="1" dirty="0"/>
          </a:p>
          <a:p>
            <a:pPr eaLnBrk="1" fontAlgn="base" hangingPunct="1">
              <a:buNone/>
            </a:pPr>
            <a:r>
              <a:rPr lang="en-US" altLang="zh-CN" sz="1800" strike="noStrike" noProof="1" dirty="0">
                <a:sym typeface="+mn-ea"/>
              </a:rPr>
              <a:t>      sigaction(SIGALRM, &amp;act, NULL);</a:t>
            </a:r>
            <a:endParaRPr lang="en-US" altLang="zh-CN" sz="1800" strike="noStrike" noProof="1" dirty="0"/>
          </a:p>
          <a:p>
            <a:pPr eaLnBrk="1" fontAlgn="base" hangingPunct="1">
              <a:buNone/>
            </a:pPr>
            <a:r>
              <a:rPr lang="en-US" altLang="zh-CN" sz="1800" strike="noStrike" noProof="1" dirty="0">
                <a:sym typeface="+mn-ea"/>
              </a:rPr>
              <a:t>      alarm(5);</a:t>
            </a:r>
            <a:endParaRPr lang="en-US" altLang="zh-CN" sz="1800" strike="noStrike" noProof="1" dirty="0"/>
          </a:p>
          <a:p>
            <a:pPr eaLnBrk="1" fontAlgn="base" hangingPunct="1">
              <a:buNone/>
            </a:pPr>
            <a:r>
              <a:rPr lang="en-US" altLang="zh-CN" sz="1800" strike="noStrike" noProof="1" dirty="0">
                <a:sym typeface="+mn-ea"/>
              </a:rPr>
              <a:t>      if (recv(,,,) &lt; 0) ……</a:t>
            </a:r>
            <a:endParaRPr lang="en-US" altLang="zh-CN" sz="1800" strike="noStrike" noProof="1" dirty="0"/>
          </a:p>
          <a:p>
            <a:pPr eaLnBrk="1" fontAlgn="base" hangingPunct="1"/>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8806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超时</a:t>
            </a:r>
            <a:r>
              <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rPr>
              <a:t>2</a:t>
            </a:r>
            <a:endParaRPr lang="en-US" altLang="zh-CN" sz="2000" b="1" dirty="0">
              <a:solidFill>
                <a:srgbClr val="FF0000"/>
              </a:solidFill>
              <a:latin typeface="华文仿宋" panose="02010600040101010101" pitchFamily="2" charset="-122"/>
              <a:ea typeface="华文仿宋" panose="02010600040101010101" pitchFamily="2" charset="-122"/>
              <a:sym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solidFill>
                <a:srgbClr val="FF0000"/>
              </a:solidFill>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超时</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solidFill>
                  <a:srgbClr val="FF0000"/>
                </a:solidFill>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UNIX</a:t>
            </a:r>
            <a:r>
              <a:rPr lang="zh-CN" altLang="en-US" sz="1800" dirty="0">
                <a:latin typeface="宋体" panose="02010600030101010101" pitchFamily="2" charset="-122"/>
                <a:sym typeface="宋体" panose="02010600030101010101" pitchFamily="2" charset="-122"/>
              </a:rPr>
              <a:t>域套接字</a:t>
            </a:r>
            <a:endParaRPr lang="en-US" altLang="zh-CN" sz="1800" dirty="0">
              <a:latin typeface="宋体" panose="02010600030101010101" pitchFamily="2" charset="-122"/>
            </a:endParaRPr>
          </a:p>
        </p:txBody>
      </p:sp>
      <p:sp>
        <p:nvSpPr>
          <p:cNvPr id="8909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前面介绍的数据包发送方式只有一个接受方，称为单播</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如果同时发给局域网中的所有主机，称为广播</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只有用户数据报</a:t>
            </a:r>
            <a:r>
              <a:rPr lang="en-US" altLang="zh-CN" sz="1800" strike="noStrike" noProof="1" dirty="0">
                <a:sym typeface="+mn-ea"/>
              </a:rPr>
              <a:t>(</a:t>
            </a:r>
            <a:r>
              <a:rPr lang="zh-CN" altLang="en-US" sz="1800" strike="noStrike" noProof="1" dirty="0">
                <a:sym typeface="+mn-ea"/>
              </a:rPr>
              <a:t>使用</a:t>
            </a:r>
            <a:r>
              <a:rPr lang="en-US" altLang="zh-CN" sz="1800" strike="noStrike" noProof="1" dirty="0">
                <a:sym typeface="+mn-ea"/>
              </a:rPr>
              <a:t>UDP</a:t>
            </a:r>
            <a:r>
              <a:rPr lang="zh-CN" altLang="en-US" sz="1800" strike="noStrike" noProof="1" dirty="0">
                <a:sym typeface="+mn-ea"/>
              </a:rPr>
              <a:t>协议</a:t>
            </a:r>
            <a:r>
              <a:rPr lang="en-US" altLang="zh-CN" sz="1800" strike="noStrike" noProof="1" dirty="0">
                <a:sym typeface="+mn-ea"/>
              </a:rPr>
              <a:t>)</a:t>
            </a:r>
            <a:r>
              <a:rPr lang="zh-CN" altLang="en-US" sz="1800" strike="noStrike" noProof="1" dirty="0">
                <a:sym typeface="+mn-ea"/>
              </a:rPr>
              <a:t>套接字才能广播</a:t>
            </a:r>
            <a:endParaRPr lang="zh-CN" altLang="en-US" sz="1800" strike="noStrike" noProof="1" dirty="0"/>
          </a:p>
          <a:p>
            <a:pPr eaLnBrk="1" fontAlgn="base" hangingPunct="1">
              <a:buNone/>
            </a:pPr>
            <a:endParaRPr lang="zh-CN" altLang="en-US" sz="1800" strike="noStrike" noProof="1" dirty="0"/>
          </a:p>
          <a:p>
            <a:pPr eaLnBrk="1" fontAlgn="base" hangingPunct="1"/>
            <a:r>
              <a:rPr lang="zh-CN" altLang="en-US" sz="1800" strike="noStrike" noProof="1" dirty="0">
                <a:sym typeface="+mn-ea"/>
              </a:rPr>
              <a:t>广播地址</a:t>
            </a:r>
            <a:endParaRPr lang="zh-CN" altLang="en-US" sz="1800" strike="noStrike" noProof="1" dirty="0"/>
          </a:p>
          <a:p>
            <a:pPr lvl="1" eaLnBrk="1" fontAlgn="base" hangingPunct="1">
              <a:lnSpc>
                <a:spcPct val="120000"/>
              </a:lnSpc>
            </a:pPr>
            <a:r>
              <a:rPr lang="zh-CN" altLang="en-US" sz="1800" strike="noStrike" noProof="1" dirty="0">
                <a:sym typeface="+mn-ea"/>
              </a:rPr>
              <a:t>以</a:t>
            </a:r>
            <a:r>
              <a:rPr lang="en-US" altLang="zh-CN" sz="1800" strike="noStrike" noProof="1" dirty="0">
                <a:sym typeface="+mn-ea"/>
              </a:rPr>
              <a:t>192.168.1.0 (255.255.255.0) </a:t>
            </a:r>
            <a:r>
              <a:rPr lang="zh-CN" altLang="en-US" sz="1800" strike="noStrike" noProof="1" dirty="0">
                <a:sym typeface="+mn-ea"/>
              </a:rPr>
              <a:t>网段为例，最大的主机地址</a:t>
            </a:r>
            <a:r>
              <a:rPr lang="en-US" altLang="zh-CN" sz="1800" strike="noStrike" noProof="1" dirty="0">
                <a:sym typeface="+mn-ea"/>
              </a:rPr>
              <a:t>192.168.1.255</a:t>
            </a:r>
            <a:r>
              <a:rPr lang="zh-CN" altLang="en-US" sz="1800" strike="noStrike" noProof="1" dirty="0">
                <a:sym typeface="+mn-ea"/>
              </a:rPr>
              <a:t>代表该网段的广播地址</a:t>
            </a:r>
            <a:endParaRPr lang="zh-CN" altLang="en-US" sz="1800" strike="noStrike" noProof="1" dirty="0"/>
          </a:p>
          <a:p>
            <a:pPr lvl="1" eaLnBrk="1" fontAlgn="base" hangingPunct="1">
              <a:lnSpc>
                <a:spcPct val="120000"/>
              </a:lnSpc>
            </a:pPr>
            <a:r>
              <a:rPr lang="zh-CN" altLang="en-US" sz="1800" strike="noStrike" noProof="1" dirty="0">
                <a:sym typeface="+mn-ea"/>
              </a:rPr>
              <a:t>发到该地址的数据包被所有的主机接收</a:t>
            </a:r>
            <a:endParaRPr lang="zh-CN" altLang="en-US" sz="1800" strike="noStrike" noProof="1" dirty="0"/>
          </a:p>
          <a:p>
            <a:pPr lvl="1" eaLnBrk="1" fontAlgn="base" hangingPunct="1">
              <a:lnSpc>
                <a:spcPct val="120000"/>
              </a:lnSpc>
            </a:pPr>
            <a:r>
              <a:rPr lang="en-US" altLang="zh-CN" sz="1800" strike="noStrike" noProof="1" dirty="0">
                <a:sym typeface="+mn-ea"/>
              </a:rPr>
              <a:t>255.255.255.255</a:t>
            </a:r>
            <a:r>
              <a:rPr lang="zh-CN" altLang="en-US" sz="1800" strike="noStrike" noProof="1" dirty="0">
                <a:sym typeface="+mn-ea"/>
              </a:rPr>
              <a:t>在所有网段中都代表广播地址</a:t>
            </a:r>
            <a:endParaRPr lang="zh-CN" altLang="en-US" sz="1800" b="1" strike="noStrike" noProof="1" dirty="0">
              <a:latin typeface="华文仿宋" panose="02010600040101010101" pitchFamily="2" charset="-122"/>
              <a:ea typeface="华文仿宋" panose="02010600040101010101" pitchFamily="2" charset="-122"/>
              <a:sym typeface="+mn-ea"/>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011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广播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创建用户数据报套接字</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缺省创建的套接字不允许广播数据包，需要设置属性</a:t>
            </a:r>
            <a:endParaRPr lang="zh-CN" altLang="en-US" sz="1800" strike="noStrike" noProof="1" dirty="0"/>
          </a:p>
          <a:p>
            <a:pPr lvl="1" eaLnBrk="1" fontAlgn="base" hangingPunct="1"/>
            <a:r>
              <a:rPr lang="en-US" altLang="zh-CN" sz="1800" strike="noStrike" noProof="1" dirty="0">
                <a:sym typeface="+mn-ea"/>
              </a:rPr>
              <a:t>setsockopt</a:t>
            </a:r>
            <a:r>
              <a:rPr lang="zh-CN" altLang="en-US" sz="1800" strike="noStrike" noProof="1" dirty="0">
                <a:sym typeface="+mn-ea"/>
              </a:rPr>
              <a:t>可以设置套接字属性</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接收方地址指定为广播地址</a:t>
            </a:r>
            <a:endParaRPr lang="zh-CN" altLang="en-US" sz="1800" strike="noStrike" noProof="1" dirty="0"/>
          </a:p>
          <a:p>
            <a:pPr eaLnBrk="1" fontAlgn="base" hangingPunct="1">
              <a:buNone/>
            </a:pPr>
            <a:endParaRPr lang="zh-CN" altLang="en-US" sz="1800" strike="noStrike" noProof="1" dirty="0"/>
          </a:p>
          <a:p>
            <a:pPr eaLnBrk="1" fontAlgn="base" hangingPunct="1"/>
            <a:r>
              <a:rPr lang="zh-CN" altLang="en-US" sz="1800" strike="noStrike" noProof="1" dirty="0">
                <a:sym typeface="+mn-ea"/>
              </a:rPr>
              <a:t>指定端口信息</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发送数据包</a:t>
            </a:r>
            <a:endParaRPr lang="zh-CN" altLang="en-US"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113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广播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en-US" altLang="zh-CN" sz="1800" strike="noStrike" noProof="1" dirty="0">
                <a:sym typeface="+mn-ea"/>
              </a:rPr>
              <a:t>int  setsockopt(int  s,  int level,  int  optname, const void *optval, socklen_t  optlen);</a:t>
            </a:r>
            <a:endParaRPr lang="en-US" altLang="zh-CN" sz="1800" strike="noStrike" noProof="1" dirty="0"/>
          </a:p>
          <a:p>
            <a:pPr lvl="1" eaLnBrk="1" fontAlgn="base" hangingPunct="1">
              <a:lnSpc>
                <a:spcPct val="130000"/>
              </a:lnSpc>
            </a:pPr>
            <a:r>
              <a:rPr lang="zh-CN" altLang="en-US" sz="1800" strike="noStrike" noProof="1" dirty="0">
                <a:sym typeface="+mn-ea"/>
              </a:rPr>
              <a:t>头文件：</a:t>
            </a:r>
            <a:r>
              <a:rPr lang="en-US" altLang="zh-CN" sz="1800" strike="noStrike" noProof="1" dirty="0">
                <a:sym typeface="+mn-ea"/>
              </a:rPr>
              <a:t>&lt;sys/socket.h&gt;</a:t>
            </a:r>
            <a:endParaRPr lang="en-US" altLang="zh-CN" sz="1800" strike="noStrike" noProof="1" dirty="0"/>
          </a:p>
          <a:p>
            <a:pPr lvl="1" eaLnBrk="1" fontAlgn="base" hangingPunct="1">
              <a:lnSpc>
                <a:spcPct val="130000"/>
              </a:lnSpc>
            </a:pPr>
            <a:r>
              <a:rPr lang="en-US" altLang="zh-CN" sz="1800" strike="noStrike" noProof="1" dirty="0">
                <a:sym typeface="+mn-ea"/>
              </a:rPr>
              <a:t>level : </a:t>
            </a:r>
            <a:r>
              <a:rPr lang="zh-CN" altLang="en-US" sz="1800" strike="noStrike" noProof="1" dirty="0">
                <a:sym typeface="+mn-ea"/>
              </a:rPr>
              <a:t>选项级别（例如</a:t>
            </a:r>
            <a:r>
              <a:rPr lang="en-US" altLang="zh-CN" sz="1800" strike="noStrike" noProof="1" dirty="0">
                <a:sym typeface="+mn-ea"/>
              </a:rPr>
              <a:t>SOL_SOCKET</a:t>
            </a:r>
            <a:r>
              <a:rPr lang="zh-CN" altLang="en-US" sz="1800" strike="noStrike" noProof="1" dirty="0">
                <a:sym typeface="+mn-ea"/>
              </a:rPr>
              <a:t>）</a:t>
            </a:r>
            <a:endParaRPr lang="zh-CN" altLang="en-US" sz="1800" strike="noStrike" noProof="1" dirty="0"/>
          </a:p>
          <a:p>
            <a:pPr lvl="1" eaLnBrk="1" fontAlgn="base" hangingPunct="1">
              <a:lnSpc>
                <a:spcPct val="130000"/>
              </a:lnSpc>
            </a:pPr>
            <a:r>
              <a:rPr lang="en-US" altLang="zh-CN" sz="1800" strike="noStrike" noProof="1" dirty="0">
                <a:sym typeface="+mn-ea"/>
              </a:rPr>
              <a:t>optname : </a:t>
            </a:r>
            <a:r>
              <a:rPr lang="zh-CN" altLang="en-US" sz="1800" strike="noStrike" noProof="1" dirty="0">
                <a:sym typeface="+mn-ea"/>
              </a:rPr>
              <a:t>选项名（例如</a:t>
            </a:r>
            <a:r>
              <a:rPr lang="en-US" altLang="zh-CN" sz="1800" strike="noStrike" noProof="1" dirty="0">
                <a:sym typeface="+mn-ea"/>
              </a:rPr>
              <a:t>SO_BROADCAST</a:t>
            </a:r>
            <a:r>
              <a:rPr lang="zh-CN" altLang="en-US" sz="1800" strike="noStrike" noProof="1" dirty="0">
                <a:sym typeface="+mn-ea"/>
              </a:rPr>
              <a:t>）</a:t>
            </a:r>
            <a:endParaRPr lang="zh-CN" altLang="en-US" sz="1800" strike="noStrike" noProof="1" dirty="0"/>
          </a:p>
          <a:p>
            <a:pPr lvl="1" eaLnBrk="1" fontAlgn="base" hangingPunct="1">
              <a:lnSpc>
                <a:spcPct val="130000"/>
              </a:lnSpc>
            </a:pPr>
            <a:r>
              <a:rPr lang="en-US" altLang="zh-CN" sz="1800" strike="noStrike" noProof="1" dirty="0">
                <a:sym typeface="+mn-ea"/>
              </a:rPr>
              <a:t>optval : </a:t>
            </a:r>
            <a:r>
              <a:rPr lang="zh-CN" altLang="en-US" sz="1800" strike="noStrike" noProof="1" dirty="0">
                <a:sym typeface="+mn-ea"/>
              </a:rPr>
              <a:t>存放选项值的缓冲区的地址</a:t>
            </a:r>
            <a:endParaRPr lang="zh-CN" altLang="en-US" sz="1800" strike="noStrike" noProof="1" dirty="0"/>
          </a:p>
          <a:p>
            <a:pPr lvl="1" eaLnBrk="1" fontAlgn="base" hangingPunct="1">
              <a:lnSpc>
                <a:spcPct val="130000"/>
              </a:lnSpc>
            </a:pPr>
            <a:r>
              <a:rPr lang="en-US" altLang="zh-CN" sz="1800" strike="noStrike" noProof="1" dirty="0">
                <a:sym typeface="+mn-ea"/>
              </a:rPr>
              <a:t>optlen : </a:t>
            </a:r>
            <a:r>
              <a:rPr lang="zh-CN" altLang="en-US" sz="1800" strike="noStrike" noProof="1" dirty="0">
                <a:sym typeface="+mn-ea"/>
              </a:rPr>
              <a:t>缓冲区长度</a:t>
            </a:r>
            <a:endParaRPr lang="zh-CN" altLang="en-US" sz="1800" strike="noStrike" noProof="1" dirty="0"/>
          </a:p>
          <a:p>
            <a:pPr lvl="1" eaLnBrk="1" fontAlgn="base" hangingPunct="1">
              <a:lnSpc>
                <a:spcPct val="130000"/>
              </a:lnSpc>
            </a:pPr>
            <a:r>
              <a:rPr lang="zh-CN" altLang="en-US" sz="1800" strike="noStrike" noProof="1" dirty="0">
                <a:sym typeface="+mn-ea"/>
              </a:rPr>
              <a:t>返回值：成功返回</a:t>
            </a:r>
            <a:r>
              <a:rPr lang="en-US" altLang="zh-CN" sz="1800" strike="noStrike" noProof="1" dirty="0">
                <a:sym typeface="+mn-ea"/>
              </a:rPr>
              <a:t>0   </a:t>
            </a:r>
            <a:r>
              <a:rPr lang="zh-CN" altLang="en-US" sz="1800" strike="noStrike" noProof="1" dirty="0">
                <a:sym typeface="+mn-ea"/>
              </a:rPr>
              <a:t>失败返回</a:t>
            </a:r>
            <a:r>
              <a:rPr lang="en-US" altLang="zh-CN" sz="1800" strike="noStrike" noProof="1" dirty="0">
                <a:sym typeface="+mn-ea"/>
              </a:rPr>
              <a:t>-1</a:t>
            </a:r>
            <a:r>
              <a:rPr lang="zh-CN" altLang="en-US" sz="1800" strike="noStrike" noProof="1" dirty="0">
                <a:sym typeface="+mn-ea"/>
              </a:rPr>
              <a:t>并设置</a:t>
            </a:r>
            <a:r>
              <a:rPr lang="en-US" altLang="zh-CN" sz="1800" strike="noStrike" noProof="1" dirty="0">
                <a:sym typeface="+mn-ea"/>
              </a:rPr>
              <a:t>errno</a:t>
            </a:r>
            <a:endParaRPr lang="en-US" altLang="zh-CN"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216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广播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buNone/>
            </a:pPr>
            <a:r>
              <a:rPr lang="en-US" altLang="zh-CN" sz="1800" strike="noStrike" noProof="1" dirty="0">
                <a:sym typeface="+mn-ea"/>
              </a:rPr>
              <a:t>sockfd = socket(,,);</a:t>
            </a:r>
            <a:endParaRPr lang="en-US" altLang="zh-CN" sz="1800" strike="noStrike" noProof="1" dirty="0"/>
          </a:p>
          <a:p>
            <a:pPr eaLnBrk="1" fontAlgn="base" hangingPunct="1">
              <a:buNone/>
            </a:pPr>
            <a:r>
              <a:rPr lang="en-US" altLang="zh-CN" sz="1800" strike="noStrike" noProof="1" dirty="0">
                <a:latin typeface="Arial" panose="020B0604020202020204" pitchFamily="34" charset="0"/>
                <a:sym typeface="+mn-ea"/>
              </a:rPr>
              <a:t>……</a:t>
            </a:r>
            <a:endParaRPr lang="en-US" altLang="zh-CN" sz="1800" strike="noStrike" noProof="1" dirty="0"/>
          </a:p>
          <a:p>
            <a:pPr eaLnBrk="1" fontAlgn="base" hangingPunct="1">
              <a:buNone/>
            </a:pPr>
            <a:r>
              <a:rPr lang="en-US" altLang="zh-CN" sz="1800" strike="noStrike" noProof="1" dirty="0">
                <a:sym typeface="+mn-ea"/>
              </a:rPr>
              <a:t>int on = 1;</a:t>
            </a:r>
            <a:endParaRPr lang="en-US" altLang="zh-CN" sz="1800" strike="noStrike" noProof="1" dirty="0"/>
          </a:p>
          <a:p>
            <a:pPr eaLnBrk="1" fontAlgn="base" hangingPunct="1">
              <a:buNone/>
            </a:pPr>
            <a:r>
              <a:rPr lang="en-US" altLang="zh-CN" sz="1800" strike="noStrike" noProof="1" dirty="0">
                <a:sym typeface="+mn-ea"/>
              </a:rPr>
              <a:t>setsockopt(sockfd, SOL_SOCKET, SO_BROADCAST, &amp;on, sizeof(on));</a:t>
            </a:r>
            <a:endParaRPr lang="en-US" altLang="zh-CN" sz="1800" strike="noStrike" noProof="1" dirty="0"/>
          </a:p>
          <a:p>
            <a:pPr eaLnBrk="1" fontAlgn="base" hangingPunct="1">
              <a:buNone/>
            </a:pPr>
            <a:r>
              <a:rPr lang="en-US" altLang="zh-CN" sz="1800" strike="noStrike" noProof="1" dirty="0">
                <a:latin typeface="Arial" panose="020B0604020202020204" pitchFamily="34" charset="0"/>
                <a:sym typeface="+mn-ea"/>
              </a:rPr>
              <a:t>……</a:t>
            </a:r>
            <a:endParaRPr lang="en-US" altLang="zh-CN" sz="1800" strike="noStrike" noProof="1" dirty="0"/>
          </a:p>
          <a:p>
            <a:pPr eaLnBrk="1" fontAlgn="base" hangingPunct="1">
              <a:buNone/>
            </a:pPr>
            <a:r>
              <a:rPr lang="en-US" altLang="zh-CN" sz="1800" strike="noStrike" noProof="1" dirty="0">
                <a:sym typeface="+mn-ea"/>
              </a:rPr>
              <a:t>sendto(;;;;;);</a:t>
            </a:r>
            <a:endParaRPr lang="en-US" altLang="zh-CN"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318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广播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创建用户数据报套接字</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绑定本机</a:t>
            </a:r>
            <a:r>
              <a:rPr lang="en-US" altLang="zh-CN" sz="1800" strike="noStrike" noProof="1" dirty="0">
                <a:sym typeface="+mn-ea"/>
              </a:rPr>
              <a:t>IP</a:t>
            </a:r>
            <a:r>
              <a:rPr lang="zh-CN" altLang="en-US" sz="1800" strike="noStrike" noProof="1" dirty="0">
                <a:sym typeface="+mn-ea"/>
              </a:rPr>
              <a:t>地址和端口</a:t>
            </a:r>
            <a:endParaRPr lang="zh-CN" altLang="en-US" sz="1800" strike="noStrike" noProof="1" dirty="0"/>
          </a:p>
          <a:p>
            <a:pPr lvl="1" eaLnBrk="1" fontAlgn="base" hangingPunct="1"/>
            <a:r>
              <a:rPr lang="zh-CN" altLang="en-US" sz="1800" strike="noStrike" noProof="1" dirty="0">
                <a:sym typeface="+mn-ea"/>
              </a:rPr>
              <a:t>绑定的端口必须和发送方指定的端口相同</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等待接收数据</a:t>
            </a:r>
            <a:endParaRPr lang="zh-CN" altLang="en-US"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421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广播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800" strike="noStrike" noProof="1" dirty="0">
                <a:sym typeface="+mn-ea"/>
              </a:rPr>
              <a:t>单播方式只能发给一个接收方。</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广播方式发给所有的主机。过多的广播会大量占用网络带宽，造成广播风暴，影响正常的通信。</a:t>
            </a:r>
            <a:endParaRPr lang="zh-CN" altLang="en-US" sz="1800" strike="noStrike" noProof="1" dirty="0"/>
          </a:p>
          <a:p>
            <a:pPr eaLnBrk="1" fontAlgn="base" hangingPunct="1"/>
            <a:endParaRPr lang="zh-CN" altLang="en-US" sz="1800" strike="noStrike" noProof="1" dirty="0"/>
          </a:p>
          <a:p>
            <a:pPr eaLnBrk="1" fontAlgn="base" hangingPunct="1"/>
            <a:r>
              <a:rPr lang="zh-CN" altLang="en-US" sz="1800" strike="noStrike" noProof="1" dirty="0">
                <a:sym typeface="+mn-ea"/>
              </a:rPr>
              <a:t>组播</a:t>
            </a:r>
            <a:r>
              <a:rPr lang="en-US" altLang="zh-CN" sz="1800" strike="noStrike" noProof="1" dirty="0">
                <a:sym typeface="+mn-ea"/>
              </a:rPr>
              <a:t>(</a:t>
            </a:r>
            <a:r>
              <a:rPr lang="zh-CN" altLang="en-US" sz="1800" strike="noStrike" noProof="1" dirty="0">
                <a:sym typeface="+mn-ea"/>
              </a:rPr>
              <a:t>又称为多播</a:t>
            </a:r>
            <a:r>
              <a:rPr lang="en-US" altLang="zh-CN" sz="1800" strike="noStrike" noProof="1" dirty="0">
                <a:sym typeface="+mn-ea"/>
              </a:rPr>
              <a:t>)</a:t>
            </a:r>
            <a:r>
              <a:rPr lang="zh-CN" altLang="en-US" sz="1800" strike="noStrike" noProof="1" dirty="0">
                <a:sym typeface="+mn-ea"/>
              </a:rPr>
              <a:t>是一种折中的方式。只有加入某个多播组的主机才能收到数据。</a:t>
            </a:r>
            <a:endParaRPr lang="zh-CN" altLang="en-US" sz="1800" strike="noStrike" noProof="1" dirty="0"/>
          </a:p>
          <a:p>
            <a:pPr eaLnBrk="1" fontAlgn="base" hangingPunct="1">
              <a:buNone/>
            </a:pPr>
            <a:endParaRPr lang="zh-CN" altLang="en-US" sz="1800" strike="noStrike" noProof="1" dirty="0"/>
          </a:p>
          <a:p>
            <a:pPr eaLnBrk="1" fontAlgn="base" hangingPunct="1"/>
            <a:r>
              <a:rPr lang="zh-CN" altLang="en-US" sz="1800" strike="noStrike" noProof="1" dirty="0">
                <a:sym typeface="+mn-ea"/>
              </a:rPr>
              <a:t>多播方式既可以发给多个主机，又能避免象广播那样带来过多的负载</a:t>
            </a:r>
            <a:r>
              <a:rPr lang="en-US" altLang="zh-CN" sz="1800" strike="noStrike" noProof="1" dirty="0">
                <a:sym typeface="+mn-ea"/>
              </a:rPr>
              <a:t>(</a:t>
            </a:r>
            <a:r>
              <a:rPr lang="zh-CN" altLang="en-US" sz="1800" strike="noStrike" noProof="1" dirty="0">
                <a:sym typeface="+mn-ea"/>
              </a:rPr>
              <a:t>每台主机要到传输层才能判断广播包是否要处理</a:t>
            </a:r>
            <a:r>
              <a:rPr lang="en-US" altLang="zh-CN" sz="1800" strike="noStrike" noProof="1" dirty="0">
                <a:sym typeface="+mn-ea"/>
              </a:rPr>
              <a:t>)</a:t>
            </a:r>
            <a:endParaRPr lang="en-US" altLang="zh-CN" sz="1800" strike="noStrike" noProof="1" dirty="0"/>
          </a:p>
          <a:p>
            <a:pPr eaLnBrk="1" fontAlgn="base" hangingPunct="1"/>
            <a:endParaRPr lang="zh-CN" altLang="en-US"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523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lnSpc>
                <a:spcPct val="80000"/>
              </a:lnSpc>
            </a:pPr>
            <a:r>
              <a:rPr lang="en-US" altLang="zh-CN" sz="1600" strike="noStrike" noProof="1" dirty="0">
                <a:sym typeface="+mn-ea"/>
              </a:rPr>
              <a:t>A</a:t>
            </a:r>
            <a:r>
              <a:rPr lang="zh-CN" altLang="en-US" sz="1600" strike="noStrike" noProof="1" dirty="0">
                <a:sym typeface="+mn-ea"/>
              </a:rPr>
              <a:t>类地址</a:t>
            </a:r>
            <a:endParaRPr lang="zh-CN" altLang="en-US" sz="1600" strike="noStrike" noProof="1" dirty="0"/>
          </a:p>
          <a:p>
            <a:pPr lvl="1" eaLnBrk="1" fontAlgn="base" hangingPunct="1">
              <a:lnSpc>
                <a:spcPct val="80000"/>
              </a:lnSpc>
            </a:pPr>
            <a:r>
              <a:rPr lang="zh-CN" altLang="en-US" sz="1600" strike="noStrike" noProof="1" dirty="0">
                <a:sym typeface="+mn-ea"/>
              </a:rPr>
              <a:t>第</a:t>
            </a:r>
            <a:r>
              <a:rPr lang="en-US" altLang="zh-CN" sz="1600" strike="noStrike" noProof="1" dirty="0">
                <a:sym typeface="+mn-ea"/>
              </a:rPr>
              <a:t>1</a:t>
            </a:r>
            <a:r>
              <a:rPr lang="zh-CN" altLang="en-US" sz="1600" strike="noStrike" noProof="1" dirty="0">
                <a:sym typeface="+mn-ea"/>
              </a:rPr>
              <a:t>字节为网络地址，其他</a:t>
            </a:r>
            <a:r>
              <a:rPr lang="en-US" altLang="zh-CN" sz="1600" strike="noStrike" noProof="1" dirty="0">
                <a:sym typeface="+mn-ea"/>
              </a:rPr>
              <a:t>3</a:t>
            </a:r>
            <a:r>
              <a:rPr lang="zh-CN" altLang="en-US" sz="1600" strike="noStrike" noProof="1" dirty="0">
                <a:sym typeface="+mn-ea"/>
              </a:rPr>
              <a:t>个字节为主机地址。第</a:t>
            </a:r>
            <a:r>
              <a:rPr lang="en-US" altLang="zh-CN" sz="1600" strike="noStrike" noProof="1" dirty="0">
                <a:sym typeface="+mn-ea"/>
              </a:rPr>
              <a:t>1</a:t>
            </a:r>
            <a:r>
              <a:rPr lang="zh-CN" altLang="en-US" sz="1600" strike="noStrike" noProof="1" dirty="0">
                <a:sym typeface="+mn-ea"/>
              </a:rPr>
              <a:t>字节的最高位固定为</a:t>
            </a:r>
            <a:r>
              <a:rPr lang="en-US" altLang="zh-CN" sz="1600" strike="noStrike" noProof="1" dirty="0">
                <a:sym typeface="+mn-ea"/>
              </a:rPr>
              <a:t>0</a:t>
            </a:r>
            <a:endParaRPr lang="en-US" altLang="zh-CN" sz="1600" strike="noStrike" noProof="1" dirty="0"/>
          </a:p>
          <a:p>
            <a:pPr lvl="1" eaLnBrk="1" fontAlgn="base" hangingPunct="1">
              <a:lnSpc>
                <a:spcPct val="80000"/>
              </a:lnSpc>
            </a:pPr>
            <a:r>
              <a:rPr lang="en-US" altLang="zh-CN" sz="1600" strike="noStrike" noProof="1" dirty="0">
                <a:sym typeface="+mn-ea"/>
              </a:rPr>
              <a:t>1.0.0.1 </a:t>
            </a:r>
            <a:r>
              <a:rPr lang="en-US" altLang="zh-CN" sz="1600" strike="noStrike" noProof="1" dirty="0">
                <a:latin typeface="Arial" panose="020B0604020202020204" pitchFamily="34" charset="0"/>
                <a:sym typeface="+mn-ea"/>
              </a:rPr>
              <a:t>–</a:t>
            </a:r>
            <a:r>
              <a:rPr lang="en-US" altLang="zh-CN" sz="1600" strike="noStrike" noProof="1" dirty="0">
                <a:sym typeface="+mn-ea"/>
              </a:rPr>
              <a:t> 126.255.255.255</a:t>
            </a:r>
            <a:endParaRPr lang="en-US" altLang="zh-CN" sz="1600" strike="noStrike" noProof="1" dirty="0"/>
          </a:p>
          <a:p>
            <a:pPr eaLnBrk="1" fontAlgn="base" hangingPunct="1">
              <a:lnSpc>
                <a:spcPct val="80000"/>
              </a:lnSpc>
            </a:pPr>
            <a:endParaRPr lang="en-US" altLang="zh-CN" sz="1600" strike="noStrike" noProof="1" dirty="0"/>
          </a:p>
          <a:p>
            <a:pPr eaLnBrk="1" fontAlgn="base" hangingPunct="1">
              <a:lnSpc>
                <a:spcPct val="80000"/>
              </a:lnSpc>
            </a:pPr>
            <a:r>
              <a:rPr lang="en-US" altLang="zh-CN" sz="1600" strike="noStrike" noProof="1" dirty="0">
                <a:sym typeface="+mn-ea"/>
              </a:rPr>
              <a:t>B</a:t>
            </a:r>
            <a:r>
              <a:rPr lang="zh-CN" altLang="en-US" sz="1600" strike="noStrike" noProof="1" dirty="0">
                <a:sym typeface="+mn-ea"/>
              </a:rPr>
              <a:t>类地址</a:t>
            </a:r>
            <a:endParaRPr lang="zh-CN" altLang="en-US" sz="1600" strike="noStrike" noProof="1" dirty="0"/>
          </a:p>
          <a:p>
            <a:pPr lvl="1" eaLnBrk="1" fontAlgn="base" hangingPunct="1">
              <a:lnSpc>
                <a:spcPct val="80000"/>
              </a:lnSpc>
            </a:pPr>
            <a:r>
              <a:rPr lang="zh-CN" altLang="en-US" sz="1600" strike="noStrike" noProof="1" dirty="0">
                <a:sym typeface="+mn-ea"/>
              </a:rPr>
              <a:t>第</a:t>
            </a:r>
            <a:r>
              <a:rPr lang="en-US" altLang="zh-CN" sz="1600" strike="noStrike" noProof="1" dirty="0">
                <a:sym typeface="+mn-ea"/>
              </a:rPr>
              <a:t>1</a:t>
            </a:r>
            <a:r>
              <a:rPr lang="zh-CN" altLang="en-US" sz="1600" strike="noStrike" noProof="1" dirty="0">
                <a:sym typeface="+mn-ea"/>
              </a:rPr>
              <a:t>字节和第</a:t>
            </a:r>
            <a:r>
              <a:rPr lang="en-US" altLang="zh-CN" sz="1600" strike="noStrike" noProof="1" dirty="0">
                <a:sym typeface="+mn-ea"/>
              </a:rPr>
              <a:t>2</a:t>
            </a:r>
            <a:r>
              <a:rPr lang="zh-CN" altLang="en-US" sz="1600" strike="noStrike" noProof="1" dirty="0">
                <a:sym typeface="+mn-ea"/>
              </a:rPr>
              <a:t>字节是网络地址，其他</a:t>
            </a:r>
            <a:r>
              <a:rPr lang="en-US" altLang="zh-CN" sz="1600" strike="noStrike" noProof="1" dirty="0">
                <a:sym typeface="+mn-ea"/>
              </a:rPr>
              <a:t>2</a:t>
            </a:r>
            <a:r>
              <a:rPr lang="zh-CN" altLang="en-US" sz="1600" strike="noStrike" noProof="1" dirty="0">
                <a:sym typeface="+mn-ea"/>
              </a:rPr>
              <a:t>个字节是主机地址。第</a:t>
            </a:r>
            <a:r>
              <a:rPr lang="en-US" altLang="zh-CN" sz="1600" strike="noStrike" noProof="1" dirty="0">
                <a:sym typeface="+mn-ea"/>
              </a:rPr>
              <a:t>1</a:t>
            </a:r>
            <a:r>
              <a:rPr lang="zh-CN" altLang="en-US" sz="1600" strike="noStrike" noProof="1" dirty="0">
                <a:sym typeface="+mn-ea"/>
              </a:rPr>
              <a:t>字节的前两位固定为</a:t>
            </a:r>
            <a:r>
              <a:rPr lang="en-US" altLang="zh-CN" sz="1600" strike="noStrike" noProof="1" dirty="0">
                <a:sym typeface="+mn-ea"/>
              </a:rPr>
              <a:t>10</a:t>
            </a:r>
            <a:endParaRPr lang="en-US" altLang="zh-CN" sz="1600" strike="noStrike" noProof="1" dirty="0"/>
          </a:p>
          <a:p>
            <a:pPr lvl="1" eaLnBrk="1" fontAlgn="base" hangingPunct="1">
              <a:lnSpc>
                <a:spcPct val="80000"/>
              </a:lnSpc>
            </a:pPr>
            <a:r>
              <a:rPr lang="en-US" altLang="zh-CN" sz="1600" strike="noStrike" noProof="1" dirty="0">
                <a:sym typeface="+mn-ea"/>
              </a:rPr>
              <a:t>128.0.0.1 </a:t>
            </a:r>
            <a:r>
              <a:rPr lang="en-US" altLang="zh-CN" sz="1600" strike="noStrike" noProof="1" dirty="0">
                <a:latin typeface="Arial" panose="020B0604020202020204" pitchFamily="34" charset="0"/>
                <a:sym typeface="+mn-ea"/>
              </a:rPr>
              <a:t>–</a:t>
            </a:r>
            <a:r>
              <a:rPr lang="en-US" altLang="zh-CN" sz="1600" strike="noStrike" noProof="1" dirty="0">
                <a:sym typeface="+mn-ea"/>
              </a:rPr>
              <a:t> 191.255.255.255</a:t>
            </a:r>
            <a:endParaRPr lang="en-US" altLang="zh-CN" sz="1600" strike="noStrike" noProof="1" dirty="0"/>
          </a:p>
          <a:p>
            <a:pPr eaLnBrk="1" fontAlgn="base" hangingPunct="1">
              <a:lnSpc>
                <a:spcPct val="80000"/>
              </a:lnSpc>
            </a:pPr>
            <a:endParaRPr lang="en-US" altLang="zh-CN" sz="1600" strike="noStrike" noProof="1" dirty="0"/>
          </a:p>
          <a:p>
            <a:pPr eaLnBrk="1" fontAlgn="base" hangingPunct="1">
              <a:lnSpc>
                <a:spcPct val="80000"/>
              </a:lnSpc>
            </a:pPr>
            <a:r>
              <a:rPr lang="en-US" altLang="zh-CN" sz="1600" strike="noStrike" noProof="1" dirty="0">
                <a:sym typeface="+mn-ea"/>
              </a:rPr>
              <a:t>C</a:t>
            </a:r>
            <a:r>
              <a:rPr lang="zh-CN" altLang="en-US" sz="1600" strike="noStrike" noProof="1" dirty="0">
                <a:sym typeface="+mn-ea"/>
              </a:rPr>
              <a:t>类地址</a:t>
            </a:r>
            <a:endParaRPr lang="zh-CN" altLang="en-US" sz="1600" strike="noStrike" noProof="1" dirty="0"/>
          </a:p>
          <a:p>
            <a:pPr lvl="1" eaLnBrk="1" fontAlgn="base" hangingPunct="1">
              <a:lnSpc>
                <a:spcPct val="80000"/>
              </a:lnSpc>
            </a:pPr>
            <a:r>
              <a:rPr lang="zh-CN" altLang="en-US" sz="1600" strike="noStrike" noProof="1" dirty="0">
                <a:sym typeface="+mn-ea"/>
              </a:rPr>
              <a:t>前</a:t>
            </a:r>
            <a:r>
              <a:rPr lang="en-US" altLang="zh-CN" sz="1600" strike="noStrike" noProof="1" dirty="0">
                <a:sym typeface="+mn-ea"/>
              </a:rPr>
              <a:t>3</a:t>
            </a:r>
            <a:r>
              <a:rPr lang="zh-CN" altLang="en-US" sz="1600" strike="noStrike" noProof="1" dirty="0">
                <a:sym typeface="+mn-ea"/>
              </a:rPr>
              <a:t>个字节是网络地址，最后</a:t>
            </a:r>
            <a:r>
              <a:rPr lang="en-US" altLang="zh-CN" sz="1600" strike="noStrike" noProof="1" dirty="0">
                <a:sym typeface="+mn-ea"/>
              </a:rPr>
              <a:t>1</a:t>
            </a:r>
            <a:r>
              <a:rPr lang="zh-CN" altLang="en-US" sz="1600" strike="noStrike" noProof="1" dirty="0">
                <a:sym typeface="+mn-ea"/>
              </a:rPr>
              <a:t>个字节是主机地址。第</a:t>
            </a:r>
            <a:r>
              <a:rPr lang="en-US" altLang="zh-CN" sz="1600" strike="noStrike" noProof="1" dirty="0">
                <a:sym typeface="+mn-ea"/>
              </a:rPr>
              <a:t>1</a:t>
            </a:r>
            <a:r>
              <a:rPr lang="zh-CN" altLang="en-US" sz="1600" strike="noStrike" noProof="1" dirty="0">
                <a:sym typeface="+mn-ea"/>
              </a:rPr>
              <a:t>字节的前</a:t>
            </a:r>
            <a:r>
              <a:rPr lang="en-US" altLang="zh-CN" sz="1600" strike="noStrike" noProof="1" dirty="0">
                <a:sym typeface="+mn-ea"/>
              </a:rPr>
              <a:t>3</a:t>
            </a:r>
            <a:r>
              <a:rPr lang="zh-CN" altLang="en-US" sz="1600" strike="noStrike" noProof="1" dirty="0">
                <a:sym typeface="+mn-ea"/>
              </a:rPr>
              <a:t>位固定为</a:t>
            </a:r>
            <a:r>
              <a:rPr lang="en-US" altLang="zh-CN" sz="1600" strike="noStrike" noProof="1" dirty="0">
                <a:sym typeface="+mn-ea"/>
              </a:rPr>
              <a:t>110</a:t>
            </a:r>
            <a:endParaRPr lang="en-US" altLang="zh-CN" sz="1600" strike="noStrike" noProof="1" dirty="0"/>
          </a:p>
          <a:p>
            <a:pPr lvl="1" eaLnBrk="1" fontAlgn="base" hangingPunct="1">
              <a:lnSpc>
                <a:spcPct val="80000"/>
              </a:lnSpc>
            </a:pPr>
            <a:r>
              <a:rPr lang="en-US" altLang="zh-CN" sz="1600" strike="noStrike" noProof="1" dirty="0">
                <a:sym typeface="+mn-ea"/>
              </a:rPr>
              <a:t>192.0.0.1 </a:t>
            </a:r>
            <a:r>
              <a:rPr lang="en-US" altLang="zh-CN" sz="1600" strike="noStrike" noProof="1" dirty="0">
                <a:latin typeface="Arial" panose="020B0604020202020204" pitchFamily="34" charset="0"/>
                <a:sym typeface="+mn-ea"/>
              </a:rPr>
              <a:t>–</a:t>
            </a:r>
            <a:r>
              <a:rPr lang="en-US" altLang="zh-CN" sz="1600" strike="noStrike" noProof="1" dirty="0">
                <a:sym typeface="+mn-ea"/>
              </a:rPr>
              <a:t> 223.255.255.255</a:t>
            </a:r>
            <a:endParaRPr lang="en-US" altLang="zh-CN" sz="1600" strike="noStrike" noProof="1" dirty="0"/>
          </a:p>
          <a:p>
            <a:pPr eaLnBrk="1" fontAlgn="base" hangingPunct="1">
              <a:lnSpc>
                <a:spcPct val="80000"/>
              </a:lnSpc>
              <a:buNone/>
            </a:pPr>
            <a:endParaRPr lang="en-US" altLang="zh-CN" sz="1600" strike="noStrike" noProof="1" dirty="0"/>
          </a:p>
          <a:p>
            <a:pPr eaLnBrk="1" fontAlgn="base" hangingPunct="1">
              <a:lnSpc>
                <a:spcPct val="80000"/>
              </a:lnSpc>
            </a:pPr>
            <a:r>
              <a:rPr lang="en-US" altLang="zh-CN" sz="1600" strike="noStrike" noProof="1" dirty="0">
                <a:sym typeface="+mn-ea"/>
              </a:rPr>
              <a:t>D</a:t>
            </a:r>
            <a:r>
              <a:rPr lang="zh-CN" altLang="en-US" sz="1600" strike="noStrike" noProof="1" dirty="0">
                <a:sym typeface="+mn-ea"/>
              </a:rPr>
              <a:t>类地址（组播地址）</a:t>
            </a:r>
            <a:endParaRPr lang="zh-CN" altLang="en-US" sz="1600" strike="noStrike" noProof="1" dirty="0"/>
          </a:p>
          <a:p>
            <a:pPr lvl="1" eaLnBrk="1" fontAlgn="base" hangingPunct="1">
              <a:lnSpc>
                <a:spcPct val="80000"/>
              </a:lnSpc>
            </a:pPr>
            <a:r>
              <a:rPr lang="zh-CN" altLang="en-US" sz="1600" strike="noStrike" noProof="1" dirty="0">
                <a:sym typeface="+mn-ea"/>
              </a:rPr>
              <a:t>不分网络地址和主机地址，第</a:t>
            </a:r>
            <a:r>
              <a:rPr lang="en-US" altLang="zh-CN" sz="1600" strike="noStrike" noProof="1" dirty="0">
                <a:sym typeface="+mn-ea"/>
              </a:rPr>
              <a:t>1</a:t>
            </a:r>
            <a:r>
              <a:rPr lang="zh-CN" altLang="en-US" sz="1600" strike="noStrike" noProof="1" dirty="0">
                <a:sym typeface="+mn-ea"/>
              </a:rPr>
              <a:t>字节的前</a:t>
            </a:r>
            <a:r>
              <a:rPr lang="en-US" altLang="zh-CN" sz="1600" strike="noStrike" noProof="1" dirty="0">
                <a:sym typeface="+mn-ea"/>
              </a:rPr>
              <a:t>4</a:t>
            </a:r>
            <a:r>
              <a:rPr lang="zh-CN" altLang="en-US" sz="1600" strike="noStrike" noProof="1" dirty="0">
                <a:sym typeface="+mn-ea"/>
              </a:rPr>
              <a:t>位固定为</a:t>
            </a:r>
            <a:r>
              <a:rPr lang="en-US" altLang="zh-CN" sz="1600" strike="noStrike" noProof="1" dirty="0">
                <a:sym typeface="+mn-ea"/>
              </a:rPr>
              <a:t>1110</a:t>
            </a:r>
            <a:endParaRPr lang="en-US" altLang="zh-CN" sz="1600" strike="noStrike" noProof="1" dirty="0"/>
          </a:p>
          <a:p>
            <a:pPr lvl="1" eaLnBrk="1" fontAlgn="base" hangingPunct="1">
              <a:lnSpc>
                <a:spcPct val="80000"/>
              </a:lnSpc>
            </a:pPr>
            <a:r>
              <a:rPr lang="en-US" altLang="zh-CN" sz="1600" strike="noStrike" noProof="1" dirty="0">
                <a:sym typeface="+mn-ea"/>
              </a:rPr>
              <a:t>224.0.0.1 – 239.255.255.255</a:t>
            </a:r>
            <a:endParaRPr lang="en-US" altLang="zh-CN" sz="1800" strike="noStrike" noProof="1" dirty="0"/>
          </a:p>
          <a:p>
            <a:pPr eaLnBrk="1" fontAlgn="base" hangingPunct="1"/>
            <a:endParaRPr lang="zh-CN" altLang="en-US" sz="1800" strike="noStrike" noProof="1" dirty="0"/>
          </a:p>
          <a:p>
            <a:pPr marL="342900" marR="0" lvl="0" indent="-342900" algn="l" defTabSz="914400" rtl="0" eaLnBrk="1" fontAlgn="base" latinLnBrk="0" hangingPunct="1">
              <a:lnSpc>
                <a:spcPct val="90000"/>
              </a:lnSpc>
              <a:spcBef>
                <a:spcPct val="20000"/>
              </a:spcBef>
              <a:spcAft>
                <a:spcPct val="0"/>
              </a:spcAft>
              <a:buClrTx/>
              <a:buSzTx/>
              <a:buFontTx/>
              <a:buChar char="•"/>
              <a:defRPr/>
            </a:pP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625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600" strike="noStrike" noProof="1" dirty="0">
                <a:sym typeface="+mn-ea"/>
              </a:rPr>
              <a:t>创建用户数据报套接字</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接收方地址指定为组播地址</a:t>
            </a:r>
            <a:endParaRPr lang="zh-CN" altLang="en-US" sz="1600" strike="noStrike" noProof="1" dirty="0"/>
          </a:p>
          <a:p>
            <a:pPr eaLnBrk="1" fontAlgn="base" hangingPunct="1">
              <a:buNone/>
            </a:pPr>
            <a:endParaRPr lang="zh-CN" altLang="en-US" sz="1600" strike="noStrike" noProof="1" dirty="0"/>
          </a:p>
          <a:p>
            <a:pPr eaLnBrk="1" fontAlgn="base" hangingPunct="1"/>
            <a:r>
              <a:rPr lang="zh-CN" altLang="en-US" sz="1600" strike="noStrike" noProof="1" dirty="0">
                <a:sym typeface="+mn-ea"/>
              </a:rPr>
              <a:t>指定端口信息</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发送数据包</a:t>
            </a: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728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r>
              <a:rPr lang="zh-CN" altLang="en-US" sz="1600" strike="noStrike" noProof="1" dirty="0">
                <a:sym typeface="+mn-ea"/>
              </a:rPr>
              <a:t>创建用户数据报套接字</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加入多播组</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绑定本机</a:t>
            </a:r>
            <a:r>
              <a:rPr lang="en-US" altLang="zh-CN" sz="1600" strike="noStrike" noProof="1" dirty="0">
                <a:sym typeface="+mn-ea"/>
              </a:rPr>
              <a:t>IP</a:t>
            </a:r>
            <a:r>
              <a:rPr lang="zh-CN" altLang="en-US" sz="1600" strike="noStrike" noProof="1" dirty="0">
                <a:sym typeface="+mn-ea"/>
              </a:rPr>
              <a:t>地址和端口</a:t>
            </a:r>
            <a:endParaRPr lang="zh-CN" altLang="en-US" sz="1600" strike="noStrike" noProof="1" dirty="0"/>
          </a:p>
          <a:p>
            <a:pPr lvl="1" eaLnBrk="1" fontAlgn="base" hangingPunct="1"/>
            <a:r>
              <a:rPr lang="zh-CN" altLang="en-US" sz="1600" strike="noStrike" noProof="1" dirty="0">
                <a:sym typeface="+mn-ea"/>
              </a:rPr>
              <a:t>绑定的端口必须和发送方指定的端口相同</a:t>
            </a:r>
            <a:endParaRPr lang="zh-CN" altLang="en-US" sz="1600" strike="noStrike" noProof="1" dirty="0"/>
          </a:p>
          <a:p>
            <a:pPr eaLnBrk="1" fontAlgn="base" hangingPunct="1"/>
            <a:endParaRPr lang="zh-CN" altLang="en-US" sz="1600" strike="noStrike" noProof="1" dirty="0"/>
          </a:p>
          <a:p>
            <a:pPr eaLnBrk="1" fontAlgn="base" hangingPunct="1"/>
            <a:r>
              <a:rPr lang="zh-CN" altLang="en-US" sz="1600" strike="noStrike" noProof="1" dirty="0">
                <a:sym typeface="+mn-ea"/>
              </a:rPr>
              <a:t>等待接收数据</a:t>
            </a:r>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830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buNone/>
            </a:pPr>
            <a:r>
              <a:rPr lang="en-US" altLang="zh-CN" sz="1600" strike="noStrike" noProof="1" dirty="0">
                <a:sym typeface="+mn-ea"/>
              </a:rPr>
              <a:t>struct ip_mreq</a:t>
            </a:r>
            <a:endParaRPr lang="en-US" altLang="zh-CN" sz="1600" strike="noStrike" noProof="1" dirty="0"/>
          </a:p>
          <a:p>
            <a:pPr eaLnBrk="1" fontAlgn="base" hangingPunct="1">
              <a:buNone/>
            </a:pPr>
            <a:r>
              <a:rPr lang="en-US" altLang="zh-CN" sz="1600" strike="noStrike" noProof="1" dirty="0">
                <a:sym typeface="+mn-ea"/>
              </a:rPr>
              <a:t>{</a:t>
            </a:r>
            <a:endParaRPr lang="en-US" altLang="zh-CN" sz="1600" strike="noStrike" noProof="1" dirty="0"/>
          </a:p>
          <a:p>
            <a:pPr eaLnBrk="1" fontAlgn="base" hangingPunct="1">
              <a:buNone/>
            </a:pPr>
            <a:r>
              <a:rPr lang="en-US" altLang="zh-CN" sz="1600" strike="noStrike" noProof="1" dirty="0">
                <a:sym typeface="+mn-ea"/>
              </a:rPr>
              <a:t>     struct  in_addr  imr_multiaddr;</a:t>
            </a:r>
            <a:endParaRPr lang="en-US" altLang="zh-CN" sz="1600" strike="noStrike" noProof="1" dirty="0"/>
          </a:p>
          <a:p>
            <a:pPr eaLnBrk="1" fontAlgn="base" hangingPunct="1">
              <a:buNone/>
            </a:pPr>
            <a:r>
              <a:rPr lang="en-US" altLang="zh-CN" sz="1600" strike="noStrike" noProof="1" dirty="0">
                <a:sym typeface="+mn-ea"/>
              </a:rPr>
              <a:t>     struct  in_addr  imr_interface;</a:t>
            </a:r>
            <a:endParaRPr lang="en-US" altLang="zh-CN" sz="1600" strike="noStrike" noProof="1" dirty="0"/>
          </a:p>
          <a:p>
            <a:pPr eaLnBrk="1" fontAlgn="base" hangingPunct="1">
              <a:buNone/>
            </a:pPr>
            <a:r>
              <a:rPr lang="en-US" altLang="zh-CN" sz="1600" strike="noStrike" noProof="1" dirty="0">
                <a:sym typeface="+mn-ea"/>
              </a:rPr>
              <a:t>};</a:t>
            </a:r>
            <a:endParaRPr lang="en-US" altLang="zh-CN" sz="1600" strike="noStrike" noProof="1" dirty="0"/>
          </a:p>
          <a:p>
            <a:pPr eaLnBrk="1" fontAlgn="base" hangingPunct="1"/>
            <a:endParaRPr lang="en-US" altLang="zh-CN" sz="1600" strike="noStrike" noProof="1" dirty="0"/>
          </a:p>
          <a:p>
            <a:pPr eaLnBrk="1" fontAlgn="base" hangingPunct="1">
              <a:buNone/>
            </a:pPr>
            <a:r>
              <a:rPr lang="en-US" altLang="zh-CN" sz="1600" strike="noStrike" noProof="1" dirty="0">
                <a:sym typeface="+mn-ea"/>
              </a:rPr>
              <a:t>struct  ip_mreq  mreq;</a:t>
            </a:r>
            <a:endParaRPr lang="en-US" altLang="zh-CN" sz="1600" strike="noStrike" noProof="1" dirty="0"/>
          </a:p>
          <a:p>
            <a:pPr eaLnBrk="1" fontAlgn="base" hangingPunct="1">
              <a:buNone/>
            </a:pPr>
            <a:r>
              <a:rPr lang="en-US" altLang="zh-CN" sz="1600" strike="noStrike" noProof="1" dirty="0">
                <a:sym typeface="+mn-ea"/>
              </a:rPr>
              <a:t>bzero(&amp;mreq, sizeof(mreq));</a:t>
            </a:r>
            <a:endParaRPr lang="en-US" altLang="zh-CN" sz="1600" strike="noStrike" noProof="1" dirty="0"/>
          </a:p>
          <a:p>
            <a:pPr eaLnBrk="1" fontAlgn="base" hangingPunct="1">
              <a:buNone/>
            </a:pPr>
            <a:r>
              <a:rPr lang="en-US" altLang="zh-CN" sz="1600" strike="noStrike" noProof="1" dirty="0">
                <a:sym typeface="+mn-ea"/>
              </a:rPr>
              <a:t>mreq.imr_multiaddr.s_addr = inet_addr(</a:t>
            </a:r>
            <a:r>
              <a:rPr lang="en-US" altLang="zh-CN" sz="1600" strike="noStrike" noProof="1" dirty="0">
                <a:latin typeface="Arial" panose="020B0604020202020204" pitchFamily="34" charset="0"/>
                <a:sym typeface="+mn-ea"/>
              </a:rPr>
              <a:t>“</a:t>
            </a:r>
            <a:r>
              <a:rPr lang="en-US" altLang="zh-CN" sz="1600" strike="noStrike" noProof="1" dirty="0">
                <a:sym typeface="+mn-ea"/>
              </a:rPr>
              <a:t>224.10.10.1</a:t>
            </a:r>
            <a:r>
              <a:rPr lang="en-US" altLang="zh-CN" sz="1600" strike="noStrike" noProof="1" dirty="0">
                <a:latin typeface="Arial" panose="020B0604020202020204" pitchFamily="34" charset="0"/>
                <a:sym typeface="+mn-ea"/>
              </a:rPr>
              <a:t>”</a:t>
            </a:r>
            <a:r>
              <a:rPr lang="en-US" altLang="zh-CN" sz="1600" strike="noStrike" noProof="1" dirty="0">
                <a:sym typeface="+mn-ea"/>
              </a:rPr>
              <a:t>);</a:t>
            </a:r>
            <a:endParaRPr lang="en-US" altLang="zh-CN" sz="1600" strike="noStrike" noProof="1" dirty="0"/>
          </a:p>
          <a:p>
            <a:pPr eaLnBrk="1" fontAlgn="base" hangingPunct="1">
              <a:buNone/>
            </a:pPr>
            <a:r>
              <a:rPr lang="en-US" altLang="zh-CN" sz="1600" strike="noStrike" noProof="1" dirty="0">
                <a:sym typeface="+mn-ea"/>
              </a:rPr>
              <a:t>mreq.imr_interface.s_addr = htonl(INADDR_ANY);</a:t>
            </a:r>
            <a:endParaRPr lang="en-US" altLang="zh-CN" sz="1600" strike="noStrike" noProof="1" dirty="0"/>
          </a:p>
          <a:p>
            <a:pPr eaLnBrk="1" fontAlgn="base" hangingPunct="1">
              <a:buNone/>
            </a:pPr>
            <a:endParaRPr lang="en-US" altLang="zh-CN" sz="1600" strike="noStrike" noProof="1" dirty="0"/>
          </a:p>
          <a:p>
            <a:pPr eaLnBrk="1" fontAlgn="base" hangingPunct="1">
              <a:buNone/>
            </a:pPr>
            <a:r>
              <a:rPr lang="en-US" altLang="zh-CN" sz="1600" strike="noStrike" noProof="1" dirty="0">
                <a:sym typeface="+mn-ea"/>
              </a:rPr>
              <a:t>setsockopt(sockfd, IPPROTO_IP, IP_ADD_MEMBERSHIP, &amp;mreq,  </a:t>
            </a:r>
            <a:endParaRPr lang="en-US" altLang="zh-CN" sz="1600" strike="noStrike" noProof="1" dirty="0"/>
          </a:p>
          <a:p>
            <a:pPr eaLnBrk="1" fontAlgn="base" hangingPunct="1">
              <a:buNone/>
            </a:pPr>
            <a:r>
              <a:rPr lang="en-US" altLang="zh-CN" sz="1600" strike="noStrike" noProof="1" dirty="0">
                <a:sym typeface="+mn-ea"/>
              </a:rPr>
              <a:t>                  sizeof(mreq));</a:t>
            </a:r>
            <a:endParaRPr lang="en-US" altLang="zh-CN" sz="1600" strike="noStrike" noProof="1" dirty="0"/>
          </a:p>
          <a:p>
            <a:pPr eaLnBrk="1" fontAlgn="base" hangingPunct="1"/>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9933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文本占位符 1"/>
          <p:cNvSpPr>
            <a:spLocks noGrp="1"/>
          </p:cNvSpPr>
          <p:nvPr>
            <p:ph sz="quarter" idx="11"/>
          </p:nvPr>
        </p:nvSpPr>
        <p:spPr>
          <a:xfrm>
            <a:off x="612775" y="933450"/>
            <a:ext cx="7991475" cy="4210050"/>
          </a:xfrm>
          <a:prstGeom prst="rect">
            <a:avLst/>
          </a:prstGeom>
          <a:noFill/>
          <a:ln w="9525" cap="flat" cmpd="sng" algn="ctr">
            <a:noFill/>
            <a:prstDash val="solid"/>
          </a:ln>
        </p:spPr>
        <p:txBody>
          <a:bodyPr/>
          <a:p>
            <a:pPr eaLnBrk="1" fontAlgn="base" hangingPunct="1">
              <a:buNone/>
            </a:pPr>
            <a:r>
              <a:rPr lang="en-US" altLang="zh-CN" sz="1600" strike="noStrike" noProof="1" dirty="0">
                <a:sym typeface="+mn-ea"/>
              </a:rPr>
              <a:t>struct ip_mreq</a:t>
            </a:r>
            <a:endParaRPr lang="en-US" altLang="zh-CN" sz="1600" strike="noStrike" noProof="1" dirty="0"/>
          </a:p>
          <a:p>
            <a:pPr eaLnBrk="1" fontAlgn="base" hangingPunct="1">
              <a:buNone/>
            </a:pPr>
            <a:r>
              <a:rPr lang="en-US" altLang="zh-CN" sz="1600" strike="noStrike" noProof="1" dirty="0">
                <a:sym typeface="+mn-ea"/>
              </a:rPr>
              <a:t>{</a:t>
            </a:r>
            <a:endParaRPr lang="en-US" altLang="zh-CN" sz="1600" strike="noStrike" noProof="1" dirty="0"/>
          </a:p>
          <a:p>
            <a:pPr eaLnBrk="1" fontAlgn="base" hangingPunct="1">
              <a:buNone/>
            </a:pPr>
            <a:r>
              <a:rPr lang="en-US" altLang="zh-CN" sz="1600" strike="noStrike" noProof="1" dirty="0">
                <a:sym typeface="+mn-ea"/>
              </a:rPr>
              <a:t>     struct  in_addr  imr_multiaddr;</a:t>
            </a:r>
            <a:endParaRPr lang="en-US" altLang="zh-CN" sz="1600" strike="noStrike" noProof="1" dirty="0"/>
          </a:p>
          <a:p>
            <a:pPr eaLnBrk="1" fontAlgn="base" hangingPunct="1">
              <a:buNone/>
            </a:pPr>
            <a:r>
              <a:rPr lang="en-US" altLang="zh-CN" sz="1600" strike="noStrike" noProof="1" dirty="0">
                <a:sym typeface="+mn-ea"/>
              </a:rPr>
              <a:t>     struct  in_addr  imr_interface;</a:t>
            </a:r>
            <a:endParaRPr lang="en-US" altLang="zh-CN" sz="1600" strike="noStrike" noProof="1" dirty="0"/>
          </a:p>
          <a:p>
            <a:pPr eaLnBrk="1" fontAlgn="base" hangingPunct="1">
              <a:buNone/>
            </a:pPr>
            <a:r>
              <a:rPr lang="en-US" altLang="zh-CN" sz="1600" strike="noStrike" noProof="1" dirty="0">
                <a:sym typeface="+mn-ea"/>
              </a:rPr>
              <a:t>};</a:t>
            </a:r>
            <a:endParaRPr lang="en-US" altLang="zh-CN" sz="1600" strike="noStrike" noProof="1" dirty="0"/>
          </a:p>
          <a:p>
            <a:pPr eaLnBrk="1" fontAlgn="base" hangingPunct="1"/>
            <a:endParaRPr lang="en-US" altLang="zh-CN" sz="1600" strike="noStrike" noProof="1" dirty="0"/>
          </a:p>
          <a:p>
            <a:pPr eaLnBrk="1" fontAlgn="base" hangingPunct="1">
              <a:buNone/>
            </a:pPr>
            <a:r>
              <a:rPr lang="en-US" altLang="zh-CN" sz="1600" strike="noStrike" noProof="1" dirty="0">
                <a:sym typeface="+mn-ea"/>
              </a:rPr>
              <a:t>struct  ip_mreq  mreq;</a:t>
            </a:r>
            <a:endParaRPr lang="en-US" altLang="zh-CN" sz="1600" strike="noStrike" noProof="1" dirty="0"/>
          </a:p>
          <a:p>
            <a:pPr eaLnBrk="1" fontAlgn="base" hangingPunct="1">
              <a:buNone/>
            </a:pPr>
            <a:r>
              <a:rPr lang="en-US" altLang="zh-CN" sz="1600" strike="noStrike" noProof="1" dirty="0">
                <a:sym typeface="+mn-ea"/>
              </a:rPr>
              <a:t>bzero(&amp;mreq, sizeof(mreq));</a:t>
            </a:r>
            <a:endParaRPr lang="en-US" altLang="zh-CN" sz="1600" strike="noStrike" noProof="1" dirty="0"/>
          </a:p>
          <a:p>
            <a:pPr eaLnBrk="1" fontAlgn="base" hangingPunct="1">
              <a:buNone/>
            </a:pPr>
            <a:r>
              <a:rPr lang="en-US" altLang="zh-CN" sz="1600" strike="noStrike" noProof="1" dirty="0">
                <a:sym typeface="+mn-ea"/>
              </a:rPr>
              <a:t>mreq.imr_multiaddr.s_addr = inet_addr(</a:t>
            </a:r>
            <a:r>
              <a:rPr lang="en-US" altLang="zh-CN" sz="1600" strike="noStrike" noProof="1" dirty="0">
                <a:latin typeface="Arial" panose="020B0604020202020204" pitchFamily="34" charset="0"/>
                <a:sym typeface="+mn-ea"/>
              </a:rPr>
              <a:t>“</a:t>
            </a:r>
            <a:r>
              <a:rPr lang="en-US" altLang="zh-CN" sz="1600" strike="noStrike" noProof="1" dirty="0">
                <a:sym typeface="+mn-ea"/>
              </a:rPr>
              <a:t>224.10.10.1</a:t>
            </a:r>
            <a:r>
              <a:rPr lang="en-US" altLang="zh-CN" sz="1600" strike="noStrike" noProof="1" dirty="0">
                <a:latin typeface="Arial" panose="020B0604020202020204" pitchFamily="34" charset="0"/>
                <a:sym typeface="+mn-ea"/>
              </a:rPr>
              <a:t>”</a:t>
            </a:r>
            <a:r>
              <a:rPr lang="en-US" altLang="zh-CN" sz="1600" strike="noStrike" noProof="1" dirty="0">
                <a:sym typeface="+mn-ea"/>
              </a:rPr>
              <a:t>);</a:t>
            </a:r>
            <a:endParaRPr lang="en-US" altLang="zh-CN" sz="1600" strike="noStrike" noProof="1" dirty="0"/>
          </a:p>
          <a:p>
            <a:pPr eaLnBrk="1" fontAlgn="base" hangingPunct="1">
              <a:buNone/>
            </a:pPr>
            <a:r>
              <a:rPr lang="en-US" altLang="zh-CN" sz="1600" strike="noStrike" noProof="1" dirty="0">
                <a:sym typeface="+mn-ea"/>
              </a:rPr>
              <a:t>mreq.imr_interface.s_addr = htonl(INADDR_ANY);</a:t>
            </a:r>
            <a:endParaRPr lang="en-US" altLang="zh-CN" sz="1600" strike="noStrike" noProof="1" dirty="0"/>
          </a:p>
          <a:p>
            <a:pPr eaLnBrk="1" fontAlgn="base" hangingPunct="1">
              <a:buNone/>
            </a:pPr>
            <a:endParaRPr lang="en-US" altLang="zh-CN" sz="1600" strike="noStrike" noProof="1" dirty="0"/>
          </a:p>
          <a:p>
            <a:pPr eaLnBrk="1" fontAlgn="base" hangingPunct="1">
              <a:buNone/>
            </a:pPr>
            <a:r>
              <a:rPr lang="en-US" altLang="zh-CN" sz="1600" strike="noStrike" noProof="1" dirty="0">
                <a:sym typeface="+mn-ea"/>
              </a:rPr>
              <a:t>setsockopt(sockfd, IPPROTO_IP, IP_ADD_MEMBERSHIP, &amp;mreq,  </a:t>
            </a:r>
            <a:endParaRPr lang="en-US" altLang="zh-CN" sz="1600" strike="noStrike" noProof="1" dirty="0"/>
          </a:p>
          <a:p>
            <a:pPr eaLnBrk="1" fontAlgn="base" hangingPunct="1">
              <a:buNone/>
            </a:pPr>
            <a:r>
              <a:rPr lang="en-US" altLang="zh-CN" sz="1600" strike="noStrike" noProof="1" dirty="0">
                <a:sym typeface="+mn-ea"/>
              </a:rPr>
              <a:t>                  sizeof(mreq));</a:t>
            </a:r>
            <a:endParaRPr lang="en-US" altLang="zh-CN" sz="1600" strike="noStrike" noProof="1" dirty="0"/>
          </a:p>
          <a:p>
            <a:pPr eaLnBrk="1" fontAlgn="base" hangingPunct="1"/>
            <a:endParaRPr lang="zh-CN" altLang="en-US" sz="1800" b="1" strike="noStrike" noProof="0" dirty="0" smtClean="0">
              <a:ln>
                <a:noFill/>
              </a:ln>
              <a:effectLst/>
              <a:uLnTx/>
              <a:uFillTx/>
              <a:latin typeface="华文仿宋" panose="02010600040101010101" pitchFamily="2" charset="-122"/>
              <a:ea typeface="华文仿宋" panose="02010600040101010101" pitchFamily="2" charset="-122"/>
              <a:sym typeface="+mn-ea"/>
            </a:endParaRPr>
          </a:p>
          <a:p>
            <a:pPr lvl="0" fontAlgn="base">
              <a:spcBef>
                <a:spcPct val="20000"/>
              </a:spcBef>
              <a:buClr>
                <a:srgbClr val="FF0000"/>
              </a:buClr>
            </a:pPr>
            <a:endParaRPr lang="en-US" altLang="zh-CN" sz="1800" b="1" strike="noStrike" noProof="1" dirty="0">
              <a:latin typeface="MS Reference Sans Serif" panose="020B0604030504040204" pitchFamily="34" charset="0"/>
              <a:ea typeface="宋体" panose="02010600030101010101" pitchFamily="2" charset="-122"/>
            </a:endParaRPr>
          </a:p>
          <a:p>
            <a:pPr lvl="0" fontAlgn="base">
              <a:lnSpc>
                <a:spcPct val="100000"/>
              </a:lnSpc>
              <a:spcBef>
                <a:spcPct val="0"/>
              </a:spcBef>
              <a:spcAft>
                <a:spcPct val="0"/>
              </a:spcAft>
            </a:pPr>
            <a:endParaRPr lang="zh-CN" altLang="en-US" sz="1800" strike="noStrike" noProof="1" dirty="0">
              <a:latin typeface="宋体" panose="02010600030101010101" pitchFamily="2" charset="-122"/>
              <a:ea typeface="宋体" panose="02010600030101010101" pitchFamily="2" charset="-122"/>
            </a:endParaRPr>
          </a:p>
        </p:txBody>
      </p:sp>
      <p:sp>
        <p:nvSpPr>
          <p:cNvPr id="10035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组播</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0" lvl="0" indent="0">
              <a:lnSpc>
                <a:spcPct val="80000"/>
              </a:lnSpc>
              <a:buClr>
                <a:schemeClr val="tx1"/>
              </a:buClr>
              <a:buFont typeface="Wingdings" panose="05000000000000000000" pitchFamily="2" charset="2"/>
              <a:buNone/>
            </a:pPr>
            <a:r>
              <a:rPr lang="en-US" altLang="zh-CN" sz="1800" dirty="0">
                <a:sym typeface="宋体" panose="02010600030101010101" pitchFamily="2" charset="-122"/>
              </a:rPr>
              <a:t>TCP/IP</a:t>
            </a:r>
            <a:r>
              <a:rPr lang="zh-CN" altLang="en-US" sz="1800" dirty="0">
                <a:sym typeface="宋体" panose="02010600030101010101" pitchFamily="2" charset="-122"/>
              </a:rPr>
              <a:t>网络程序设计</a:t>
            </a:r>
            <a:endParaRPr lang="zh-CN" altLang="en-US" sz="1800" dirty="0"/>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基础知识</a:t>
            </a:r>
            <a:endParaRPr lang="zh-CN" altLang="en-US" sz="1800" dirty="0">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系统调用</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TCP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UDP</a:t>
            </a:r>
            <a:r>
              <a:rPr lang="zh-CN" altLang="en-US" sz="1800" dirty="0">
                <a:latin typeface="宋体" panose="02010600030101010101" pitchFamily="2" charset="-122"/>
                <a:sym typeface="宋体" panose="02010600030101010101" pitchFamily="2" charset="-122"/>
              </a:rPr>
              <a:t>服务器</a:t>
            </a:r>
            <a:r>
              <a:rPr lang="en-US" altLang="zh-CN" sz="1800" dirty="0">
                <a:latin typeface="宋体" panose="02010600030101010101" pitchFamily="2" charset="-122"/>
                <a:sym typeface="宋体" panose="02010600030101010101" pitchFamily="2" charset="-122"/>
              </a:rPr>
              <a:t>/</a:t>
            </a:r>
            <a:r>
              <a:rPr lang="zh-CN" altLang="en-US" sz="1800" dirty="0">
                <a:latin typeface="宋体" panose="02010600030101010101" pitchFamily="2" charset="-122"/>
                <a:sym typeface="宋体" panose="02010600030101010101" pitchFamily="2" charset="-122"/>
              </a:rPr>
              <a:t>客户端</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latin typeface="宋体" panose="02010600030101010101" pitchFamily="2" charset="-122"/>
                <a:sym typeface="宋体" panose="02010600030101010101" pitchFamily="2" charset="-122"/>
              </a:rPr>
              <a:t>I/O</a:t>
            </a:r>
            <a:r>
              <a:rPr lang="zh-CN" altLang="en-US" sz="1800" dirty="0">
                <a:latin typeface="宋体" panose="02010600030101010101" pitchFamily="2" charset="-122"/>
                <a:sym typeface="宋体" panose="02010600030101010101" pitchFamily="2" charset="-122"/>
              </a:rPr>
              <a:t>模型</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服务器模型</a:t>
            </a:r>
            <a:endParaRPr lang="zh-CN" altLang="en-US" sz="1800" dirty="0">
              <a:solidFill>
                <a:srgbClr val="FF0000"/>
              </a:solidFill>
              <a:latin typeface="宋体" panose="02010600030101010101" pitchFamily="2" charset="-122"/>
              <a:sym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超时</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zh-CN" altLang="en-US" sz="1800" dirty="0">
                <a:latin typeface="宋体" panose="02010600030101010101" pitchFamily="2" charset="-122"/>
                <a:sym typeface="宋体" panose="02010600030101010101" pitchFamily="2" charset="-122"/>
              </a:rPr>
              <a:t>广播和组播</a:t>
            </a:r>
            <a:endParaRPr lang="zh-CN" altLang="en-US" sz="1800" dirty="0">
              <a:latin typeface="宋体" panose="02010600030101010101" pitchFamily="2" charset="-122"/>
            </a:endParaRPr>
          </a:p>
          <a:p>
            <a:pPr marL="274955" lvl="1" indent="0">
              <a:lnSpc>
                <a:spcPct val="80000"/>
              </a:lnSpc>
              <a:buClr>
                <a:schemeClr val="tx1"/>
              </a:buClr>
              <a:buFont typeface="Wingdings" panose="05000000000000000000" pitchFamily="2" charset="2"/>
              <a:buNone/>
            </a:pPr>
            <a:r>
              <a:rPr lang="en-US" altLang="zh-CN" sz="1800" dirty="0">
                <a:solidFill>
                  <a:srgbClr val="FF0000"/>
                </a:solidFill>
                <a:latin typeface="宋体" panose="02010600030101010101" pitchFamily="2" charset="-122"/>
                <a:sym typeface="宋体" panose="02010600030101010101" pitchFamily="2" charset="-122"/>
              </a:rPr>
              <a:t>UNIX</a:t>
            </a:r>
            <a:r>
              <a:rPr lang="zh-CN" altLang="en-US" sz="1800" dirty="0">
                <a:solidFill>
                  <a:srgbClr val="FF0000"/>
                </a:solidFill>
                <a:latin typeface="宋体" panose="02010600030101010101" pitchFamily="2" charset="-122"/>
                <a:sym typeface="宋体" panose="02010600030101010101" pitchFamily="2" charset="-122"/>
              </a:rPr>
              <a:t>域套接字</a:t>
            </a: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137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en-US" altLang="zh-CN" sz="1800" dirty="0"/>
              <a:t>socket</a:t>
            </a:r>
            <a:r>
              <a:rPr lang="zh-CN" altLang="en-US" sz="1800" dirty="0"/>
              <a:t>同样可以用于本地通信</a:t>
            </a:r>
            <a:endParaRPr lang="zh-CN" altLang="en-US" sz="1800" dirty="0"/>
          </a:p>
          <a:p>
            <a:pPr lvl="0" indent="-342900"/>
            <a:endParaRPr lang="zh-CN" altLang="en-US" sz="1800" dirty="0"/>
          </a:p>
          <a:p>
            <a:pPr lvl="0" indent="-342900"/>
            <a:r>
              <a:rPr lang="zh-CN" altLang="en-US" sz="1800" dirty="0"/>
              <a:t>创建套接字时使用本地协议</a:t>
            </a:r>
            <a:r>
              <a:rPr lang="en-US" altLang="zh-CN" sz="1800" dirty="0"/>
              <a:t>PF_UNIX(</a:t>
            </a:r>
            <a:r>
              <a:rPr lang="zh-CN" altLang="en-US" sz="1800" dirty="0"/>
              <a:t>或</a:t>
            </a:r>
            <a:r>
              <a:rPr lang="en-US" altLang="zh-CN" sz="1800" dirty="0"/>
              <a:t>PF_LOCAL)</a:t>
            </a:r>
            <a:r>
              <a:rPr lang="zh-CN" altLang="en-US" sz="1800" dirty="0"/>
              <a:t>。</a:t>
            </a:r>
            <a:endParaRPr lang="zh-CN" altLang="en-US" sz="1800" dirty="0"/>
          </a:p>
          <a:p>
            <a:pPr lvl="0" indent="-342900">
              <a:buNone/>
            </a:pPr>
            <a:endParaRPr lang="zh-CN" altLang="en-US" sz="1800" dirty="0"/>
          </a:p>
          <a:p>
            <a:pPr lvl="0" indent="-342900"/>
            <a:r>
              <a:rPr lang="zh-CN" altLang="en-US" sz="1800" dirty="0"/>
              <a:t>分为流式套接字和用户数据报套接字</a:t>
            </a:r>
            <a:endParaRPr lang="zh-CN" altLang="en-US" sz="1800" dirty="0"/>
          </a:p>
          <a:p>
            <a:pPr lvl="0" indent="-342900"/>
            <a:endParaRPr lang="zh-CN" altLang="en-US" sz="1800" dirty="0"/>
          </a:p>
          <a:p>
            <a:pPr lvl="0" indent="-342900"/>
            <a:r>
              <a:rPr lang="zh-CN" altLang="en-US" sz="1800" dirty="0"/>
              <a:t>和其他进程间通信方式相比使用方便、效率更高</a:t>
            </a:r>
            <a:endParaRPr lang="zh-CN" altLang="en-US" sz="1800" dirty="0"/>
          </a:p>
          <a:p>
            <a:pPr lvl="0" indent="-342900"/>
            <a:endParaRPr lang="zh-CN" altLang="en-US" sz="1800" dirty="0"/>
          </a:p>
          <a:p>
            <a:pPr lvl="0" indent="-342900"/>
            <a:r>
              <a:rPr lang="zh-CN" altLang="en-US" sz="1800" dirty="0"/>
              <a:t>常用于前后台进程通信</a:t>
            </a: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240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r>
              <a:rPr lang="zh-CN" altLang="en-US" sz="1800" dirty="0"/>
              <a:t>本地地址结构</a:t>
            </a:r>
            <a:endParaRPr lang="zh-CN" altLang="en-US" sz="1800" dirty="0"/>
          </a:p>
          <a:p>
            <a:pPr lvl="0" indent="-342900">
              <a:lnSpc>
                <a:spcPct val="80000"/>
              </a:lnSpc>
              <a:buNone/>
            </a:pPr>
            <a:r>
              <a:rPr lang="zh-CN" altLang="en-US" sz="1800" dirty="0"/>
              <a:t>       </a:t>
            </a:r>
            <a:r>
              <a:rPr lang="en-US" altLang="zh-CN" sz="1800" dirty="0"/>
              <a:t>struct sockaddr_un        //  &lt;sys/un.h&gt;</a:t>
            </a:r>
            <a:endParaRPr lang="en-US" altLang="zh-CN" sz="1800" dirty="0"/>
          </a:p>
          <a:p>
            <a:pPr lvl="0" indent="-342900">
              <a:lnSpc>
                <a:spcPct val="80000"/>
              </a:lnSpc>
              <a:buNone/>
            </a:pPr>
            <a:r>
              <a:rPr lang="en-US" altLang="zh-CN" sz="1800" dirty="0"/>
              <a:t>        {</a:t>
            </a:r>
            <a:endParaRPr lang="en-US" altLang="zh-CN" sz="1800" dirty="0"/>
          </a:p>
          <a:p>
            <a:pPr lvl="0" indent="-342900">
              <a:lnSpc>
                <a:spcPct val="80000"/>
              </a:lnSpc>
              <a:buNone/>
            </a:pPr>
            <a:r>
              <a:rPr lang="en-US" altLang="zh-CN" sz="1800" dirty="0"/>
              <a:t>             sa_family_t  sun_family;</a:t>
            </a:r>
            <a:endParaRPr lang="en-US" altLang="zh-CN" sz="1800" dirty="0"/>
          </a:p>
          <a:p>
            <a:pPr lvl="0" indent="-342900">
              <a:lnSpc>
                <a:spcPct val="80000"/>
              </a:lnSpc>
              <a:buNone/>
            </a:pPr>
            <a:r>
              <a:rPr lang="en-US" altLang="zh-CN" sz="1800" dirty="0"/>
              <a:t>             char  sun_path[108];         // </a:t>
            </a:r>
            <a:r>
              <a:rPr lang="zh-CN" altLang="en-US" sz="1800" dirty="0"/>
              <a:t>套接字文件的路径</a:t>
            </a:r>
            <a:endParaRPr lang="zh-CN" altLang="en-US" sz="1800" dirty="0"/>
          </a:p>
          <a:p>
            <a:pPr lvl="0" indent="-342900">
              <a:lnSpc>
                <a:spcPct val="80000"/>
              </a:lnSpc>
              <a:buNone/>
            </a:pPr>
            <a:r>
              <a:rPr lang="zh-CN" altLang="en-US" sz="1800" dirty="0"/>
              <a:t>         </a:t>
            </a:r>
            <a:r>
              <a:rPr lang="en-US" altLang="zh-CN" sz="1800" dirty="0"/>
              <a:t>};</a:t>
            </a:r>
            <a:endParaRPr lang="en-US" altLang="zh-CN" sz="1800" dirty="0"/>
          </a:p>
          <a:p>
            <a:pPr lvl="0" indent="-342900">
              <a:buNone/>
            </a:pPr>
            <a:endParaRPr lang="en-US" altLang="zh-CN" sz="1800" dirty="0"/>
          </a:p>
          <a:p>
            <a:pPr lvl="0" indent="-342900"/>
            <a:r>
              <a:rPr lang="zh-CN" altLang="en-US" sz="1800" dirty="0"/>
              <a:t>填充地址结构</a:t>
            </a:r>
            <a:endParaRPr lang="zh-CN" altLang="en-US" sz="1800" dirty="0"/>
          </a:p>
          <a:p>
            <a:pPr lvl="0" indent="-342900">
              <a:buNone/>
            </a:pPr>
            <a:r>
              <a:rPr lang="zh-CN" altLang="en-US" sz="1800" dirty="0"/>
              <a:t>    </a:t>
            </a:r>
            <a:r>
              <a:rPr lang="en-US" altLang="zh-CN" sz="1800" dirty="0"/>
              <a:t>struct sockaddr_un myaddr;</a:t>
            </a:r>
            <a:endParaRPr lang="en-US" altLang="zh-CN" sz="1800" dirty="0"/>
          </a:p>
          <a:p>
            <a:pPr lvl="0" indent="-342900">
              <a:buNone/>
            </a:pPr>
            <a:r>
              <a:rPr lang="en-US" altLang="zh-CN" sz="1800" dirty="0"/>
              <a:t>     bzero(&amp;myaddr,  sizeof(myaddr));</a:t>
            </a:r>
            <a:endParaRPr lang="en-US" altLang="zh-CN" sz="1800" dirty="0"/>
          </a:p>
          <a:p>
            <a:pPr lvl="0" indent="-342900">
              <a:buNone/>
            </a:pPr>
            <a:r>
              <a:rPr lang="en-US" altLang="zh-CN" sz="1800" dirty="0"/>
              <a:t>     myaddr.sun_family = PF_UNIX; </a:t>
            </a:r>
            <a:endParaRPr lang="en-US" altLang="zh-CN" sz="1800" dirty="0"/>
          </a:p>
          <a:p>
            <a:pPr lvl="0" indent="-342900">
              <a:buNone/>
            </a:pPr>
            <a:r>
              <a:rPr lang="en-US" altLang="zh-CN" sz="1800" dirty="0"/>
              <a:t>     strcpy(myaddr.sun_path,  </a:t>
            </a:r>
            <a:r>
              <a:rPr lang="en-US" altLang="zh-CN" sz="1800" dirty="0">
                <a:latin typeface="Arial" panose="020B0604020202020204" pitchFamily="34" charset="0"/>
              </a:rPr>
              <a:t>“</a:t>
            </a:r>
            <a:r>
              <a:rPr lang="en-US" altLang="zh-CN" sz="1800" dirty="0"/>
              <a:t>mysocket</a:t>
            </a:r>
            <a:r>
              <a:rPr lang="en-US" altLang="zh-CN" sz="1800" dirty="0">
                <a:latin typeface="Arial" panose="020B0604020202020204" pitchFamily="34" charset="0"/>
              </a:rPr>
              <a:t>”</a:t>
            </a:r>
            <a:r>
              <a:rPr lang="en-US" altLang="zh-CN" sz="1800" dirty="0"/>
              <a:t>);</a:t>
            </a: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3426"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20000"/>
              </a:lnSpc>
            </a:pPr>
            <a:r>
              <a:rPr lang="zh-CN" altLang="en-US" sz="1800" dirty="0"/>
              <a:t>服务器端</a:t>
            </a:r>
            <a:endParaRPr lang="zh-CN" altLang="en-US" sz="1800" dirty="0"/>
          </a:p>
          <a:p>
            <a:pPr lvl="0" indent="-342900">
              <a:lnSpc>
                <a:spcPct val="80000"/>
              </a:lnSpc>
              <a:buNone/>
            </a:pPr>
            <a:r>
              <a:rPr lang="en-US" altLang="zh-CN" sz="1800" dirty="0"/>
              <a:t>          socket(PF_UNIX, SOCK_STREAM, 0)</a:t>
            </a:r>
            <a:endParaRPr lang="en-US" altLang="zh-CN" sz="1800" dirty="0"/>
          </a:p>
          <a:p>
            <a:pPr lvl="0" indent="-342900">
              <a:buNone/>
            </a:pPr>
            <a:endParaRPr lang="en-US" altLang="zh-CN" sz="1800" dirty="0"/>
          </a:p>
          <a:p>
            <a:pPr lvl="0" indent="-342900">
              <a:buNone/>
            </a:pPr>
            <a:r>
              <a:rPr lang="en-US" altLang="zh-CN" sz="1800" dirty="0"/>
              <a:t>           bind(</a:t>
            </a:r>
            <a:r>
              <a:rPr lang="zh-CN" altLang="en-US" sz="1800" dirty="0"/>
              <a:t>，本地地址， </a:t>
            </a:r>
            <a:r>
              <a:rPr lang="en-US" altLang="zh-CN" sz="1800" dirty="0"/>
              <a:t>)</a:t>
            </a:r>
            <a:endParaRPr lang="en-US" altLang="zh-CN" sz="1800" dirty="0"/>
          </a:p>
          <a:p>
            <a:pPr lvl="0" indent="-342900">
              <a:buNone/>
            </a:pPr>
            <a:endParaRPr lang="en-US" altLang="zh-CN" sz="1800" dirty="0"/>
          </a:p>
          <a:p>
            <a:pPr lvl="0" indent="-342900">
              <a:buNone/>
            </a:pPr>
            <a:r>
              <a:rPr lang="en-US" altLang="zh-CN" sz="1800" dirty="0"/>
              <a:t>           listen(</a:t>
            </a:r>
            <a:r>
              <a:rPr lang="zh-CN" altLang="en-US" sz="1800" dirty="0"/>
              <a:t>，</a:t>
            </a:r>
            <a:r>
              <a:rPr lang="en-US" altLang="zh-CN" sz="1800" dirty="0"/>
              <a:t>)</a:t>
            </a:r>
            <a:endParaRPr lang="en-US" altLang="zh-CN" sz="1800" dirty="0"/>
          </a:p>
          <a:p>
            <a:pPr lvl="0" indent="-342900">
              <a:buNone/>
            </a:pPr>
            <a:endParaRPr lang="en-US" altLang="zh-CN" sz="1800" dirty="0"/>
          </a:p>
          <a:p>
            <a:pPr lvl="0" indent="-342900">
              <a:buNone/>
            </a:pPr>
            <a:r>
              <a:rPr lang="en-US" altLang="zh-CN" sz="1800" dirty="0"/>
              <a:t>           accept(</a:t>
            </a:r>
            <a:r>
              <a:rPr lang="zh-CN" altLang="en-US" sz="1800" dirty="0"/>
              <a:t>，，</a:t>
            </a:r>
            <a:r>
              <a:rPr lang="en-US" altLang="zh-CN" sz="1800" dirty="0"/>
              <a:t>)</a:t>
            </a:r>
            <a:endParaRPr lang="en-US" altLang="zh-CN" sz="1800" dirty="0"/>
          </a:p>
          <a:p>
            <a:pPr lvl="0" indent="-342900">
              <a:buNone/>
            </a:pPr>
            <a:endParaRPr lang="en-US" altLang="zh-CN" sz="1800" dirty="0"/>
          </a:p>
          <a:p>
            <a:pPr lvl="0" indent="-342900">
              <a:buNone/>
            </a:pPr>
            <a:r>
              <a:rPr lang="en-US" altLang="zh-CN" sz="1800" dirty="0"/>
              <a:t>           recv() / send()</a:t>
            </a:r>
            <a:endParaRPr lang="en-US" altLang="zh-CN" sz="1800" dirty="0"/>
          </a:p>
          <a:p>
            <a:pPr lvl="0" indent="-342900">
              <a:buNone/>
            </a:pPr>
            <a:endParaRPr lang="en-US" altLang="zh-CN" sz="1800" dirty="0"/>
          </a:p>
          <a:p>
            <a:pPr lvl="0" indent="-342900">
              <a:buNone/>
            </a:pPr>
            <a:r>
              <a:rPr lang="en-US" altLang="zh-CN" sz="1800" dirty="0">
                <a:latin typeface="Arial" panose="020B0604020202020204" pitchFamily="34" charset="0"/>
              </a:rPr>
              <a:t>                   ……</a:t>
            </a: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4450"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tcp</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04451" name="Line 4"/>
          <p:cNvSpPr/>
          <p:nvPr/>
        </p:nvSpPr>
        <p:spPr>
          <a:xfrm>
            <a:off x="2605088" y="1608138"/>
            <a:ext cx="0" cy="358775"/>
          </a:xfrm>
          <a:prstGeom prst="line">
            <a:avLst/>
          </a:prstGeom>
          <a:ln w="9525" cap="flat" cmpd="sng">
            <a:solidFill>
              <a:schemeClr val="tx1"/>
            </a:solidFill>
            <a:prstDash val="solid"/>
            <a:round/>
            <a:headEnd type="none" w="med" len="med"/>
            <a:tailEnd type="triangle" w="med" len="med"/>
          </a:ln>
        </p:spPr>
      </p:sp>
      <p:sp>
        <p:nvSpPr>
          <p:cNvPr id="104452" name="Line 4"/>
          <p:cNvSpPr/>
          <p:nvPr/>
        </p:nvSpPr>
        <p:spPr>
          <a:xfrm>
            <a:off x="2546350" y="2308225"/>
            <a:ext cx="0" cy="358775"/>
          </a:xfrm>
          <a:prstGeom prst="line">
            <a:avLst/>
          </a:prstGeom>
          <a:ln w="9525" cap="flat" cmpd="sng">
            <a:solidFill>
              <a:schemeClr val="tx1"/>
            </a:solidFill>
            <a:prstDash val="solid"/>
            <a:round/>
            <a:headEnd type="none" w="med" len="med"/>
            <a:tailEnd type="triangle" w="med" len="med"/>
          </a:ln>
        </p:spPr>
      </p:sp>
      <p:sp>
        <p:nvSpPr>
          <p:cNvPr id="104453" name="Line 4"/>
          <p:cNvSpPr/>
          <p:nvPr/>
        </p:nvSpPr>
        <p:spPr>
          <a:xfrm>
            <a:off x="2546350" y="2998788"/>
            <a:ext cx="0" cy="358775"/>
          </a:xfrm>
          <a:prstGeom prst="line">
            <a:avLst/>
          </a:prstGeom>
          <a:ln w="9525" cap="flat" cmpd="sng">
            <a:solidFill>
              <a:schemeClr val="tx1"/>
            </a:solidFill>
            <a:prstDash val="solid"/>
            <a:round/>
            <a:headEnd type="none" w="med" len="med"/>
            <a:tailEnd type="triangle" w="med" len="med"/>
          </a:ln>
        </p:spPr>
      </p:sp>
      <p:sp>
        <p:nvSpPr>
          <p:cNvPr id="104454" name="Line 4"/>
          <p:cNvSpPr/>
          <p:nvPr/>
        </p:nvSpPr>
        <p:spPr>
          <a:xfrm>
            <a:off x="2438400" y="3660775"/>
            <a:ext cx="0" cy="358775"/>
          </a:xfrm>
          <a:prstGeom prst="line">
            <a:avLst/>
          </a:prstGeom>
          <a:ln w="9525" cap="flat" cmpd="sng">
            <a:solidFill>
              <a:schemeClr val="tx1"/>
            </a:solidFill>
            <a:prstDash val="solid"/>
            <a:round/>
            <a:headEnd type="none" w="med" len="med"/>
            <a:tailEnd type="triangle" w="med" len="med"/>
          </a:ln>
        </p:spPr>
      </p:sp>
      <p:sp>
        <p:nvSpPr>
          <p:cNvPr id="104455" name="Line 4"/>
          <p:cNvSpPr/>
          <p:nvPr/>
        </p:nvSpPr>
        <p:spPr>
          <a:xfrm>
            <a:off x="2438400" y="4332288"/>
            <a:ext cx="0" cy="358775"/>
          </a:xfrm>
          <a:prstGeom prst="line">
            <a:avLst/>
          </a:prstGeom>
          <a:ln w="9525" cap="flat" cmpd="sng">
            <a:solidFill>
              <a:schemeClr val="tx1"/>
            </a:solidFill>
            <a:prstDash val="solid"/>
            <a:round/>
            <a:headEnd type="none" w="med" len="med"/>
            <a:tailEnd type="triangle" w="med" len="med"/>
          </a:ln>
        </p:spPr>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20000"/>
              </a:lnSpc>
            </a:pPr>
            <a:r>
              <a:rPr lang="zh-CN" altLang="en-US" sz="1800" dirty="0"/>
              <a:t>客户端</a:t>
            </a:r>
            <a:endParaRPr lang="zh-CN" altLang="en-US" sz="1800" dirty="0"/>
          </a:p>
          <a:p>
            <a:pPr lvl="0" indent="-342900">
              <a:lnSpc>
                <a:spcPct val="80000"/>
              </a:lnSpc>
              <a:buNone/>
            </a:pPr>
            <a:r>
              <a:rPr lang="en-US" altLang="zh-CN" sz="1800" dirty="0"/>
              <a:t>         socket(PF_UNIX, SOCK_STREAM, 0)</a:t>
            </a:r>
            <a:endParaRPr lang="en-US" altLang="zh-CN" sz="1800" dirty="0"/>
          </a:p>
          <a:p>
            <a:pPr lvl="0" indent="-342900">
              <a:buNone/>
            </a:pPr>
            <a:endParaRPr lang="en-US" altLang="zh-CN" sz="1800" dirty="0"/>
          </a:p>
          <a:p>
            <a:pPr lvl="0" indent="-342900">
              <a:buNone/>
            </a:pPr>
            <a:r>
              <a:rPr lang="en-US" altLang="zh-CN" sz="1800" dirty="0"/>
              <a:t>         bind(</a:t>
            </a:r>
            <a:r>
              <a:rPr lang="zh-CN" altLang="en-US" sz="1800" dirty="0"/>
              <a:t>，本地地址， </a:t>
            </a:r>
            <a:r>
              <a:rPr lang="en-US" altLang="zh-CN" sz="1800" dirty="0"/>
              <a:t>)   //   </a:t>
            </a:r>
            <a:r>
              <a:rPr lang="zh-CN" altLang="en-US" sz="1800" dirty="0"/>
              <a:t>可选</a:t>
            </a:r>
            <a:endParaRPr lang="zh-CN" altLang="en-US" sz="1800" dirty="0"/>
          </a:p>
          <a:p>
            <a:pPr lvl="0" indent="-342900">
              <a:buNone/>
            </a:pPr>
            <a:endParaRPr lang="zh-CN" altLang="en-US" sz="1800" dirty="0"/>
          </a:p>
          <a:p>
            <a:pPr lvl="0" indent="-342900">
              <a:buNone/>
            </a:pPr>
            <a:r>
              <a:rPr lang="en-US" altLang="zh-CN" sz="1800" dirty="0"/>
              <a:t>         connect(</a:t>
            </a:r>
            <a:r>
              <a:rPr lang="zh-CN" altLang="en-US" sz="1800" dirty="0"/>
              <a:t>，，</a:t>
            </a:r>
            <a:r>
              <a:rPr lang="en-US" altLang="zh-CN" sz="1800" dirty="0"/>
              <a:t>)</a:t>
            </a:r>
            <a:endParaRPr lang="en-US" altLang="zh-CN" sz="1800" dirty="0"/>
          </a:p>
          <a:p>
            <a:pPr lvl="0" indent="-342900">
              <a:buNone/>
            </a:pPr>
            <a:endParaRPr lang="en-US" altLang="zh-CN" sz="1800" dirty="0"/>
          </a:p>
          <a:p>
            <a:pPr lvl="0" indent="-342900">
              <a:buNone/>
            </a:pPr>
            <a:r>
              <a:rPr lang="en-US" altLang="zh-CN" sz="1800" dirty="0"/>
              <a:t>         recv() / send()</a:t>
            </a:r>
            <a:endParaRPr lang="en-US" altLang="zh-CN" sz="1800" dirty="0"/>
          </a:p>
          <a:p>
            <a:pPr lvl="0" indent="-342900">
              <a:buNone/>
            </a:pPr>
            <a:endParaRPr lang="en-US" altLang="zh-CN" sz="1800" dirty="0"/>
          </a:p>
          <a:p>
            <a:pPr lvl="0" indent="-342900">
              <a:buNone/>
            </a:pPr>
            <a:r>
              <a:rPr lang="en-US" altLang="zh-CN" sz="1800" dirty="0">
                <a:latin typeface="Arial" panose="020B0604020202020204" pitchFamily="34" charset="0"/>
              </a:rPr>
              <a:t>                          ……</a:t>
            </a: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5474"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tcp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05475" name="Line 4"/>
          <p:cNvSpPr/>
          <p:nvPr/>
        </p:nvSpPr>
        <p:spPr>
          <a:xfrm>
            <a:off x="1935163" y="1647825"/>
            <a:ext cx="0" cy="358775"/>
          </a:xfrm>
          <a:prstGeom prst="line">
            <a:avLst/>
          </a:prstGeom>
          <a:ln w="9525" cap="flat" cmpd="sng">
            <a:solidFill>
              <a:schemeClr val="tx1"/>
            </a:solidFill>
            <a:prstDash val="solid"/>
            <a:round/>
            <a:headEnd type="none" w="med" len="med"/>
            <a:tailEnd type="triangle" w="med" len="med"/>
          </a:ln>
        </p:spPr>
      </p:sp>
      <p:sp>
        <p:nvSpPr>
          <p:cNvPr id="105476" name="Line 4"/>
          <p:cNvSpPr/>
          <p:nvPr/>
        </p:nvSpPr>
        <p:spPr>
          <a:xfrm>
            <a:off x="1935163" y="2298700"/>
            <a:ext cx="0" cy="358775"/>
          </a:xfrm>
          <a:prstGeom prst="line">
            <a:avLst/>
          </a:prstGeom>
          <a:ln w="9525" cap="flat" cmpd="sng">
            <a:solidFill>
              <a:schemeClr val="tx1"/>
            </a:solidFill>
            <a:prstDash val="solid"/>
            <a:round/>
            <a:headEnd type="none" w="med" len="med"/>
            <a:tailEnd type="triangle" w="med" len="med"/>
          </a:ln>
        </p:spPr>
      </p:sp>
      <p:sp>
        <p:nvSpPr>
          <p:cNvPr id="105477" name="Line 4"/>
          <p:cNvSpPr/>
          <p:nvPr/>
        </p:nvSpPr>
        <p:spPr>
          <a:xfrm>
            <a:off x="1935163" y="3019425"/>
            <a:ext cx="0" cy="358775"/>
          </a:xfrm>
          <a:prstGeom prst="line">
            <a:avLst/>
          </a:prstGeom>
          <a:ln w="9525" cap="flat" cmpd="sng">
            <a:solidFill>
              <a:schemeClr val="tx1"/>
            </a:solidFill>
            <a:prstDash val="solid"/>
            <a:round/>
            <a:headEnd type="none" w="med" len="med"/>
            <a:tailEnd type="triangle" w="med" len="med"/>
          </a:ln>
        </p:spPr>
      </p:sp>
      <p:sp>
        <p:nvSpPr>
          <p:cNvPr id="105478" name="Line 4"/>
          <p:cNvSpPr/>
          <p:nvPr/>
        </p:nvSpPr>
        <p:spPr>
          <a:xfrm>
            <a:off x="1935163" y="3670300"/>
            <a:ext cx="0" cy="358775"/>
          </a:xfrm>
          <a:prstGeom prst="line">
            <a:avLst/>
          </a:prstGeom>
          <a:ln w="9525" cap="flat" cmpd="sng">
            <a:solidFill>
              <a:schemeClr val="tx1"/>
            </a:solidFill>
            <a:prstDash val="solid"/>
            <a:round/>
            <a:headEnd type="none" w="med" len="med"/>
            <a:tailEnd type="triangle" w="med" len="med"/>
          </a:ln>
        </p:spPr>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20000"/>
              </a:lnSpc>
            </a:pPr>
            <a:r>
              <a:rPr lang="zh-CN" altLang="en-US" sz="1800" dirty="0"/>
              <a:t>服务器端</a:t>
            </a:r>
            <a:endParaRPr lang="zh-CN" altLang="en-US" sz="1800" dirty="0"/>
          </a:p>
          <a:p>
            <a:pPr lvl="0" indent="-342900">
              <a:lnSpc>
                <a:spcPct val="80000"/>
              </a:lnSpc>
              <a:buNone/>
            </a:pPr>
            <a:r>
              <a:rPr lang="en-US" altLang="zh-CN" sz="1800" dirty="0"/>
              <a:t>           socket(PF_UNIX, SOCK_DGRAM, 0)</a:t>
            </a:r>
            <a:endParaRPr lang="en-US" altLang="zh-CN" sz="1800" dirty="0"/>
          </a:p>
          <a:p>
            <a:pPr lvl="0" indent="-342900">
              <a:buNone/>
            </a:pPr>
            <a:endParaRPr lang="en-US" altLang="zh-CN" sz="1800" dirty="0"/>
          </a:p>
          <a:p>
            <a:pPr lvl="0" indent="-342900">
              <a:buNone/>
            </a:pPr>
            <a:r>
              <a:rPr lang="en-US" altLang="zh-CN" sz="1800" dirty="0"/>
              <a:t>            bind(</a:t>
            </a:r>
            <a:r>
              <a:rPr lang="zh-CN" altLang="en-US" sz="1800" dirty="0"/>
              <a:t>，本地地址， </a:t>
            </a:r>
            <a:r>
              <a:rPr lang="en-US" altLang="zh-CN" sz="1800" dirty="0"/>
              <a:t>)</a:t>
            </a:r>
            <a:endParaRPr lang="en-US" altLang="zh-CN" sz="1800" dirty="0"/>
          </a:p>
          <a:p>
            <a:pPr lvl="0" indent="-342900">
              <a:buNone/>
            </a:pPr>
            <a:endParaRPr lang="en-US" altLang="zh-CN" sz="1800" dirty="0"/>
          </a:p>
          <a:p>
            <a:pPr lvl="0" indent="-342900">
              <a:buNone/>
            </a:pPr>
            <a:r>
              <a:rPr lang="en-US" altLang="zh-CN" sz="1800" dirty="0"/>
              <a:t>            recvfrom() </a:t>
            </a:r>
            <a:endParaRPr lang="en-US" altLang="zh-CN" sz="1800" dirty="0"/>
          </a:p>
          <a:p>
            <a:pPr lvl="0" indent="-342900">
              <a:buNone/>
            </a:pPr>
            <a:endParaRPr lang="en-US" altLang="zh-CN" sz="1800" dirty="0"/>
          </a:p>
          <a:p>
            <a:pPr lvl="0" indent="-342900">
              <a:buNone/>
            </a:pPr>
            <a:r>
              <a:rPr lang="en-US" altLang="zh-CN" sz="1800" dirty="0"/>
              <a:t>            sendto()</a:t>
            </a:r>
            <a:endParaRPr lang="en-US" altLang="zh-CN" sz="1800" dirty="0"/>
          </a:p>
          <a:p>
            <a:pPr lvl="0" indent="-342900">
              <a:lnSpc>
                <a:spcPct val="120000"/>
              </a:lnSpc>
            </a:pP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6498"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udp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06499" name="Line 4"/>
          <p:cNvSpPr/>
          <p:nvPr/>
        </p:nvSpPr>
        <p:spPr>
          <a:xfrm>
            <a:off x="1816100" y="1627188"/>
            <a:ext cx="0" cy="358775"/>
          </a:xfrm>
          <a:prstGeom prst="line">
            <a:avLst/>
          </a:prstGeom>
          <a:ln w="9525" cap="flat" cmpd="sng">
            <a:solidFill>
              <a:schemeClr val="tx1"/>
            </a:solidFill>
            <a:prstDash val="solid"/>
            <a:round/>
            <a:headEnd type="none" w="med" len="med"/>
            <a:tailEnd type="triangle" w="med" len="med"/>
          </a:ln>
        </p:spPr>
      </p:sp>
      <p:sp>
        <p:nvSpPr>
          <p:cNvPr id="106500" name="Line 4"/>
          <p:cNvSpPr/>
          <p:nvPr/>
        </p:nvSpPr>
        <p:spPr>
          <a:xfrm>
            <a:off x="1816100" y="2327275"/>
            <a:ext cx="0" cy="358775"/>
          </a:xfrm>
          <a:prstGeom prst="line">
            <a:avLst/>
          </a:prstGeom>
          <a:ln w="9525" cap="flat" cmpd="sng">
            <a:solidFill>
              <a:schemeClr val="tx1"/>
            </a:solidFill>
            <a:prstDash val="solid"/>
            <a:round/>
            <a:headEnd type="none" w="med" len="med"/>
            <a:tailEnd type="triangle" w="med" len="med"/>
          </a:ln>
        </p:spPr>
      </p:sp>
      <p:sp>
        <p:nvSpPr>
          <p:cNvPr id="106501" name="Line 4"/>
          <p:cNvSpPr/>
          <p:nvPr/>
        </p:nvSpPr>
        <p:spPr>
          <a:xfrm>
            <a:off x="1816100" y="2903538"/>
            <a:ext cx="0" cy="358775"/>
          </a:xfrm>
          <a:prstGeom prst="line">
            <a:avLst/>
          </a:prstGeom>
          <a:ln w="9525" cap="flat" cmpd="sng">
            <a:solidFill>
              <a:schemeClr val="tx1"/>
            </a:solidFill>
            <a:prstDash val="solid"/>
            <a:round/>
            <a:headEnd type="none" w="med" len="med"/>
            <a:tailEnd type="triangle" w="med" len="med"/>
          </a:ln>
        </p:spPr>
      </p:sp>
      <p:cxnSp>
        <p:nvCxnSpPr>
          <p:cNvPr id="7" name="直接连接符 6"/>
          <p:cNvCxnSpPr/>
          <p:nvPr/>
        </p:nvCxnSpPr>
        <p:spPr>
          <a:xfrm>
            <a:off x="1797050" y="3627438"/>
            <a:ext cx="0" cy="434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787525" y="4041775"/>
            <a:ext cx="8096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2606675" y="2619375"/>
            <a:ext cx="0" cy="141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1787525" y="2609850"/>
            <a:ext cx="7889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文本占位符 1"/>
          <p:cNvSpPr>
            <a:spLocks noGrp="1"/>
          </p:cNvSpPr>
          <p:nvPr>
            <p:ph sz="quarter"/>
          </p:nvPr>
        </p:nvSpPr>
        <p:spPr>
          <a:xfrm>
            <a:off x="576263" y="977900"/>
            <a:ext cx="7991475" cy="4210050"/>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lnSpc>
                <a:spcPct val="120000"/>
              </a:lnSpc>
            </a:pPr>
            <a:r>
              <a:rPr lang="zh-CN" altLang="en-US" sz="1800" dirty="0">
                <a:sym typeface="宋体" panose="02010600030101010101" pitchFamily="2" charset="-122"/>
              </a:rPr>
              <a:t>服务器端</a:t>
            </a:r>
            <a:endParaRPr lang="zh-CN" altLang="en-US" sz="1800" dirty="0"/>
          </a:p>
          <a:p>
            <a:pPr lvl="0" indent="-342900">
              <a:lnSpc>
                <a:spcPct val="80000"/>
              </a:lnSpc>
              <a:buNone/>
            </a:pPr>
            <a:r>
              <a:rPr lang="en-US" altLang="zh-CN" sz="1800" dirty="0">
                <a:sym typeface="宋体" panose="02010600030101010101" pitchFamily="2" charset="-122"/>
              </a:rPr>
              <a:t>           socket(PF_UNIX, SOCK_DGRAM, 0)</a:t>
            </a:r>
            <a:endParaRPr lang="en-US" altLang="zh-CN" sz="1800" dirty="0"/>
          </a:p>
          <a:p>
            <a:pPr lvl="0" indent="-342900">
              <a:buNone/>
            </a:pPr>
            <a:endParaRPr lang="en-US" altLang="zh-CN" sz="1800" dirty="0"/>
          </a:p>
          <a:p>
            <a:pPr lvl="0" indent="-342900">
              <a:buNone/>
            </a:pPr>
            <a:r>
              <a:rPr lang="en-US" altLang="zh-CN" sz="1800" dirty="0">
                <a:sym typeface="宋体" panose="02010600030101010101" pitchFamily="2" charset="-122"/>
              </a:rPr>
              <a:t>            bind(</a:t>
            </a:r>
            <a:r>
              <a:rPr lang="zh-CN" altLang="en-US" sz="1800" dirty="0">
                <a:sym typeface="宋体" panose="02010600030101010101" pitchFamily="2" charset="-122"/>
              </a:rPr>
              <a:t>，本地地址，</a:t>
            </a:r>
            <a:r>
              <a:rPr lang="en-US" altLang="zh-CN" sz="1800" dirty="0"/>
              <a:t> //  </a:t>
            </a:r>
            <a:r>
              <a:rPr lang="zh-CN" altLang="en-US" sz="1800" dirty="0"/>
              <a:t>可选</a:t>
            </a:r>
            <a:r>
              <a:rPr lang="zh-CN" altLang="en-US" sz="1800" dirty="0">
                <a:sym typeface="宋体" panose="02010600030101010101" pitchFamily="2" charset="-122"/>
              </a:rPr>
              <a:t> </a:t>
            </a:r>
            <a:r>
              <a:rPr lang="en-US" altLang="zh-CN" sz="1800" dirty="0">
                <a:sym typeface="宋体" panose="02010600030101010101" pitchFamily="2" charset="-122"/>
              </a:rPr>
              <a:t>)</a:t>
            </a:r>
            <a:endParaRPr lang="en-US" altLang="zh-CN" sz="1800" dirty="0"/>
          </a:p>
          <a:p>
            <a:pPr lvl="0" indent="-342900">
              <a:buNone/>
            </a:pPr>
            <a:endParaRPr lang="en-US" altLang="zh-CN" sz="1800" dirty="0"/>
          </a:p>
          <a:p>
            <a:pPr lvl="0" indent="-342900">
              <a:buNone/>
            </a:pPr>
            <a:r>
              <a:rPr lang="en-US" altLang="zh-CN" sz="1800" dirty="0">
                <a:sym typeface="宋体" panose="02010600030101010101" pitchFamily="2" charset="-122"/>
              </a:rPr>
              <a:t>            recvfrom() </a:t>
            </a:r>
            <a:endParaRPr lang="en-US" altLang="zh-CN" sz="1800" dirty="0"/>
          </a:p>
          <a:p>
            <a:pPr lvl="0" indent="-342900">
              <a:buNone/>
            </a:pPr>
            <a:endParaRPr lang="en-US" altLang="zh-CN" sz="1800" dirty="0"/>
          </a:p>
          <a:p>
            <a:pPr lvl="0" indent="-342900">
              <a:buNone/>
            </a:pPr>
            <a:r>
              <a:rPr lang="en-US" altLang="zh-CN" sz="1800" dirty="0">
                <a:sym typeface="宋体" panose="02010600030101010101" pitchFamily="2" charset="-122"/>
              </a:rPr>
              <a:t>            sendto()</a:t>
            </a:r>
            <a:endParaRPr lang="en-US" altLang="zh-CN" sz="1800" dirty="0"/>
          </a:p>
          <a:p>
            <a:pPr lvl="0" indent="-342900">
              <a:lnSpc>
                <a:spcPct val="120000"/>
              </a:lnSpc>
            </a:pPr>
            <a:endParaRPr lang="zh-CN" altLang="en-US" sz="1800" dirty="0">
              <a:solidFill>
                <a:srgbClr val="FF0000"/>
              </a:solidFill>
              <a:latin typeface="宋体" panose="02010600030101010101" pitchFamily="2" charset="-122"/>
              <a:sym typeface="宋体" panose="02010600030101010101" pitchFamily="2" charset="-122"/>
            </a:endParaRPr>
          </a:p>
        </p:txBody>
      </p:sp>
      <p:sp>
        <p:nvSpPr>
          <p:cNvPr id="107522" name="文本占位符 2"/>
          <p:cNvSpPr>
            <a:spLocks noGrp="1"/>
          </p:cNvSpPr>
          <p:nvPr>
            <p:ph sz="quarter"/>
          </p:nvPr>
        </p:nvSpPr>
        <p:spPr>
          <a:xfrm>
            <a:off x="611188" y="466725"/>
            <a:ext cx="6192837" cy="376238"/>
          </a:xfrm>
          <a:prstGeom prst="rect">
            <a:avLst/>
          </a:prstGeom>
          <a:noFill/>
          <a:ln w="9525">
            <a:noFill/>
          </a:ln>
        </p:spPr>
        <p:txBody>
          <a:bodyPr anchor="t" anchorCtr="0"/>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lvl="0" indent="-342900">
              <a:buNone/>
            </a:pP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linux </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网络编程</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--uinx</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域套接字 </a:t>
            </a:r>
            <a:r>
              <a:rPr lang="en-US" altLang="zh-CN"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udp</a:t>
            </a: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a:p>
            <a:pPr lvl="0" indent="-342900">
              <a:buNone/>
            </a:pPr>
            <a:r>
              <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rPr>
              <a:t> </a:t>
            </a:r>
            <a:endParaRPr lang="zh-CN" altLang="en-US" sz="2000" b="1" dirty="0">
              <a:solidFill>
                <a:srgbClr val="C00000"/>
              </a:solidFill>
              <a:latin typeface="华文细黑" panose="02010600040101010101" pitchFamily="4" charset="116"/>
              <a:ea typeface="微软雅黑" panose="020B0503020204020204" pitchFamily="2" charset="-122"/>
              <a:sym typeface="宋体" panose="02010600030101010101" pitchFamily="2" charset="-122"/>
            </a:endParaRPr>
          </a:p>
        </p:txBody>
      </p:sp>
      <p:sp>
        <p:nvSpPr>
          <p:cNvPr id="107523" name="Line 4"/>
          <p:cNvSpPr/>
          <p:nvPr/>
        </p:nvSpPr>
        <p:spPr>
          <a:xfrm>
            <a:off x="1816100" y="1627188"/>
            <a:ext cx="0" cy="358775"/>
          </a:xfrm>
          <a:prstGeom prst="line">
            <a:avLst/>
          </a:prstGeom>
          <a:ln w="9525" cap="flat" cmpd="sng">
            <a:solidFill>
              <a:schemeClr val="tx1"/>
            </a:solidFill>
            <a:prstDash val="solid"/>
            <a:round/>
            <a:headEnd type="none" w="med" len="med"/>
            <a:tailEnd type="triangle" w="med" len="med"/>
          </a:ln>
        </p:spPr>
      </p:sp>
      <p:sp>
        <p:nvSpPr>
          <p:cNvPr id="107524" name="Line 4"/>
          <p:cNvSpPr/>
          <p:nvPr/>
        </p:nvSpPr>
        <p:spPr>
          <a:xfrm>
            <a:off x="1816100" y="2327275"/>
            <a:ext cx="0" cy="358775"/>
          </a:xfrm>
          <a:prstGeom prst="line">
            <a:avLst/>
          </a:prstGeom>
          <a:ln w="9525" cap="flat" cmpd="sng">
            <a:solidFill>
              <a:schemeClr val="tx1"/>
            </a:solidFill>
            <a:prstDash val="solid"/>
            <a:round/>
            <a:headEnd type="none" w="med" len="med"/>
            <a:tailEnd type="triangle" w="med" len="med"/>
          </a:ln>
        </p:spPr>
      </p:sp>
      <p:sp>
        <p:nvSpPr>
          <p:cNvPr id="107525" name="Line 4"/>
          <p:cNvSpPr/>
          <p:nvPr/>
        </p:nvSpPr>
        <p:spPr>
          <a:xfrm>
            <a:off x="1816100" y="2903538"/>
            <a:ext cx="0" cy="358775"/>
          </a:xfrm>
          <a:prstGeom prst="line">
            <a:avLst/>
          </a:prstGeom>
          <a:ln w="9525" cap="flat" cmpd="sng">
            <a:solidFill>
              <a:schemeClr val="tx1"/>
            </a:solidFill>
            <a:prstDash val="solid"/>
            <a:round/>
            <a:headEnd type="none" w="med" len="med"/>
            <a:tailEnd type="triangle" w="med" len="med"/>
          </a:ln>
        </p:spPr>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email"/>
          <a:stretch>
            <a:fillRect/>
          </a:stretch>
        </p:blipFill>
        <p:spPr>
          <a:xfrm>
            <a:off x="0" y="-17145"/>
            <a:ext cx="9144000" cy="5170805"/>
          </a:xfrm>
          <a:prstGeom prst="rect">
            <a:avLst/>
          </a:prstGeom>
        </p:spPr>
      </p:pic>
      <p:sp>
        <p:nvSpPr>
          <p:cNvPr id="3" name="任意多边形 13"/>
          <p:cNvSpPr/>
          <p:nvPr/>
        </p:nvSpPr>
        <p:spPr>
          <a:xfrm rot="2968493">
            <a:off x="5784674" y="199622"/>
            <a:ext cx="4445608" cy="5997029"/>
          </a:xfrm>
          <a:custGeom>
            <a:avLst/>
            <a:gdLst>
              <a:gd name="connsiteX0" fmla="*/ 0 w 6571333"/>
              <a:gd name="connsiteY0" fmla="*/ 846961 h 8927004"/>
              <a:gd name="connsiteX1" fmla="*/ 724016 w 6571333"/>
              <a:gd name="connsiteY1" fmla="*/ 0 h 8927004"/>
              <a:gd name="connsiteX2" fmla="*/ 6571333 w 6571333"/>
              <a:gd name="connsiteY2" fmla="*/ 4998514 h 8927004"/>
              <a:gd name="connsiteX3" fmla="*/ 3213105 w 6571333"/>
              <a:gd name="connsiteY3" fmla="*/ 8927004 h 8927004"/>
              <a:gd name="connsiteX4" fmla="*/ 0 w 6571333"/>
              <a:gd name="connsiteY4" fmla="*/ 8927004 h 8927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1333" h="8927004">
                <a:moveTo>
                  <a:pt x="0" y="846961"/>
                </a:moveTo>
                <a:lnTo>
                  <a:pt x="724016" y="0"/>
                </a:lnTo>
                <a:lnTo>
                  <a:pt x="6571333" y="4998514"/>
                </a:lnTo>
                <a:lnTo>
                  <a:pt x="3213105" y="8927004"/>
                </a:lnTo>
                <a:lnTo>
                  <a:pt x="0" y="8927004"/>
                </a:lnTo>
                <a:close/>
              </a:path>
            </a:pathLst>
          </a:custGeom>
          <a:solidFill>
            <a:srgbClr val="D76739">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2288" tIns="41143" rIns="82288" bIns="41143" rtlCol="0" anchor="ctr">
            <a:noAutofit/>
          </a:bodyPr>
          <a:lstStyle/>
          <a:p>
            <a:pPr algn="ctr"/>
            <a:endParaRPr lang="zh-CN" altLang="en-US" sz="1235"/>
          </a:p>
        </p:txBody>
      </p:sp>
      <p:sp>
        <p:nvSpPr>
          <p:cNvPr id="4" name="文本框 3"/>
          <p:cNvSpPr txBox="1"/>
          <p:nvPr/>
        </p:nvSpPr>
        <p:spPr>
          <a:xfrm>
            <a:off x="5875020" y="2367121"/>
            <a:ext cx="2408873" cy="635000"/>
          </a:xfrm>
          <a:prstGeom prst="rect">
            <a:avLst/>
          </a:prstGeom>
          <a:noFill/>
        </p:spPr>
        <p:txBody>
          <a:bodyPr wrap="square" lIns="82288" tIns="41143" rIns="82288" bIns="41143" rtlCol="0">
            <a:spAutoFit/>
          </a:bodyPr>
          <a:lstStyle/>
          <a:p>
            <a:pPr algn="dist"/>
            <a:r>
              <a:rPr lang="zh-CN" altLang="en-US" sz="3600" b="1" dirty="0">
                <a:solidFill>
                  <a:schemeClr val="bg1"/>
                </a:solidFill>
                <a:latin typeface="微软雅黑" panose="020B0503020204020204" pitchFamily="2" charset="-122"/>
                <a:ea typeface="微软雅黑" panose="020B0503020204020204" pitchFamily="2" charset="-122"/>
              </a:rPr>
              <a:t>谢谢！</a:t>
            </a:r>
            <a:endParaRPr lang="zh-CN" altLang="en-US" sz="3600" b="1" dirty="0">
              <a:solidFill>
                <a:schemeClr val="bg1"/>
              </a:solidFill>
              <a:latin typeface="微软雅黑" panose="020B0503020204020204" pitchFamily="2" charset="-122"/>
              <a:ea typeface="微软雅黑" panose="020B0503020204020204" pitchFamily="2" charset="-122"/>
            </a:endParaRPr>
          </a:p>
        </p:txBody>
      </p:sp>
      <p:cxnSp>
        <p:nvCxnSpPr>
          <p:cNvPr id="5" name="直接连接符 8"/>
          <p:cNvCxnSpPr/>
          <p:nvPr/>
        </p:nvCxnSpPr>
        <p:spPr>
          <a:xfrm>
            <a:off x="5518971" y="3198117"/>
            <a:ext cx="28140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ISCONTENTSTITLE" val="0"/>
  <p:tag name="KSO_WM_UNIT_ISNUMDGMTITLE" val="0"/>
  <p:tag name="KSO_WM_UNIT_NOCLEAR" val="0"/>
  <p:tag name="KSO_WM_UNIT_VALUE" val="12"/>
  <p:tag name="KSO_WM_UNIT_HIGHLIGHT" val="0"/>
  <p:tag name="KSO_WM_UNIT_COMPATIBLE" val="0"/>
  <p:tag name="KSO_WM_UNIT_DIAGRAM_ISNUMVISUAL" val="0"/>
  <p:tag name="KSO_WM_UNIT_DIAGRAM_ISREFERUNIT" val="0"/>
  <p:tag name="KSO_WM_UNIT_TYPE" val="a"/>
  <p:tag name="KSO_WM_UNIT_INDEX" val="1"/>
  <p:tag name="KSO_WM_UNIT_ID" val="diagram20212714_1*a*1"/>
  <p:tag name="KSO_WM_TEMPLATE_CATEGORY" val="diagram"/>
  <p:tag name="KSO_WM_TEMPLATE_INDEX" val="20212714"/>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e3986779d47b437e9a7bcceaa079931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04962f4bf2324ef3b09e7cf60b5eeece"/>
  <p:tag name="KSO_WM_UNIT_SUPPORT_UNIT_TYPE" val="[&quot;d&quot;]"/>
  <p:tag name="KSO_WM_UNIT_TEXT_FILL_FORE_SCHEMECOLOR_INDEX_BRIGHTNESS" val="0"/>
  <p:tag name="KSO_WM_UNIT_TEXT_FILL_FORE_SCHEMECOLOR_INDEX" val="13"/>
  <p:tag name="KSO_WM_UNIT_TEXT_FILL_TYPE" val="1"/>
  <p:tag name="KSO_WM_TEMPLATE_ASSEMBLE_XID" val="60656f654054ed1e2fb80950"/>
  <p:tag name="KSO_WM_TEMPLATE_ASSEMBLE_GROUPID" val="60656f654054ed1e2fb80950"/>
</p:tagLst>
</file>

<file path=ppt/tags/tag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14_1*f*1"/>
  <p:tag name="KSO_WM_TEMPLATE_CATEGORY" val="diagram"/>
  <p:tag name="KSO_WM_TEMPLATE_INDEX" val="20212714"/>
  <p:tag name="KSO_WM_UNIT_LAYERLEVEL" val="1"/>
  <p:tag name="KSO_WM_TAG_VERSION" val="1.0"/>
  <p:tag name="KSO_WM_BEAUTIFY_FLAG" val="#wm#"/>
  <p:tag name="KSO_WM_UNIT_DEFAULT_FONT" val="14;20;2"/>
  <p:tag name="KSO_WM_UNIT_BLOCK" val="0"/>
  <p:tag name="KSO_WM_UNIT_VALUE" val="360"/>
  <p:tag name="KSO_WM_UNIT_SHOW_EDIT_AREA_INDICATION" val="1"/>
  <p:tag name="KSO_WM_CHIP_GROUPID" val="5e6b05596848fb12bee65ac8"/>
  <p:tag name="KSO_WM_CHIP_XID" val="5e6b05596848fb12bee65aca"/>
  <p:tag name="KSO_WM_UNIT_DEC_AREA_ID" val="ceba2ff137764a2cb099cf38dcc5e06d"/>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35be29bdeaee45e7b8930b6da511961f"/>
  <p:tag name="KSO_WM_UNIT_SUPPORT_UNIT_TYPE" val="[&quot;d&quot;]"/>
  <p:tag name="KSO_WM_UNIT_TEXT_FILL_FORE_SCHEMECOLOR_INDEX_BRIGHTNESS" val="0.25"/>
  <p:tag name="KSO_WM_UNIT_TEXT_FILL_FORE_SCHEMECOLOR_INDEX" val="13"/>
  <p:tag name="KSO_WM_UNIT_TEXT_FILL_TYPE" val="1"/>
  <p:tag name="KSO_WM_TEMPLATE_ASSEMBLE_XID" val="60656f654054ed1e2fb80950"/>
  <p:tag name="KSO_WM_TEMPLATE_ASSEMBLE_GROUPID" val="60656f654054ed1e2fb8095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12714_1*i*1"/>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3f827eed98b24e1989a2b0c673c6666a"/>
  <p:tag name="KSO_WM_UNIT_DECORATE_INFO" val="{&quot;DecorateInfoH&quot;:{&quot;IsAbs&quot;:true},&quot;DecorateInfoW&quot;:{&quot;IsAbs&quot;:false},&quot;DecorateInfoX&quot;:{&quot;IsAbs&quot;:true,&quot;Pos&quot;:1},&quot;DecorateInfoY&quot;:{&quot;IsAbs&quot;:true,&quot;Pos&quot;:2},&quot;ReferentInfo&quot;:{&quot;Id&quot;:&quot;e3986779d47b437e9a7bcceaa0799318&quot;,&quot;X&quot;:{&quot;Pos&quot;:1},&quot;Y&quot;:{&quot;Pos&quot;:0}},&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30"/>
  <p:tag name="KSO_WM_TEMPLATE_ASSEMBLE_XID" val="60656f654054ed1e2fb80950"/>
  <p:tag name="KSO_WM_TEMPLATE_ASSEMBLE_GROUPID" val="60656f654054ed1e2fb80950"/>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714_1*i*2"/>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a00468fe66f44b08aef719e85195a2dc"/>
  <p:tag name="KSO_WM_UNIT_DECORATE_INFO" val="{&quot;DecorateInfoH&quot;:{&quot;IsAbs&quot;:true},&quot;DecorateInfoW&quot;:{&quot;IsAbs&quot;:false},&quot;DecorateInfoX&quot;:{&quot;IsAbs&quot;:true,&quot;Pos&quot;:1},&quot;DecorateInfoY&quot;:{&quot;IsAbs&quot;:true,&quot;Pos&quot;:0},&quot;ReferentInfo&quot;:{&quot;Id&quot;:&quot;e3986779d47b437e9a7bcceaa0799318&quot;,&quot;X&quot;:{&quot;Pos&quot;:1},&quot;Y&quot;:{&quot;Pos&quot;:0}},&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6"/>
  <p:tag name="KSO_WM_TEMPLATE_ASSEMBLE_XID" val="60656f654054ed1e2fb80950"/>
  <p:tag name="KSO_WM_TEMPLATE_ASSEMBLE_GROUPID" val="60656f654054ed1e2fb8095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714_1*i*3"/>
  <p:tag name="KSO_WM_TEMPLATE_CATEGORY" val="diagram"/>
  <p:tag name="KSO_WM_TEMPLATE_INDEX" val="20212714"/>
  <p:tag name="KSO_WM_UNIT_LAYERLEVEL" val="1"/>
  <p:tag name="KSO_WM_TAG_VERSION" val="1.0"/>
  <p:tag name="KSO_WM_BEAUTIFY_FLAG" val="#wm#"/>
  <p:tag name="KSO_WM_UNIT_BLOCK" val="0"/>
  <p:tag name="KSO_WM_UNIT_SM_LIMIT_TYPE" val="3"/>
  <p:tag name="KSO_WM_UNIT_DEC_AREA_ID" val="9f2891235ccd4efb8a37b7e1155163d5"/>
  <p:tag name="KSO_WM_UNIT_DECORATE_INFO" val="{&quot;DecorateInfoH&quot;:{&quot;IsAbs&quot;:true},&quot;DecorateInfoW&quot;:{&quot;IsAbs&quot;:false},&quot;DecorateInfoX&quot;:{&quot;IsAbs&quot;:true,&quot;Pos&quot;:1},&quot;DecorateInfoY&quot;:{&quot;IsAbs&quot;:true,&quot;Pos&quot;:0},&quot;ReferentInfo&quot;:{&quot;Id&quot;:&quot;e3986779d47b437e9a7bcceaa0799318&quot;,&quot;X&quot;:{&quot;Pos&quot;:1},&quot;Y&quot;:{&quot;Pos&quot;:2}},&quot;whChangeMode&quot;:0}"/>
  <p:tag name="KSO_WM_CHIP_GROUPID" val="5f71a5bf747e3ea6e293b57c"/>
  <p:tag name="KSO_WM_CHIP_XID" val="5f71ae53747e3ea6e293f8b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4"/>
  <p:tag name="KSO_WM_TEMPLATE_ASSEMBLE_XID" val="60656f654054ed1e2fb80950"/>
  <p:tag name="KSO_WM_TEMPLATE_ASSEMBLE_GROUPID" val="60656f654054ed1e2fb80950"/>
</p:tagLst>
</file>

<file path=ppt/tags/tag6.xml><?xml version="1.0" encoding="utf-8"?>
<p:tagLst xmlns:p="http://schemas.openxmlformats.org/presentationml/2006/main">
  <p:tag name="KSO_WM_SLIDE_ID" val="diagram20212714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714"/>
  <p:tag name="KSO_WM_SLIDE_LAYOUT" val="a_f"/>
  <p:tag name="KSO_WM_SLIDE_LAYOUT_CNT" val="1_1"/>
  <p:tag name="KSO_WM_SLIDE_TYPE" val="text"/>
  <p:tag name="KSO_WM_SLIDE_SUBTYPE" val="pureTxt"/>
  <p:tag name="KSO_WM_SLIDE_SIZE" val="840*539"/>
  <p:tag name="KSO_WM_SLIDE_POSITION" val="72*0"/>
  <p:tag name="KSO_WM_SLIDE_LAYOUT_INFO" val="{&quot;direction&quot;:1,&quot;id&quot;:&quot;2021-04-01T15:44:13&quot;,&quot;maxSize&quot;:{&quot;size1&quot;:32.5},&quot;minSize&quot;:{&quot;size1&quot;:27.6},&quot;normalSize&quot;:{&quot;size1&quot;:29.787500000000005},&quot;subLayout&quot;:[{&quot;id&quot;:&quot;2021-04-01T15:44:13&quot;,&quot;margin&quot;:{&quot;bottom&quot;:8.043000221252441,&quot;left&quot;:2.5399999618530273,&quot;right&quot;:0.02600000612437725,&quot;top&quot;:5.502999782562256},&quot;type&quot;:0},{&quot;id&quot;:&quot;2021-04-01T15:44:13&quot;,&quot;margin&quot;:{&quot;bottom&quot;:1.6929999589920044,&quot;left&quot;:1.667000055313110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1ae53747e3ea6e293f8b1"/>
  <p:tag name="KSO_WM_CHIP_FILLPROP" val="[[{&quot;text_align&quot;:&quot;cm&quot;,&quot;text_direction&quot;:&quot;horizontal&quot;,&quot;support_big_font&quot;:false,&quot;picture_toward&quot;:0,&quot;picture_dockside&quot;:[],&quot;fill_id&quot;:&quot;df5c712fc297497380a16f2214b4abb2&quot;,&quot;fill_align&quot;:&quot;cm&quot;,&quot;chip_types&quot;:[&quot;picture&quot;,&quot;header&quot;]},{&quot;text_align&quot;:&quot;lm&quot;,&quot;text_direction&quot;:&quot;horizontal&quot;,&quot;support_features&quot;:[&quot;collage&quot;,&quot;carousel&quot;],&quot;support_big_font&quot;:false,&quot;picture_toward&quot;:0,&quot;picture_dockside&quot;:[],&quot;fill_id&quot;:&quot;3e9e6b7343cb4479804798c20b3c2800&quot;,&quot;fill_align&quot;:&quot;cm&quot;,&quot;chip_types&quot;:[&quot;text&quot;,&quot;picture&quot;]}],[{&quot;text_align&quot;:&quot;cm&quot;,&quot;text_direction&quot;:&quot;horizontal&quot;,&quot;support_big_font&quot;:false,&quot;picture_toward&quot;:0,&quot;picture_dockside&quot;:[],&quot;fill_id&quot;:&quot;df5c712fc297497380a16f2214b4abb2&quot;,&quot;fill_align&quot;:&quot;cm&quot;,&quot;chip_types&quot;:[&quot;header&quot;]},{&quot;text_align&quot;:&quot;lm&quot;,&quot;text_direction&quot;:&quot;horizontal&quot;,&quot;support_big_font&quot;:false,&quot;picture_toward&quot;:0,&quot;picture_dockside&quot;:[],&quot;fill_id&quot;:&quot;3e9e6b7343cb4479804798c20b3c2800&quot;,&quot;fill_align&quot;:&quot;cm&quot;,&quot;chip_types&quot;:[&quot;diagram&quot;,&quot;chart&quot;,&quot;table&quot;,&quot;video&quot;]}]]"/>
  <p:tag name="KSO_WM_CHIP_DECFILLPROP" val="[]"/>
  <p:tag name="KSO_WM_SLIDE_CAN_ADD_NAVIGATION" val="1"/>
  <p:tag name="KSO_WM_CHIP_GROUPID" val="5f71a5bf747e3ea6e293b57c"/>
  <p:tag name="KSO_WM_SLIDE_BK_DARK_LIGHT" val="2"/>
  <p:tag name="KSO_WM_SLIDE_BACKGROUND_TYPE" val="general"/>
  <p:tag name="KSO_WM_SLIDE_SUPPORT_FEATURE_TYPE" val="0"/>
  <p:tag name="KSO_WM_TEMPLATE_ASSEMBLE_XID" val="60656f654054ed1e2fb80950"/>
  <p:tag name="KSO_WM_TEMPLATE_ASSEMBLE_GROUPID" val="60656f654054ed1e2fb80950"/>
</p:tagLst>
</file>

<file path=ppt/tags/tag7.xml><?xml version="1.0" encoding="utf-8"?>
<p:tagLst xmlns:p="http://schemas.openxmlformats.org/presentationml/2006/main">
  <p:tag name="KSO_WPP_MARK_KEY" val="d7123afc-e946-450d-8c4b-5e5de32e5010"/>
  <p:tag name="COMMONDATA" val="eyJoZGlkIjoiZDJmYTA5NWNiOTMyZDNkNDZmZTYwZWQ1ZDgzZjlmMWMifQ=="/>
  <p:tag name="commondata" val="eyJoZGlkIjoiNDI1NGVkOTE5OWZmZTU3MGNmM2JlNmQwMTgxZTUyMDU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21176</Words>
  <Application>WPS 演示</Application>
  <PresentationFormat>全屏显示(16:9)</PresentationFormat>
  <Paragraphs>1498</Paragraphs>
  <Slides>104</Slides>
  <Notes>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8</vt:i4>
      </vt:variant>
      <vt:variant>
        <vt:lpstr>幻灯片标题</vt:lpstr>
      </vt:variant>
      <vt:variant>
        <vt:i4>104</vt:i4>
      </vt:variant>
    </vt:vector>
  </HeadingPairs>
  <TitlesOfParts>
    <vt:vector size="135" baseType="lpstr">
      <vt:lpstr>Arial</vt:lpstr>
      <vt:lpstr>宋体</vt:lpstr>
      <vt:lpstr>Wingdings</vt:lpstr>
      <vt:lpstr>Calibri</vt:lpstr>
      <vt:lpstr>微软雅黑</vt:lpstr>
      <vt:lpstr>Segoe UI</vt:lpstr>
      <vt:lpstr>Wingdings</vt:lpstr>
      <vt:lpstr>华文细黑</vt:lpstr>
      <vt:lpstr>Times New Roman</vt:lpstr>
      <vt:lpstr>Tahoma</vt:lpstr>
      <vt:lpstr>Arial Unicode MS</vt:lpstr>
      <vt:lpstr>Bookman Old Style</vt:lpstr>
      <vt:lpstr>华文楷体</vt:lpstr>
      <vt:lpstr>Courier New</vt:lpstr>
      <vt:lpstr>MS PGothic</vt:lpstr>
      <vt:lpstr>MS Reference Sans Serif</vt:lpstr>
      <vt:lpstr>Verdana</vt:lpstr>
      <vt:lpstr>黑体,Bold</vt:lpstr>
      <vt:lpstr>黑体</vt:lpstr>
      <vt:lpstr>华文仿宋</vt:lpstr>
      <vt:lpstr>仿宋</vt:lpstr>
      <vt:lpstr>Segoe Print</vt:lpstr>
      <vt:lpstr>Office 主题</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micky</dc:creator>
  <cp:lastModifiedBy>黄哥哥</cp:lastModifiedBy>
  <cp:revision>573</cp:revision>
  <dcterms:created xsi:type="dcterms:W3CDTF">2012-04-18T08:59:00Z</dcterms:created>
  <dcterms:modified xsi:type="dcterms:W3CDTF">2025-08-05T01:06:56Z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2052-12.1.0.22215</vt:lpwstr>
  </property>
  <property fmtid="{D5CDD505-2E9C-101B-9397-08002B2CF9AE}" pid="3" name="ICV">
    <vt:lpwstr>11CC2B16567848CA84B8E46F3A004301_12</vt:lpwstr>
  </property>
</Properties>
</file>
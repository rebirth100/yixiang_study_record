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81" r:id="rId3"/>
    <p:sldId id="283" r:id="rId4"/>
    <p:sldId id="288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7" r:id="rId18"/>
    <p:sldId id="308" r:id="rId19"/>
    <p:sldId id="309" r:id="rId20"/>
    <p:sldId id="310" r:id="rId21"/>
    <p:sldId id="311" r:id="rId22"/>
    <p:sldId id="317" r:id="rId23"/>
    <p:sldId id="303" r:id="rId24"/>
    <p:sldId id="304" r:id="rId25"/>
    <p:sldId id="306" r:id="rId26"/>
    <p:sldId id="286" r:id="rId27"/>
    <p:sldId id="280" r:id="rId28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30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DBBE5BD-45AC-4D01-B832-1F8D6C7C9B27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106738"/>
            <a:ext cx="9144000" cy="3751262"/>
          </a:xfrm>
          <a:prstGeom prst="rect">
            <a:avLst/>
          </a:prstGeom>
          <a:solidFill>
            <a:srgbClr val="216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85950" y="3400425"/>
            <a:ext cx="6507480" cy="1087120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通信网优岗前培训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368677" y="4858784"/>
            <a:ext cx="5340096" cy="8721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300" b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黄清泉</a:t>
            </a:r>
            <a:endParaRPr lang="zh-CN" altLang="en-US" dirty="0"/>
          </a:p>
          <a:p>
            <a:r>
              <a:rPr lang="zh-CN" altLang="en-US" dirty="0"/>
              <a:t>2018年3月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7"/>
          <p:cNvGrpSpPr/>
          <p:nvPr/>
        </p:nvGrpSpPr>
        <p:grpSpPr bwMode="auto">
          <a:xfrm>
            <a:off x="1608535" y="2070100"/>
            <a:ext cx="5991225" cy="2717800"/>
            <a:chOff x="2621623" y="2070100"/>
            <a:chExt cx="7988320" cy="2717800"/>
          </a:xfrm>
        </p:grpSpPr>
        <p:sp>
          <p:nvSpPr>
            <p:cNvPr id="18" name="矩形 17"/>
            <p:cNvSpPr/>
            <p:nvPr/>
          </p:nvSpPr>
          <p:spPr>
            <a:xfrm>
              <a:off x="2621623" y="2070100"/>
              <a:ext cx="7988320" cy="27178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152400" dist="635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395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747035" y="2209800"/>
              <a:ext cx="7737494" cy="2438400"/>
            </a:xfrm>
            <a:prstGeom prst="rect">
              <a:avLst/>
            </a:prstGeom>
            <a:solidFill>
              <a:srgbClr val="2169A7"/>
            </a:solidFill>
            <a:ln w="12700">
              <a:solidFill>
                <a:schemeClr val="bg1"/>
              </a:solidFill>
            </a:ln>
            <a:effectLst>
              <a:outerShdw blurRad="152400" dist="635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395">
                <a:solidFill>
                  <a:prstClr val="white"/>
                </a:solidFill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3169444" y="2752725"/>
            <a:ext cx="0" cy="13525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>
            <a:spLocks noChangeAspect="1"/>
          </p:cNvSpPr>
          <p:nvPr/>
        </p:nvSpPr>
        <p:spPr>
          <a:xfrm>
            <a:off x="2120900" y="2960688"/>
            <a:ext cx="984647" cy="949325"/>
          </a:xfrm>
          <a:custGeom>
            <a:avLst/>
            <a:gdLst>
              <a:gd name="connsiteX0" fmla="*/ 2136838 w 4244134"/>
              <a:gd name="connsiteY0" fmla="*/ 2537631 h 3693319"/>
              <a:gd name="connsiteX1" fmla="*/ 2299844 w 4244134"/>
              <a:gd name="connsiteY1" fmla="*/ 2700637 h 3693319"/>
              <a:gd name="connsiteX2" fmla="*/ 2462850 w 4244134"/>
              <a:gd name="connsiteY2" fmla="*/ 2537631 h 3693319"/>
              <a:gd name="connsiteX3" fmla="*/ 616723 w 4244134"/>
              <a:gd name="connsiteY3" fmla="*/ 1748051 h 3693319"/>
              <a:gd name="connsiteX4" fmla="*/ 2488723 w 4244134"/>
              <a:gd name="connsiteY4" fmla="*/ 1748051 h 3693319"/>
              <a:gd name="connsiteX5" fmla="*/ 2488723 w 4244134"/>
              <a:gd name="connsiteY5" fmla="*/ 1884677 h 3693319"/>
              <a:gd name="connsiteX6" fmla="*/ 616723 w 4244134"/>
              <a:gd name="connsiteY6" fmla="*/ 1884677 h 3693319"/>
              <a:gd name="connsiteX7" fmla="*/ 616723 w 4244134"/>
              <a:gd name="connsiteY7" fmla="*/ 1421574 h 3693319"/>
              <a:gd name="connsiteX8" fmla="*/ 2488723 w 4244134"/>
              <a:gd name="connsiteY8" fmla="*/ 1421574 h 3693319"/>
              <a:gd name="connsiteX9" fmla="*/ 2488723 w 4244134"/>
              <a:gd name="connsiteY9" fmla="*/ 1558200 h 3693319"/>
              <a:gd name="connsiteX10" fmla="*/ 616723 w 4244134"/>
              <a:gd name="connsiteY10" fmla="*/ 1558200 h 3693319"/>
              <a:gd name="connsiteX11" fmla="*/ 616723 w 4244134"/>
              <a:gd name="connsiteY11" fmla="*/ 1095097 h 3693319"/>
              <a:gd name="connsiteX12" fmla="*/ 2488723 w 4244134"/>
              <a:gd name="connsiteY12" fmla="*/ 1095097 h 3693319"/>
              <a:gd name="connsiteX13" fmla="*/ 2488723 w 4244134"/>
              <a:gd name="connsiteY13" fmla="*/ 1231723 h 3693319"/>
              <a:gd name="connsiteX14" fmla="*/ 616723 w 4244134"/>
              <a:gd name="connsiteY14" fmla="*/ 1231723 h 3693319"/>
              <a:gd name="connsiteX15" fmla="*/ 204718 w 4244134"/>
              <a:gd name="connsiteY15" fmla="*/ 204718 h 3693319"/>
              <a:gd name="connsiteX16" fmla="*/ 204718 w 4244134"/>
              <a:gd name="connsiteY16" fmla="*/ 3488601 h 3693319"/>
              <a:gd name="connsiteX17" fmla="*/ 2907082 w 4244134"/>
              <a:gd name="connsiteY17" fmla="*/ 3488601 h 3693319"/>
              <a:gd name="connsiteX18" fmla="*/ 2907082 w 4244134"/>
              <a:gd name="connsiteY18" fmla="*/ 3096000 h 3693319"/>
              <a:gd name="connsiteX19" fmla="*/ 2907082 w 4244134"/>
              <a:gd name="connsiteY19" fmla="*/ 2973318 h 3693319"/>
              <a:gd name="connsiteX20" fmla="*/ 2907082 w 4244134"/>
              <a:gd name="connsiteY20" fmla="*/ 2619924 h 3693319"/>
              <a:gd name="connsiteX21" fmla="*/ 2302633 w 4244134"/>
              <a:gd name="connsiteY21" fmla="*/ 3224372 h 3693319"/>
              <a:gd name="connsiteX22" fmla="*/ 2288873 w 4244134"/>
              <a:gd name="connsiteY22" fmla="*/ 3210611 h 3693319"/>
              <a:gd name="connsiteX23" fmla="*/ 2286083 w 4244134"/>
              <a:gd name="connsiteY23" fmla="*/ 3213400 h 3693319"/>
              <a:gd name="connsiteX24" fmla="*/ 1610314 w 4244134"/>
              <a:gd name="connsiteY24" fmla="*/ 2537631 h 3693319"/>
              <a:gd name="connsiteX25" fmla="*/ 616723 w 4244134"/>
              <a:gd name="connsiteY25" fmla="*/ 2537631 h 3693319"/>
              <a:gd name="connsiteX26" fmla="*/ 616723 w 4244134"/>
              <a:gd name="connsiteY26" fmla="*/ 2401005 h 3693319"/>
              <a:gd name="connsiteX27" fmla="*/ 1473688 w 4244134"/>
              <a:gd name="connsiteY27" fmla="*/ 2401005 h 3693319"/>
              <a:gd name="connsiteX28" fmla="*/ 1340342 w 4244134"/>
              <a:gd name="connsiteY28" fmla="*/ 2267659 h 3693319"/>
              <a:gd name="connsiteX29" fmla="*/ 1396846 w 4244134"/>
              <a:gd name="connsiteY29" fmla="*/ 2211154 h 3693319"/>
              <a:gd name="connsiteX30" fmla="*/ 616723 w 4244134"/>
              <a:gd name="connsiteY30" fmla="*/ 2211154 h 3693319"/>
              <a:gd name="connsiteX31" fmla="*/ 616723 w 4244134"/>
              <a:gd name="connsiteY31" fmla="*/ 2074528 h 3693319"/>
              <a:gd name="connsiteX32" fmla="*/ 1533472 w 4244134"/>
              <a:gd name="connsiteY32" fmla="*/ 2074528 h 3693319"/>
              <a:gd name="connsiteX33" fmla="*/ 1603604 w 4244134"/>
              <a:gd name="connsiteY33" fmla="*/ 2004396 h 3693319"/>
              <a:gd name="connsiteX34" fmla="*/ 1673735 w 4244134"/>
              <a:gd name="connsiteY34" fmla="*/ 2074528 h 3693319"/>
              <a:gd name="connsiteX35" fmla="*/ 2488723 w 4244134"/>
              <a:gd name="connsiteY35" fmla="*/ 2074528 h 3693319"/>
              <a:gd name="connsiteX36" fmla="*/ 2488723 w 4244134"/>
              <a:gd name="connsiteY36" fmla="*/ 2211154 h 3693319"/>
              <a:gd name="connsiteX37" fmla="*/ 1810361 w 4244134"/>
              <a:gd name="connsiteY37" fmla="*/ 2211154 h 3693319"/>
              <a:gd name="connsiteX38" fmla="*/ 2000212 w 4244134"/>
              <a:gd name="connsiteY38" fmla="*/ 2401005 h 3693319"/>
              <a:gd name="connsiteX39" fmla="*/ 2488723 w 4244134"/>
              <a:gd name="connsiteY39" fmla="*/ 2401005 h 3693319"/>
              <a:gd name="connsiteX40" fmla="*/ 2488723 w 4244134"/>
              <a:gd name="connsiteY40" fmla="*/ 2511758 h 3693319"/>
              <a:gd name="connsiteX41" fmla="*/ 2907082 w 4244134"/>
              <a:gd name="connsiteY41" fmla="*/ 2093399 h 3693319"/>
              <a:gd name="connsiteX42" fmla="*/ 2907082 w 4244134"/>
              <a:gd name="connsiteY42" fmla="*/ 204718 h 3693319"/>
              <a:gd name="connsiteX43" fmla="*/ 0 w 4244134"/>
              <a:gd name="connsiteY43" fmla="*/ 0 h 3693319"/>
              <a:gd name="connsiteX44" fmla="*/ 204718 w 4244134"/>
              <a:gd name="connsiteY44" fmla="*/ 0 h 3693319"/>
              <a:gd name="connsiteX45" fmla="*/ 204718 w 4244134"/>
              <a:gd name="connsiteY45" fmla="*/ 1 h 3693319"/>
              <a:gd name="connsiteX46" fmla="*/ 2907082 w 4244134"/>
              <a:gd name="connsiteY46" fmla="*/ 1 h 3693319"/>
              <a:gd name="connsiteX47" fmla="*/ 2907082 w 4244134"/>
              <a:gd name="connsiteY47" fmla="*/ 0 h 3693319"/>
              <a:gd name="connsiteX48" fmla="*/ 3111799 w 4244134"/>
              <a:gd name="connsiteY48" fmla="*/ 0 h 3693319"/>
              <a:gd name="connsiteX49" fmla="*/ 3111799 w 4244134"/>
              <a:gd name="connsiteY49" fmla="*/ 1888682 h 3693319"/>
              <a:gd name="connsiteX50" fmla="*/ 3980872 w 4244134"/>
              <a:gd name="connsiteY50" fmla="*/ 1019609 h 3693319"/>
              <a:gd name="connsiteX51" fmla="*/ 4244134 w 4244134"/>
              <a:gd name="connsiteY51" fmla="*/ 1282871 h 3693319"/>
              <a:gd name="connsiteX52" fmla="*/ 3111799 w 4244134"/>
              <a:gd name="connsiteY52" fmla="*/ 2415207 h 3693319"/>
              <a:gd name="connsiteX53" fmla="*/ 3111799 w 4244134"/>
              <a:gd name="connsiteY53" fmla="*/ 2973318 h 3693319"/>
              <a:gd name="connsiteX54" fmla="*/ 3111799 w 4244134"/>
              <a:gd name="connsiteY54" fmla="*/ 3096000 h 3693319"/>
              <a:gd name="connsiteX55" fmla="*/ 3111799 w 4244134"/>
              <a:gd name="connsiteY55" fmla="*/ 3693319 h 3693319"/>
              <a:gd name="connsiteX56" fmla="*/ 2907082 w 4244134"/>
              <a:gd name="connsiteY56" fmla="*/ 3693319 h 3693319"/>
              <a:gd name="connsiteX57" fmla="*/ 2907082 w 4244134"/>
              <a:gd name="connsiteY57" fmla="*/ 3693318 h 3693319"/>
              <a:gd name="connsiteX58" fmla="*/ 1 w 4244134"/>
              <a:gd name="connsiteY58" fmla="*/ 3693318 h 3693319"/>
              <a:gd name="connsiteX59" fmla="*/ 1 w 4244134"/>
              <a:gd name="connsiteY59" fmla="*/ 3636000 h 3693319"/>
              <a:gd name="connsiteX60" fmla="*/ 0 w 4244134"/>
              <a:gd name="connsiteY60" fmla="*/ 3636000 h 369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44134" h="3693319">
                <a:moveTo>
                  <a:pt x="2136838" y="2537631"/>
                </a:moveTo>
                <a:lnTo>
                  <a:pt x="2299844" y="2700637"/>
                </a:lnTo>
                <a:lnTo>
                  <a:pt x="2462850" y="2537631"/>
                </a:lnTo>
                <a:close/>
                <a:moveTo>
                  <a:pt x="616723" y="1748051"/>
                </a:moveTo>
                <a:lnTo>
                  <a:pt x="2488723" y="1748051"/>
                </a:lnTo>
                <a:lnTo>
                  <a:pt x="2488723" y="1884677"/>
                </a:lnTo>
                <a:lnTo>
                  <a:pt x="616723" y="1884677"/>
                </a:lnTo>
                <a:close/>
                <a:moveTo>
                  <a:pt x="616723" y="1421574"/>
                </a:moveTo>
                <a:lnTo>
                  <a:pt x="2488723" y="1421574"/>
                </a:lnTo>
                <a:lnTo>
                  <a:pt x="2488723" y="1558200"/>
                </a:lnTo>
                <a:lnTo>
                  <a:pt x="616723" y="1558200"/>
                </a:lnTo>
                <a:close/>
                <a:moveTo>
                  <a:pt x="616723" y="1095097"/>
                </a:moveTo>
                <a:lnTo>
                  <a:pt x="2488723" y="1095097"/>
                </a:lnTo>
                <a:lnTo>
                  <a:pt x="2488723" y="1231723"/>
                </a:lnTo>
                <a:lnTo>
                  <a:pt x="616723" y="1231723"/>
                </a:lnTo>
                <a:close/>
                <a:moveTo>
                  <a:pt x="204718" y="204718"/>
                </a:moveTo>
                <a:lnTo>
                  <a:pt x="204718" y="3488601"/>
                </a:lnTo>
                <a:lnTo>
                  <a:pt x="2907082" y="3488601"/>
                </a:lnTo>
                <a:lnTo>
                  <a:pt x="2907082" y="3096000"/>
                </a:lnTo>
                <a:lnTo>
                  <a:pt x="2907082" y="2973318"/>
                </a:lnTo>
                <a:lnTo>
                  <a:pt x="2907082" y="2619924"/>
                </a:lnTo>
                <a:lnTo>
                  <a:pt x="2302633" y="3224372"/>
                </a:lnTo>
                <a:lnTo>
                  <a:pt x="2288873" y="3210611"/>
                </a:lnTo>
                <a:lnTo>
                  <a:pt x="2286083" y="3213400"/>
                </a:lnTo>
                <a:lnTo>
                  <a:pt x="1610314" y="2537631"/>
                </a:lnTo>
                <a:lnTo>
                  <a:pt x="616723" y="2537631"/>
                </a:lnTo>
                <a:lnTo>
                  <a:pt x="616723" y="2401005"/>
                </a:lnTo>
                <a:lnTo>
                  <a:pt x="1473688" y="2401005"/>
                </a:lnTo>
                <a:lnTo>
                  <a:pt x="1340342" y="2267659"/>
                </a:lnTo>
                <a:lnTo>
                  <a:pt x="1396846" y="2211154"/>
                </a:lnTo>
                <a:lnTo>
                  <a:pt x="616723" y="2211154"/>
                </a:lnTo>
                <a:lnTo>
                  <a:pt x="616723" y="2074528"/>
                </a:lnTo>
                <a:lnTo>
                  <a:pt x="1533472" y="2074528"/>
                </a:lnTo>
                <a:lnTo>
                  <a:pt x="1603604" y="2004396"/>
                </a:lnTo>
                <a:lnTo>
                  <a:pt x="1673735" y="2074528"/>
                </a:lnTo>
                <a:lnTo>
                  <a:pt x="2488723" y="2074528"/>
                </a:lnTo>
                <a:lnTo>
                  <a:pt x="2488723" y="2211154"/>
                </a:lnTo>
                <a:lnTo>
                  <a:pt x="1810361" y="2211154"/>
                </a:lnTo>
                <a:lnTo>
                  <a:pt x="2000212" y="2401005"/>
                </a:lnTo>
                <a:lnTo>
                  <a:pt x="2488723" y="2401005"/>
                </a:lnTo>
                <a:lnTo>
                  <a:pt x="2488723" y="2511758"/>
                </a:lnTo>
                <a:lnTo>
                  <a:pt x="2907082" y="2093399"/>
                </a:lnTo>
                <a:lnTo>
                  <a:pt x="2907082" y="204718"/>
                </a:lnTo>
                <a:close/>
                <a:moveTo>
                  <a:pt x="0" y="0"/>
                </a:moveTo>
                <a:lnTo>
                  <a:pt x="204718" y="0"/>
                </a:lnTo>
                <a:lnTo>
                  <a:pt x="204718" y="1"/>
                </a:lnTo>
                <a:lnTo>
                  <a:pt x="2907082" y="1"/>
                </a:lnTo>
                <a:lnTo>
                  <a:pt x="2907082" y="0"/>
                </a:lnTo>
                <a:lnTo>
                  <a:pt x="3111799" y="0"/>
                </a:lnTo>
                <a:lnTo>
                  <a:pt x="3111799" y="1888682"/>
                </a:lnTo>
                <a:lnTo>
                  <a:pt x="3980872" y="1019609"/>
                </a:lnTo>
                <a:lnTo>
                  <a:pt x="4244134" y="1282871"/>
                </a:lnTo>
                <a:lnTo>
                  <a:pt x="3111799" y="2415207"/>
                </a:lnTo>
                <a:lnTo>
                  <a:pt x="3111799" y="2973318"/>
                </a:lnTo>
                <a:lnTo>
                  <a:pt x="3111799" y="3096000"/>
                </a:lnTo>
                <a:lnTo>
                  <a:pt x="3111799" y="3693319"/>
                </a:lnTo>
                <a:lnTo>
                  <a:pt x="2907082" y="3693319"/>
                </a:lnTo>
                <a:lnTo>
                  <a:pt x="2907082" y="3693318"/>
                </a:lnTo>
                <a:lnTo>
                  <a:pt x="1" y="3693318"/>
                </a:lnTo>
                <a:lnTo>
                  <a:pt x="1" y="3636000"/>
                </a:lnTo>
                <a:lnTo>
                  <a:pt x="0" y="363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05187" y="3402267"/>
            <a:ext cx="2709863" cy="563308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05188" y="4079875"/>
            <a:ext cx="3565779" cy="34251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57366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50067"/>
            <a:ext cx="3868340" cy="3539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57366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50067"/>
            <a:ext cx="3887391" cy="353959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147764"/>
            <a:ext cx="9144000" cy="4702175"/>
          </a:xfrm>
          <a:prstGeom prst="rect">
            <a:avLst/>
          </a:prstGeom>
          <a:solidFill>
            <a:srgbClr val="216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5798"/>
            <a:ext cx="3817112" cy="572566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8479632" y="6472238"/>
            <a:ext cx="56554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350">
                <a:solidFill>
                  <a:srgbClr val="A6A6A6"/>
                </a:solidFill>
                <a:latin typeface="Simple-Line-Icons"/>
              </a:rPr>
              <a:t> </a:t>
            </a:r>
            <a:endParaRPr lang="en-US" altLang="zh-CN" sz="1350">
              <a:solidFill>
                <a:srgbClr val="A6A6A6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90593" y="2888870"/>
            <a:ext cx="5677901" cy="1325563"/>
          </a:xfrm>
        </p:spPr>
        <p:txBody>
          <a:bodyPr>
            <a:normAutofit/>
          </a:bodyPr>
          <a:lstStyle>
            <a:lvl1pPr>
              <a:defRPr sz="495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/>
          <p:cNvSpPr/>
          <p:nvPr/>
        </p:nvSpPr>
        <p:spPr>
          <a:xfrm>
            <a:off x="0" y="6215064"/>
            <a:ext cx="2426494" cy="642937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flipH="1">
            <a:off x="6736557" y="6215064"/>
            <a:ext cx="2413397" cy="64452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45552" y="365125"/>
            <a:ext cx="669798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7093458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B336CE23-6A48-4B71-BE35-623C397B9E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fld id="{C4E65C0E-7746-4B25-BBE9-E5DDC74B0323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372533"/>
            <a:ext cx="7886699" cy="576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17780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logo_no_text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2705" y="542925"/>
            <a:ext cx="606425" cy="619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69A7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TCP/IP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什么是</a:t>
            </a:r>
            <a:r>
              <a:rPr lang="en-US" altLang="zh-CN"/>
              <a:t>TCP/IP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43585" y="1858645"/>
            <a:ext cx="7886700" cy="4351338"/>
          </a:xfrm>
        </p:spPr>
        <p:txBody>
          <a:bodyPr/>
          <a:p>
            <a:r>
              <a:t>Transmission Control Protocol/Internet Protocol</a:t>
            </a:r>
          </a:p>
          <a:p>
            <a:r>
              <a:rPr lang="zh-CN"/>
              <a:t>中文</a:t>
            </a:r>
            <a:r>
              <a:t>译名为传输控制协议/</a:t>
            </a:r>
            <a:r>
              <a:rPr lang="zh-CN"/>
              <a:t>网际（因特网互联）</a:t>
            </a:r>
            <a:r>
              <a:t>协议</a:t>
            </a:r>
          </a:p>
          <a:p>
            <a:r>
              <a:t>又名网络通讯协议</a:t>
            </a:r>
          </a:p>
          <a:p>
            <a:r>
              <a:t>由网络层的IP协议和传输层的TCP协议组成</a:t>
            </a:r>
          </a:p>
          <a:p/>
          <a:p>
            <a:pPr marL="0" indent="0">
              <a:buNone/>
            </a:pPr>
            <a:endParaRPr lang="zh-CN">
              <a:sym typeface="+mn-ea"/>
            </a:endParaRPr>
          </a:p>
          <a:p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1885950" y="4405630"/>
            <a:ext cx="49047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zh-CN" sz="2800" b="1">
                <a:solidFill>
                  <a:srgbClr val="C00000"/>
                </a:solidFill>
                <a:sym typeface="+mn-ea"/>
              </a:rPr>
              <a:t>TCP/IP</a:t>
            </a:r>
            <a:r>
              <a:rPr lang="zh-CN" altLang="en-US" sz="2800" b="1">
                <a:solidFill>
                  <a:srgbClr val="C00000"/>
                </a:solidFill>
                <a:sym typeface="+mn-ea"/>
              </a:rPr>
              <a:t>是一切通信业务的基础</a:t>
            </a:r>
            <a:endParaRPr lang="zh-CN" altLang="en-US" sz="2800" b="1">
              <a:solidFill>
                <a:srgbClr val="C00000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通信协议层次模型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690" y="2012950"/>
            <a:ext cx="4819015" cy="32759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通信协议层次模型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690" y="2012950"/>
            <a:ext cx="4819015" cy="3275965"/>
          </a:xfrm>
          <a:prstGeom prst="rect">
            <a:avLst/>
          </a:prstGeom>
        </p:spPr>
      </p:pic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595" y="2058035"/>
            <a:ext cx="5972175" cy="3886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通信协议层次模型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1428750"/>
            <a:ext cx="6190615" cy="39998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通信协议层次模型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60" y="2256790"/>
            <a:ext cx="6466840" cy="1866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TCP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1390650"/>
            <a:ext cx="6447790" cy="4076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三次握手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805" y="1938655"/>
            <a:ext cx="6676390" cy="2980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四次挥手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7520" y="2310130"/>
            <a:ext cx="5648325" cy="3381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流量控制：窗口机制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47470" y="1967230"/>
            <a:ext cx="6448425" cy="4067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UDP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8565" y="2719705"/>
            <a:ext cx="6705600" cy="2562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TCP</a:t>
            </a:r>
            <a:r>
              <a:rPr lang="zh-CN" altLang="en-US"/>
              <a:t>与</a:t>
            </a:r>
            <a:r>
              <a:rPr lang="en-US" altLang="zh-CN"/>
              <a:t>UDP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9395" y="1972310"/>
            <a:ext cx="6124575" cy="4057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数据包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4120" y="1972310"/>
            <a:ext cx="6715125" cy="4057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协议号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5570" y="2343785"/>
            <a:ext cx="6372225" cy="3314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ICMP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90090" y="2348230"/>
            <a:ext cx="5162550" cy="3305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20035" y="1825625"/>
            <a:ext cx="3503295" cy="4351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IP地址是指互联网协议地址（英语：Internet Protocol Address，又译为网际协议地址），是IP Address的缩写。IP地址是IP协议提供的一种统一的地址格式，它为互联网上的每一个网络和每一台主机分配一个逻辑地址，以此来屏蔽物理地址的差异。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8650" y="3041650"/>
            <a:ext cx="7886700" cy="14243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公有地址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公有地址（Public address）由Inter NIC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（Internet Network Information Center因特网信息中心）负责。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这些IP地址分配给注册并向Inter NIC提出申请的组织机构。通过它直接访问因特网。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私有地址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属于非注册地址，专门为组织机构内部使用</a:t>
            </a:r>
            <a:endParaRPr lang="zh-CN" altLang="en-US"/>
          </a:p>
          <a:p>
            <a:r>
              <a:rPr lang="zh-CN" altLang="en-US"/>
              <a:t>A类 10.0.0.0--10.255.255.255</a:t>
            </a:r>
            <a:endParaRPr lang="zh-CN" altLang="en-US"/>
          </a:p>
          <a:p>
            <a:r>
              <a:rPr lang="zh-CN" altLang="en-US"/>
              <a:t>B类 172.16.0.0--172.31.255.255</a:t>
            </a:r>
            <a:endParaRPr lang="zh-CN" altLang="en-US"/>
          </a:p>
          <a:p>
            <a:r>
              <a:rPr lang="zh-CN" altLang="en-US"/>
              <a:t>C类 192.168.0.0--192.168.255.255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端口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1.常用端口（Well Known Ports）</a:t>
            </a:r>
            <a:endParaRPr lang="zh-CN" altLang="en-US"/>
          </a:p>
          <a:p>
            <a:pPr lvl="1"/>
            <a:r>
              <a:rPr lang="zh-CN" altLang="en-US"/>
              <a:t>周知端口是众所周知的端口号，范围从0到1023，其中80端口分配给WWW服务，21端口分配给FTP服务等。我们在IE的地址栏里输入一个网址的时候是不必指定端口号的，因为在默认情况下WWW服务的端口是“80”。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2.动态端口（Dynamic Ports）</a:t>
            </a:r>
            <a:endParaRPr lang="zh-CN" altLang="en-US"/>
          </a:p>
          <a:p>
            <a:pPr lvl="1"/>
            <a:r>
              <a:rPr lang="zh-CN" altLang="en-US"/>
              <a:t>动态端口的范围是从49152到65535。之所以称为动态端口，是因为它 一般不固定分配某种服务，而是动态分配。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3.注册端口</a:t>
            </a:r>
            <a:endParaRPr lang="zh-CN" altLang="en-US"/>
          </a:p>
          <a:p>
            <a:pPr lvl="1"/>
            <a:r>
              <a:rPr lang="zh-CN" altLang="en-US"/>
              <a:t>端口1024到49151，分配给用户进程或应用程序。这些进程主要是用户选择安装的一些应用程序，而不是已经分配好了公认端口的常用程序。这些端口在没有被服务器资源占用的时候，可以用用户端动态选用为源端口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与</a:t>
            </a:r>
            <a:r>
              <a:rPr lang="en-US" altLang="zh-CN"/>
              <a:t>MAC:ARP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7615" y="2376805"/>
            <a:ext cx="6667500" cy="32480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与</a:t>
            </a:r>
            <a:r>
              <a:rPr lang="en-US" altLang="zh-CN"/>
              <a:t>MAC</a:t>
            </a:r>
            <a:r>
              <a:rPr lang="zh-CN" altLang="en-US"/>
              <a:t>：</a:t>
            </a:r>
            <a:r>
              <a:rPr lang="en-US" altLang="zh-CN"/>
              <a:t>RARP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1015" y="2062480"/>
            <a:ext cx="5600700" cy="3876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76605" y="1817370"/>
            <a:ext cx="7886700" cy="4351338"/>
          </a:xfrm>
        </p:spPr>
        <p:txBody>
          <a:bodyPr/>
          <a:p>
            <a:r>
              <a:rPr lang="zh-CN" altLang="en-US"/>
              <a:t>通信的核心原理  </a:t>
            </a:r>
            <a:r>
              <a:rPr lang="en-US"/>
              <a:t>TCP/IP</a:t>
            </a:r>
            <a:endParaRPr lang="en-US"/>
          </a:p>
          <a:p>
            <a:r>
              <a:rPr lang="zh-CN" altLang="en-US"/>
              <a:t>通信数据包结构</a:t>
            </a:r>
            <a:endParaRPr lang="zh-CN" altLang="en-US"/>
          </a:p>
          <a:p>
            <a:r>
              <a:rPr lang="en-US" altLang="zh-CN"/>
              <a:t>IP</a:t>
            </a:r>
            <a:r>
              <a:rPr lang="zh-CN" altLang="en-US"/>
              <a:t>地址结构</a:t>
            </a:r>
            <a:endParaRPr lang="zh-CN" altLang="en-US"/>
          </a:p>
          <a:p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地址与</a:t>
            </a:r>
            <a:r>
              <a:rPr lang="en-US" altLang="zh-CN">
                <a:sym typeface="+mn-ea"/>
              </a:rPr>
              <a:t>MAC</a:t>
            </a:r>
            <a:endParaRPr lang="zh-CN">
              <a:sym typeface="+mn-ea"/>
            </a:endParaRPr>
          </a:p>
          <a:p>
            <a:pPr marL="0" indent="0">
              <a:buNone/>
            </a:pPr>
            <a:endParaRPr lang="zh-CN">
              <a:sym typeface="+mn-ea"/>
            </a:endParaRPr>
          </a:p>
          <a:p>
            <a:endParaRPr 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Q &amp; A </a:t>
            </a:r>
            <a:r>
              <a:rPr lang="zh-CN" altLang="en-US"/>
              <a:t>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224553" y="2880615"/>
            <a:ext cx="5677901" cy="1325563"/>
          </a:xfrm>
        </p:spPr>
        <p:txBody>
          <a:bodyPr lIns="90000" tIns="46800" rIns="90000" bIns="46800">
            <a:normAutofit fontScale="90000"/>
          </a:bodyPr>
          <a:p>
            <a:r>
              <a:rPr lang="zh-CN" altLang="en-US" dirty="0" smtClean="0"/>
              <a:t>感谢您的聆听与参与</a:t>
            </a:r>
            <a:endParaRPr lang="zh-CN" alt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basetag"/>
  <p:tag name="KSO_WM_TEMPLATE_INDEX" val="20164412"/>
</p:tagLst>
</file>

<file path=ppt/tags/tag2.xml><?xml version="1.0" encoding="utf-8"?>
<p:tagLst xmlns:p="http://schemas.openxmlformats.org/presentationml/2006/main">
  <p:tag name="KSO_WM_TAG_VERSION" val="1.0"/>
  <p:tag name="KSO_WM_TEMPLATE_CATEGORY" val="basetag"/>
  <p:tag name="KSO_WM_TEMPLATE_INDEX" val="20164412"/>
</p:tagLst>
</file>

<file path=ppt/tags/tag3.xml><?xml version="1.0" encoding="utf-8"?>
<p:tagLst xmlns:p="http://schemas.openxmlformats.org/presentationml/2006/main">
  <p:tag name="KSO_WM_TEMPLATE_CATEGORY" val="basetag"/>
  <p:tag name="KSO_WM_TEMPLATE_INDEX" val="20163651"/>
  <p:tag name="KSO_WM_TAG_VERSION" val="1.0"/>
  <p:tag name="KSO_WM_BEAUTIFY_FLAG" val="#wm#"/>
  <p:tag name="KSO_WM_TEMPLATE_THUMBS_INDEX" val="1、5、6、7、9、11、19、23、27、29、34"/>
</p:tagLst>
</file>

<file path=ppt/tags/tag4.xml><?xml version="1.0" encoding="utf-8"?>
<p:tagLst xmlns:p="http://schemas.openxmlformats.org/presentationml/2006/main">
  <p:tag name="KSO_WM_TEMPLATE_THUMBS_INDEX" val="1、8、12、13、14、17、23、28"/>
  <p:tag name="KSO_WM_TEMPLATE_CATEGORY" val="basetag"/>
  <p:tag name="KSO_WM_TEMPLATE_INDEX" val="20164412"/>
  <p:tag name="KSO_WM_SLIDE_ID" val="custom1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1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412"/>
</p:tagLst>
</file>

<file path=ppt/tags/tag28.xml><?xml version="1.0" encoding="utf-8"?>
<p:tagLst xmlns:p="http://schemas.openxmlformats.org/presentationml/2006/main">
  <p:tag name="KSO_WM_TEMPLATE_THUMBS_INDEX" val="1、8、12、13、14、17、23、28"/>
  <p:tag name="KSO_WM_TEMPLATE_CATEGORY" val="basetag"/>
  <p:tag name="KSO_WM_TEMPLATE_INDEX" val="20164412"/>
  <p:tag name="KSO_WM_SLIDE_ID" val="custom156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AG_VERSION" val="1.0"/>
</p:tagLst>
</file>

<file path=ppt/tags/tag29.xml><?xml version="1.0" encoding="utf-8"?>
<p:tagLst xmlns:p="http://schemas.openxmlformats.org/presentationml/2006/main">
  <p:tag name="KSO_WM_TEMPLATE_CATEGORY" val="basetag"/>
  <p:tag name="KSO_WM_TEMPLATE_INDEX" val="20164412"/>
  <p:tag name="KSO_WM_TAG_VERSION" val="1.0"/>
  <p:tag name="KSO_WM_SLIDE_ID" val="basetag20164324_18"/>
  <p:tag name="KSO_WM_SLIDE_INDEX" val="18"/>
  <p:tag name="KSO_WM_SLIDE_ITEM_CNT" val="0"/>
  <p:tag name="KSO_WM_SLIDE_TYPE" val="endPage"/>
  <p:tag name="KSO_WM_BEAUTIFY_FLAG" val="#wm#"/>
</p:tagLst>
</file>

<file path=ppt/tags/tag30.xml><?xml version="1.0" encoding="utf-8"?>
<p:tagLst xmlns:p="http://schemas.openxmlformats.org/presentationml/2006/main">
  <p:tag name="KSO_WM_DOC_GUID" val="{468d93c5-72a7-4f3f-96fa-11931d505619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WPS 演示</Application>
  <PresentationFormat/>
  <Paragraphs>87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Segoe UI Emoji</vt:lpstr>
      <vt:lpstr>Simple-Line-Icons</vt:lpstr>
      <vt:lpstr>Segoe Print</vt:lpstr>
      <vt:lpstr>黑体</vt:lpstr>
      <vt:lpstr>微软雅黑</vt:lpstr>
      <vt:lpstr>Arial Unicode MS</vt:lpstr>
      <vt:lpstr>Arial Narrow</vt:lpstr>
      <vt:lpstr>自定义设计方案</vt:lpstr>
      <vt:lpstr>TCP/IP</vt:lpstr>
      <vt:lpstr>什么是TCP/IP？</vt:lpstr>
      <vt:lpstr>通信协议层次模型</vt:lpstr>
      <vt:lpstr>通信协议层次模型</vt:lpstr>
      <vt:lpstr>通信协议层次模型</vt:lpstr>
      <vt:lpstr>通信协议层次模型</vt:lpstr>
      <vt:lpstr>TCP</vt:lpstr>
      <vt:lpstr>三次握手</vt:lpstr>
      <vt:lpstr>四次挥手</vt:lpstr>
      <vt:lpstr>流量控制：窗口机制</vt:lpstr>
      <vt:lpstr>UDP</vt:lpstr>
      <vt:lpstr>TCP与UDP</vt:lpstr>
      <vt:lpstr>IP数据包</vt:lpstr>
      <vt:lpstr>协议号</vt:lpstr>
      <vt:lpstr>ICMP</vt:lpstr>
      <vt:lpstr>IP地址</vt:lpstr>
      <vt:lpstr>IP地址</vt:lpstr>
      <vt:lpstr>IP地址</vt:lpstr>
      <vt:lpstr>公有地址</vt:lpstr>
      <vt:lpstr>私有地址</vt:lpstr>
      <vt:lpstr>PowerPoint 演示文稿</vt:lpstr>
      <vt:lpstr>IP与MAC:ARP</vt:lpstr>
      <vt:lpstr>IP与MAC：RARP</vt:lpstr>
      <vt:lpstr>总结</vt:lpstr>
      <vt:lpstr>Q &amp; A ？</vt:lpstr>
      <vt:lpstr>感谢您的聆听与参与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科技与实力的结合</dc:title>
  <dc:creator>administrator</dc:creator>
  <cp:lastModifiedBy>黄哥哥</cp:lastModifiedBy>
  <cp:revision>53</cp:revision>
  <dcterms:created xsi:type="dcterms:W3CDTF">2018-03-07T06:34:00Z</dcterms:created>
  <dcterms:modified xsi:type="dcterms:W3CDTF">2020-01-15T08:11:56Z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